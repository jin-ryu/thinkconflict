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451" r:id="rId2"/>
    <p:sldId id="425" r:id="rId3"/>
    <p:sldId id="481" r:id="rId4"/>
    <p:sldId id="650" r:id="rId5"/>
    <p:sldId id="654" r:id="rId6"/>
    <p:sldId id="658" r:id="rId7"/>
    <p:sldId id="660" r:id="rId8"/>
    <p:sldId id="678" r:id="rId9"/>
    <p:sldId id="406" r:id="rId10"/>
    <p:sldId id="667" r:id="rId11"/>
    <p:sldId id="679" r:id="rId12"/>
    <p:sldId id="569" r:id="rId13"/>
    <p:sldId id="570" r:id="rId14"/>
    <p:sldId id="571" r:id="rId15"/>
    <p:sldId id="599" r:id="rId16"/>
    <p:sldId id="676" r:id="rId17"/>
    <p:sldId id="684" r:id="rId18"/>
    <p:sldId id="595" r:id="rId19"/>
    <p:sldId id="686" r:id="rId20"/>
    <p:sldId id="687" r:id="rId21"/>
    <p:sldId id="698" r:id="rId22"/>
    <p:sldId id="702" r:id="rId23"/>
    <p:sldId id="440" r:id="rId24"/>
    <p:sldId id="441" r:id="rId25"/>
    <p:sldId id="44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008"/>
    <p:restoredTop sz="94622"/>
  </p:normalViewPr>
  <p:slideViewPr>
    <p:cSldViewPr snapToGrid="0" snapToObjects="1">
      <p:cViewPr varScale="1">
        <p:scale>
          <a:sx n="105" d="100"/>
          <a:sy n="105" d="100"/>
        </p:scale>
        <p:origin x="192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A8BD9-86D8-1141-BC51-BDCD8349F7F7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92483-278F-4C46-B567-3E1E49742A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5783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92483-278F-4C46-B567-3E1E49742A91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4670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92483-278F-4C46-B567-3E1E49742A91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5319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92483-278F-4C46-B567-3E1E49742A91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6170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92483-278F-4C46-B567-3E1E49742A91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127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92483-278F-4C46-B567-3E1E49742A91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7419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92483-278F-4C46-B567-3E1E49742A91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6750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92483-278F-4C46-B567-3E1E49742A91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4272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92483-278F-4C46-B567-3E1E49742A91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5646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2159000"/>
            <a:ext cx="88900" cy="213360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2108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3300" b="1">
                <a:solidFill>
                  <a:srgbClr val="273A52"/>
                </a:solidFill>
                <a:latin typeface="맑은 고딕"/>
                <a:ea typeface="맑은 고딕"/>
              </a:rPr>
              <a:t>Lost in Translation from Thought to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844800"/>
            <a:ext cx="10515600" cy="282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700" b="0" dirty="0">
                <a:solidFill>
                  <a:srgbClr val="4A5568"/>
                </a:solidFill>
                <a:latin typeface="맑은 고딕"/>
                <a:ea typeface="맑은 고딕"/>
              </a:rPr>
              <a:t>Investigating Reasoning-Answer Inconsistency in RAG Conflicts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32200"/>
            <a:ext cx="10515600" cy="2996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sz="1800" b="1" dirty="0">
                <a:solidFill>
                  <a:srgbClr val="1E2227"/>
                </a:solidFill>
                <a:latin typeface="맑은 고딕"/>
                <a:ea typeface="맑은 고딕"/>
              </a:rPr>
              <a:t>연구 여정과 연구 계획 보고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098508"/>
            <a:ext cx="10515600" cy="1940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1150" b="0" dirty="0" err="1">
                <a:solidFill>
                  <a:srgbClr val="6B7480"/>
                </a:solidFill>
                <a:latin typeface="맑은 고딕"/>
                <a:ea typeface="맑은 고딕"/>
              </a:rPr>
              <a:t>데이터사이언스융합학과</a:t>
            </a:r>
            <a:r>
              <a:rPr sz="1150" b="0" dirty="0">
                <a:solidFill>
                  <a:srgbClr val="6B7480"/>
                </a:solidFill>
                <a:latin typeface="맑은 고딕"/>
                <a:ea typeface="맑은 고딕"/>
              </a:rPr>
              <a:t>  유진      |      2026. 07.</a:t>
            </a:r>
          </a:p>
        </p:txBody>
      </p:sp>
    </p:spTree>
    <p:extLst>
      <p:ext uri="{BB962C8B-B14F-4D97-AF65-F5344CB8AC3E}">
        <p14:creationId xmlns:p14="http://schemas.microsoft.com/office/powerpoint/2010/main" val="2936336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85216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>
                <a:solidFill>
                  <a:srgbClr val="273A52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25044C7-C1AE-BE49-AE35-F0ED391949F7}"/>
              </a:ext>
            </a:extLst>
          </p:cNvPr>
          <p:cNvSpPr/>
          <p:nvPr/>
        </p:nvSpPr>
        <p:spPr>
          <a:xfrm>
            <a:off x="546100" y="1447795"/>
            <a:ext cx="482600" cy="482600"/>
          </a:xfrm>
          <a:prstGeom prst="roundRect">
            <a:avLst/>
          </a:prstGeom>
          <a:noFill/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273A52"/>
                </a:solidFill>
                <a:latin typeface="맑은 고딕"/>
                <a:ea typeface="맑은 고딕"/>
              </a:rPr>
              <a:t>01</a:t>
            </a:r>
            <a:endParaRPr lang="ko-KR" altLang="en-US" sz="2000" b="1" dirty="0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525D36-0371-0542-A203-29CDE34606EA}"/>
              </a:ext>
            </a:extLst>
          </p:cNvPr>
          <p:cNvSpPr txBox="1"/>
          <p:nvPr/>
        </p:nvSpPr>
        <p:spPr>
          <a:xfrm>
            <a:off x="1206500" y="1562100"/>
            <a:ext cx="10160000" cy="3302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273A52"/>
                </a:solidFill>
                <a:latin typeface="맑은 고딕"/>
                <a:ea typeface="맑은 고딕"/>
              </a:rPr>
              <a:t>연구 여정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5A89D9-36F1-ED44-AEFF-0489891FCD96}"/>
              </a:ext>
            </a:extLst>
          </p:cNvPr>
          <p:cNvSpPr txBox="1"/>
          <p:nvPr/>
        </p:nvSpPr>
        <p:spPr>
          <a:xfrm>
            <a:off x="1206500" y="1879600"/>
            <a:ext cx="10160000" cy="2286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선행 시도 </a:t>
            </a:r>
            <a:r>
              <a:rPr lang="en" altLang="ko-KR" sz="1250">
                <a:solidFill>
                  <a:srgbClr val="6B7480"/>
                </a:solidFill>
                <a:latin typeface="맑은 고딕"/>
                <a:ea typeface="맑은 고딕"/>
              </a:rPr>
              <a:t>V1–V3</a:t>
            </a:r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와 </a:t>
            </a:r>
            <a:r>
              <a:rPr lang="en" altLang="ko-KR" sz="1250">
                <a:solidFill>
                  <a:srgbClr val="6B7480"/>
                </a:solidFill>
                <a:latin typeface="맑은 고딕"/>
                <a:ea typeface="맑은 고딕"/>
              </a:rPr>
              <a:t>ThinkConflict</a:t>
            </a:r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로의 전환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CDD97156-CB35-4F49-8EE6-E362C7F414D4}"/>
              </a:ext>
            </a:extLst>
          </p:cNvPr>
          <p:cNvSpPr/>
          <p:nvPr/>
        </p:nvSpPr>
        <p:spPr>
          <a:xfrm>
            <a:off x="546100" y="2235195"/>
            <a:ext cx="482600" cy="482600"/>
          </a:xfrm>
          <a:prstGeom prst="roundRect">
            <a:avLst/>
          </a:prstGeom>
          <a:noFill/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273A52"/>
                </a:solidFill>
                <a:latin typeface="맑은 고딕"/>
                <a:ea typeface="맑은 고딕"/>
              </a:rPr>
              <a:t>02</a:t>
            </a:r>
            <a:endParaRPr lang="ko-KR" altLang="en-US" sz="2000" b="1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30B48B-D2B5-3945-BAA3-A3772ED289F1}"/>
              </a:ext>
            </a:extLst>
          </p:cNvPr>
          <p:cNvSpPr txBox="1"/>
          <p:nvPr/>
        </p:nvSpPr>
        <p:spPr>
          <a:xfrm>
            <a:off x="1206500" y="2349500"/>
            <a:ext cx="10160000" cy="3302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273A52"/>
                </a:solidFill>
                <a:latin typeface="맑은 고딕"/>
                <a:ea typeface="맑은 고딕"/>
              </a:rPr>
              <a:t>서론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C0D21A-9BEC-384C-B265-3949301D6460}"/>
              </a:ext>
            </a:extLst>
          </p:cNvPr>
          <p:cNvSpPr txBox="1"/>
          <p:nvPr/>
        </p:nvSpPr>
        <p:spPr>
          <a:xfrm>
            <a:off x="1206500" y="2667000"/>
            <a:ext cx="10160000" cy="2286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배경</a:t>
            </a:r>
            <a:r>
              <a:rPr lang="en-US" altLang="ko-KR" sz="1250">
                <a:solidFill>
                  <a:srgbClr val="6B748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문제 </a:t>
            </a:r>
            <a:r>
              <a:rPr lang="en-US" altLang="ko-KR" sz="1250">
                <a:solidFill>
                  <a:srgbClr val="6B748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연구 동기 </a:t>
            </a:r>
            <a:r>
              <a:rPr lang="en-US" altLang="ko-KR" sz="1250">
                <a:solidFill>
                  <a:srgbClr val="6B748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기여 </a:t>
            </a:r>
            <a:r>
              <a:rPr lang="en-US" altLang="ko-KR" sz="1250">
                <a:solidFill>
                  <a:srgbClr val="6B748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연구 질문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F2498B3F-2A95-CD49-9385-55F126B47462}"/>
              </a:ext>
            </a:extLst>
          </p:cNvPr>
          <p:cNvSpPr/>
          <p:nvPr/>
        </p:nvSpPr>
        <p:spPr>
          <a:xfrm>
            <a:off x="546100" y="3022595"/>
            <a:ext cx="482600" cy="482600"/>
          </a:xfrm>
          <a:prstGeom prst="roundRect">
            <a:avLst/>
          </a:prstGeom>
          <a:noFill/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273A52"/>
                </a:solidFill>
                <a:latin typeface="맑은 고딕"/>
                <a:ea typeface="맑은 고딕"/>
              </a:rPr>
              <a:t>03</a:t>
            </a:r>
            <a:endParaRPr lang="ko-KR" altLang="en-US" sz="2000" b="1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524417-C7D8-5440-89D1-16D312F89E18}"/>
              </a:ext>
            </a:extLst>
          </p:cNvPr>
          <p:cNvSpPr txBox="1"/>
          <p:nvPr/>
        </p:nvSpPr>
        <p:spPr>
          <a:xfrm>
            <a:off x="1206500" y="3136900"/>
            <a:ext cx="10160000" cy="3302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273A52"/>
                </a:solidFill>
                <a:latin typeface="맑은 고딕"/>
                <a:ea typeface="맑은 고딕"/>
              </a:rPr>
              <a:t>관련 연구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F24786-EC24-5246-A8B3-08E3A50DC574}"/>
              </a:ext>
            </a:extLst>
          </p:cNvPr>
          <p:cNvSpPr txBox="1"/>
          <p:nvPr/>
        </p:nvSpPr>
        <p:spPr>
          <a:xfrm>
            <a:off x="1206500" y="3454400"/>
            <a:ext cx="10160000" cy="2286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충돌 진단</a:t>
            </a:r>
            <a:r>
              <a:rPr lang="en-US" altLang="ko-KR" sz="1250">
                <a:solidFill>
                  <a:srgbClr val="6B748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완화 연구와 본 연구의 위치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E3F85996-5817-D04A-81C1-9253D47200D6}"/>
              </a:ext>
            </a:extLst>
          </p:cNvPr>
          <p:cNvSpPr/>
          <p:nvPr/>
        </p:nvSpPr>
        <p:spPr>
          <a:xfrm>
            <a:off x="546100" y="3809995"/>
            <a:ext cx="482600" cy="482600"/>
          </a:xfrm>
          <a:prstGeom prst="roundRect">
            <a:avLst/>
          </a:prstGeom>
          <a:noFill/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273A52"/>
                </a:solidFill>
                <a:latin typeface="맑은 고딕"/>
                <a:ea typeface="맑은 고딕"/>
              </a:rPr>
              <a:t>04</a:t>
            </a:r>
            <a:endParaRPr lang="ko-KR" altLang="en-US" sz="2000" b="1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C74C5B-C60B-8E4C-903B-D36A2915644B}"/>
              </a:ext>
            </a:extLst>
          </p:cNvPr>
          <p:cNvSpPr txBox="1"/>
          <p:nvPr/>
        </p:nvSpPr>
        <p:spPr>
          <a:xfrm>
            <a:off x="1206500" y="3924300"/>
            <a:ext cx="10160000" cy="3302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273A52"/>
                </a:solidFill>
                <a:latin typeface="맑은 고딕"/>
                <a:ea typeface="맑은 고딕"/>
              </a:rPr>
              <a:t>방법론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AC1153-9D9F-6043-B635-A635220ADE08}"/>
              </a:ext>
            </a:extLst>
          </p:cNvPr>
          <p:cNvSpPr txBox="1"/>
          <p:nvPr/>
        </p:nvSpPr>
        <p:spPr>
          <a:xfrm>
            <a:off x="1206500" y="4241800"/>
            <a:ext cx="10160000" cy="2286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데이터셋 </a:t>
            </a:r>
            <a:r>
              <a:rPr lang="en-US" altLang="ko-KR" sz="1250">
                <a:solidFill>
                  <a:srgbClr val="6B748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진단 프로토콜 </a:t>
            </a:r>
            <a:r>
              <a:rPr lang="en-US" altLang="ko-KR" sz="1250">
                <a:solidFill>
                  <a:srgbClr val="6B7480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실험 설계</a:t>
            </a: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49447159-9617-AA49-B686-B940890B4BEE}"/>
              </a:ext>
            </a:extLst>
          </p:cNvPr>
          <p:cNvSpPr/>
          <p:nvPr/>
        </p:nvSpPr>
        <p:spPr>
          <a:xfrm>
            <a:off x="546100" y="4597395"/>
            <a:ext cx="482600" cy="482600"/>
          </a:xfrm>
          <a:prstGeom prst="roundRect">
            <a:avLst/>
          </a:prstGeom>
          <a:noFill/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273A52"/>
                </a:solidFill>
                <a:latin typeface="맑은 고딕"/>
                <a:ea typeface="맑은 고딕"/>
              </a:rPr>
              <a:t>05</a:t>
            </a:r>
            <a:endParaRPr lang="ko-KR" altLang="en-US" sz="2000" b="1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8773A6-0DCA-314F-8812-FB15C6BA5012}"/>
              </a:ext>
            </a:extLst>
          </p:cNvPr>
          <p:cNvSpPr txBox="1"/>
          <p:nvPr/>
        </p:nvSpPr>
        <p:spPr>
          <a:xfrm>
            <a:off x="1206500" y="4711700"/>
            <a:ext cx="10160000" cy="3302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273A52"/>
                </a:solidFill>
                <a:latin typeface="맑은 고딕"/>
                <a:ea typeface="맑은 고딕"/>
              </a:rPr>
              <a:t>실험 결과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7166AB-9D94-BB4B-8D15-77291198DA98}"/>
              </a:ext>
            </a:extLst>
          </p:cNvPr>
          <p:cNvSpPr txBox="1"/>
          <p:nvPr/>
        </p:nvSpPr>
        <p:spPr>
          <a:xfrm>
            <a:off x="1206500" y="5029200"/>
            <a:ext cx="10160000" cy="2286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예상 결과와 보고 계층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DE8C2F02-29CF-564C-B334-43A6CF32FEEA}"/>
              </a:ext>
            </a:extLst>
          </p:cNvPr>
          <p:cNvSpPr/>
          <p:nvPr/>
        </p:nvSpPr>
        <p:spPr>
          <a:xfrm>
            <a:off x="546100" y="5384795"/>
            <a:ext cx="482600" cy="482600"/>
          </a:xfrm>
          <a:prstGeom prst="roundRect">
            <a:avLst/>
          </a:prstGeom>
          <a:noFill/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273A52"/>
                </a:solidFill>
                <a:latin typeface="맑은 고딕"/>
                <a:ea typeface="맑은 고딕"/>
              </a:rPr>
              <a:t>06</a:t>
            </a:r>
            <a:endParaRPr lang="ko-KR" altLang="en-US" sz="2000" b="1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23A3F3-94D4-4A45-8C30-2A65FEA4FB9B}"/>
              </a:ext>
            </a:extLst>
          </p:cNvPr>
          <p:cNvSpPr txBox="1"/>
          <p:nvPr/>
        </p:nvSpPr>
        <p:spPr>
          <a:xfrm>
            <a:off x="1206500" y="5499100"/>
            <a:ext cx="10160000" cy="3302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700" b="1">
                <a:solidFill>
                  <a:srgbClr val="273A52"/>
                </a:solidFill>
                <a:latin typeface="맑은 고딕"/>
                <a:ea typeface="맑은 고딕"/>
              </a:rPr>
              <a:t>한계 </a:t>
            </a:r>
            <a:r>
              <a:rPr lang="en-US" altLang="ko-KR" sz="1700" b="1">
                <a:solidFill>
                  <a:srgbClr val="273A52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700" b="1">
                <a:solidFill>
                  <a:srgbClr val="273A52"/>
                </a:solidFill>
                <a:latin typeface="맑은 고딕"/>
                <a:ea typeface="맑은 고딕"/>
              </a:rPr>
              <a:t>향후 연구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EFF901-58F1-BB4A-B8A5-2DAFD5FD11EC}"/>
              </a:ext>
            </a:extLst>
          </p:cNvPr>
          <p:cNvSpPr txBox="1"/>
          <p:nvPr/>
        </p:nvSpPr>
        <p:spPr>
          <a:xfrm>
            <a:off x="1206500" y="5816600"/>
            <a:ext cx="10160000" cy="228600"/>
          </a:xfrm>
          <a:prstGeom prst="rect">
            <a:avLst/>
          </a:prstGeom>
          <a:noFill/>
        </p:spPr>
        <p:txBody>
          <a:bodyPr vertOverflow="overflow" vert="horz" wrap="none" lIns="91440" tIns="0" rIns="91440" bIns="0" rtlCol="0" anchor="t" anchorCtr="0">
            <a:spAutoFit/>
          </a:bodyPr>
          <a:lstStyle/>
          <a:p>
            <a:pPr algn="l"/>
            <a:r>
              <a:rPr lang="ko-KR" altLang="en-US" sz="1250">
                <a:solidFill>
                  <a:srgbClr val="6B7480"/>
                </a:solidFill>
                <a:latin typeface="맑은 고딕"/>
                <a:ea typeface="맑은 고딕"/>
              </a:rPr>
              <a:t>연구의 한계와 진단 결과에 따른 후속 방향</a:t>
            </a:r>
          </a:p>
        </p:txBody>
      </p:sp>
    </p:spTree>
    <p:extLst>
      <p:ext uri="{BB962C8B-B14F-4D97-AF65-F5344CB8AC3E}">
        <p14:creationId xmlns:p14="http://schemas.microsoft.com/office/powerpoint/2010/main" val="287325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연구 여정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① 선행 시도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선행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시도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V1–V3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3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70000"/>
            <a:ext cx="11091672" cy="207557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1230" b="0" dirty="0" err="1">
                <a:solidFill>
                  <a:srgbClr val="6B7480"/>
                </a:solidFill>
                <a:latin typeface="맑은 고딕"/>
                <a:ea typeface="맑은 고딕"/>
              </a:rPr>
              <a:t>시간충돌</a:t>
            </a:r>
            <a:r>
              <a:rPr sz="1230" b="0" dirty="0">
                <a:solidFill>
                  <a:srgbClr val="6B7480"/>
                </a:solidFill>
                <a:latin typeface="맑은 고딕"/>
                <a:ea typeface="맑은 고딕"/>
              </a:rPr>
              <a:t> RAG </a:t>
            </a:r>
            <a:r>
              <a:rPr sz="1230" b="0" dirty="0" err="1">
                <a:solidFill>
                  <a:srgbClr val="6B7480"/>
                </a:solidFill>
                <a:latin typeface="맑은 고딕"/>
                <a:ea typeface="맑은 고딕"/>
              </a:rPr>
              <a:t>하나의</a:t>
            </a:r>
            <a:r>
              <a:rPr sz="123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230" b="0" dirty="0" err="1">
                <a:solidFill>
                  <a:srgbClr val="6B7480"/>
                </a:solidFill>
                <a:latin typeface="맑은 고딕"/>
                <a:ea typeface="맑은 고딕"/>
              </a:rPr>
              <a:t>문제를</a:t>
            </a:r>
            <a:r>
              <a:rPr sz="123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230" b="0" dirty="0" err="1">
                <a:solidFill>
                  <a:srgbClr val="6B7480"/>
                </a:solidFill>
                <a:latin typeface="맑은 고딕"/>
                <a:ea typeface="맑은 고딕"/>
              </a:rPr>
              <a:t>논문</a:t>
            </a:r>
            <a:r>
              <a:rPr sz="123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230" b="0" dirty="0" err="1">
                <a:solidFill>
                  <a:srgbClr val="6B7480"/>
                </a:solidFill>
                <a:latin typeface="맑은 고딕"/>
                <a:ea typeface="맑은 고딕"/>
              </a:rPr>
              <a:t>타입을</a:t>
            </a:r>
            <a:r>
              <a:rPr sz="123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230" b="0" dirty="0" err="1">
                <a:solidFill>
                  <a:srgbClr val="6B7480"/>
                </a:solidFill>
                <a:latin typeface="맑은 고딕"/>
                <a:ea typeface="맑은 고딕"/>
              </a:rPr>
              <a:t>바꿔가며</a:t>
            </a:r>
            <a:r>
              <a:rPr sz="123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230" b="0" dirty="0" err="1">
                <a:solidFill>
                  <a:srgbClr val="6B7480"/>
                </a:solidFill>
                <a:latin typeface="맑은 고딕"/>
                <a:ea typeface="맑은 고딕"/>
              </a:rPr>
              <a:t>세</a:t>
            </a:r>
            <a:r>
              <a:rPr sz="123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230" b="0" dirty="0" err="1">
                <a:solidFill>
                  <a:srgbClr val="6B7480"/>
                </a:solidFill>
                <a:latin typeface="맑은 고딕"/>
                <a:ea typeface="맑은 고딕"/>
              </a:rPr>
              <a:t>차례</a:t>
            </a:r>
            <a:r>
              <a:rPr sz="123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230" b="0" dirty="0" err="1">
                <a:solidFill>
                  <a:srgbClr val="6B7480"/>
                </a:solidFill>
                <a:latin typeface="맑은 고딕"/>
                <a:ea typeface="맑은 고딕"/>
              </a:rPr>
              <a:t>공략</a:t>
            </a:r>
            <a:endParaRPr sz="1230" b="0" dirty="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176576"/>
              </p:ext>
            </p:extLst>
          </p:nvPr>
        </p:nvGraphicFramePr>
        <p:xfrm>
          <a:off x="548640" y="1818639"/>
          <a:ext cx="11091672" cy="3712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6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1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버전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· </a:t>
                      </a: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  <a:endParaRPr sz="11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시도했나</a:t>
                      </a:r>
                      <a:endParaRPr sz="11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얻었나</a:t>
                      </a:r>
                      <a:endParaRPr sz="11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멈췄나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전환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이유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V1 · TV-RAG</a:t>
                      </a:r>
                    </a:p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40" b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해결 (Mitigation)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올바른 시점 문서를 선택할 때만 보상하는 </a:t>
                      </a: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강화학습(GRPO) 보상 모델</a:t>
                      </a: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설계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4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규모·유형</a:t>
                      </a:r>
                      <a:r>
                        <a:rPr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무관</a:t>
                      </a:r>
                      <a:r>
                        <a:rPr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08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시간적 충돌 </a:t>
                      </a:r>
                      <a:r>
                        <a:rPr sz="108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취약성</a:t>
                      </a:r>
                      <a:r>
                        <a:rPr sz="108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8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실증</a:t>
                      </a:r>
                      <a:endParaRPr lang="en-US" sz="1080" b="1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indent="-171450" algn="l">
                        <a:lnSpc>
                          <a:spcPct val="114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모델이</a:t>
                      </a:r>
                      <a:r>
                        <a:rPr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제시한 근거의 오류율 &gt; 정답 오류율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5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•  </a:t>
                      </a:r>
                      <a:r>
                        <a:rPr sz="105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동시기</a:t>
                      </a:r>
                      <a:r>
                        <a:rPr sz="105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선점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 </a:t>
                      </a:r>
                      <a:r>
                        <a:rPr sz="105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LegalSearch-R1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('26)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에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거의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동일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선점</a:t>
                      </a:r>
                      <a:endParaRPr sz="1050" b="0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5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•  </a:t>
                      </a:r>
                      <a:r>
                        <a:rPr sz="105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더</a:t>
                      </a:r>
                      <a:r>
                        <a:rPr sz="105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쉬운</a:t>
                      </a:r>
                      <a:r>
                        <a:rPr sz="105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방법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 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규칙기반·그래프가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이미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처리</a:t>
                      </a:r>
                      <a:endParaRPr sz="1050" b="0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V2 · </a:t>
                      </a:r>
                      <a:r>
                        <a:rPr sz="1120" b="1" dirty="0" err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평가</a:t>
                      </a:r>
                      <a:r>
                        <a:rPr sz="112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맹점</a:t>
                      </a:r>
                      <a:endParaRPr sz="1120" b="1" dirty="0">
                        <a:solidFill>
                          <a:srgbClr val="273A52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40" b="0" dirty="0" err="1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진단</a:t>
                      </a:r>
                      <a:r>
                        <a:rPr sz="104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 (Diagnosis)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기존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인용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지표가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틀린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시점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문서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인용도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통과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시키는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맹점을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진단</a:t>
                      </a:r>
                      <a:endParaRPr sz="1120" b="0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4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인용과</a:t>
                      </a:r>
                      <a:r>
                        <a:rPr lang="en-US"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정답</a:t>
                      </a:r>
                      <a:r>
                        <a:rPr lang="en-US"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내용이</a:t>
                      </a:r>
                      <a:r>
                        <a:rPr lang="en-US"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다른</a:t>
                      </a:r>
                      <a:r>
                        <a:rPr lang="en-US"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경우</a:t>
                      </a:r>
                      <a:r>
                        <a:rPr lang="en-US"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존재</a:t>
                      </a:r>
                      <a:endParaRPr lang="en-US" sz="1080" b="0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indent="-171450" algn="l">
                        <a:lnSpc>
                          <a:spcPct val="114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표준</a:t>
                      </a:r>
                      <a:r>
                        <a:rPr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인용지표가</a:t>
                      </a:r>
                      <a:r>
                        <a:rPr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틀린</a:t>
                      </a:r>
                      <a:r>
                        <a:rPr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답도</a:t>
                      </a:r>
                      <a:r>
                        <a:rPr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통과</a:t>
                      </a:r>
                      <a:r>
                        <a:rPr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08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맹점</a:t>
                      </a:r>
                      <a:r>
                        <a:rPr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lang="en-US" sz="1080" b="0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4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•  </a:t>
                      </a:r>
                      <a:r>
                        <a:rPr sz="105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기여도</a:t>
                      </a:r>
                      <a:r>
                        <a:rPr sz="105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한계</a:t>
                      </a:r>
                      <a:r>
                        <a:rPr lang="ko-KR" altLang="en-US"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 지표 맹점 진단만으로는 기여 폭이 좁음</a:t>
                      </a:r>
                      <a:endParaRPr sz="1019" b="0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V3 · GoldCite</a:t>
                      </a:r>
                    </a:p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40" b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지표 제안 (Metric)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올바른 시점 기준 문서만 인정하는 </a:t>
                      </a: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시점-유효 인용 지표</a:t>
                      </a: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+ 오류 진단 프레임 설계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4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8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  <a:endParaRPr lang="ko-KR" altLang="en-US" sz="1080" b="0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5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•  </a:t>
                      </a:r>
                      <a:r>
                        <a:rPr sz="105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선점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 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유사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GaRAGe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, ACL'25) </a:t>
                      </a:r>
                      <a:r>
                        <a:rPr sz="105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발표</a:t>
                      </a:r>
                      <a:endParaRPr sz="1050" b="0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5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•  </a:t>
                      </a:r>
                      <a:r>
                        <a:rPr sz="105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데이터</a:t>
                      </a:r>
                      <a:r>
                        <a:rPr sz="105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희소</a:t>
                      </a:r>
                      <a:r>
                        <a:rPr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시간충돌 사례 부족으로 효용성 입증 부족</a:t>
                      </a:r>
                      <a:endParaRPr sz="1050" b="0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805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연구 여정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② 전환의 계기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선행 실험의 한계와 ThinkConflict의 출발점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4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23834"/>
            <a:ext cx="11091672" cy="311752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① 선행 실험이 남긴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44320"/>
            <a:ext cx="545896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77339"/>
            <a:ext cx="5458968" cy="24541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V1 · TV-RAG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파일럿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— "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기존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LLM이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시간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충돌에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취약한가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?"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100" b="1" dirty="0" err="1">
                <a:solidFill>
                  <a:srgbClr val="273A52"/>
                </a:solidFill>
                <a:latin typeface="맑은 고딕"/>
                <a:ea typeface="맑은 고딕"/>
              </a:rPr>
              <a:t>실험</a:t>
            </a:r>
            <a:r>
              <a:rPr sz="11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73A52"/>
                </a:solidFill>
                <a:latin typeface="맑은 고딕"/>
                <a:ea typeface="맑은 고딕"/>
              </a:rPr>
              <a:t>환경</a:t>
            </a:r>
            <a:endParaRPr sz="110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•  </a:t>
            </a:r>
            <a:r>
              <a:rPr sz="1050" b="1" dirty="0" err="1">
                <a:solidFill>
                  <a:srgbClr val="273A52"/>
                </a:solidFill>
                <a:latin typeface="맑은 고딕"/>
                <a:ea typeface="맑은 고딕"/>
              </a:rPr>
              <a:t>모델</a:t>
            </a: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  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GPT-4.1 · Llama-3.1-70B-Instruct-AWQ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•  </a:t>
            </a:r>
            <a:r>
              <a:rPr sz="1050" b="1" dirty="0" err="1">
                <a:solidFill>
                  <a:srgbClr val="273A52"/>
                </a:solidFill>
                <a:latin typeface="맑은 고딕"/>
                <a:ea typeface="맑은 고딕"/>
              </a:rPr>
              <a:t>데이터</a:t>
            </a: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  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T</a:t>
            </a:r>
            <a:r>
              <a:rPr lang="en-US" sz="1050" dirty="0">
                <a:solidFill>
                  <a:srgbClr val="1E2227"/>
                </a:solidFill>
                <a:latin typeface="맑은 고딕"/>
                <a:ea typeface="맑은 고딕"/>
              </a:rPr>
              <a:t>C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-RAG (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HoH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위키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편집이력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) —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무충돌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599 ·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충돌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1,247건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•  </a:t>
            </a:r>
            <a:r>
              <a:rPr sz="1050" b="1" dirty="0" err="1">
                <a:solidFill>
                  <a:srgbClr val="273A52"/>
                </a:solidFill>
                <a:latin typeface="맑은 고딕"/>
                <a:ea typeface="맑은 고딕"/>
              </a:rPr>
              <a:t>지표</a:t>
            </a: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 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정답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F1(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토큰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일치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) ·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근거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정확도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(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고른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문서가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정답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시점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문서인가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100" b="1" dirty="0" err="1">
                <a:solidFill>
                  <a:srgbClr val="273A52"/>
                </a:solidFill>
                <a:latin typeface="맑은 고딕"/>
                <a:ea typeface="맑은 고딕"/>
              </a:rPr>
              <a:t>결과</a:t>
            </a:r>
            <a:endParaRPr sz="110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• 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충돌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문서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개입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시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두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모델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급락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—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정답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 F1 0.81→0.65 ·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근거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정확도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 0.74→0.57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• 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근거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정확도가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정답률보다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더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하락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→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정답만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보면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근거·시점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실패가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안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보임</a:t>
            </a:r>
            <a:endParaRPr sz="1050" b="0" dirty="0">
              <a:solidFill>
                <a:srgbClr val="1E2227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81344" y="1544320"/>
            <a:ext cx="545896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81344" y="1577339"/>
            <a:ext cx="5458968" cy="24541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V2 ·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인용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평가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맹점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— "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표준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지표가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틀린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답을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걸러내나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?"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100" b="1" dirty="0" err="1">
                <a:solidFill>
                  <a:srgbClr val="273A52"/>
                </a:solidFill>
                <a:latin typeface="맑은 고딕"/>
                <a:ea typeface="맑은 고딕"/>
              </a:rPr>
              <a:t>실험</a:t>
            </a:r>
            <a:r>
              <a:rPr sz="11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73A52"/>
                </a:solidFill>
                <a:latin typeface="맑은 고딕"/>
                <a:ea typeface="맑은 고딕"/>
              </a:rPr>
              <a:t>환경</a:t>
            </a:r>
            <a:endParaRPr sz="110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•  </a:t>
            </a:r>
            <a:r>
              <a:rPr sz="1050" b="1" dirty="0" err="1">
                <a:solidFill>
                  <a:srgbClr val="273A52"/>
                </a:solidFill>
                <a:latin typeface="맑은 고딕"/>
                <a:ea typeface="맑은 고딕"/>
              </a:rPr>
              <a:t>모델</a:t>
            </a: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  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GPT-5.5 · Gemini 3.1 Pro · Qwen3-32B · Qwen3-8B · Mistral-24B (5종)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•  </a:t>
            </a:r>
            <a:r>
              <a:rPr sz="1050" b="1" dirty="0" err="1">
                <a:solidFill>
                  <a:srgbClr val="273A52"/>
                </a:solidFill>
                <a:latin typeface="맑은 고딕"/>
                <a:ea typeface="맑은 고딕"/>
              </a:rPr>
              <a:t>데이터</a:t>
            </a: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 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HoH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통제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219건 +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실제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웹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rag_conflicts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51건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•  </a:t>
            </a:r>
            <a:r>
              <a:rPr sz="1050" b="1" dirty="0" err="1">
                <a:solidFill>
                  <a:srgbClr val="273A52"/>
                </a:solidFill>
                <a:latin typeface="맑은 고딕"/>
                <a:ea typeface="맑은 고딕"/>
              </a:rPr>
              <a:t>지표</a:t>
            </a:r>
            <a:r>
              <a:rPr sz="1050" b="1" dirty="0">
                <a:solidFill>
                  <a:srgbClr val="273A52"/>
                </a:solidFill>
                <a:latin typeface="맑은 고딕"/>
                <a:ea typeface="맑은 고딕"/>
              </a:rPr>
              <a:t> 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인용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통과율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=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틀린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답인데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표준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인용지표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(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CitePrec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)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가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통과시킨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비율</a:t>
            </a:r>
            <a:endParaRPr sz="105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100" b="1" dirty="0" err="1">
                <a:solidFill>
                  <a:srgbClr val="273A52"/>
                </a:solidFill>
                <a:latin typeface="맑은 고딕"/>
                <a:ea typeface="맑은 고딕"/>
              </a:rPr>
              <a:t>결과</a:t>
            </a:r>
            <a:endParaRPr sz="110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• 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틀린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답의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81~100%를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인용지표가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 '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정상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인용'으로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1E2227"/>
                </a:solidFill>
                <a:latin typeface="맑은 고딕"/>
                <a:ea typeface="맑은 고딕"/>
              </a:rPr>
              <a:t>통과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(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GPT조차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100%)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•  </a:t>
            </a:r>
            <a:r>
              <a:rPr sz="1050" b="1" dirty="0">
                <a:solidFill>
                  <a:srgbClr val="1E2227"/>
                </a:solidFill>
                <a:latin typeface="맑은 고딕"/>
                <a:ea typeface="맑은 고딕"/>
              </a:rPr>
              <a:t>faithful-wrong 59~76%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: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문서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빼면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답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바뀜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=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진짜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그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문서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보고</a:t>
            </a:r>
            <a:r>
              <a:rPr sz="10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E2227"/>
                </a:solidFill>
                <a:latin typeface="맑은 고딕"/>
                <a:ea typeface="맑은 고딕"/>
              </a:rPr>
              <a:t>틀림</a:t>
            </a:r>
            <a:endParaRPr sz="1050" b="0" dirty="0">
              <a:solidFill>
                <a:srgbClr val="1E2227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223066"/>
            <a:ext cx="11091672" cy="311752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②  두 실험의 공통 발견     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정답(EM)은 맞혔지만 근거와 시점을 제대로 짚지 못해, </a:t>
            </a: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답과 근거가 따로 놀았다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  → '어디서·왜 틀렸나'를 진단해야</a:t>
            </a:r>
            <a:endParaRPr sz="1300" b="1" dirty="0">
              <a:solidFill>
                <a:srgbClr val="1E2227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4764992"/>
            <a:ext cx="11091672" cy="311752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③ 그래서 ThinkConflict로 전환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   — 관측 대상 · 충돌 범위 · 기여 수준을 전환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10480"/>
            <a:ext cx="3584448" cy="33020"/>
          </a:xfrm>
          <a:prstGeom prst="rect">
            <a:avLst/>
          </a:prstGeom>
          <a:solidFill>
            <a:srgbClr val="1E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5143500"/>
            <a:ext cx="3584448" cy="10642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관측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대상</a:t>
            </a:r>
            <a:endParaRPr sz="120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표면적인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인용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지표만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보던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관점에서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,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추론</a:t>
            </a:r>
            <a:r>
              <a:rPr sz="1100" b="1" dirty="0">
                <a:solidFill>
                  <a:srgbClr val="1E7A6F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궤적과</a:t>
            </a:r>
            <a:r>
              <a:rPr sz="1100" b="1" dirty="0">
                <a:solidFill>
                  <a:srgbClr val="1E7A6F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답변을</a:t>
            </a:r>
            <a:r>
              <a:rPr sz="1100" b="1" dirty="0">
                <a:solidFill>
                  <a:srgbClr val="1E7A6F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함께</a:t>
            </a:r>
            <a:r>
              <a:rPr sz="1100" b="1" dirty="0">
                <a:solidFill>
                  <a:srgbClr val="1E7A6F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대조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하는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쪽으로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넓혔습니다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5110480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5143500"/>
            <a:ext cx="3584448" cy="10642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충돌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범위</a:t>
            </a:r>
            <a:endParaRPr sz="120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시간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충돌만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다루던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범위에서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,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일반</a:t>
            </a:r>
            <a:r>
              <a:rPr sz="1100" b="1" dirty="0">
                <a:solidFill>
                  <a:srgbClr val="1E7A6F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지식</a:t>
            </a:r>
            <a:r>
              <a:rPr sz="1100" b="1" dirty="0">
                <a:solidFill>
                  <a:srgbClr val="1E7A6F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충돌</a:t>
            </a:r>
            <a:r>
              <a:rPr sz="1100" b="1" dirty="0">
                <a:solidFill>
                  <a:srgbClr val="1E7A6F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전체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로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넓혔습니다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5110480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5143500"/>
            <a:ext cx="3584448" cy="10642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기여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수준</a:t>
            </a:r>
            <a:endParaRPr sz="120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현상을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측정·보고하던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수준에서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,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어디서·왜</a:t>
            </a:r>
            <a:r>
              <a:rPr sz="1100" b="1" dirty="0">
                <a:solidFill>
                  <a:srgbClr val="1E7A6F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틀렸는지</a:t>
            </a:r>
            <a:r>
              <a:rPr sz="1100" b="1" dirty="0">
                <a:solidFill>
                  <a:srgbClr val="1E7A6F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밝히는</a:t>
            </a:r>
            <a:r>
              <a:rPr sz="1100" b="1" dirty="0">
                <a:solidFill>
                  <a:srgbClr val="1E7A6F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A6F"/>
                </a:solidFill>
                <a:latin typeface="맑은 고딕"/>
                <a:ea typeface="맑은 고딕"/>
              </a:rPr>
              <a:t>수준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으로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나아갔습니다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5406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§1 서론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§1.1 연구 동기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배경과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문제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: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충돌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lang="ko-KR" altLang="en-US" sz="2350" b="1" dirty="0">
                <a:solidFill>
                  <a:srgbClr val="273A52"/>
                </a:solidFill>
                <a:latin typeface="맑은 고딕"/>
                <a:ea typeface="맑은 고딕"/>
              </a:rPr>
              <a:t>환경에서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실패를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'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단계별'로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진단할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지표가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없다</a:t>
            </a:r>
            <a:endParaRPr sz="2350" b="1" dirty="0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5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270000"/>
            <a:ext cx="11091672" cy="1024128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720" rIns="180000" bIns="45720" rtlCol="0" anchor="ctr" anchorCtr="0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1" dirty="0" err="1">
                <a:solidFill>
                  <a:srgbClr val="C9D3E0"/>
                </a:solidFill>
                <a:latin typeface="맑은 고딕"/>
                <a:ea typeface="맑은 고딕"/>
              </a:rPr>
              <a:t>문제</a:t>
            </a:r>
            <a:r>
              <a:rPr sz="1150" b="1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50" b="1" dirty="0" err="1">
                <a:solidFill>
                  <a:srgbClr val="C9D3E0"/>
                </a:solidFill>
                <a:latin typeface="맑은 고딕"/>
                <a:ea typeface="맑은 고딕"/>
              </a:rPr>
              <a:t>제기</a:t>
            </a:r>
            <a:r>
              <a:rPr sz="1150" b="1" dirty="0">
                <a:solidFill>
                  <a:srgbClr val="C9D3E0"/>
                </a:solidFill>
                <a:latin typeface="맑은 고딕"/>
                <a:ea typeface="맑은 고딕"/>
              </a:rPr>
              <a:t>     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</a:rPr>
              <a:t>RAG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</a:rPr>
              <a:t>문서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</a:rPr>
              <a:t>충돌은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</a:rPr>
              <a:t>흔한데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</a:rPr>
              <a:t>,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</a:rPr>
              <a:t>충돌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</a:rPr>
              <a:t>하에서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</a:rPr>
              <a:t>모델이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'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왜·어디서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맞고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틀렸는지'를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재는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진단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지표가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없다</a:t>
            </a:r>
            <a:endParaRPr sz="1250" b="1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C9D3E0"/>
                </a:solidFill>
                <a:latin typeface="맑은 고딕"/>
                <a:ea typeface="맑은 고딕"/>
              </a:rPr>
              <a:t>		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같은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정답도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대조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추론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vs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우연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이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섞이고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같은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오답도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못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봄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오판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표출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실패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가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한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숫자에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뭉개지는데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이를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갈라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볼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도구가</a:t>
            </a:r>
            <a:r>
              <a:rPr sz="1100" b="0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C9D3E0"/>
                </a:solidFill>
                <a:latin typeface="맑은 고딕"/>
                <a:ea typeface="맑은 고딕"/>
              </a:rPr>
              <a:t>없다</a:t>
            </a:r>
            <a:endParaRPr sz="1100" b="0" dirty="0">
              <a:solidFill>
                <a:srgbClr val="C9D3E0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430842"/>
            <a:ext cx="11091672" cy="308739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근거 ① 충돌은 흔하고 실재한다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7904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820924"/>
            <a:ext cx="3584448" cy="16469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2700" b="1" dirty="0">
                <a:solidFill>
                  <a:srgbClr val="273A52"/>
                </a:solidFill>
                <a:latin typeface="맑은 고딕"/>
                <a:ea typeface="맑은 고딕"/>
              </a:rPr>
              <a:t>40%</a:t>
            </a:r>
            <a:r>
              <a:rPr sz="1100" b="0" dirty="0">
                <a:solidFill>
                  <a:srgbClr val="6B7480"/>
                </a:solidFill>
                <a:latin typeface="맑은 고딕"/>
                <a:ea typeface="맑은 고딕"/>
              </a:rPr>
              <a:t>  (182/458)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실제 구글 검색 결과에서 문서가 명시적으로 상충한 비율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ko-KR" sz="1000" b="0" dirty="0">
                <a:solidFill>
                  <a:srgbClr val="6B7480"/>
                </a:solidFill>
                <a:latin typeface="맑은 고딕"/>
                <a:ea typeface="맑은 고딕"/>
              </a:rPr>
              <a:t>(충돌 유형: 상보 정보·상충 의견·시효·오정보)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dirty="0">
                <a:solidFill>
                  <a:srgbClr val="1E7A6F"/>
                </a:solidFill>
                <a:latin typeface="맑은 고딕"/>
                <a:ea typeface="맑은 고딕"/>
              </a:rPr>
              <a:t>DRAGged · Cattan et al. (2025)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87904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2820924"/>
            <a:ext cx="3584448" cy="16469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2700" b="1" dirty="0">
                <a:solidFill>
                  <a:srgbClr val="273A52"/>
                </a:solidFill>
                <a:latin typeface="맑은 고딕"/>
                <a:ea typeface="맑은 고딕"/>
              </a:rPr>
              <a:t>25%</a:t>
            </a:r>
            <a:r>
              <a:rPr sz="1100" b="0" dirty="0">
                <a:solidFill>
                  <a:srgbClr val="6B7480"/>
                </a:solidFill>
                <a:latin typeface="맑은 고딕"/>
                <a:ea typeface="맑은 고딕"/>
              </a:rPr>
              <a:t>  (381/1,617)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모호하지 않은 오픈 도메인 질문조차 구글 검색으로 가져온 문맥이 서로 충돌한 비율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ko-KR" sz="1000" b="0" dirty="0">
                <a:solidFill>
                  <a:srgbClr val="6B7480"/>
                </a:solidFill>
                <a:latin typeface="맑은 고딕"/>
                <a:ea typeface="맑은 고딕"/>
              </a:rPr>
              <a:t>(주로 오정보·시효성 등 웹문서 간 사실 불일치)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dirty="0">
                <a:solidFill>
                  <a:srgbClr val="1E7A6F"/>
                </a:solidFill>
                <a:latin typeface="맑은 고딕"/>
                <a:ea typeface="맑은 고딕"/>
              </a:rPr>
              <a:t>QACC · Liu et al. (Findings of NAACL 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787904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2820924"/>
            <a:ext cx="3584448" cy="16469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2700" b="1" dirty="0">
                <a:solidFill>
                  <a:srgbClr val="273A52"/>
                </a:solidFill>
                <a:latin typeface="맑은 고딕"/>
                <a:ea typeface="맑은 고딕"/>
              </a:rPr>
              <a:t>50%</a:t>
            </a:r>
            <a:r>
              <a:rPr sz="1100" b="0" dirty="0">
                <a:solidFill>
                  <a:srgbClr val="6B7480"/>
                </a:solidFill>
                <a:latin typeface="맑은 고딕"/>
                <a:ea typeface="맑은 고딕"/>
              </a:rPr>
              <a:t>  (130/261 태그)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편집자가 지목한 모순 태그가 인간 검증에서 진짜로 확인된 비율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ko-KR" sz="1000" b="0" dirty="0">
                <a:solidFill>
                  <a:srgbClr val="6B7480"/>
                </a:solidFill>
                <a:latin typeface="맑은 고딕"/>
                <a:ea typeface="맑은 고딕"/>
              </a:rPr>
              <a:t>(고품질 코퍼스인 위키백과에도 명시적·암묵적 모순 실재)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dirty="0">
                <a:solidFill>
                  <a:srgbClr val="1E7A6F"/>
                </a:solidFill>
                <a:latin typeface="맑은 고딕"/>
                <a:ea typeface="맑은 고딕"/>
              </a:rPr>
              <a:t>WikiContradict · Hou et al. (NeurIPS 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9714"/>
            <a:ext cx="11091672" cy="308739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algn="l">
              <a:lnSpc>
                <a:spcPct val="120000"/>
              </a:lnSpc>
              <a:spcAft>
                <a:spcPts val="45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근거 ② 기존 지표는 이 '왜·어디서'를 재도록 만들어지지 않았다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8898"/>
            <a:ext cx="11091672" cy="283796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marL="171450" indent="-171450" algn="l">
              <a:lnSpc>
                <a:spcPct val="12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1E2227"/>
                </a:solidFill>
                <a:latin typeface="맑은 고딕"/>
                <a:ea typeface="맑은 고딕"/>
              </a:rPr>
              <a:t>정답률(EM, 완전 일치) · 정확도</a:t>
            </a:r>
            <a:r>
              <a:rPr sz="1150" b="0" dirty="0">
                <a:solidFill>
                  <a:srgbClr val="6B7480"/>
                </a:solidFill>
                <a:latin typeface="맑은 고딕"/>
                <a:ea typeface="맑은 고딕"/>
              </a:rPr>
              <a:t>  —  </a:t>
            </a:r>
            <a:r>
              <a:rPr sz="1150" b="0" dirty="0">
                <a:solidFill>
                  <a:srgbClr val="1E2227"/>
                </a:solidFill>
                <a:latin typeface="맑은 고딕"/>
                <a:ea typeface="맑은 고딕"/>
              </a:rPr>
              <a:t>‘얼마나 맞혔나’를 재는 지표로, 애초에 이유·단계를 측정하도록 설계되지 않았다.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75655"/>
            <a:ext cx="11091672" cy="496098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marL="171450" indent="-171450" algn="l">
              <a:lnSpc>
                <a:spcPct val="12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1E2227"/>
                </a:solidFill>
                <a:latin typeface="맑은 고딕"/>
                <a:ea typeface="맑은 고딕"/>
              </a:rPr>
              <a:t>근거 인용 지표 (ALCE; Gao et al., 2023)</a:t>
            </a:r>
            <a:r>
              <a:rPr sz="1150" b="0" dirty="0">
                <a:solidFill>
                  <a:srgbClr val="6B7480"/>
                </a:solidFill>
                <a:latin typeface="맑은 고딕"/>
                <a:ea typeface="맑은 고딕"/>
              </a:rPr>
              <a:t>  —  </a:t>
            </a:r>
            <a:r>
              <a:rPr sz="1150" b="0" dirty="0">
                <a:solidFill>
                  <a:srgbClr val="1E2227"/>
                </a:solidFill>
                <a:latin typeface="맑은 고딕"/>
                <a:ea typeface="맑은 고딕"/>
              </a:rPr>
              <a:t>모델의 답이 인용한 근거와 맞는지(인용 정밀도·재현율)만 잴 뿐, 그 답이 정답인지와 실패가 어느 단계에서 왔는지는 보지 못한다.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09222"/>
            <a:ext cx="11091672" cy="286489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1150" b="0" dirty="0">
                <a:solidFill>
                  <a:srgbClr val="1E2227"/>
                </a:solidFill>
                <a:latin typeface="맑은 고딕"/>
                <a:ea typeface="맑은 고딕"/>
              </a:rPr>
              <a:t>→ 결국 </a:t>
            </a:r>
            <a:r>
              <a:rPr sz="1150" b="1" dirty="0" err="1">
                <a:solidFill>
                  <a:srgbClr val="273A52"/>
                </a:solidFill>
                <a:latin typeface="맑은 고딕"/>
                <a:ea typeface="맑은 고딕"/>
              </a:rPr>
              <a:t>충돌</a:t>
            </a:r>
            <a:r>
              <a:rPr sz="11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dirty="0">
                <a:solidFill>
                  <a:srgbClr val="273A52"/>
                </a:solidFill>
                <a:latin typeface="맑은 고딕"/>
                <a:ea typeface="맑은 고딕"/>
              </a:rPr>
              <a:t>환경에서</a:t>
            </a:r>
            <a:r>
              <a:rPr sz="1150" b="1" dirty="0">
                <a:solidFill>
                  <a:srgbClr val="273A52"/>
                </a:solidFill>
                <a:latin typeface="맑은 고딕"/>
                <a:ea typeface="맑은 고딕"/>
              </a:rPr>
              <a:t> 실패의 원인을 단계별로 갈라 진단하는 지표 자체가 없다</a:t>
            </a:r>
            <a:r>
              <a:rPr sz="1150" b="0" dirty="0">
                <a:solidFill>
                  <a:srgbClr val="1E2227"/>
                </a:solidFill>
                <a:latin typeface="맑은 고딕"/>
                <a:ea typeface="맑은 고딕"/>
              </a:rPr>
              <a:t>. 본 연구가 바로 그 </a:t>
            </a:r>
            <a:r>
              <a:rPr sz="1150" b="0" dirty="0" err="1">
                <a:solidFill>
                  <a:srgbClr val="1E2227"/>
                </a:solidFill>
                <a:latin typeface="맑은 고딕"/>
                <a:ea typeface="맑은 고딕"/>
              </a:rPr>
              <a:t>도구를</a:t>
            </a:r>
            <a:r>
              <a:rPr sz="115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E2227"/>
                </a:solidFill>
                <a:latin typeface="맑은 고딕"/>
                <a:ea typeface="맑은 고딕"/>
              </a:rPr>
              <a:t>만든다</a:t>
            </a:r>
            <a:r>
              <a:rPr lang="en-US" altLang="ko-KR" sz="1150" b="0" dirty="0">
                <a:solidFill>
                  <a:srgbClr val="1E2227"/>
                </a:solidFill>
                <a:latin typeface="맑은 고딕"/>
                <a:ea typeface="맑은 고딕"/>
              </a:rPr>
              <a:t>.</a:t>
            </a:r>
            <a:endParaRPr sz="1150" b="0" dirty="0">
              <a:solidFill>
                <a:srgbClr val="1E2227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6006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§1 서론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§1.1 연구 동기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추론 트레이스: 모델의 사고 과정을 여는 진단 창구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6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270000"/>
            <a:ext cx="11091672" cy="658368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720" rIns="180000" bIns="45720" rtlCol="0" anchor="ctr" anchorCtr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dirty="0" err="1">
                <a:solidFill>
                  <a:srgbClr val="C9D3E0"/>
                </a:solidFill>
                <a:latin typeface="맑은 고딕"/>
                <a:ea typeface="맑은 고딕"/>
              </a:rPr>
              <a:t>본</a:t>
            </a:r>
            <a:r>
              <a:rPr sz="1150" b="1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50" b="1" dirty="0" err="1">
                <a:solidFill>
                  <a:srgbClr val="C9D3E0"/>
                </a:solidFill>
                <a:latin typeface="맑은 고딕"/>
                <a:ea typeface="맑은 고딕"/>
              </a:rPr>
              <a:t>연구의</a:t>
            </a:r>
            <a:r>
              <a:rPr sz="1150" b="1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50" b="1" dirty="0" err="1">
                <a:solidFill>
                  <a:srgbClr val="C9D3E0"/>
                </a:solidFill>
                <a:latin typeface="맑은 고딕"/>
                <a:ea typeface="맑은 고딕"/>
              </a:rPr>
              <a:t>자리</a:t>
            </a:r>
            <a:r>
              <a:rPr sz="1150" b="1" dirty="0">
                <a:solidFill>
                  <a:srgbClr val="C9D3E0"/>
                </a:solidFill>
                <a:latin typeface="맑은 고딕"/>
                <a:ea typeface="맑은 고딕"/>
              </a:rPr>
              <a:t>    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추론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모델의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트레이스로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충돌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하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실패를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'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탐지·해소·표출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'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단계별로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진단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</a:rPr>
              <a:t>한다</a:t>
            </a:r>
            <a:endParaRPr sz="1250" b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973642"/>
            <a:ext cx="11091672" cy="311752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왜 이제 가능한가 — 최근 연구가 </a:t>
            </a: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'프롬프트 CoT 분석'에서 '추론 모델 </a:t>
            </a:r>
            <a:r>
              <a:rPr lang="ko-KR"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트레이스</a:t>
            </a: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 분석'으로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 넘어오며 진단 방법론이 성숙했기 때문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67280"/>
            <a:ext cx="5029200" cy="33020"/>
          </a:xfrm>
          <a:prstGeom prst="rect">
            <a:avLst/>
          </a:prstGeom>
          <a:solidFill>
            <a:srgbClr val="A44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400300"/>
            <a:ext cx="5029200" cy="14351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73A52"/>
                </a:solidFill>
                <a:latin typeface="맑은 고딕"/>
                <a:ea typeface="맑은 고딕"/>
              </a:rPr>
              <a:t>① CoT 분석 계열 — 프롬프트 CoT</a:t>
            </a:r>
          </a:p>
          <a:p>
            <a:pPr algn="l">
              <a:lnSpc>
                <a:spcPct val="140000"/>
              </a:lnSpc>
              <a:spcAft>
                <a:spcPts val="450"/>
              </a:spcAft>
            </a:pPr>
            <a:r>
              <a:rPr sz="1120" b="0">
                <a:solidFill>
                  <a:srgbClr val="1E2227"/>
                </a:solidFill>
                <a:latin typeface="맑은 고딕"/>
                <a:ea typeface="맑은 고딕"/>
              </a:rPr>
              <a:t>프롬프트로 강제한 CoT는 정답을 </a:t>
            </a:r>
            <a:r>
              <a:rPr sz="1120" b="1">
                <a:solidFill>
                  <a:srgbClr val="1E2227"/>
                </a:solidFill>
                <a:latin typeface="맑은 고딕"/>
                <a:ea typeface="맑은 고딕"/>
              </a:rPr>
              <a:t>사후에 정당화</a:t>
            </a:r>
            <a:r>
              <a:rPr sz="1120" b="0">
                <a:solidFill>
                  <a:srgbClr val="1E2227"/>
                </a:solidFill>
                <a:latin typeface="맑은 고딕"/>
                <a:ea typeface="맑은 고딕"/>
              </a:rPr>
              <a:t>하기 쉬워, 내부 계산에 대한 '충실성'은 잴 수 없다</a:t>
            </a:r>
          </a:p>
          <a:p>
            <a:pPr algn="l">
              <a:lnSpc>
                <a:spcPct val="140000"/>
              </a:lnSpc>
              <a:spcAft>
                <a:spcPts val="450"/>
              </a:spcAft>
            </a:pPr>
            <a:r>
              <a:rPr sz="1120" b="0">
                <a:solidFill>
                  <a:srgbClr val="1E2227"/>
                </a:solidFill>
                <a:latin typeface="맑은 고딕"/>
                <a:ea typeface="맑은 고딕"/>
              </a:rPr>
              <a:t>→ 트레이스로 잴 수 있는 건 </a:t>
            </a:r>
            <a:r>
              <a:rPr sz="1120" b="1">
                <a:solidFill>
                  <a:srgbClr val="1E2227"/>
                </a:solidFill>
                <a:latin typeface="맑은 고딕"/>
                <a:ea typeface="맑은 고딕"/>
              </a:rPr>
              <a:t>출력 수준 '자기일관성'뿐</a:t>
            </a:r>
            <a:r>
              <a:rPr sz="1120" b="0">
                <a:solidFill>
                  <a:srgbClr val="1E2227"/>
                </a:solidFill>
                <a:latin typeface="맑은 고딕"/>
                <a:ea typeface="맑은 고딕"/>
              </a:rPr>
              <a:t>임을 정립</a:t>
            </a:r>
          </a:p>
          <a:p>
            <a:pPr algn="l">
              <a:lnSpc>
                <a:spcPct val="140000"/>
              </a:lnSpc>
              <a:spcAft>
                <a:spcPts val="450"/>
              </a:spcAft>
            </a:pPr>
            <a:r>
              <a:rPr sz="1040" b="0">
                <a:solidFill>
                  <a:srgbClr val="6B7480"/>
                </a:solidFill>
                <a:latin typeface="맑은 고딕"/>
                <a:ea typeface="맑은 고딕"/>
              </a:rPr>
              <a:t>Turpin (NeurIPS 2023) · Lanham (2023) · Parcalabescu &amp; Frank (ACL 2024)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41967" y="2951480"/>
            <a:ext cx="329184" cy="329184"/>
          </a:xfrm>
          <a:prstGeom prst="rightArrow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76312" y="2367280"/>
            <a:ext cx="5056632" cy="33020"/>
          </a:xfrm>
          <a:prstGeom prst="rect">
            <a:avLst/>
          </a:prstGeom>
          <a:solidFill>
            <a:srgbClr val="1E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76312" y="2400300"/>
            <a:ext cx="5056632" cy="14351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트레이스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분석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계열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—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추론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모델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&lt;think&gt;</a:t>
            </a:r>
          </a:p>
          <a:p>
            <a:pPr algn="l">
              <a:lnSpc>
                <a:spcPct val="140000"/>
              </a:lnSpc>
              <a:spcAft>
                <a:spcPts val="450"/>
              </a:spcAft>
            </a:pP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추론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모델이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추론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과정을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자발적으로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외부화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→ </a:t>
            </a:r>
            <a:r>
              <a:rPr lang="ko-KR" altLang="en-US"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트레이스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를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직접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읽고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개입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(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재샘플링·절단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)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하는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방법론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성숙</a:t>
            </a:r>
            <a:endParaRPr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algn="l">
              <a:lnSpc>
                <a:spcPct val="140000"/>
              </a:lnSpc>
              <a:spcAft>
                <a:spcPts val="450"/>
              </a:spcAft>
            </a:pP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→ </a:t>
            </a:r>
            <a:r>
              <a:rPr lang="ko-KR" altLang="en-US"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트레이스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가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불완전하지만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유용한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관측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신호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로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자리잡음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(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Korbak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2025)</a:t>
            </a:r>
          </a:p>
          <a:p>
            <a:pPr algn="l">
              <a:lnSpc>
                <a:spcPct val="140000"/>
              </a:lnSpc>
              <a:spcAft>
                <a:spcPts val="450"/>
              </a:spcAft>
            </a:pPr>
            <a:r>
              <a:rPr sz="1040" b="0" dirty="0">
                <a:solidFill>
                  <a:srgbClr val="6B7480"/>
                </a:solidFill>
                <a:latin typeface="맑은 고딕"/>
                <a:ea typeface="맑은 고딕"/>
              </a:rPr>
              <a:t>Bogdan (2025) · Macar (2025) </a:t>
            </a:r>
            <a:r>
              <a:rPr sz="1040" b="0" dirty="0" err="1">
                <a:solidFill>
                  <a:srgbClr val="6B7480"/>
                </a:solidFill>
                <a:latin typeface="맑은 고딕"/>
                <a:ea typeface="맑은 고딕"/>
              </a:rPr>
              <a:t>개입</a:t>
            </a:r>
            <a:r>
              <a:rPr sz="1040" b="0" dirty="0">
                <a:solidFill>
                  <a:srgbClr val="6B7480"/>
                </a:solidFill>
                <a:latin typeface="맑은 고딕"/>
                <a:ea typeface="맑은 고딕"/>
              </a:rPr>
              <a:t> · </a:t>
            </a:r>
            <a:r>
              <a:rPr sz="1040" b="0" dirty="0" err="1">
                <a:solidFill>
                  <a:srgbClr val="6B7480"/>
                </a:solidFill>
                <a:latin typeface="맑은 고딕"/>
                <a:ea typeface="맑은 고딕"/>
              </a:rPr>
              <a:t>Korbak</a:t>
            </a:r>
            <a:r>
              <a:rPr sz="1040" b="0" dirty="0">
                <a:solidFill>
                  <a:srgbClr val="6B7480"/>
                </a:solidFill>
                <a:latin typeface="맑은 고딕"/>
                <a:ea typeface="맑은 고딕"/>
              </a:rPr>
              <a:t> (2025) </a:t>
            </a:r>
            <a:r>
              <a:rPr sz="1040" b="0" dirty="0" err="1">
                <a:solidFill>
                  <a:srgbClr val="6B7480"/>
                </a:solidFill>
                <a:latin typeface="맑은 고딕"/>
                <a:ea typeface="맑은 고딕"/>
              </a:rPr>
              <a:t>모니터링</a:t>
            </a:r>
            <a:endParaRPr sz="1040" b="0" dirty="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105811"/>
            <a:ext cx="11091672" cy="23241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주장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범위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—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트레이스가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완벽한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거울은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아니어도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진단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기준으로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삼는</a:t>
            </a:r>
            <a:r>
              <a:rPr sz="12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273A52"/>
                </a:solidFill>
                <a:latin typeface="맑은 고딕"/>
                <a:ea typeface="맑은 고딕"/>
              </a:rPr>
              <a:t>근거</a:t>
            </a:r>
            <a:endParaRPr sz="125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10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Bogdan &amp; Macar (2025)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: </a:t>
            </a:r>
            <a:r>
              <a:rPr sz="1100" b="0" dirty="0">
                <a:solidFill>
                  <a:srgbClr val="6B7480"/>
                </a:solidFill>
                <a:latin typeface="맑은 고딕"/>
                <a:ea typeface="맑은 고딕"/>
              </a:rPr>
              <a:t>추론 중간의 문장 하나를 다른 문장으로 바꿔 넣고, 그 뒤를 여러 번 다시 생성해 답이 달라지는지 확인(=</a:t>
            </a:r>
            <a:r>
              <a:rPr sz="1100" b="0" dirty="0" err="1">
                <a:solidFill>
                  <a:srgbClr val="6B7480"/>
                </a:solidFill>
                <a:latin typeface="맑은 고딕"/>
                <a:ea typeface="맑은 고딕"/>
              </a:rPr>
              <a:t>재샘플링</a:t>
            </a:r>
            <a:r>
              <a:rPr sz="1100" b="0" dirty="0">
                <a:solidFill>
                  <a:srgbClr val="6B7480"/>
                </a:solidFill>
                <a:latin typeface="맑은 고딕"/>
                <a:ea typeface="맑은 고딕"/>
              </a:rPr>
              <a:t>)</a:t>
            </a:r>
            <a:br>
              <a:rPr lang="en-US" sz="1100" dirty="0">
                <a:solidFill>
                  <a:srgbClr val="1E2227"/>
                </a:solidFill>
                <a:latin typeface="맑은 고딕"/>
                <a:ea typeface="맑은 고딕"/>
              </a:rPr>
            </a:br>
            <a:r>
              <a:rPr sz="1100" dirty="0">
                <a:solidFill>
                  <a:srgbClr val="1E2227"/>
                </a:solidFill>
                <a:latin typeface="맑은 고딕"/>
                <a:ea typeface="맑은 고딕"/>
              </a:rPr>
              <a:t>→ 특정 문장이 최종 답을 실제로 좌우함 = 트레이스는 장식이 아니라 답을 만드는 실질 과정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10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Korbak et al. (2025)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: </a:t>
            </a:r>
            <a:r>
              <a:rPr sz="1100" b="0" dirty="0">
                <a:solidFill>
                  <a:srgbClr val="6B7480"/>
                </a:solidFill>
                <a:latin typeface="맑은 고딕"/>
                <a:ea typeface="맑은 고딕"/>
              </a:rPr>
              <a:t>추론 과정을 사람이 읽으며 감시할 때 잡아낼 수 있는 오작동·위험 신호 사례를 </a:t>
            </a:r>
            <a:r>
              <a:rPr sz="1100" b="0" dirty="0" err="1">
                <a:solidFill>
                  <a:srgbClr val="6B7480"/>
                </a:solidFill>
                <a:latin typeface="맑은 고딕"/>
                <a:ea typeface="맑은 고딕"/>
              </a:rPr>
              <a:t>검토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br>
              <a:rPr lang="en-US" sz="1100" dirty="0">
                <a:solidFill>
                  <a:srgbClr val="1E2227"/>
                </a:solidFill>
                <a:latin typeface="맑은 고딕"/>
                <a:ea typeface="맑은 고딕"/>
              </a:rPr>
            </a:b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→ 완벽한 감시법은 아니어도 다른 방법으론 못 잡는 문제를 드러냄 = 불완전해도 유용한 신호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10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Parcalabescu &amp; Frank (2024)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 : </a:t>
            </a:r>
            <a:r>
              <a:rPr sz="1100" b="0" dirty="0">
                <a:solidFill>
                  <a:srgbClr val="6B7480"/>
                </a:solidFill>
                <a:latin typeface="맑은 고딕"/>
                <a:ea typeface="맑은 고딕"/>
              </a:rPr>
              <a:t>기존 '충실성 테스트'들이 실제로 무엇을 측정하는지 비교 분석</a:t>
            </a:r>
            <a:br>
              <a:rPr lang="en-US" sz="1100" dirty="0">
                <a:solidFill>
                  <a:srgbClr val="1E2227"/>
                </a:solidFill>
                <a:latin typeface="맑은 고딕"/>
                <a:ea typeface="맑은 고딕"/>
              </a:rPr>
            </a:b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→ 기존 테스트가 재는 것은 내부 사고가 아니라 출력 간 일치(자기일관성) = 내부 충실성을 주장하지 않고 관찰 가능한 자기일관성만 측정</a:t>
            </a:r>
          </a:p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⇒ 본 연구도 트레이스를 완벽한 거울로 전제하지 않되, 이 근거에 기대어 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트레이스를 진단 기준으로 삼는다</a:t>
            </a:r>
            <a:r>
              <a:rPr sz="1100" b="0" dirty="0">
                <a:solidFill>
                  <a:srgbClr val="1E2227"/>
                </a:solidFill>
                <a:latin typeface="맑은 고딕"/>
                <a:ea typeface="맑은 고딕"/>
              </a:rPr>
              <a:t>. </a:t>
            </a:r>
            <a:r>
              <a:rPr lang="ko-KR" altLang="en-US" sz="1100" b="0" dirty="0">
                <a:solidFill>
                  <a:srgbClr val="1E2227"/>
                </a:solidFill>
                <a:latin typeface="맑은 고딕"/>
                <a:ea typeface="맑은 고딕"/>
              </a:rPr>
              <a:t>주장은 </a:t>
            </a:r>
            <a:r>
              <a:rPr lang="ko-KR" altLang="en-US"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자기일관성</a:t>
            </a:r>
            <a:r>
              <a:rPr lang="en-US" alt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(</a:t>
            </a:r>
            <a:r>
              <a:rPr lang="en-US" sz="1100" b="1" dirty="0">
                <a:solidFill>
                  <a:srgbClr val="1E2227"/>
                </a:solidFill>
                <a:latin typeface="맑은 고딕"/>
                <a:ea typeface="맑은 고딕"/>
              </a:rPr>
              <a:t>L-a)</a:t>
            </a:r>
            <a:r>
              <a:rPr lang="ko-KR" altLang="en-US" sz="1100" b="1" dirty="0">
                <a:solidFill>
                  <a:srgbClr val="1E2227"/>
                </a:solidFill>
                <a:latin typeface="맑은 고딕"/>
                <a:ea typeface="맑은 고딕"/>
              </a:rPr>
              <a:t>과 인과적 사용</a:t>
            </a:r>
            <a:r>
              <a:rPr lang="en-US" alt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(</a:t>
            </a:r>
            <a:r>
              <a:rPr lang="en-US" sz="1100" b="1" dirty="0">
                <a:solidFill>
                  <a:srgbClr val="1E2227"/>
                </a:solidFill>
                <a:latin typeface="맑은 고딕"/>
                <a:ea typeface="맑은 고딕"/>
              </a:rPr>
              <a:t>L-b)</a:t>
            </a:r>
            <a:r>
              <a:rPr lang="ko-KR" altLang="en-US"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에</a:t>
            </a:r>
            <a:r>
              <a:rPr lang="ko-KR" altLang="en-US" sz="1100" b="0" dirty="0">
                <a:solidFill>
                  <a:srgbClr val="1E2227"/>
                </a:solidFill>
                <a:latin typeface="맑은 고딕"/>
                <a:ea typeface="맑은 고딕"/>
              </a:rPr>
              <a:t> 한정하고</a:t>
            </a:r>
            <a:r>
              <a:rPr lang="en-US" alt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100" b="1" dirty="0">
                <a:solidFill>
                  <a:srgbClr val="1E2227"/>
                </a:solidFill>
                <a:latin typeface="맑은 고딕"/>
                <a:ea typeface="맑은 고딕"/>
              </a:rPr>
              <a:t>내부 </a:t>
            </a:r>
            <a:r>
              <a:rPr lang="ko-KR" altLang="en-US"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충실성</a:t>
            </a:r>
            <a:r>
              <a:rPr lang="en-US" alt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(</a:t>
            </a:r>
            <a:r>
              <a:rPr lang="en-US" sz="1100" b="1" dirty="0">
                <a:solidFill>
                  <a:srgbClr val="1E2227"/>
                </a:solidFill>
                <a:latin typeface="맑은 고딕"/>
                <a:ea typeface="맑은 고딕"/>
              </a:rPr>
              <a:t>L-c)</a:t>
            </a:r>
            <a:r>
              <a:rPr lang="ko-KR" altLang="en-US" sz="1100" b="1" dirty="0">
                <a:solidFill>
                  <a:srgbClr val="1E2227"/>
                </a:solidFill>
                <a:latin typeface="맑은 고딕"/>
                <a:ea typeface="맑은 고딕"/>
              </a:rPr>
              <a:t>은 범위 밖</a:t>
            </a:r>
            <a:r>
              <a:rPr lang="en-US" alt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(</a:t>
            </a:r>
            <a:r>
              <a:rPr lang="ko-KR" altLang="en-US" sz="1100" b="1" dirty="0">
                <a:solidFill>
                  <a:srgbClr val="1E2227"/>
                </a:solidFill>
                <a:latin typeface="맑은 고딕"/>
                <a:ea typeface="맑은 고딕"/>
              </a:rPr>
              <a:t>향후 연구</a:t>
            </a:r>
            <a:r>
              <a:rPr lang="en-US" alt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)</a:t>
            </a:r>
            <a:r>
              <a:rPr lang="ko-KR" altLang="en-US" sz="1100" b="0" dirty="0" err="1">
                <a:solidFill>
                  <a:srgbClr val="1E2227"/>
                </a:solidFill>
                <a:latin typeface="맑은 고딕"/>
                <a:ea typeface="맑은 고딕"/>
              </a:rPr>
              <a:t>으로</a:t>
            </a:r>
            <a:r>
              <a:rPr lang="ko-KR" altLang="en-US" sz="1100" b="0" dirty="0">
                <a:solidFill>
                  <a:srgbClr val="1E2227"/>
                </a:solidFill>
                <a:latin typeface="맑은 고딕"/>
                <a:ea typeface="맑은 고딕"/>
              </a:rPr>
              <a:t> 둔다</a:t>
            </a:r>
          </a:p>
        </p:txBody>
      </p:sp>
    </p:spTree>
    <p:extLst>
      <p:ext uri="{BB962C8B-B14F-4D97-AF65-F5344CB8AC3E}">
        <p14:creationId xmlns:p14="http://schemas.microsoft.com/office/powerpoint/2010/main" val="54747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§1 서론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§1.1 연구 동기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>
                <a:solidFill>
                  <a:srgbClr val="273A52"/>
                </a:solidFill>
                <a:latin typeface="맑은 고딕"/>
                <a:ea typeface="맑은 고딕"/>
              </a:rPr>
              <a:t>연구 기여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7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270000"/>
            <a:ext cx="11091672" cy="66680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720" rIns="91440" bIns="45720" rtlCol="0" anchor="ctr" anchorCtr="0"/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1150" b="1" dirty="0" err="1">
                <a:solidFill>
                  <a:srgbClr val="C9D3E0"/>
                </a:solidFill>
                <a:latin typeface="맑은 고딕"/>
                <a:ea typeface="맑은 고딕"/>
              </a:rPr>
              <a:t>핵심</a:t>
            </a:r>
            <a:r>
              <a:rPr sz="1150" b="1" dirty="0">
                <a:solidFill>
                  <a:srgbClr val="C9D3E0"/>
                </a:solidFill>
                <a:latin typeface="맑은 고딕"/>
                <a:ea typeface="맑은 고딕"/>
              </a:rPr>
              <a:t> </a:t>
            </a:r>
            <a:r>
              <a:rPr sz="1150" b="1" dirty="0" err="1">
                <a:solidFill>
                  <a:srgbClr val="C9D3E0"/>
                </a:solidFill>
                <a:latin typeface="맑은 고딕"/>
                <a:ea typeface="맑은 고딕"/>
              </a:rPr>
              <a:t>질문</a:t>
            </a:r>
            <a:r>
              <a:rPr sz="1150" b="1" dirty="0">
                <a:solidFill>
                  <a:srgbClr val="C9D3E0"/>
                </a:solidFill>
                <a:latin typeface="맑은 고딕"/>
                <a:ea typeface="맑은 고딕"/>
              </a:rPr>
              <a:t>   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"RAG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충돌에서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완화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기법이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올린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정답률은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,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진짜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대조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추론에서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온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것인가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?"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57008"/>
            <a:ext cx="3584448" cy="33020"/>
          </a:xfrm>
          <a:prstGeom prst="rect">
            <a:avLst/>
          </a:prstGeom>
          <a:solidFill>
            <a:srgbClr val="1E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90028"/>
            <a:ext cx="3584448" cy="27101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기여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1 ·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완화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이득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분해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 (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핵심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발견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완화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기법이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정답률을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올렸을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때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,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늘어난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정답이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진짜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추론에서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왔는지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요행에서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왔는지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문항마다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따져봄</a:t>
            </a:r>
            <a:endParaRPr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진짜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이득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비율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(LGR)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—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늘어난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정답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중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제대로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추론해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맞힌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비율</a:t>
            </a:r>
            <a:endParaRPr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숨은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퇴행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(HR)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—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정답률은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올랐지만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뒤에서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조용히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망가진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문항</a:t>
            </a:r>
            <a:endParaRPr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경로별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취약성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—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얻은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정답이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추론에 살짝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개입하면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뒤집히는지</a:t>
            </a:r>
            <a:endParaRPr sz="1120" b="0" dirty="0">
              <a:solidFill>
                <a:srgbClr val="1E2227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97680" y="2257008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2290028"/>
            <a:ext cx="3584448" cy="27101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기여 2 · 진단 프레임워크  (도구)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정답과 오답이 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각각 어떤 경로로 만들어졌는지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단계별로 쪼개 보는 진단 </a:t>
            </a: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틀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endParaRPr lang="en-US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추론→답변</a:t>
            </a:r>
            <a:r>
              <a:rPr lang="ko-KR" altLang="en-US" sz="1120" b="0" dirty="0">
                <a:solidFill>
                  <a:srgbClr val="1E2227"/>
                </a:solidFill>
                <a:latin typeface="맑은 고딕"/>
                <a:ea typeface="맑은 고딕"/>
              </a:rPr>
              <a:t> 과정을 </a:t>
            </a:r>
            <a:r>
              <a:rPr lang="ko-KR" altLang="en-US" sz="1120" b="1" dirty="0">
                <a:solidFill>
                  <a:srgbClr val="1E2227"/>
                </a:solidFill>
                <a:latin typeface="맑은 고딕"/>
                <a:ea typeface="맑은 고딕"/>
              </a:rPr>
              <a:t>탐지</a:t>
            </a:r>
            <a:r>
              <a:rPr lang="en-US" alt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120" b="1" dirty="0">
                <a:solidFill>
                  <a:srgbClr val="1E2227"/>
                </a:solidFill>
                <a:latin typeface="맑은 고딕"/>
                <a:ea typeface="맑은 고딕"/>
              </a:rPr>
              <a:t>해소</a:t>
            </a:r>
            <a:r>
              <a:rPr lang="en-US" alt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·</a:t>
            </a:r>
            <a:r>
              <a:rPr lang="ko-KR" altLang="en-US" sz="1120" b="1" dirty="0">
                <a:solidFill>
                  <a:srgbClr val="1E2227"/>
                </a:solidFill>
                <a:latin typeface="맑은 고딕"/>
                <a:ea typeface="맑은 고딕"/>
              </a:rPr>
              <a:t>표출 </a:t>
            </a:r>
            <a:r>
              <a:rPr lang="en-US" alt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3</a:t>
            </a:r>
            <a:r>
              <a:rPr lang="ko-KR" altLang="en-US" sz="1120" b="1" dirty="0">
                <a:solidFill>
                  <a:srgbClr val="1E2227"/>
                </a:solidFill>
                <a:latin typeface="맑은 고딕"/>
                <a:ea typeface="맑은 고딕"/>
              </a:rPr>
              <a:t>단계</a:t>
            </a:r>
            <a:r>
              <a:rPr lang="ko-KR" altLang="en-US" sz="1120" b="0" dirty="0">
                <a:solidFill>
                  <a:srgbClr val="1E2227"/>
                </a:solidFill>
                <a:latin typeface="맑은 고딕"/>
                <a:ea typeface="맑은 고딕"/>
              </a:rPr>
              <a:t>로 나눠 </a:t>
            </a:r>
            <a:r>
              <a:rPr lang="ko-KR" altLang="en-US"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라벨링</a:t>
            </a:r>
            <a:endParaRPr lang="ko-KR" altLang="en-US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맞힌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정답을 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4가지 경로 중 하나로 겹치지 않게 분류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— 정상 · 도약(Shortcut) · 불협(Discordant Hit) · 맹목(Blind-Hit)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257008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2290028"/>
            <a:ext cx="3584448" cy="27101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기여 3 · 검증 — 충돌 고유성·인과성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관측된 실패·이득이 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난이도가 아닌 충돌 고유의 것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이고, 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평가에 쓰는 추론이 답을 실제로 구동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함을 대조군·개입 실험으로 확인</a:t>
            </a: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충돌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때문인지 확인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— 충돌 없는 대조군과 비교해, 그냥 문제가 어려워서가 아님을 가려냄</a:t>
            </a: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추론이</a:t>
            </a:r>
            <a:r>
              <a:rPr sz="1120" b="1" dirty="0">
                <a:solidFill>
                  <a:srgbClr val="1E2227"/>
                </a:solidFill>
                <a:latin typeface="맑은 고딕"/>
                <a:ea typeface="맑은 고딕"/>
              </a:rPr>
              <a:t> 답을 실제로 구동하는지(인과적 사용·L-b) 확인</a:t>
            </a:r>
            <a:r>
              <a:rPr sz="1120" b="0" dirty="0">
                <a:solidFill>
                  <a:srgbClr val="1E2227"/>
                </a:solidFill>
                <a:latin typeface="맑은 고딕"/>
                <a:ea typeface="맑은 고딕"/>
              </a:rPr>
              <a:t> — 추론 과정 도중을 잘라보거나 다시 생성해, 추론이 답을 실제로 좌우하는지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9428"/>
            <a:ext cx="11091672" cy="816827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종합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  —  현상의 관찰을 넘어</a:t>
            </a:r>
          </a:p>
          <a:p>
            <a:pPr algn="l">
              <a:lnSpc>
                <a:spcPct val="140000"/>
              </a:lnSpc>
              <a:spcAft>
                <a:spcPts val="450"/>
              </a:spcAft>
            </a:pP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완화가 올린 정답률이 진짜인지 </a:t>
            </a: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문항·경로 단위로 따져 검증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하고(기여 1), 그 검증을 가능하게 하는 </a:t>
            </a: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3단계 진단 프레임워크를 정립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하며(기여 2), 관측이 </a:t>
            </a: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난이도가 아닌 충돌 고유의 실패인지·추론이 답을 인과적으로 구동하는지 검증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한다(기여 3).</a:t>
            </a:r>
          </a:p>
        </p:txBody>
      </p:sp>
    </p:spTree>
    <p:extLst>
      <p:ext uri="{BB962C8B-B14F-4D97-AF65-F5344CB8AC3E}">
        <p14:creationId xmlns:p14="http://schemas.microsoft.com/office/powerpoint/2010/main" val="6644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§1 서론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§1.2 연구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연구 질문과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8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03" y="1783687"/>
            <a:ext cx="660400" cy="304800"/>
          </a:xfrm>
          <a:prstGeom prst="rect">
            <a:avLst/>
          </a:prstGeom>
          <a:solidFill>
            <a:srgbClr val="273A52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noAutofit/>
          </a:bodyPr>
          <a:lstStyle/>
          <a:p>
            <a:pPr algn="ctr"/>
            <a:r>
              <a:rPr lang="ko-KR" sz="1000" b="1" dirty="0">
                <a:solidFill>
                  <a:srgbClr val="FFFFFF"/>
                </a:solidFill>
                <a:latin typeface="맑은 고딕"/>
                <a:ea typeface="맑은 고딕"/>
              </a:rPr>
              <a:t>실험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0320" y="1745675"/>
            <a:ext cx="5880100" cy="16833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1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RQ1 · 진단 및 불일치 위치</a:t>
            </a:r>
          </a:p>
          <a:p>
            <a:pPr marL="171450" indent="-171450" algn="l">
              <a:lnSpc>
                <a:spcPct val="124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충돌 문맥에서 </a:t>
            </a:r>
            <a:r>
              <a:rPr 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추론 결론과 최종 답변은 일치(L-a)</a:t>
            </a: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하는가? </a:t>
            </a:r>
            <a:endParaRPr lang="en-US" altLang="ko-KR" sz="110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24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불일치는 </a:t>
            </a:r>
            <a:r>
              <a:rPr 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어느 단계(탐지 → 해소 → 표출)</a:t>
            </a: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에서 생기나?</a:t>
            </a:r>
            <a:endParaRPr lang="en-US" altLang="ko-KR" sz="110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Aft>
                <a:spcPts val="150"/>
              </a:spcAft>
            </a:pPr>
            <a:endParaRPr lang="ko-KR" sz="110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1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RQ2 · 완화 기법 해부</a:t>
            </a:r>
          </a:p>
          <a:p>
            <a:pPr marL="171450" indent="-171450" algn="l">
              <a:lnSpc>
                <a:spcPct val="12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완화 기법으로 늘어난 정답, </a:t>
            </a:r>
            <a:r>
              <a:rPr 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진짜 제대로 추론해서 맞힌 건가</a:t>
            </a: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 — 아니면 </a:t>
            </a:r>
            <a:r>
              <a:rPr 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우연히</a:t>
            </a: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(우회 경로: 도약·불협·맹목 적중) 맞은 건가?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03" y="4120488"/>
            <a:ext cx="660400" cy="304800"/>
          </a:xfrm>
          <a:prstGeom prst="rect">
            <a:avLst/>
          </a:prstGeom>
          <a:solidFill>
            <a:srgbClr val="273A52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noAutofit/>
          </a:bodyPr>
          <a:lstStyle/>
          <a:p>
            <a:pPr algn="ctr"/>
            <a:r>
              <a:rPr lang="ko-KR" sz="1000" b="1" dirty="0">
                <a:solidFill>
                  <a:srgbClr val="FFFFFF"/>
                </a:solidFill>
                <a:latin typeface="맑은 고딕"/>
                <a:ea typeface="맑은 고딕"/>
              </a:rPr>
              <a:t>실험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0320" y="4082475"/>
            <a:ext cx="5880100" cy="11176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Autofit/>
          </a:bodyPr>
          <a:lstStyle/>
          <a:p>
            <a:pPr algn="l">
              <a:lnSpc>
                <a:spcPct val="110000"/>
              </a:lnSpc>
              <a:spcAft>
                <a:spcPts val="35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RQ3 · 충돌 고유성 (대조군 분리)</a:t>
            </a:r>
          </a:p>
          <a:p>
            <a:pPr marL="171450" indent="-171450" algn="l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관측된 </a:t>
            </a:r>
            <a:r>
              <a:rPr 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불일치</a:t>
            </a: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는 충돌 고유의 실패인가, 난이도·문서 수 증가의 </a:t>
            </a:r>
            <a:r>
              <a:rPr 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부수 효과</a:t>
            </a: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인가?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03" y="5288888"/>
            <a:ext cx="660400" cy="304800"/>
          </a:xfrm>
          <a:prstGeom prst="rect">
            <a:avLst/>
          </a:prstGeom>
          <a:solidFill>
            <a:srgbClr val="273A52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noAutofit/>
          </a:bodyPr>
          <a:lstStyle/>
          <a:p>
            <a:pPr algn="ctr"/>
            <a:r>
              <a:rPr lang="ko-KR" sz="1000" b="1" dirty="0">
                <a:solidFill>
                  <a:srgbClr val="FFFFFF"/>
                </a:solidFill>
                <a:latin typeface="맑은 고딕"/>
                <a:ea typeface="맑은 고딕"/>
              </a:rPr>
              <a:t>실험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0320" y="5250875"/>
            <a:ext cx="5880100" cy="11176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Autofit/>
          </a:bodyPr>
          <a:lstStyle/>
          <a:p>
            <a:pPr algn="l">
              <a:lnSpc>
                <a:spcPct val="110000"/>
              </a:lnSpc>
              <a:spcAft>
                <a:spcPts val="35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RQ4 · 인과 규명</a:t>
            </a:r>
          </a:p>
          <a:p>
            <a:pPr marL="171450" indent="-171450" algn="l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추론 결론이 최종 답변에 인과적으로 영향을 주는가(L-b)</a:t>
            </a: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, 답변이 </a:t>
            </a:r>
            <a:r>
              <a:rPr lang="ko-KR" sz="1100" b="1" dirty="0">
                <a:solidFill>
                  <a:srgbClr val="1E2227"/>
                </a:solidFill>
                <a:latin typeface="맑은 고딕"/>
                <a:ea typeface="맑은 고딕"/>
              </a:rPr>
              <a:t>독립적으로 결정</a:t>
            </a:r>
            <a:r>
              <a:rPr lang="ko-KR" sz="1100" b="0" dirty="0">
                <a:solidFill>
                  <a:srgbClr val="1E2227"/>
                </a:solidFill>
                <a:latin typeface="맑은 고딕"/>
                <a:ea typeface="맑은 고딕"/>
              </a:rPr>
              <a:t>되는가?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334549-1D8C-504A-B004-6A0CFE111515}"/>
              </a:ext>
            </a:extLst>
          </p:cNvPr>
          <p:cNvSpPr/>
          <p:nvPr/>
        </p:nvSpPr>
        <p:spPr>
          <a:xfrm>
            <a:off x="7454900" y="1701800"/>
            <a:ext cx="4178300" cy="38100"/>
          </a:xfrm>
          <a:prstGeom prst="rect">
            <a:avLst/>
          </a:prstGeom>
          <a:solidFill>
            <a:srgbClr val="273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01D2F8-9DA9-154D-A763-E2B6E79E50AE}"/>
              </a:ext>
            </a:extLst>
          </p:cNvPr>
          <p:cNvSpPr/>
          <p:nvPr/>
        </p:nvSpPr>
        <p:spPr>
          <a:xfrm>
            <a:off x="7454900" y="1739900"/>
            <a:ext cx="4178300" cy="1371600"/>
          </a:xfrm>
          <a:prstGeom prst="rect">
            <a:avLst/>
          </a:prstGeom>
          <a:solidFill>
            <a:srgbClr val="F6F7F9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 anchorCtr="0">
            <a:no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L-a · 자기일관성</a:t>
            </a:r>
            <a:r>
              <a:rPr lang="ko-KR" sz="1000" b="1" dirty="0">
                <a:solidFill>
                  <a:srgbClr val="A4482A"/>
                </a:solidFill>
                <a:latin typeface="맑은 고딕"/>
                <a:ea typeface="맑은 고딕"/>
              </a:rPr>
              <a:t>   RQ1 · RQ2 · RQ3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lang="ko-KR" sz="1050" b="1" dirty="0">
                <a:solidFill>
                  <a:srgbClr val="273A52"/>
                </a:solidFill>
                <a:latin typeface="맑은 고딕"/>
                <a:ea typeface="맑은 고딕"/>
              </a:rPr>
              <a:t>정의 : 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추론 결론과 최종 답변의 내용상 일치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lang="ko-KR" sz="1050" b="1" dirty="0">
                <a:solidFill>
                  <a:srgbClr val="273A52"/>
                </a:solidFill>
                <a:latin typeface="맑은 고딕"/>
                <a:ea typeface="맑은 고딕"/>
              </a:rPr>
              <a:t>측정 : 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추론 결론과 최종답 라벨을 대조하며, 지표로 AIR를 사용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lang="ko-KR" sz="1050" b="1" dirty="0">
                <a:solidFill>
                  <a:srgbClr val="273A52"/>
                </a:solidFill>
                <a:latin typeface="맑은 고딕"/>
                <a:ea typeface="맑은 고딕"/>
              </a:rPr>
              <a:t>사용 : 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RQ1 진단 · RQ2 경로 판별 · RQ3 대조군 비교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DF618B-C1A0-5D43-A21A-330F4A426A28}"/>
              </a:ext>
            </a:extLst>
          </p:cNvPr>
          <p:cNvSpPr txBox="1"/>
          <p:nvPr/>
        </p:nvSpPr>
        <p:spPr>
          <a:xfrm>
            <a:off x="546100" y="1270000"/>
            <a:ext cx="6731000" cy="2794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pPr algn="l"/>
            <a:r>
              <a:rPr lang="ko-KR" sz="1150" b="0" dirty="0">
                <a:solidFill>
                  <a:srgbClr val="6B7480"/>
                </a:solidFill>
                <a:latin typeface="맑은 고딕"/>
                <a:ea typeface="맑은 고딕"/>
              </a:rPr>
              <a:t>본 연구가 해결하고자 하는 질문은 </a:t>
            </a: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세 실험에 걸친 네 가지</a:t>
            </a:r>
            <a:r>
              <a:rPr lang="ko-KR" sz="1150" b="0" dirty="0">
                <a:solidFill>
                  <a:srgbClr val="6B7480"/>
                </a:solidFill>
                <a:latin typeface="맑은 고딕"/>
                <a:ea typeface="맑은 고딕"/>
              </a:rPr>
              <a:t>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63590DF-03AD-4E43-BB29-B183B9C9A558}"/>
              </a:ext>
            </a:extLst>
          </p:cNvPr>
          <p:cNvSpPr/>
          <p:nvPr/>
        </p:nvSpPr>
        <p:spPr>
          <a:xfrm>
            <a:off x="7454900" y="3248950"/>
            <a:ext cx="4178300" cy="38100"/>
          </a:xfrm>
          <a:prstGeom prst="rect">
            <a:avLst/>
          </a:prstGeom>
          <a:solidFill>
            <a:srgbClr val="273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E887DF-A69B-0B45-B650-58C413053569}"/>
              </a:ext>
            </a:extLst>
          </p:cNvPr>
          <p:cNvSpPr/>
          <p:nvPr/>
        </p:nvSpPr>
        <p:spPr>
          <a:xfrm>
            <a:off x="7454900" y="3287050"/>
            <a:ext cx="4178300" cy="1212088"/>
          </a:xfrm>
          <a:prstGeom prst="rect">
            <a:avLst/>
          </a:prstGeom>
          <a:solidFill>
            <a:srgbClr val="F6F7F9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 anchorCtr="0">
            <a:no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L-b · 인과적 사용</a:t>
            </a:r>
            <a:r>
              <a:rPr lang="ko-KR" sz="1000" b="1" dirty="0">
                <a:solidFill>
                  <a:srgbClr val="A4482A"/>
                </a:solidFill>
                <a:latin typeface="맑은 고딕"/>
                <a:ea typeface="맑은 고딕"/>
              </a:rPr>
              <a:t>   RQ4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lang="ko-KR" sz="1050" b="1" dirty="0">
                <a:solidFill>
                  <a:srgbClr val="273A52"/>
                </a:solidFill>
                <a:latin typeface="맑은 고딕"/>
                <a:ea typeface="맑은 고딕"/>
              </a:rPr>
              <a:t>정의 : 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추론이 답 결정에 실제로 영향을 주는가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lang="ko-KR" sz="1050" b="1" dirty="0">
                <a:solidFill>
                  <a:srgbClr val="273A52"/>
                </a:solidFill>
                <a:latin typeface="맑은 고딕"/>
                <a:ea typeface="맑은 고딕"/>
              </a:rPr>
              <a:t>검증 : 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절단·재생성으로 개입하며, 지표로 정답 한정 답 변화율을 사용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lang="ko-KR" sz="1050" b="1" dirty="0">
                <a:solidFill>
                  <a:srgbClr val="273A52"/>
                </a:solidFill>
                <a:latin typeface="맑은 고딕"/>
                <a:ea typeface="맑은 고딕"/>
              </a:rPr>
              <a:t>사용 : 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RQ4 인과 규명의 근거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0FF3DA-9FA7-8E48-BA7B-7CA6FF3C41D2}"/>
              </a:ext>
            </a:extLst>
          </p:cNvPr>
          <p:cNvSpPr/>
          <p:nvPr/>
        </p:nvSpPr>
        <p:spPr>
          <a:xfrm>
            <a:off x="7454900" y="4660097"/>
            <a:ext cx="4178300" cy="38100"/>
          </a:xfrm>
          <a:prstGeom prst="rect">
            <a:avLst/>
          </a:prstGeom>
          <a:solidFill>
            <a:srgbClr val="A448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5396E57-8622-4140-A18C-450EF8F9B9C5}"/>
              </a:ext>
            </a:extLst>
          </p:cNvPr>
          <p:cNvSpPr/>
          <p:nvPr/>
        </p:nvSpPr>
        <p:spPr>
          <a:xfrm>
            <a:off x="7454900" y="4698197"/>
            <a:ext cx="4178300" cy="1452784"/>
          </a:xfrm>
          <a:prstGeom prst="rect">
            <a:avLst/>
          </a:prstGeom>
          <a:solidFill>
            <a:srgbClr val="F6F7F9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 anchorCtr="0">
            <a:no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L-c · 내부 충실성</a:t>
            </a:r>
            <a:r>
              <a:rPr lang="ko-KR" sz="1000" b="1" dirty="0">
                <a:solidFill>
                  <a:srgbClr val="A4482A"/>
                </a:solidFill>
                <a:latin typeface="맑은 고딕"/>
                <a:ea typeface="맑은 고딕"/>
              </a:rPr>
              <a:t>   본 연구 범위 밖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lang="ko-KR" sz="1050" b="1" dirty="0">
                <a:solidFill>
                  <a:srgbClr val="273A52"/>
                </a:solidFill>
                <a:latin typeface="맑은 고딕"/>
                <a:ea typeface="맑은 고딕"/>
              </a:rPr>
              <a:t>정의 : 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트레이스가 ‘진짜 속마음’을 반영하는가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lang="ko-KR" sz="1050" b="1" dirty="0">
                <a:solidFill>
                  <a:srgbClr val="273A52"/>
                </a:solidFill>
                <a:latin typeface="맑은 고딕"/>
                <a:ea typeface="맑은 고딕"/>
              </a:rPr>
              <a:t>제외 이유 : 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텍스트만으로는 판정할 수 없습니다. 모델이 실제 이유와 다른 설명을 쓸 수 있기 때문입니다 (</a:t>
            </a:r>
            <a:r>
              <a:rPr lang="ko-KR" sz="1050" b="1" dirty="0">
                <a:solidFill>
                  <a:srgbClr val="1E2227"/>
                </a:solidFill>
                <a:latin typeface="맑은 고딕"/>
                <a:ea typeface="맑은 고딕"/>
              </a:rPr>
              <a:t>Turpin 2023 · Arcuschin 2025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lang="ko-KR" sz="1050" b="1" dirty="0">
                <a:solidFill>
                  <a:srgbClr val="273A52"/>
                </a:solidFill>
                <a:latin typeface="맑은 고딕"/>
                <a:ea typeface="맑은 고딕"/>
              </a:rPr>
              <a:t>대응 : 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모든 주장은 </a:t>
            </a:r>
            <a:r>
              <a:rPr lang="ko-KR" sz="1050" b="1" dirty="0">
                <a:solidFill>
                  <a:srgbClr val="1E2227"/>
                </a:solidFill>
                <a:latin typeface="맑은 고딕"/>
                <a:ea typeface="맑은 고딕"/>
              </a:rPr>
              <a:t>L-a와 L-b만으로 성립</a:t>
            </a:r>
            <a:r>
              <a:rPr lang="ko-KR" sz="1050" b="0" dirty="0">
                <a:solidFill>
                  <a:srgbClr val="1E2227"/>
                </a:solidFill>
                <a:latin typeface="맑은 고딕"/>
                <a:ea typeface="맑은 고딕"/>
              </a:rPr>
              <a:t>하도록 설계 (상세 §3.2)</a:t>
            </a:r>
          </a:p>
        </p:txBody>
      </p:sp>
    </p:spTree>
    <p:extLst>
      <p:ext uri="{BB962C8B-B14F-4D97-AF65-F5344CB8AC3E}">
        <p14:creationId xmlns:p14="http://schemas.microsoft.com/office/powerpoint/2010/main" val="397518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§2 관련 연구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>
                <a:solidFill>
                  <a:srgbClr val="273A52"/>
                </a:solidFill>
                <a:latin typeface="맑은 고딕"/>
                <a:ea typeface="맑은 고딕"/>
              </a:rPr>
              <a:t>관련 연구 분류와 본 연구의 위치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9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270000"/>
            <a:ext cx="11091672" cy="658368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5720" rIns="180000" bIns="45720" rtlCol="0" anchor="ctr" anchorCtr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C9D3E0"/>
                </a:solidFill>
                <a:latin typeface="맑은 고딕"/>
                <a:ea typeface="맑은 고딕"/>
              </a:rPr>
              <a:t>본 연구의 위치     </a:t>
            </a: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①의 데이터에서 ②의 완화 기법을 추론 모델로 이식했을 때, </a:t>
            </a: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③의 방법으로 그 이득이 진짜인지 검증한다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7824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80843"/>
            <a:ext cx="3584448" cy="40086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① RAG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지식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충돌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진단</a:t>
            </a:r>
            <a:endParaRPr sz="130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algn="l">
              <a:lnSpc>
                <a:spcPct val="132000"/>
              </a:lnSpc>
              <a:spcAft>
                <a:spcPts val="450"/>
              </a:spcAft>
            </a:pP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충돌을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유형화하고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,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실제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웹에서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모델이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겪는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실패를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정량화한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연구</a:t>
            </a:r>
            <a:endParaRPr sz="1100" b="1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2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Xu et al. (EMNLP 2024)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지식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Context-Memory · Inter-Context · Intra-Memory 3분류로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정립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2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Cattan et al. (2025) · </a:t>
            </a:r>
            <a:r>
              <a:rPr sz="1080" b="1" dirty="0" err="1">
                <a:solidFill>
                  <a:srgbClr val="1E2227"/>
                </a:solidFill>
                <a:latin typeface="맑은 고딕"/>
                <a:ea typeface="맑은 고딕"/>
              </a:rPr>
              <a:t>DRAGged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실제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구글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검색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결과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458건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중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명시적으로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상충하는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문서가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182건(40%) —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원인을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5유형으로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라벨링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2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Wang et al. (COLM 2025) · </a:t>
            </a:r>
            <a:r>
              <a:rPr sz="1080" b="1" dirty="0" err="1">
                <a:solidFill>
                  <a:srgbClr val="1E2227"/>
                </a:solidFill>
                <a:latin typeface="맑은 고딕"/>
                <a:ea typeface="맑은 고딕"/>
              </a:rPr>
              <a:t>RAMDocs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모호성·오정보·노이즈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공존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RAG의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오류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감지·답변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거부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한계를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정량화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2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Liu et al. (Findings of NAACL 2025) · QACC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비모호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질문의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25%가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자연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조우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·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합성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학습은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자연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충돌엔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오히려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역효과</a:t>
            </a:r>
            <a:endParaRPr sz="1080" b="0" dirty="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97680" y="2147824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2180843"/>
            <a:ext cx="3584448" cy="40086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② Inter-Context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충돌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완화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기법</a:t>
            </a:r>
            <a:endParaRPr sz="130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디코딩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제어·성찰·외부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파이프라인으로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해소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시도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—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추론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채널의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인과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규명은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부재</a:t>
            </a:r>
            <a:endParaRPr sz="1100" b="1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Self-RAG (Asai et al., ICLR 2024)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반성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토큰을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학습해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문서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관련성·답변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사실성을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스스로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평가·제어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CAD (Shi et al., 2024, +</a:t>
            </a:r>
            <a:r>
              <a:rPr sz="1080" b="1" dirty="0" err="1">
                <a:solidFill>
                  <a:srgbClr val="1E2227"/>
                </a:solidFill>
                <a:latin typeface="맑은 고딕"/>
                <a:ea typeface="맑은 고딕"/>
              </a:rPr>
              <a:t>AdaCAD</a:t>
            </a: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문맥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유무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로짓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차를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대비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증폭해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생성을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제공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문맥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쪽으로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밀기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CD2 (Jin et al., 2024)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문서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(inter-context)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분리해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대비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디코딩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 err="1">
                <a:solidFill>
                  <a:srgbClr val="1E2227"/>
                </a:solidFill>
                <a:latin typeface="맑은 고딕"/>
                <a:ea typeface="맑은 고딕"/>
              </a:rPr>
              <a:t>FaithfulRAG</a:t>
            </a: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 (Zhang et al., 2025)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사실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수준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명시적으로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모델링해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문맥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충실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생성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유도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MADAM-RAG (Wang et al., 2025)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문서별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LLM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에이전트의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다중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라운드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토론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+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중앙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집계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 err="1">
                <a:solidFill>
                  <a:srgbClr val="1E2227"/>
                </a:solidFill>
                <a:latin typeface="맑은 고딕"/>
                <a:ea typeface="맑은 고딕"/>
              </a:rPr>
              <a:t>ConflictRAG</a:t>
            </a: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 (2026)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MLP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분류기로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감지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+ Entropy-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TOPSIS로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출처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신뢰도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순위화</a:t>
            </a:r>
            <a:endParaRPr sz="1080" b="0" dirty="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46720" y="2147824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2180843"/>
            <a:ext cx="3584448" cy="40086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③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진단·통제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방법론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(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우리가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채택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34000"/>
              </a:lnSpc>
              <a:spcAft>
                <a:spcPts val="450"/>
              </a:spcAft>
            </a:pP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추론에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직접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손을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대보거나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조건을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통제해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,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무엇이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답을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좌우하는지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알아내는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방법을</a:t>
            </a:r>
            <a:r>
              <a:rPr sz="110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2227"/>
                </a:solidFill>
                <a:latin typeface="맑은 고딕"/>
                <a:ea typeface="맑은 고딕"/>
              </a:rPr>
              <a:t>빌려온다</a:t>
            </a:r>
            <a:endParaRPr sz="1100" b="1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4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Lanham et al. (2023)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추론을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중간에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끊고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바로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답하게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하면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답이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어떻게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변하는지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관찰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→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우리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'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추론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절단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'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개입의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원조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4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Bogdan (2025) · Macar (2025)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추론의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특정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문장부터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다시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생성해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,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그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문장이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답을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얼마나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좌우하는지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측정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→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우리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'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재생성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'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개입의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방법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4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Longpre et al. (EMNLP 2021)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정답을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지지하던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문서의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핵심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단어를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바꿔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만들어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,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있을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때와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없을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때를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나란히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비교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→ RQ3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대조군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설계의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원조</a:t>
            </a:r>
            <a:endParaRPr lang="en-US" sz="1080" dirty="0">
              <a:solidFill>
                <a:srgbClr val="6B748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4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Xie (ICLR'24) · Wu (</a:t>
            </a:r>
            <a:r>
              <a:rPr sz="1080" b="1" dirty="0" err="1">
                <a:solidFill>
                  <a:srgbClr val="1E2227"/>
                </a:solidFill>
                <a:latin typeface="맑은 고딕"/>
                <a:ea typeface="맑은 고딕"/>
              </a:rPr>
              <a:t>ClashEval</a:t>
            </a:r>
            <a:r>
              <a:rPr sz="1080" b="1" dirty="0">
                <a:solidFill>
                  <a:srgbClr val="1E2227"/>
                </a:solidFill>
                <a:latin typeface="맑은 고딕"/>
                <a:ea typeface="맑은 고딕"/>
              </a:rPr>
              <a:t>, NeurIPS'24) · Jin ('24)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강도·문서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조건을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바꿔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가며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순수하게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'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충돌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때문'인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행동만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골라냄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→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통제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설계</a:t>
            </a:r>
            <a:r>
              <a:rPr sz="1080" b="0" dirty="0">
                <a:solidFill>
                  <a:srgbClr val="6B7480"/>
                </a:solidFill>
                <a:latin typeface="맑은 고딕"/>
                <a:ea typeface="맑은 고딕"/>
              </a:rPr>
              <a:t> </a:t>
            </a:r>
            <a:r>
              <a:rPr sz="1080" b="0" dirty="0" err="1">
                <a:solidFill>
                  <a:srgbClr val="6B7480"/>
                </a:solidFill>
                <a:latin typeface="맑은 고딕"/>
                <a:ea typeface="맑은 고딕"/>
              </a:rPr>
              <a:t>참고</a:t>
            </a:r>
            <a:endParaRPr sz="1080" b="0" dirty="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37033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§3.1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>
                <a:solidFill>
                  <a:srgbClr val="273A52"/>
                </a:solidFill>
                <a:latin typeface="맑은 고딕"/>
                <a:ea typeface="맑은 고딕"/>
              </a:rPr>
              <a:t>데이터셋 구성: 3개 데이터셋의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10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70000"/>
            <a:ext cx="3529584" cy="274320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1400" b="1">
                <a:solidFill>
                  <a:srgbClr val="273A52"/>
                </a:solidFill>
                <a:latin typeface="맑은 고딕"/>
                <a:ea typeface="맑은 고딕"/>
              </a:rPr>
              <a:t>DRAGged</a:t>
            </a:r>
            <a:r>
              <a:rPr sz="930" b="0">
                <a:solidFill>
                  <a:srgbClr val="6B7480"/>
                </a:solidFill>
                <a:latin typeface="맑은 고딕"/>
                <a:ea typeface="맑은 고딕"/>
              </a:rPr>
              <a:t>   Cattan et al.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529584" cy="653512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lang="ko-KR" sz="1000" b="1" dirty="0">
                <a:solidFill>
                  <a:srgbClr val="1E2227"/>
                </a:solidFill>
                <a:latin typeface="맑은 고딕"/>
                <a:ea typeface="맑은 고딕"/>
              </a:rPr>
              <a:t>구글에서 실제 검색한 웹 문서</a:t>
            </a:r>
            <a:r>
              <a:rPr lang="ko-KR" sz="1000" b="0" dirty="0">
                <a:solidFill>
                  <a:srgbClr val="1E2227"/>
                </a:solidFill>
                <a:latin typeface="맑은 고딕"/>
                <a:ea typeface="맑은 고딕"/>
              </a:rPr>
              <a:t>를 그대로 사용. 한 질문에는 한 가지 충돌만 들어 있고, 전문가가 5개 유형으로 구분해 표시.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911412"/>
              </p:ext>
            </p:extLst>
          </p:nvPr>
        </p:nvGraphicFramePr>
        <p:xfrm>
          <a:off x="548640" y="2550160"/>
          <a:ext cx="3529584" cy="26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96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충돌 유형</a:t>
                      </a:r>
                      <a:endParaRPr sz="96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  <a:endParaRPr sz="96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1" dirty="0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Conflict due to outdated information (시간 충돌)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1" dirty="0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62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1" dirty="0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Conflict due to misinformation (오정보)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1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1" dirty="0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Conflicting opinions and research outcomes (견해·연구 차이)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1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115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Complementary information (부분 정보 보완)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115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No conflict (비충돌)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96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161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96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Total (전체)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96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458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14295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29684" y="1270000"/>
            <a:ext cx="3529584" cy="274320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1400" b="1">
                <a:solidFill>
                  <a:srgbClr val="273A52"/>
                </a:solidFill>
                <a:latin typeface="맑은 고딕"/>
                <a:ea typeface="맑은 고딕"/>
              </a:rPr>
              <a:t>QACC</a:t>
            </a:r>
            <a:r>
              <a:rPr sz="930" b="0">
                <a:solidFill>
                  <a:srgbClr val="6B7480"/>
                </a:solidFill>
                <a:latin typeface="맑은 고딕"/>
                <a:ea typeface="맑은 고딕"/>
              </a:rPr>
              <a:t>   Liu et al. (Findings of NAACL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9684" y="1645920"/>
            <a:ext cx="3529584" cy="653512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lang="ko-KR" sz="1000" b="1" dirty="0">
                <a:solidFill>
                  <a:srgbClr val="1E2227"/>
                </a:solidFill>
                <a:latin typeface="맑은 고딕"/>
                <a:ea typeface="맑은 고딕"/>
              </a:rPr>
              <a:t>구글 검색 결과</a:t>
            </a:r>
            <a:r>
              <a:rPr lang="ko-KR" sz="1000" b="0" dirty="0">
                <a:solidFill>
                  <a:srgbClr val="1E2227"/>
                </a:solidFill>
                <a:latin typeface="맑은 고딕"/>
                <a:ea typeface="맑은 고딕"/>
              </a:rPr>
              <a:t> 기반. 뜻이 명확한 질문 하나에 검색 문서 여러 개를 붙인 구조로, 그중 25%는 검색 문서들끼리 답이 서로 엇갈렸음 (문맥 간 충돌 · Inter-Context).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243962"/>
              </p:ext>
            </p:extLst>
          </p:nvPr>
        </p:nvGraphicFramePr>
        <p:xfrm>
          <a:off x="4329684" y="2550160"/>
          <a:ext cx="35306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96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96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960" b="1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충돌 (Conflict)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96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≈ 404  (25%)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960" b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  └ 오정보·시간성·상충의견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960" b="1">
                          <a:solidFill>
                            <a:srgbClr val="C2410C"/>
                          </a:solidFill>
                          <a:latin typeface="맑은 고딕"/>
                          <a:ea typeface="맑은 고딕"/>
                        </a:rPr>
                        <a:t>측정 예정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93133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960" b="1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비충돌 (No conflict)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96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≈ 1,213  (75%)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69973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96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Total (전체)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96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1,617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249138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110728" y="1270000"/>
            <a:ext cx="3529584" cy="274320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1400" b="1">
                <a:solidFill>
                  <a:srgbClr val="273A52"/>
                </a:solidFill>
                <a:latin typeface="맑은 고딕"/>
                <a:ea typeface="맑은 고딕"/>
              </a:rPr>
              <a:t>RAMDocs</a:t>
            </a:r>
            <a:r>
              <a:rPr sz="930" b="0">
                <a:solidFill>
                  <a:srgbClr val="6B7480"/>
                </a:solidFill>
                <a:latin typeface="맑은 고딕"/>
                <a:ea typeface="맑은 고딕"/>
              </a:rPr>
              <a:t>   Wang et al. (COLM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1645920"/>
            <a:ext cx="3529584" cy="653512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26000"/>
              </a:lnSpc>
              <a:spcAft>
                <a:spcPts val="450"/>
              </a:spcAft>
            </a:pPr>
            <a:r>
              <a:rPr lang="ko-KR" sz="1000" b="1" dirty="0">
                <a:solidFill>
                  <a:srgbClr val="1E2227"/>
                </a:solidFill>
                <a:latin typeface="맑은 고딕"/>
                <a:ea typeface="맑은 고딕"/>
              </a:rPr>
              <a:t>위키피디아 문서</a:t>
            </a:r>
            <a:r>
              <a:rPr lang="ko-KR" sz="1000" b="0" dirty="0">
                <a:solidFill>
                  <a:srgbClr val="1E2227"/>
                </a:solidFill>
                <a:latin typeface="맑은 고딕"/>
                <a:ea typeface="맑은 고딕"/>
              </a:rPr>
              <a:t> 기반에 오정보·노이즈를 일부러 섞음. 한 질문에 모호성(이름이 여러 대상을 가리켜 답이 여럿)·오정보·노이즈가 함께 존재.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924889"/>
              </p:ext>
            </p:extLst>
          </p:nvPr>
        </p:nvGraphicFramePr>
        <p:xfrm>
          <a:off x="8110728" y="2550160"/>
          <a:ext cx="3529584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96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충돌 유형</a:t>
                      </a:r>
                      <a:endParaRPr lang="ko-KR" sz="96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96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 범위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960" b="1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Ambiguity (모호성)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96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500건 전체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960" b="1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Misinformation (오정보)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96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500건 전체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87059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96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Total (전체 질의)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96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500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110728" y="4232656"/>
            <a:ext cx="3529584" cy="647357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lang="ko-KR" sz="960" b="0" dirty="0">
                <a:solidFill>
                  <a:srgbClr val="6B7480"/>
                </a:solidFill>
                <a:latin typeface="맑은 고딕"/>
                <a:ea typeface="맑은 고딕"/>
              </a:rPr>
              <a:t>※ 한 질문에 모호성·오정보·노이즈가 한꺼번에 섞여 있어 오류 유형이 하나로 나뉘지 않음. 그래서 원본을 그대로 쓰지 않고 </a:t>
            </a:r>
            <a:r>
              <a:rPr lang="ko-KR" sz="960" b="1" dirty="0">
                <a:solidFill>
                  <a:srgbClr val="C2410C"/>
                </a:solidFill>
                <a:latin typeface="맑은 고딕"/>
                <a:ea typeface="맑은 고딕"/>
              </a:rPr>
              <a:t>데이터셋을 2개로 나눠 전처리</a:t>
            </a:r>
            <a:r>
              <a:rPr lang="ko-KR" sz="960" b="0" dirty="0">
                <a:solidFill>
                  <a:srgbClr val="6B7480"/>
                </a:solidFill>
                <a:latin typeface="맑은 고딕"/>
                <a:ea typeface="맑은 고딕"/>
              </a:rPr>
              <a:t>해서 사용.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03088"/>
            <a:ext cx="11091672" cy="294889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세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데이터셋은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충돌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정의·문서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길이가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달라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합치지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않고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각자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분리</a:t>
            </a:r>
            <a:r>
              <a:rPr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73A52"/>
                </a:solidFill>
                <a:latin typeface="맑은 고딕"/>
                <a:ea typeface="맑은 고딕"/>
              </a:rPr>
              <a:t>보고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합니다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— 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지표도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데이터셋별로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나눠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집계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(</a:t>
            </a:r>
            <a:r>
              <a:rPr sz="1200" b="0" dirty="0" err="1">
                <a:solidFill>
                  <a:srgbClr val="1E2227"/>
                </a:solidFill>
                <a:latin typeface="맑은 고딕"/>
                <a:ea typeface="맑은 고딕"/>
              </a:rPr>
              <a:t>검정력</a:t>
            </a:r>
            <a:r>
              <a:rPr sz="1200" b="0" dirty="0">
                <a:solidFill>
                  <a:srgbClr val="1E2227"/>
                </a:solidFill>
                <a:latin typeface="맑은 고딕"/>
                <a:ea typeface="맑은 고딕"/>
              </a:rPr>
              <a:t> §3.2.3)</a:t>
            </a:r>
          </a:p>
        </p:txBody>
      </p:sp>
    </p:spTree>
    <p:extLst>
      <p:ext uri="{BB962C8B-B14F-4D97-AF65-F5344CB8AC3E}">
        <p14:creationId xmlns:p14="http://schemas.microsoft.com/office/powerpoint/2010/main" val="3719034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§3.1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데이터셋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공통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전처리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구조</a:t>
            </a:r>
            <a:endParaRPr sz="2350" b="1" dirty="0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11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230" name="labelA"/>
          <p:cNvSpPr txBox="1"/>
          <p:nvPr/>
        </p:nvSpPr>
        <p:spPr>
          <a:xfrm>
            <a:off x="546100" y="1498600"/>
            <a:ext cx="110871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250" b="1" dirty="0">
                <a:solidFill>
                  <a:srgbClr val="273A52"/>
                </a:solidFill>
                <a:latin typeface="맑은 고딕"/>
                <a:ea typeface="맑은 고딕"/>
              </a:rPr>
              <a:t>공통 전처리 파이프라인</a:t>
            </a:r>
            <a:r>
              <a:rPr lang="ko-KR" sz="1100" b="0" dirty="0">
                <a:solidFill>
                  <a:srgbClr val="6B7480"/>
                </a:solidFill>
                <a:latin typeface="맑은 고딕"/>
                <a:ea typeface="맑은 고딕"/>
              </a:rPr>
              <a:t>   —   원본이 무엇이든 동일한 5단계로 정규화한다</a:t>
            </a:r>
          </a:p>
        </p:txBody>
      </p:sp>
      <p:sp>
        <p:nvSpPr>
          <p:cNvPr id="220" name="card1"/>
          <p:cNvSpPr/>
          <p:nvPr/>
        </p:nvSpPr>
        <p:spPr>
          <a:xfrm>
            <a:off x="546100" y="1879600"/>
            <a:ext cx="20066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CE1E7"/>
            </a:solidFill>
          </a:ln>
        </p:spPr>
        <p:txBody>
          <a:bodyPr wrap="square" lIns="114300" tIns="488950" rIns="91440" bIns="45720" anchor="t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원본 구조 파악</a:t>
            </a:r>
          </a:p>
          <a:p>
            <a:pPr algn="l">
              <a:lnSpc>
                <a:spcPct val="108000"/>
              </a:lnSpc>
            </a:pPr>
            <a:r>
              <a:rPr lang="ko-KR" sz="1000" b="0" dirty="0">
                <a:solidFill>
                  <a:srgbClr val="5A626C"/>
                </a:solidFill>
                <a:latin typeface="맑은 고딕"/>
                <a:ea typeface="맑은 고딕"/>
              </a:rPr>
              <a:t>데이터셋별 상이한 원본 포맷·필드 확인</a:t>
            </a:r>
          </a:p>
        </p:txBody>
      </p:sp>
      <p:sp>
        <p:nvSpPr>
          <p:cNvPr id="210" name="badge1"/>
          <p:cNvSpPr/>
          <p:nvPr/>
        </p:nvSpPr>
        <p:spPr>
          <a:xfrm>
            <a:off x="698500" y="2032000"/>
            <a:ext cx="292100" cy="292100"/>
          </a:xfrm>
          <a:prstGeom prst="ellipse">
            <a:avLst/>
          </a:prstGeom>
          <a:solidFill>
            <a:srgbClr val="273A5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40" name="arrow0"/>
          <p:cNvSpPr txBox="1"/>
          <p:nvPr/>
        </p:nvSpPr>
        <p:spPr>
          <a:xfrm>
            <a:off x="2571750" y="2311400"/>
            <a:ext cx="228600" cy="381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A4482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21" name="card2"/>
          <p:cNvSpPr/>
          <p:nvPr/>
        </p:nvSpPr>
        <p:spPr>
          <a:xfrm>
            <a:off x="2819400" y="1879600"/>
            <a:ext cx="20066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CE1E7"/>
            </a:solidFill>
          </a:ln>
        </p:spPr>
        <p:txBody>
          <a:bodyPr wrap="square" lIns="114300" tIns="488950" rIns="91440" bIns="45720" anchor="t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필드 정규화</a:t>
            </a:r>
          </a:p>
          <a:p>
            <a:pPr algn="l">
              <a:lnSpc>
                <a:spcPct val="108000"/>
              </a:lnSpc>
            </a:pPr>
            <a:r>
              <a:rPr lang="ko-KR" sz="1000" b="0" dirty="0">
                <a:solidFill>
                  <a:srgbClr val="5A626C"/>
                </a:solidFill>
                <a:latin typeface="맑은 고딕"/>
                <a:ea typeface="맑은 고딕"/>
              </a:rPr>
              <a:t>question · correct_answer · chunks[] 로 통일</a:t>
            </a:r>
          </a:p>
        </p:txBody>
      </p:sp>
      <p:sp>
        <p:nvSpPr>
          <p:cNvPr id="211" name="badge2"/>
          <p:cNvSpPr/>
          <p:nvPr/>
        </p:nvSpPr>
        <p:spPr>
          <a:xfrm>
            <a:off x="2971800" y="2032000"/>
            <a:ext cx="292100" cy="292100"/>
          </a:xfrm>
          <a:prstGeom prst="ellipse">
            <a:avLst/>
          </a:prstGeom>
          <a:solidFill>
            <a:srgbClr val="273A5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41" name="arrow1"/>
          <p:cNvSpPr txBox="1"/>
          <p:nvPr/>
        </p:nvSpPr>
        <p:spPr>
          <a:xfrm>
            <a:off x="4845050" y="2311400"/>
            <a:ext cx="228600" cy="381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A4482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22" name="card3"/>
          <p:cNvSpPr/>
          <p:nvPr/>
        </p:nvSpPr>
        <p:spPr>
          <a:xfrm>
            <a:off x="5092700" y="1879600"/>
            <a:ext cx="20066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CE1E7"/>
            </a:solidFill>
          </a:ln>
        </p:spPr>
        <p:txBody>
          <a:bodyPr wrap="square" lIns="114300" tIns="488950" rIns="91440" bIns="45720" anchor="t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청크 라벨링</a:t>
            </a:r>
          </a:p>
          <a:p>
            <a:pPr algn="l">
              <a:lnSpc>
                <a:spcPct val="108000"/>
              </a:lnSpc>
            </a:pPr>
            <a:r>
              <a:rPr lang="en-US" altLang="ko-KR" sz="1000" dirty="0">
                <a:solidFill>
                  <a:srgbClr val="5A626C"/>
                </a:solidFill>
                <a:latin typeface="맑은 고딕"/>
                <a:ea typeface="맑은 고딕"/>
              </a:rPr>
              <a:t>correct</a:t>
            </a:r>
            <a:r>
              <a:rPr lang="ko-KR" sz="1000" b="0" dirty="0">
                <a:solidFill>
                  <a:srgbClr val="5A626C"/>
                </a:solidFill>
                <a:latin typeface="맑은 고딕"/>
                <a:ea typeface="맑은 고딕"/>
              </a:rPr>
              <a:t> · </a:t>
            </a:r>
            <a:r>
              <a:rPr lang="en-US" altLang="ko-KR" sz="1000" dirty="0">
                <a:solidFill>
                  <a:srgbClr val="5A626C"/>
                </a:solidFill>
                <a:latin typeface="맑은 고딕"/>
                <a:ea typeface="맑은 고딕"/>
              </a:rPr>
              <a:t>conflict</a:t>
            </a:r>
            <a:r>
              <a:rPr lang="ko-KR" sz="1000" b="0" dirty="0">
                <a:solidFill>
                  <a:srgbClr val="5A626C"/>
                </a:solidFill>
                <a:latin typeface="맑은 고딕"/>
                <a:ea typeface="맑은 고딕"/>
              </a:rPr>
              <a:t> · noise 3분류 부여</a:t>
            </a:r>
          </a:p>
        </p:txBody>
      </p:sp>
      <p:sp>
        <p:nvSpPr>
          <p:cNvPr id="212" name="badge3"/>
          <p:cNvSpPr/>
          <p:nvPr/>
        </p:nvSpPr>
        <p:spPr>
          <a:xfrm>
            <a:off x="5245100" y="2032000"/>
            <a:ext cx="292100" cy="292100"/>
          </a:xfrm>
          <a:prstGeom prst="ellipse">
            <a:avLst/>
          </a:prstGeom>
          <a:solidFill>
            <a:srgbClr val="273A5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42" name="arrow2"/>
          <p:cNvSpPr txBox="1"/>
          <p:nvPr/>
        </p:nvSpPr>
        <p:spPr>
          <a:xfrm>
            <a:off x="7118350" y="2311400"/>
            <a:ext cx="228600" cy="381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A4482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23" name="card4"/>
          <p:cNvSpPr/>
          <p:nvPr/>
        </p:nvSpPr>
        <p:spPr>
          <a:xfrm>
            <a:off x="7366000" y="1879600"/>
            <a:ext cx="20066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CE1E7"/>
            </a:solidFill>
          </a:ln>
        </p:spPr>
        <p:txBody>
          <a:bodyPr wrap="square" lIns="114300" tIns="488950" rIns="91440" bIns="45720" anchor="t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혼합 청크 배열</a:t>
            </a:r>
          </a:p>
          <a:p>
            <a:pPr algn="l">
              <a:lnSpc>
                <a:spcPct val="108000"/>
              </a:lnSpc>
            </a:pPr>
            <a:r>
              <a:rPr lang="en-US" altLang="ko-KR" sz="1000" dirty="0">
                <a:solidFill>
                  <a:srgbClr val="5A626C"/>
                </a:solidFill>
                <a:latin typeface="맑은 고딕"/>
                <a:ea typeface="맑은 고딕"/>
              </a:rPr>
              <a:t>correct · conflict · noise 모두 chunks[]에 섞어 적재</a:t>
            </a:r>
          </a:p>
        </p:txBody>
      </p:sp>
      <p:sp>
        <p:nvSpPr>
          <p:cNvPr id="213" name="badge4"/>
          <p:cNvSpPr/>
          <p:nvPr/>
        </p:nvSpPr>
        <p:spPr>
          <a:xfrm>
            <a:off x="7518400" y="2032000"/>
            <a:ext cx="292100" cy="292100"/>
          </a:xfrm>
          <a:prstGeom prst="ellipse">
            <a:avLst/>
          </a:prstGeom>
          <a:solidFill>
            <a:srgbClr val="273A5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43" name="arrow3"/>
          <p:cNvSpPr txBox="1"/>
          <p:nvPr/>
        </p:nvSpPr>
        <p:spPr>
          <a:xfrm>
            <a:off x="9391650" y="2311400"/>
            <a:ext cx="228600" cy="381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A4482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24" name="card5"/>
          <p:cNvSpPr/>
          <p:nvPr/>
        </p:nvSpPr>
        <p:spPr>
          <a:xfrm>
            <a:off x="9639300" y="1879600"/>
            <a:ext cx="200660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CE1E7"/>
            </a:solidFill>
          </a:ln>
        </p:spPr>
        <p:txBody>
          <a:bodyPr wrap="square" lIns="114300" tIns="488950" rIns="91440" bIns="45720" anchor="t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사람 검증</a:t>
            </a:r>
          </a:p>
          <a:p>
            <a:pPr algn="l">
              <a:lnSpc>
                <a:spcPct val="108000"/>
              </a:lnSpc>
            </a:pPr>
            <a:r>
              <a:rPr lang="ko-KR" sz="1000" b="0" dirty="0">
                <a:solidFill>
                  <a:srgbClr val="5A626C"/>
                </a:solidFill>
                <a:latin typeface="맑은 고딕"/>
                <a:ea typeface="맑은 고딕"/>
              </a:rPr>
              <a:t>사실 충돌 전수 확정·교정</a:t>
            </a:r>
          </a:p>
        </p:txBody>
      </p:sp>
      <p:sp>
        <p:nvSpPr>
          <p:cNvPr id="214" name="badge5"/>
          <p:cNvSpPr/>
          <p:nvPr/>
        </p:nvSpPr>
        <p:spPr>
          <a:xfrm>
            <a:off x="9791700" y="2032000"/>
            <a:ext cx="292100" cy="292100"/>
          </a:xfrm>
          <a:prstGeom prst="ellipse">
            <a:avLst/>
          </a:prstGeom>
          <a:solidFill>
            <a:srgbClr val="273A5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60" name="labelB"/>
          <p:cNvSpPr txBox="1"/>
          <p:nvPr/>
        </p:nvSpPr>
        <p:spPr>
          <a:xfrm>
            <a:off x="546100" y="3505200"/>
            <a:ext cx="110871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250" b="1" dirty="0">
                <a:solidFill>
                  <a:srgbClr val="273A52"/>
                </a:solidFill>
                <a:latin typeface="맑은 고딕"/>
                <a:ea typeface="맑은 고딕"/>
              </a:rPr>
              <a:t>공통 산출물</a:t>
            </a:r>
            <a:r>
              <a:rPr lang="ko-KR" sz="1100" b="0" dirty="0">
                <a:solidFill>
                  <a:srgbClr val="6B7480"/>
                </a:solidFill>
                <a:latin typeface="맑은 고딕"/>
                <a:ea typeface="맑은 고딕"/>
              </a:rPr>
              <a:t>   —   정규화 후 모든 인스턴스가 갖는 형태</a:t>
            </a:r>
          </a:p>
        </p:txBody>
      </p:sp>
      <p:sp>
        <p:nvSpPr>
          <p:cNvPr id="261" name="schemaBox"/>
          <p:cNvSpPr/>
          <p:nvPr/>
        </p:nvSpPr>
        <p:spPr>
          <a:xfrm>
            <a:off x="546100" y="3810000"/>
            <a:ext cx="5969000" cy="2667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CE1E7"/>
            </a:solidFill>
          </a:ln>
        </p:spPr>
        <p:txBody>
          <a:bodyPr wrap="square" lIns="137160" tIns="76200" rIns="91440" bIns="10160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공통 스키마 (JSON)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{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 "dataset": "DRAGged",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 "question": "When does Passover begin in 2025?",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 "</a:t>
            </a:r>
            <a:r>
              <a:rPr lang="en-US" sz="1050" b="0" dirty="0" err="1">
                <a:solidFill>
                  <a:srgbClr val="1E2227"/>
                </a:solidFill>
                <a:latin typeface="Consolas"/>
                <a:ea typeface="맑은 고딕"/>
              </a:rPr>
              <a:t>correct_answers</a:t>
            </a: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": ["sundown, Sat April 12, 2025”],</a:t>
            </a:r>
            <a:r>
              <a:rPr lang="ko-KR" sz="1000" b="0" dirty="0">
                <a:solidFill>
                  <a:srgbClr val="9AA3AD"/>
                </a:solidFill>
                <a:latin typeface="Consolas"/>
                <a:ea typeface="맑은 고딕"/>
              </a:rPr>
              <a:t>  // 복수 정답은 배열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 "conflict_type": </a:t>
            </a:r>
            <a:r>
              <a:rPr lang="en-US" sz="1050" b="0" dirty="0">
                <a:solidFill>
                  <a:srgbClr val="C2410C"/>
                </a:solidFill>
                <a:latin typeface="Consolas"/>
                <a:ea typeface="맑은 고딕"/>
              </a:rPr>
              <a:t>“</a:t>
            </a:r>
            <a:r>
              <a:rPr lang="en-US" sz="1050" b="1" dirty="0">
                <a:solidFill>
                  <a:srgbClr val="C2410C"/>
                </a:solidFill>
                <a:latin typeface="Consolas"/>
                <a:ea typeface="맑은 고딕"/>
              </a:rPr>
              <a:t>Outdated</a:t>
            </a:r>
            <a:r>
              <a:rPr lang="en-US" sz="1050" dirty="0">
                <a:solidFill>
                  <a:srgbClr val="C2410C"/>
                </a:solidFill>
                <a:latin typeface="Consolas"/>
                <a:ea typeface="맑은 고딕"/>
              </a:rPr>
              <a:t>”</a:t>
            </a: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,</a:t>
            </a:r>
          </a:p>
          <a:p>
            <a:pPr algn="l">
              <a:lnSpc>
                <a:spcPct val="113000"/>
              </a:lnSpc>
            </a:pPr>
            <a:r>
              <a:rPr lang="ko-KR" sz="1000" b="0" dirty="0">
                <a:solidFill>
                  <a:srgbClr val="9AA3AD"/>
                </a:solidFill>
                <a:latin typeface="Consolas"/>
                <a:ea typeface="맑은 고딕"/>
              </a:rPr>
              <a:t>  // 5개 라벨 중 하나로 통일 부여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 "chunks": [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   { "id":"c1", "text":"...begins April 12, 2025", "label":</a:t>
            </a:r>
            <a:r>
              <a:rPr lang="en-US" sz="1050" b="1" dirty="0">
                <a:solidFill>
                  <a:srgbClr val="C2410C"/>
                </a:solidFill>
                <a:latin typeface="Consolas"/>
                <a:ea typeface="맑은 고딕"/>
              </a:rPr>
              <a:t>"correct"</a:t>
            </a: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},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   { "id":"c2", "text":"...starts April 22 (2024)", "label":</a:t>
            </a:r>
            <a:r>
              <a:rPr lang="en-US" sz="1050" b="1" dirty="0">
                <a:solidFill>
                  <a:srgbClr val="C2410C"/>
                </a:solidFill>
                <a:latin typeface="Consolas"/>
                <a:ea typeface="맑은 고딕"/>
              </a:rPr>
              <a:t>"conflict"</a:t>
            </a: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},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   { "id":"c3", "text":"...spring travel deals", "label":</a:t>
            </a:r>
            <a:r>
              <a:rPr lang="en-US" sz="1050" b="1" dirty="0">
                <a:solidFill>
                  <a:srgbClr val="C2410C"/>
                </a:solidFill>
                <a:latin typeface="Consolas"/>
                <a:ea typeface="맑은 고딕"/>
              </a:rPr>
              <a:t>"noise"</a:t>
            </a: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}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  ]</a:t>
            </a:r>
          </a:p>
          <a:p>
            <a:pPr algn="l">
              <a:lnSpc>
                <a:spcPct val="113000"/>
              </a:lnSpc>
            </a:pPr>
            <a:r>
              <a:rPr lang="en-US" sz="1050" b="0" dirty="0">
                <a:solidFill>
                  <a:srgbClr val="1E2227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5" name="rulePanel">
            <a:extLst>
              <a:ext uri="{FF2B5EF4-FFF2-40B4-BE49-F238E27FC236}">
                <a16:creationId xmlns:a16="http://schemas.microsoft.com/office/drawing/2014/main" id="{83F3A316-A38F-9943-9207-5177A6C28EB3}"/>
              </a:ext>
            </a:extLst>
          </p:cNvPr>
          <p:cNvSpPr/>
          <p:nvPr/>
        </p:nvSpPr>
        <p:spPr>
          <a:xfrm>
            <a:off x="6769100" y="3810000"/>
            <a:ext cx="4864100" cy="2667000"/>
          </a:xfrm>
          <a:prstGeom prst="rect">
            <a:avLst/>
          </a:prstGeom>
          <a:noFill/>
          <a:ln w="9525" cap="flat" cmpd="sng" algn="ctr">
            <a:solidFill>
              <a:srgbClr val="DCE1E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52400" tIns="127000" rIns="152400" bIns="101600" rtlCol="0" anchor="t" anchorCtr="0"/>
          <a:lstStyle/>
          <a:p>
            <a:pPr algn="l">
              <a:spcAft>
                <a:spcPts val="3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공통 처리 규약</a:t>
            </a:r>
          </a:p>
          <a:p>
            <a:pPr marL="200025" indent="-200025" algn="l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200" b="1" dirty="0">
                <a:solidFill>
                  <a:srgbClr val="C2410C"/>
                </a:solidFill>
                <a:latin typeface="맑은 고딕"/>
                <a:ea typeface="맑은 고딕"/>
              </a:rPr>
              <a:t>청크 필드</a:t>
            </a:r>
            <a:r>
              <a:rPr lang="ko-KR" sz="1200" b="0" dirty="0">
                <a:solidFill>
                  <a:srgbClr val="1E2227"/>
                </a:solidFill>
                <a:latin typeface="맑은 고딕"/>
                <a:ea typeface="맑은 고딕"/>
              </a:rPr>
              <a:t> — </a:t>
            </a:r>
            <a:r>
              <a:rPr lang="ko-KR" sz="1200" b="1" dirty="0">
                <a:solidFill>
                  <a:srgbClr val="1E2227"/>
                </a:solidFill>
                <a:latin typeface="맑은 고딕"/>
                <a:ea typeface="맑은 고딕"/>
              </a:rPr>
              <a:t>id · label · text</a:t>
            </a:r>
            <a:r>
              <a:rPr lang="ko-KR" sz="1200" b="0" dirty="0">
                <a:solidFill>
                  <a:srgbClr val="1E2227"/>
                </a:solidFill>
                <a:latin typeface="맑은 고딕"/>
                <a:ea typeface="맑은 고딕"/>
              </a:rPr>
              <a:t> 만 공통 부여, 그 외 필드는 원본 그대로 보존</a:t>
            </a:r>
          </a:p>
          <a:p>
            <a:pPr marL="200025" indent="-200025" algn="l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200" b="1" dirty="0">
                <a:solidFill>
                  <a:srgbClr val="C2410C"/>
                </a:solidFill>
                <a:latin typeface="맑은 고딕"/>
                <a:ea typeface="맑은 고딕"/>
              </a:rPr>
              <a:t>문서 길이</a:t>
            </a:r>
            <a:r>
              <a:rPr lang="ko-KR" sz="1200" b="0" dirty="0">
                <a:solidFill>
                  <a:srgbClr val="1E2227"/>
                </a:solidFill>
                <a:latin typeface="맑은 고딕"/>
                <a:ea typeface="맑은 고딕"/>
              </a:rPr>
              <a:t> — chunks[]에서 파생, 필요 시 회귀 공변량으로 사용</a:t>
            </a:r>
          </a:p>
          <a:p>
            <a:pPr marL="200025" indent="-200025" algn="l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200" b="1" dirty="0" err="1">
                <a:solidFill>
                  <a:srgbClr val="C2410C"/>
                </a:solidFill>
                <a:latin typeface="Consolas"/>
                <a:ea typeface="맑은 고딕"/>
              </a:rPr>
              <a:t>conflict_type</a:t>
            </a:r>
            <a:r>
              <a:rPr lang="ko-KR" sz="1200" b="0" dirty="0">
                <a:solidFill>
                  <a:srgbClr val="1E2227"/>
                </a:solidFill>
                <a:latin typeface="맑은 고딕"/>
                <a:ea typeface="맑은 고딕"/>
              </a:rPr>
              <a:t> — 아래 5개 라벨 중 하나로 통일 부여 </a:t>
            </a:r>
            <a:r>
              <a:rPr lang="ko-KR" sz="1050" b="0" dirty="0" err="1">
                <a:solidFill>
                  <a:srgbClr val="4A5560"/>
                </a:solidFill>
                <a:latin typeface="맑은 고딕"/>
                <a:ea typeface="맑은 고딕"/>
              </a:rPr>
              <a:t>DRAGged</a:t>
            </a:r>
            <a:r>
              <a:rPr lang="ko-KR" sz="1050" b="0" dirty="0">
                <a:solidFill>
                  <a:srgbClr val="4A5560"/>
                </a:solidFill>
                <a:latin typeface="맑은 고딕"/>
                <a:ea typeface="맑은 고딕"/>
              </a:rPr>
              <a:t> = native(전문가) · RAMDocs·QACC = assign(</a:t>
            </a:r>
            <a:r>
              <a:rPr lang="ko-KR" sz="1050" b="0" dirty="0" err="1">
                <a:solidFill>
                  <a:srgbClr val="4A5560"/>
                </a:solidFill>
                <a:latin typeface="맑은 고딕"/>
                <a:ea typeface="맑은 고딕"/>
              </a:rPr>
              <a:t>LLM+인간</a:t>
            </a:r>
            <a:r>
              <a:rPr lang="ko-KR" sz="1050" b="0" dirty="0">
                <a:solidFill>
                  <a:srgbClr val="4A5560"/>
                </a:solidFill>
                <a:latin typeface="맑은 고딕"/>
                <a:ea typeface="맑은 고딕"/>
              </a:rPr>
              <a:t>)</a:t>
            </a:r>
            <a:endParaRPr lang="en-US" altLang="ko-KR" sz="1050" b="0" dirty="0">
              <a:solidFill>
                <a:srgbClr val="4A5560"/>
              </a:solidFill>
              <a:latin typeface="맑은 고딕"/>
              <a:ea typeface="맑은 고딕"/>
            </a:endParaRPr>
          </a:p>
          <a:p>
            <a:pPr marL="628650" lvl="1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/>
                </a:solidFill>
                <a:latin typeface="맑은 고딕"/>
                <a:ea typeface="맑은 고딕"/>
              </a:rPr>
              <a:t>No conflict</a:t>
            </a:r>
            <a:r>
              <a:rPr lang="ko-KR" altLang="ko-KR" sz="105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ko-KR" altLang="ko-KR" sz="1050" dirty="0">
                <a:solidFill>
                  <a:srgbClr val="5A626C"/>
                </a:solidFill>
                <a:latin typeface="맑은 고딕"/>
                <a:ea typeface="맑은 고딕"/>
              </a:rPr>
              <a:t>(</a:t>
            </a:r>
            <a:r>
              <a:rPr lang="ko-KR" altLang="ko-KR" sz="1050" dirty="0" err="1">
                <a:solidFill>
                  <a:srgbClr val="5A626C"/>
                </a:solidFill>
                <a:latin typeface="맑은 고딕"/>
                <a:ea typeface="맑은 고딕"/>
              </a:rPr>
              <a:t>무충돌</a:t>
            </a:r>
            <a:r>
              <a:rPr lang="ko-KR" altLang="ko-KR" sz="1050" dirty="0">
                <a:solidFill>
                  <a:srgbClr val="5A626C"/>
                </a:solidFill>
                <a:latin typeface="맑은 고딕"/>
                <a:ea typeface="맑은 고딕"/>
              </a:rPr>
              <a:t> · 문서들이 동일한 답)</a:t>
            </a:r>
          </a:p>
          <a:p>
            <a:pPr marL="628650" lvl="1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/>
                </a:solidFill>
                <a:latin typeface="맑은 고딕"/>
                <a:ea typeface="맑은 고딕"/>
              </a:rPr>
              <a:t>Complementary</a:t>
            </a:r>
            <a:r>
              <a:rPr lang="ko-KR" altLang="ko-KR" sz="1050" dirty="0">
                <a:solidFill>
                  <a:srgbClr val="5A626C"/>
                </a:solidFill>
                <a:latin typeface="맑은 고딕"/>
                <a:ea typeface="맑은 고딕"/>
              </a:rPr>
              <a:t> (상보 정보 · </a:t>
            </a:r>
            <a:r>
              <a:rPr lang="ko-KR" altLang="ko-KR" sz="1050" dirty="0" err="1">
                <a:solidFill>
                  <a:srgbClr val="5A626C"/>
                </a:solidFill>
                <a:latin typeface="맑은 고딕"/>
                <a:ea typeface="맑은 고딕"/>
              </a:rPr>
              <a:t>부분·양립</a:t>
            </a:r>
            <a:r>
              <a:rPr lang="ko-KR" altLang="ko-KR" sz="1050" dirty="0">
                <a:solidFill>
                  <a:srgbClr val="5A626C"/>
                </a:solidFill>
                <a:latin typeface="맑은 고딕"/>
                <a:ea typeface="맑은 고딕"/>
              </a:rPr>
              <a:t> 정보 종합)</a:t>
            </a:r>
          </a:p>
          <a:p>
            <a:pPr marL="628650" lvl="1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/>
                </a:solidFill>
                <a:latin typeface="맑은 고딕"/>
                <a:ea typeface="맑은 고딕"/>
              </a:rPr>
              <a:t>Conflicting opinions</a:t>
            </a:r>
            <a:r>
              <a:rPr lang="ko-KR" altLang="ko-KR" sz="105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ko-KR" altLang="ko-KR" sz="1050" dirty="0">
                <a:solidFill>
                  <a:srgbClr val="5A626C"/>
                </a:solidFill>
                <a:latin typeface="맑은 고딕"/>
                <a:ea typeface="맑은 고딕"/>
              </a:rPr>
              <a:t>(상충 의견 · </a:t>
            </a:r>
            <a:r>
              <a:rPr lang="ko-KR" altLang="ko-KR" sz="1050" dirty="0" err="1">
                <a:solidFill>
                  <a:srgbClr val="5A626C"/>
                </a:solidFill>
                <a:latin typeface="맑은 고딕"/>
                <a:ea typeface="맑은 고딕"/>
              </a:rPr>
              <a:t>주관·상반된</a:t>
            </a:r>
            <a:r>
              <a:rPr lang="ko-KR" altLang="ko-KR" sz="1050" dirty="0">
                <a:solidFill>
                  <a:srgbClr val="5A626C"/>
                </a:solidFill>
                <a:latin typeface="맑은 고딕"/>
                <a:ea typeface="맑은 고딕"/>
              </a:rPr>
              <a:t> 연구)</a:t>
            </a:r>
          </a:p>
          <a:p>
            <a:pPr marL="628650" lvl="1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/>
                </a:solidFill>
                <a:latin typeface="맑은 고딕"/>
                <a:ea typeface="맑은 고딕"/>
              </a:rPr>
              <a:t>Outdated</a:t>
            </a:r>
            <a:r>
              <a:rPr lang="ko-KR" altLang="ko-KR" sz="1050" dirty="0">
                <a:solidFill>
                  <a:srgbClr val="5A626C"/>
                </a:solidFill>
                <a:latin typeface="맑은 고딕"/>
                <a:ea typeface="맑은 고딕"/>
              </a:rPr>
              <a:t> (시효 · 시간에 따라 정답이 바뀜)</a:t>
            </a:r>
          </a:p>
          <a:p>
            <a:pPr marL="628650" lvl="1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/>
                </a:solidFill>
                <a:latin typeface="맑은 고딕"/>
                <a:ea typeface="맑은 고딕"/>
              </a:rPr>
              <a:t>Misinformation</a:t>
            </a:r>
            <a:r>
              <a:rPr lang="ko-KR" altLang="ko-KR" sz="1050" dirty="0">
                <a:solidFill>
                  <a:srgbClr val="5A626C"/>
                </a:solidFill>
                <a:latin typeface="맑은 고딕"/>
                <a:ea typeface="맑은 고딕"/>
              </a:rPr>
              <a:t> (</a:t>
            </a:r>
            <a:r>
              <a:rPr lang="ko-KR" altLang="ko-KR" sz="1050" dirty="0" err="1">
                <a:solidFill>
                  <a:srgbClr val="5A626C"/>
                </a:solidFill>
                <a:latin typeface="맑은 고딕"/>
                <a:ea typeface="맑은 고딕"/>
              </a:rPr>
              <a:t>오정보</a:t>
            </a:r>
            <a:r>
              <a:rPr lang="ko-KR" altLang="ko-KR" sz="1050" dirty="0">
                <a:solidFill>
                  <a:srgbClr val="5A626C"/>
                </a:solidFill>
                <a:latin typeface="맑은 고딕"/>
                <a:ea typeface="맑은 고딕"/>
              </a:rPr>
              <a:t> · 일부 문서가 오류)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endParaRPr lang="ko-KR" sz="1050" b="0" dirty="0">
              <a:solidFill>
                <a:srgbClr val="4A556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57862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§3.1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DRAGged</a:t>
            </a:r>
            <a:r>
              <a:rPr lang="en-US" altLang="ko-KR" sz="2350" b="1" dirty="0">
                <a:solidFill>
                  <a:srgbClr val="273A52"/>
                </a:solidFill>
                <a:latin typeface="맑은 고딕"/>
                <a:ea typeface="맑은 고딕"/>
              </a:rPr>
              <a:t>:</a:t>
            </a:r>
            <a:r>
              <a:rPr lang="ko-KR" altLang="en-US" sz="2350" b="1" dirty="0">
                <a:solidFill>
                  <a:srgbClr val="273A52"/>
                </a:solidFill>
                <a:latin typeface="맑은 고딕"/>
                <a:ea typeface="맑은 고딕"/>
              </a:rPr>
              <a:t> 원본 구조와 </a:t>
            </a:r>
            <a:r>
              <a:rPr lang="ko-KR" altLang="en-US"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전처리</a:t>
            </a:r>
            <a:r>
              <a:rPr lang="ko-KR" altLang="en-US" sz="2350" b="1" dirty="0">
                <a:solidFill>
                  <a:srgbClr val="273A52"/>
                </a:solidFill>
                <a:latin typeface="맑은 고딕"/>
                <a:ea typeface="맑은 고딕"/>
              </a:rPr>
              <a:t> 방법</a:t>
            </a:r>
            <a:endParaRPr sz="2350" b="1" dirty="0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12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270000"/>
            <a:ext cx="11087100" cy="2309509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{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"question"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"When does Passover start?",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// 질의(사용자 질문)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"conflict_type"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"</a:t>
            </a:r>
            <a:r>
              <a:rPr lang="en" sz="1120" b="0" dirty="0">
                <a:solidFill>
                  <a:srgbClr val="1E2227"/>
                </a:solidFill>
                <a:latin typeface="Consolas"/>
                <a:ea typeface="맑은 고딕"/>
              </a:rPr>
              <a:t>Conflict due to outdated info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",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// 전문가 충돌 유형 · 본 연구 분석 축(5분류)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"correct_answer"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"sundown Saturday, April 12",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// 시점-유효 정답 · 채점 기준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"search_results"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[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// 구글 top-10 스니펫(10개, 짧은 발췌)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  { "date":"2025-01-01", "url":"chabad.org", "text":"...April 12" },</a:t>
            </a:r>
            <a:r>
              <a:rPr sz="1120" b="1" dirty="0">
                <a:solidFill>
                  <a:srgbClr val="1E7A6F"/>
                </a:solidFill>
                <a:latin typeface="Consolas"/>
                <a:ea typeface="맑은 고딕"/>
              </a:rPr>
              <a:t>  ← 최신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  { "date":"2024-05-01", "url":"...", "text":"...same day" }, ... ]</a:t>
            </a:r>
            <a:r>
              <a:rPr sz="1120" b="1" dirty="0">
                <a:solidFill>
                  <a:srgbClr val="A4482A"/>
                </a:solidFill>
                <a:latin typeface="Consolas"/>
                <a:ea typeface="맑은 고딕"/>
              </a:rPr>
              <a:t>  ← 과거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// date = 최신성 · url = 출처·권위 · text = 짧은 스니펫(충돌 탐지)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}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</a:t>
            </a:r>
            <a:endParaRPr lang="en-US" sz="1120" b="0" dirty="0">
              <a:solidFill>
                <a:srgbClr val="6B7480"/>
              </a:solidFill>
              <a:latin typeface="Consolas"/>
              <a:ea typeface="맑은 고딕"/>
            </a:endParaRP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endParaRPr lang="en-US" sz="1120" dirty="0">
              <a:solidFill>
                <a:srgbClr val="6B7480"/>
              </a:solidFill>
              <a:latin typeface="Consolas"/>
              <a:ea typeface="맑은 고딕"/>
            </a:endParaRP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※ 개별 청크에 정답 라벨이 없어 정답 청크 매핑이 필요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8FDD1-12AC-A747-A0F6-E16533DEF0D6}"/>
              </a:ext>
            </a:extLst>
          </p:cNvPr>
          <p:cNvSpPr txBox="1"/>
          <p:nvPr/>
        </p:nvSpPr>
        <p:spPr>
          <a:xfrm>
            <a:off x="548640" y="3724983"/>
            <a:ext cx="11087100" cy="353336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l"/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데이터 </a:t>
            </a:r>
            <a:r>
              <a:rPr lang="ko-KR"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전처리</a:t>
            </a: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 방법</a:t>
            </a:r>
            <a:endParaRPr lang="en-US" altLang="ko-KR" sz="1300" b="1" dirty="0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40" name="Pip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480937"/>
              </p:ext>
            </p:extLst>
          </p:nvPr>
        </p:nvGraphicFramePr>
        <p:xfrm>
          <a:off x="548640" y="4384368"/>
          <a:ext cx="11086800" cy="14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① 라벨 확보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청크에 </a:t>
                      </a:r>
                      <a:r>
                        <a:rPr lang="ko-KR" sz="1100" b="1" dirty="0">
                          <a:solidFill>
                            <a:srgbClr val="C2410C"/>
                          </a:solidFill>
                          <a:latin typeface="맑은 고딕"/>
                          <a:ea typeface="맑은 고딕"/>
                        </a:rPr>
                        <a:t>correct·conflict·noise</a:t>
                      </a: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라벨이 없어, LLM이 초벌 분류한 뒤 사람이 전수 검토로 확정.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② 정답 확정·검증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correct_answer의 오탈자를 정오표로 보정해 최종 확정.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③ 공통 구조 매핑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확정된 라벨을 공통 구조(</a:t>
                      </a:r>
                      <a:r>
                        <a:rPr lang="ko-KR" sz="1100" b="1" dirty="0">
                          <a:solidFill>
                            <a:srgbClr val="C2410C"/>
                          </a:solidFill>
                          <a:latin typeface="맑은 고딕"/>
                          <a:ea typeface="맑은 고딕"/>
                        </a:rPr>
                        <a:t>correct/conflict/noise</a:t>
                      </a: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+ 정답)로 정리.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866117A-6A10-A3DE-2CE9-AECBB13B9F8B}"/>
              </a:ext>
            </a:extLst>
          </p:cNvPr>
          <p:cNvSpPr txBox="1"/>
          <p:nvPr/>
        </p:nvSpPr>
        <p:spPr>
          <a:xfrm>
            <a:off x="556259" y="4047407"/>
            <a:ext cx="1107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청크 라벨링</a:t>
            </a:r>
            <a:r>
              <a:rPr lang="ko-KR" sz="1050" b="0" dirty="0">
                <a:solidFill>
                  <a:srgbClr val="6B7480"/>
                </a:solidFill>
                <a:latin typeface="맑은 고딕"/>
                <a:ea typeface="맑은 고딕"/>
              </a:rPr>
              <a:t> — conflict_type은 원본 값을 그대로 두고, search_result의 각 청크에 </a:t>
            </a:r>
            <a:r>
              <a:rPr lang="ko-KR" sz="1050" b="1" dirty="0">
                <a:solidFill>
                  <a:srgbClr val="C2410C"/>
                </a:solidFill>
                <a:latin typeface="맑은 고딕"/>
                <a:ea typeface="맑은 고딕"/>
              </a:rPr>
              <a:t>correct/conflict/noise</a:t>
            </a:r>
            <a:r>
              <a:rPr lang="ko-KR" sz="1050" b="0" dirty="0">
                <a:solidFill>
                  <a:srgbClr val="6B7480"/>
                </a:solidFill>
                <a:latin typeface="맑은 고딕"/>
                <a:ea typeface="맑은 고딕"/>
              </a:rPr>
              <a:t> 라벨을 새로 부여하는 것이 목적.</a:t>
            </a:r>
          </a:p>
        </p:txBody>
      </p:sp>
    </p:spTree>
    <p:extLst>
      <p:ext uri="{BB962C8B-B14F-4D97-AF65-F5344CB8AC3E}">
        <p14:creationId xmlns:p14="http://schemas.microsoft.com/office/powerpoint/2010/main" val="3074973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§3.1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450"/>
              </a:spcAft>
            </a:pP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QACC</a:t>
            </a:r>
            <a:r>
              <a:rPr lang="en-US" altLang="ko-KR" sz="2350" b="1" dirty="0">
                <a:solidFill>
                  <a:srgbClr val="273A52"/>
                </a:solidFill>
                <a:latin typeface="맑은 고딕"/>
                <a:ea typeface="맑은 고딕"/>
              </a:rPr>
              <a:t>:</a:t>
            </a:r>
            <a:r>
              <a:rPr lang="ko-KR" altLang="en-US" sz="2350" b="1" dirty="0">
                <a:solidFill>
                  <a:srgbClr val="273A52"/>
                </a:solidFill>
                <a:latin typeface="맑은 고딕"/>
                <a:ea typeface="맑은 고딕"/>
              </a:rPr>
              <a:t> 원본 구조와 </a:t>
            </a:r>
            <a:r>
              <a:rPr lang="ko-KR" altLang="en-US"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전처리</a:t>
            </a:r>
            <a:r>
              <a:rPr lang="ko-KR" altLang="en-US" sz="2350" b="1" dirty="0">
                <a:solidFill>
                  <a:srgbClr val="273A52"/>
                </a:solidFill>
                <a:latin typeface="맑은 고딕"/>
                <a:ea typeface="맑은 고딕"/>
              </a:rPr>
              <a:t> 방법</a:t>
            </a:r>
            <a:endParaRPr sz="2350" b="1" dirty="0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13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270000"/>
            <a:ext cx="11087100" cy="2337495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{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"question"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"Where did ... a bridge too far come from?",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// 질의 · AmbigQA 비모호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"contexts"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["...", ...],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// 구글 top-10 스니펫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"sources"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["study.com", "wikipedia.org", ...],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// 스니펫 출처 도메인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"firstAnswer"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 "Marget Garden", 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"firstContext"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 "['A']",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// first·second = 상충하는 두 후보 답 + 각 지지 문서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"secondAnswer"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"Operation Market Garden",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"secondContext"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"['B']",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"correctAnswer"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"Operation Market Garden",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// 정답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20" b="1" dirty="0">
                <a:solidFill>
                  <a:srgbClr val="273A52"/>
                </a:solidFill>
                <a:latin typeface="Consolas"/>
                <a:ea typeface="맑은 고딕"/>
              </a:rPr>
              <a:t>"reasons"</a:t>
            </a:r>
            <a:r>
              <a:rPr sz="1120" b="0" dirty="0">
                <a:solidFill>
                  <a:srgbClr val="1E2227"/>
                </a:solidFill>
                <a:latin typeface="Consolas"/>
                <a:ea typeface="맑은 고딕"/>
              </a:rPr>
              <a:t>: "['C']" }</a:t>
            </a: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 // 선택 사유: 다수결·출처·상식·최신성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  // correctAnswer 쪽 = correct, 다른 답 쪽 = conflict (짝이 원본에 내장 → 별도 매핑 불필요)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endParaRPr lang="en-US" sz="1120" b="0" dirty="0">
              <a:solidFill>
                <a:srgbClr val="6B7480"/>
              </a:solidFill>
              <a:latin typeface="Consolas"/>
              <a:ea typeface="맑은 고딕"/>
            </a:endParaRP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20" b="0" dirty="0">
                <a:solidFill>
                  <a:srgbClr val="6B7480"/>
                </a:solidFill>
                <a:latin typeface="Consolas"/>
                <a:ea typeface="맑은 고딕"/>
              </a:rPr>
              <a:t>※ 전건 correctAnswer 보유 · 오타(Marget)·granularity 차이 → 공통 taxonomy로 재분류(사이비=비충돌 드롭)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8507"/>
            <a:ext cx="11091672" cy="292388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spAutoFit/>
          </a:bodyPr>
          <a:lstStyle/>
          <a:p>
            <a:pPr algn="l"/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데이터 전처리 방법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033670"/>
              </p:ext>
            </p:extLst>
          </p:nvPr>
        </p:nvGraphicFramePr>
        <p:xfrm>
          <a:off x="548640" y="4432707"/>
          <a:ext cx="11086800" cy="14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  <a:endParaRPr sz="11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① 라벨 확보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QACC엔</a:t>
                      </a:r>
                      <a:r>
                        <a:rPr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충돌</a:t>
                      </a:r>
                      <a:r>
                        <a:rPr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유형이</a:t>
                      </a:r>
                      <a:r>
                        <a:rPr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없어</a:t>
                      </a:r>
                      <a:r>
                        <a:rPr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LLM이</a:t>
                      </a:r>
                      <a:r>
                        <a:rPr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먼저</a:t>
                      </a:r>
                      <a:r>
                        <a:rPr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나누고</a:t>
                      </a:r>
                      <a:r>
                        <a:rPr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사람이</a:t>
                      </a:r>
                      <a:r>
                        <a:rPr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검수합니다</a:t>
                      </a:r>
                      <a:r>
                        <a:rPr lang="en-US" alt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sz="1100" b="0" dirty="0">
                        <a:solidFill>
                          <a:srgbClr val="1E222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② 정답 확정·검증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각 문항의 정답이 맞는지 LLM과 사람이 다시 확인합니다.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③ 공통 구조 매핑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검색 조각과 출처를 청크로 묶고, 정답 지지는 </a:t>
                      </a:r>
                      <a:r>
                        <a:rPr sz="1100" b="1" dirty="0" err="1">
                          <a:solidFill>
                            <a:srgbClr val="C2410C"/>
                          </a:solidFill>
                          <a:latin typeface="맑은 고딕"/>
                          <a:ea typeface="맑은 고딕"/>
                        </a:rPr>
                        <a:t>correct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·반대 답은 </a:t>
                      </a:r>
                      <a:r>
                        <a:rPr sz="1100" b="1" dirty="0" err="1">
                          <a:solidFill>
                            <a:srgbClr val="C2410C"/>
                          </a:solidFill>
                          <a:latin typeface="맑은 고딕"/>
                          <a:ea typeface="맑은 고딕"/>
                        </a:rPr>
                        <a:t>conflict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·무관은 </a:t>
                      </a:r>
                      <a:r>
                        <a:rPr sz="1100" b="1" dirty="0" err="1">
                          <a:solidFill>
                            <a:srgbClr val="C2410C"/>
                          </a:solidFill>
                          <a:latin typeface="맑은 고딕"/>
                          <a:ea typeface="맑은 고딕"/>
                        </a:rPr>
                        <a:t>noise</a:t>
                      </a:r>
                      <a:r>
                        <a:rPr sz="110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로 라벨링.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276455"/>
                  </a:ext>
                </a:extLst>
              </a:tr>
            </a:tbl>
          </a:graphicData>
        </a:graphic>
      </p:graphicFrame>
      <p:sp>
        <p:nvSpPr>
          <p:cNvPr id="89" name="TextBox Sub13"/>
          <p:cNvSpPr txBox="1"/>
          <p:nvPr/>
        </p:nvSpPr>
        <p:spPr>
          <a:xfrm>
            <a:off x="546100" y="4119440"/>
            <a:ext cx="10922000" cy="2794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스크리닝 게이트</a:t>
            </a:r>
            <a:r>
              <a:rPr lang="ko-KR" sz="1050" b="0" dirty="0">
                <a:solidFill>
                  <a:srgbClr val="6B7480"/>
                </a:solidFill>
                <a:latin typeface="맑은 고딕"/>
                <a:ea typeface="맑은 고딕"/>
              </a:rPr>
              <a:t> — 정답·상충 답 쌍은 원본에 이미 내장돼 있어, </a:t>
            </a:r>
            <a:r>
              <a:rPr lang="ko-KR" sz="1050" b="1" dirty="0">
                <a:solidFill>
                  <a:srgbClr val="C2410C"/>
                </a:solidFill>
                <a:latin typeface="맑은 고딕"/>
                <a:ea typeface="맑은 고딕"/>
              </a:rPr>
              <a:t>conflict_type</a:t>
            </a:r>
            <a:r>
              <a:rPr lang="ko-KR" sz="1050" b="0" dirty="0">
                <a:solidFill>
                  <a:srgbClr val="6B7480"/>
                </a:solidFill>
                <a:latin typeface="맑은 고딕"/>
                <a:ea typeface="맑은 고딕"/>
              </a:rPr>
              <a:t>을 새로 부여하고 표기만 다른 가짜 충돌을 걸러내는 것이 목적.</a:t>
            </a:r>
          </a:p>
        </p:txBody>
      </p:sp>
    </p:spTree>
    <p:extLst>
      <p:ext uri="{BB962C8B-B14F-4D97-AF65-F5344CB8AC3E}">
        <p14:creationId xmlns:p14="http://schemas.microsoft.com/office/powerpoint/2010/main" val="3280285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§3.1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450"/>
              </a:spcAft>
            </a:pP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RAMDocs</a:t>
            </a:r>
            <a:r>
              <a:rPr lang="en-US" altLang="ko-KR" sz="2350" b="1" dirty="0">
                <a:solidFill>
                  <a:srgbClr val="273A52"/>
                </a:solidFill>
                <a:latin typeface="맑은 고딕"/>
                <a:ea typeface="맑은 고딕"/>
              </a:rPr>
              <a:t>:</a:t>
            </a:r>
            <a:r>
              <a:rPr lang="ko-KR" altLang="en-US" sz="2350" b="1" dirty="0">
                <a:solidFill>
                  <a:srgbClr val="273A52"/>
                </a:solidFill>
                <a:latin typeface="맑은 고딕"/>
                <a:ea typeface="맑은 고딕"/>
              </a:rPr>
              <a:t> 원본 구조와 </a:t>
            </a:r>
            <a:r>
              <a:rPr lang="ko-KR" altLang="en-US"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전처리</a:t>
            </a:r>
            <a:r>
              <a:rPr lang="ko-KR" altLang="en-US" sz="2350" b="1" dirty="0">
                <a:solidFill>
                  <a:srgbClr val="273A52"/>
                </a:solidFill>
                <a:latin typeface="맑은 고딕"/>
                <a:ea typeface="맑은 고딕"/>
              </a:rPr>
              <a:t> 방법</a:t>
            </a:r>
            <a:endParaRPr sz="2350" b="1" dirty="0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14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270000"/>
            <a:ext cx="11087100" cy="219456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{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17" b="1" dirty="0">
                <a:solidFill>
                  <a:srgbClr val="273A52"/>
                </a:solidFill>
                <a:latin typeface="Consolas"/>
                <a:ea typeface="맑은 고딕"/>
              </a:rPr>
              <a:t>"question"</a:t>
            </a: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: "What is the population of Broken Bow?",</a:t>
            </a:r>
            <a:r>
              <a:rPr sz="1117" b="0" dirty="0">
                <a:solidFill>
                  <a:srgbClr val="6B7480"/>
                </a:solidFill>
                <a:latin typeface="Consolas"/>
                <a:ea typeface="맑은 고딕"/>
              </a:rPr>
              <a:t>   // 질의(사용자 질문)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17" b="1" dirty="0">
                <a:solidFill>
                  <a:srgbClr val="273A52"/>
                </a:solidFill>
                <a:latin typeface="Consolas"/>
                <a:ea typeface="맑은 고딕"/>
              </a:rPr>
              <a:t>"documents"</a:t>
            </a: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: [</a:t>
            </a:r>
            <a:r>
              <a:rPr sz="1117" b="0" dirty="0">
                <a:solidFill>
                  <a:srgbClr val="6B7480"/>
                </a:solidFill>
                <a:latin typeface="Consolas"/>
                <a:ea typeface="맑은 고딕"/>
              </a:rPr>
              <a:t>   // 문서들 · 각 문서에 라벨 내장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    { "text": "...total area...", </a:t>
            </a:r>
            <a:r>
              <a:rPr sz="1117" b="1" dirty="0">
                <a:solidFill>
                  <a:srgbClr val="273A52"/>
                </a:solidFill>
                <a:latin typeface="Consolas"/>
                <a:ea typeface="맑은 고딕"/>
              </a:rPr>
              <a:t>"type"</a:t>
            </a: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: "correct", "answer": "3,559" },</a:t>
            </a:r>
            <a:r>
              <a:rPr sz="1117" b="0" dirty="0">
                <a:solidFill>
                  <a:srgbClr val="6B7480"/>
                </a:solidFill>
                <a:latin typeface="Consolas"/>
                <a:ea typeface="맑은 고딕"/>
              </a:rPr>
              <a:t>   // type = correct·misinfo·noise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    { "text": "...historical...", </a:t>
            </a:r>
            <a:r>
              <a:rPr sz="1117" b="1" dirty="0">
                <a:solidFill>
                  <a:srgbClr val="273A52"/>
                </a:solidFill>
                <a:latin typeface="Consolas"/>
                <a:ea typeface="맑은 고딕"/>
              </a:rPr>
              <a:t>"type"</a:t>
            </a: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: "misinfo", "answer": "10,000" },</a:t>
            </a:r>
            <a:r>
              <a:rPr sz="1117" b="0" dirty="0">
                <a:solidFill>
                  <a:srgbClr val="6B7480"/>
                </a:solidFill>
                <a:latin typeface="Consolas"/>
                <a:ea typeface="맑은 고딕"/>
              </a:rPr>
              <a:t>   // answer = 그 문서가 주장하는 답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    { "text": "...census...",     </a:t>
            </a:r>
            <a:r>
              <a:rPr sz="1117" b="1" dirty="0">
                <a:solidFill>
                  <a:srgbClr val="273A52"/>
                </a:solidFill>
                <a:latin typeface="Consolas"/>
                <a:ea typeface="맑은 고딕"/>
              </a:rPr>
              <a:t>"type"</a:t>
            </a: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: "noise"   } ],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  </a:t>
            </a:r>
            <a:r>
              <a:rPr sz="1117" b="1" dirty="0">
                <a:solidFill>
                  <a:srgbClr val="273A52"/>
                </a:solidFill>
                <a:latin typeface="Consolas"/>
                <a:ea typeface="맑은 고딕"/>
              </a:rPr>
              <a:t>"gold_answers"</a:t>
            </a: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: ["3,559"], </a:t>
            </a:r>
            <a:r>
              <a:rPr sz="1117" b="1" dirty="0">
                <a:solidFill>
                  <a:srgbClr val="273A52"/>
                </a:solidFill>
                <a:latin typeface="Consolas"/>
                <a:ea typeface="맑은 고딕"/>
              </a:rPr>
              <a:t>"wrong_answers"</a:t>
            </a:r>
            <a:r>
              <a:rPr sz="1117" b="0" dirty="0">
                <a:solidFill>
                  <a:srgbClr val="1E2227"/>
                </a:solidFill>
                <a:latin typeface="Consolas"/>
                <a:ea typeface="맑은 고딕"/>
              </a:rPr>
              <a:t>: ["10,000"] }</a:t>
            </a:r>
            <a:r>
              <a:rPr sz="1117" b="0" dirty="0">
                <a:solidFill>
                  <a:srgbClr val="6B7480"/>
                </a:solidFill>
                <a:latin typeface="Consolas"/>
                <a:ea typeface="맑은 고딕"/>
              </a:rPr>
              <a:t>   // 유효 정답 / 오답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17" b="0" dirty="0">
                <a:solidFill>
                  <a:srgbClr val="6B7480"/>
                </a:solidFill>
                <a:latin typeface="Consolas"/>
                <a:ea typeface="맑은 고딕"/>
              </a:rPr>
              <a:t>  // → type·correct 라벨이 내장돼 있어 별도의 정답 문서 매핑이 불필요</a:t>
            </a: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endParaRPr lang="en-US" altLang="en-US" sz="1117" b="0" dirty="0">
              <a:solidFill>
                <a:srgbClr val="6B7480"/>
              </a:solidFill>
              <a:latin typeface="Consolas"/>
              <a:ea typeface="맑은 고딕"/>
            </a:endParaRPr>
          </a:p>
          <a:p>
            <a:pPr algn="l">
              <a:lnSpc>
                <a:spcPct val="113000"/>
              </a:lnSpc>
              <a:spcAft>
                <a:spcPts val="120"/>
              </a:spcAft>
            </a:pPr>
            <a:r>
              <a:rPr sz="1117" b="0" dirty="0">
                <a:solidFill>
                  <a:srgbClr val="6B7480"/>
                </a:solidFill>
                <a:latin typeface="Consolas"/>
                <a:ea typeface="맑은 고딕"/>
              </a:rPr>
              <a:t>※ 한 문항에 정답 지지 · 오정보 · 노이즈 문서가 함께 섞여 있음.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D139A6-601D-3B40-B0E5-FF7857CFE463}"/>
              </a:ext>
            </a:extLst>
          </p:cNvPr>
          <p:cNvSpPr txBox="1"/>
          <p:nvPr/>
        </p:nvSpPr>
        <p:spPr>
          <a:xfrm>
            <a:off x="548640" y="3565652"/>
            <a:ext cx="11087100" cy="3048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l"/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데이터 전처리 방법</a:t>
            </a:r>
          </a:p>
        </p:txBody>
      </p:sp>
      <p:graphicFrame>
        <p:nvGraphicFramePr>
          <p:cNvPr id="40" name="Pip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797181"/>
              </p:ext>
            </p:extLst>
          </p:nvPr>
        </p:nvGraphicFramePr>
        <p:xfrm>
          <a:off x="548640" y="4266542"/>
          <a:ext cx="11086800" cy="1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200"/>
                        </a:spcAft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200"/>
                        </a:spcAft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200"/>
                        </a:spcAft>
                      </a:pPr>
                      <a:r>
                        <a:rPr lang="ko-KR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① 라벨 확보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200"/>
                        </a:spcAft>
                      </a:pP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문서별 </a:t>
                      </a:r>
                      <a:r>
                        <a:rPr lang="ko-KR" sz="1100" b="1" dirty="0">
                          <a:solidFill>
                            <a:srgbClr val="C2410C"/>
                          </a:solidFill>
                          <a:latin typeface="맑은 고딕"/>
                          <a:ea typeface="맑은 고딕"/>
                        </a:rPr>
                        <a:t>type(correct/misinfo/noise)</a:t>
                      </a: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이 합성 단계에서 이미 부여돼 있어 그대로 승계.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200"/>
                        </a:spcAft>
                      </a:pPr>
                      <a:r>
                        <a:rPr lang="ko-KR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② 정답 확정·검증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200"/>
                        </a:spcAft>
                      </a:pP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gold·wrong answers가 원본에 포함돼 있어 그대로 사용.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200"/>
                        </a:spcAft>
                      </a:pPr>
                      <a:r>
                        <a:rPr lang="ko-KR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③ 공통 구조 매핑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200"/>
                        </a:spcAft>
                      </a:pP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type→공통 label 승계 — </a:t>
                      </a:r>
                      <a:r>
                        <a:rPr lang="ko-KR" sz="1100" b="1" dirty="0">
                          <a:solidFill>
                            <a:srgbClr val="C2410C"/>
                          </a:solidFill>
                          <a:latin typeface="맑은 고딕"/>
                          <a:ea typeface="맑은 고딕"/>
                        </a:rPr>
                        <a:t>correct→correct · misinfo→conflict · noise→noise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200"/>
                        </a:spcAft>
                      </a:pPr>
                      <a:r>
                        <a:rPr lang="ko-KR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④ 데이터셋 2개 분리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200"/>
                        </a:spcAft>
                      </a:pP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3요인이 한 문항에 겹쳐 2개로 분리 — </a:t>
                      </a:r>
                      <a:r>
                        <a:rPr lang="ko-KR" sz="1100" b="1" dirty="0">
                          <a:solidFill>
                            <a:srgbClr val="C2410C"/>
                          </a:solidFill>
                          <a:latin typeface="맑은 고딕"/>
                          <a:ea typeface="맑은 고딕"/>
                        </a:rPr>
                        <a:t>(A) 충돌 1개만 남긴 분해형</a:t>
                      </a: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= 본 실험 사용 / </a:t>
                      </a:r>
                      <a:r>
                        <a:rPr lang="ko-KR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(B) 원본 결합형</a:t>
                      </a:r>
                      <a:r>
                        <a:rPr lang="ko-KR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= 향후 과제용 보관.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316594"/>
                  </a:ext>
                </a:extLst>
              </a:tr>
            </a:tbl>
          </a:graphicData>
        </a:graphic>
      </p:graphicFrame>
      <p:sp>
        <p:nvSpPr>
          <p:cNvPr id="88" name="TextBox Sub12"/>
          <p:cNvSpPr txBox="1"/>
          <p:nvPr/>
        </p:nvSpPr>
        <p:spPr>
          <a:xfrm>
            <a:off x="546100" y="3860800"/>
            <a:ext cx="10922000" cy="279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라벨 승계</a:t>
            </a:r>
            <a:r>
              <a:rPr lang="ko-KR" sz="1050" b="0" dirty="0">
                <a:solidFill>
                  <a:srgbClr val="6B7480"/>
                </a:solidFill>
                <a:latin typeface="맑은 고딕"/>
                <a:ea typeface="맑은 고딕"/>
              </a:rPr>
              <a:t> — 문서별 라벨·정답이 원본에 이미 있어 그대로 승계하되, </a:t>
            </a:r>
            <a:r>
              <a:rPr lang="ko-KR" sz="1050" b="1" dirty="0">
                <a:solidFill>
                  <a:srgbClr val="C2410C"/>
                </a:solidFill>
                <a:latin typeface="맑은 고딕"/>
                <a:ea typeface="맑은 고딕"/>
              </a:rPr>
              <a:t>3요인이 겹쳐 있어 데이터셋을 2개로 나누는</a:t>
            </a:r>
            <a:r>
              <a:rPr lang="ko-KR" sz="1050" b="0" dirty="0">
                <a:solidFill>
                  <a:srgbClr val="6B7480"/>
                </a:solidFill>
                <a:latin typeface="맑은 고딕"/>
                <a:ea typeface="맑은 고딕"/>
              </a:rPr>
              <a:t> 것이 특징.</a:t>
            </a:r>
          </a:p>
        </p:txBody>
      </p:sp>
    </p:spTree>
    <p:extLst>
      <p:ext uri="{BB962C8B-B14F-4D97-AF65-F5344CB8AC3E}">
        <p14:creationId xmlns:p14="http://schemas.microsoft.com/office/powerpoint/2010/main" val="2164926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§3.2 진단 프로토콜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>
                <a:solidFill>
                  <a:srgbClr val="273A52"/>
                </a:solidFill>
                <a:latin typeface="맑은 고딕"/>
                <a:ea typeface="맑은 고딕"/>
              </a:rPr>
              <a:t>다단계 진단 프로토콜: 3단계 궤적 라벨링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15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574800"/>
            <a:ext cx="340156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12900"/>
            <a:ext cx="3401568" cy="17043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Level 1 · 탐지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문서 간 불일치를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감지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했는가?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{detected, unrecognized}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lang="ko-KR" sz="1040" b="0" dirty="0">
                <a:solidFill>
                  <a:srgbClr val="6B7480"/>
                </a:solidFill>
                <a:latin typeface="맑은 고딕"/>
                <a:ea typeface="맑은 고딕"/>
              </a:rPr>
              <a:t>원인 유형(시간·오정보·관점)까지 짚었는지도 ‘유형 인지율’로 함께 봅니다.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05072" y="2298700"/>
            <a:ext cx="329184" cy="292608"/>
          </a:xfrm>
          <a:prstGeom prst="rightArrow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74800"/>
            <a:ext cx="340156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12900"/>
            <a:ext cx="3401568" cy="17043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Level 2 · 해소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정답 지지 문서를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유효하다고 결론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지었는가?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{correct, wrong, unresolved}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lang="ko-KR" sz="1040" b="0" dirty="0">
                <a:solidFill>
                  <a:srgbClr val="6B7480"/>
                </a:solidFill>
                <a:latin typeface="맑은 고딕"/>
                <a:ea typeface="맑은 고딕"/>
              </a:rPr>
              <a:t>시간 충돌은 날짜 최신성으로, 오정보는 출처 권위로 판정합니다.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45552" y="2298700"/>
            <a:ext cx="329184" cy="292608"/>
          </a:xfrm>
          <a:prstGeom prst="rightArrow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574800"/>
            <a:ext cx="340156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612900"/>
            <a:ext cx="3401568" cy="17043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Final Action · 표출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최종 답변에서 정답을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표출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했는가? (동치 판정 정확도)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{correct, wrong, abstain}</a:t>
            </a:r>
          </a:p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lang="ko-KR" sz="1040" b="0" dirty="0">
                <a:solidFill>
                  <a:srgbClr val="6B7480"/>
                </a:solidFill>
                <a:latin typeface="맑은 고딕"/>
                <a:ea typeface="맑은 고딕"/>
              </a:rPr>
              <a:t>이 순서는 규범 경로일 뿐이며, 벗어난 경우가 특이 경로입니다.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8277"/>
            <a:ext cx="11091672" cy="30641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라벨링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주의</a:t>
            </a:r>
            <a:r>
              <a:rPr sz="13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273A52"/>
                </a:solidFill>
                <a:latin typeface="맑은 고딕"/>
                <a:ea typeface="맑은 고딕"/>
              </a:rPr>
              <a:t>사항</a:t>
            </a:r>
            <a:endParaRPr sz="1150" b="0" dirty="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8" name="Labeling Rules Table">
            <a:extLst>
              <a:ext uri="{FF2B5EF4-FFF2-40B4-BE49-F238E27FC236}">
                <a16:creationId xmlns:a16="http://schemas.microsoft.com/office/drawing/2014/main" id="{EBD59D41-B313-C247-98BF-77B365914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199713"/>
              </p:ext>
            </p:extLst>
          </p:nvPr>
        </p:nvGraphicFramePr>
        <p:xfrm>
          <a:off x="548640" y="3942227"/>
          <a:ext cx="11087100" cy="2303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33936670"/>
                    </a:ext>
                  </a:extLst>
                </a:gridCol>
                <a:gridCol w="4864100">
                  <a:extLst>
                    <a:ext uri="{9D8B030D-6E8A-4147-A177-3AD203B41FA5}">
                      <a16:colId xmlns:a16="http://schemas.microsoft.com/office/drawing/2014/main" val="571315354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562860123"/>
                    </a:ext>
                  </a:extLst>
                </a:gridCol>
              </a:tblGrid>
              <a:tr h="31122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오염 요인 (왜 필요한가)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사전등록 조치 (어떻게)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144086"/>
                  </a:ext>
                </a:extLst>
              </a:tr>
              <a:tr h="49795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결론 확정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긴 트레이스는 </a:t>
                      </a:r>
                      <a:r>
                        <a:rPr lang="ko-KR" altLang="en-US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결론이 계속 흔들려 사람마다 다르게 읽힐 수</a:t>
                      </a:r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있음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마지막으로 문서를 명시적으로 지지한 지점</a:t>
                      </a:r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을 결론으로 확정, 없으면 </a:t>
                      </a:r>
                      <a:r>
                        <a:rPr lang="ko-KR" altLang="en-US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unresolved</a:t>
                      </a:r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로 분류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012613"/>
                  </a:ext>
                </a:extLst>
              </a:tr>
              <a:tr h="49795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기권 분리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'판단 불가' 기권을 오답으로 세면 </a:t>
                      </a:r>
                      <a:r>
                        <a:rPr lang="ko-KR" altLang="en-US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기권 유도만으로 지표가 좋아 보이는 착시</a:t>
                      </a:r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발생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기권은 </a:t>
                      </a:r>
                      <a:r>
                        <a:rPr lang="ko-KR" altLang="en-US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판정 시 제외</a:t>
                      </a:r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, 기권율은 </a:t>
                      </a:r>
                      <a:r>
                        <a:rPr lang="ko-KR" altLang="en-US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별도로 의무 보고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46689"/>
                  </a:ext>
                </a:extLst>
              </a:tr>
              <a:tr h="49795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동치 채점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표기만 달라도(‘1970년 4월 10일’ vs ‘April 10, 1970’) 오답 처리하면 </a:t>
                      </a:r>
                      <a:r>
                        <a:rPr lang="ko-KR" altLang="en-US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노이즈가 지표에 혼입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문자열 일치가 아닌 </a:t>
                      </a:r>
                      <a:r>
                        <a:rPr lang="ko-KR" altLang="en-US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정규화·동치 판정</a:t>
                      </a:r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으로 채점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472585"/>
                  </a:ext>
                </a:extLst>
              </a:tr>
              <a:tr h="49795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복수 정답 채점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정답이 여럿인 문항(QACC·RAMDocs)에서 </a:t>
                      </a:r>
                      <a:r>
                        <a:rPr lang="ko-KR" altLang="en-US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하나만 맞혀도 오답 처리하면 채점이 부당하게 불리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복수 유효 정답 중 </a:t>
                      </a:r>
                      <a:r>
                        <a:rPr lang="ko-KR" altLang="en-US" sz="110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하나를 지지·표출하면 correct로 채점</a:t>
                      </a:r>
                      <a:r>
                        <a:rPr lang="ko-KR" altLang="en-US" sz="110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(any-gold)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800179"/>
                  </a:ext>
                </a:extLst>
              </a:tr>
            </a:tbl>
          </a:graphicData>
        </a:graphic>
      </p:graphicFrame>
      <p:sp>
        <p:nvSpPr>
          <p:cNvPr id="40" name="Signpost"/>
          <p:cNvSpPr txBox="1"/>
          <p:nvPr/>
        </p:nvSpPr>
        <p:spPr>
          <a:xfrm>
            <a:off x="546100" y="1244600"/>
            <a:ext cx="11087100" cy="1997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이 프로토콜은 </a:t>
            </a: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§3.3 실험 1–3이 공통으로 쓰는 측정 도구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입니다 — 각 실험은 여기서 정의한 라벨·지표로 RQ를 판정합니다.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11891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§3.2 진단 프로토콜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ko-KR" sz="2350" b="1" dirty="0">
                <a:solidFill>
                  <a:srgbClr val="273A52"/>
                </a:solidFill>
                <a:latin typeface="맑은 고딕"/>
                <a:ea typeface="맑은 고딕"/>
              </a:rPr>
              <a:t>진단 지표 체계: 단계별 손실 지표와 4경로 분해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832" y="1146048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16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70000"/>
            <a:ext cx="11091672" cy="301236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① </a:t>
            </a:r>
            <a:r>
              <a:rPr lang="ko-KR" sz="1300" b="1" dirty="0">
                <a:solidFill>
                  <a:srgbClr val="1E7A6F"/>
                </a:solidFill>
                <a:latin typeface="맑은 고딕"/>
                <a:ea typeface="맑은 고딕"/>
              </a:rPr>
              <a:t>정답을 맞혔을 때</a:t>
            </a: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 · 4경로 분해   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— L1·L2 라벨로 맞힌 정답</a:t>
            </a:r>
            <a:r>
              <a:rPr lang="ko-KR" altLang="en-US" sz="1200" b="0" dirty="0">
                <a:solidFill>
                  <a:srgbClr val="6B7480"/>
                </a:solidFill>
                <a:latin typeface="맑은 고딕"/>
                <a:ea typeface="맑은 고딕"/>
              </a:rPr>
              <a:t>을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 4경로로 분해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95724"/>
              </p:ext>
            </p:extLst>
          </p:nvPr>
        </p:nvGraphicFramePr>
        <p:xfrm>
          <a:off x="548640" y="1672336"/>
          <a:ext cx="11087100" cy="205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206048773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15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경로</a:t>
                      </a:r>
                      <a:endParaRPr sz="112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L1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L2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FA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해석</a:t>
                      </a:r>
                      <a:endParaRPr sz="112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Legitimate (정상)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detected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correct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correct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인지와 해소를 제대로 거친 </a:t>
                      </a:r>
                      <a:r>
                        <a:rPr lang="ko-KR" sz="1120" b="1" dirty="0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견고한 정답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Shortcut (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암묵적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도약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detected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unresolved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correct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명시적 해소 없이 건너뛴 경우로, </a:t>
                      </a:r>
                      <a:r>
                        <a:rPr lang="ko-KR" sz="112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근거가 약한 취약 정답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Discordant Hit (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불협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적중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detected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wrong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correct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오답 문서를 지지해 놓고 정답을 낸 경우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Blind-Hit (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맹목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적중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unrecognized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correct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충돌을 인지조차 못한 채 도달한 경우로, </a:t>
                      </a:r>
                      <a:r>
                        <a:rPr lang="ko-KR" sz="1120" b="1" dirty="0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파라메트릭 </a:t>
                      </a:r>
                      <a:r>
                        <a:rPr lang="ko-KR" sz="1120" b="1" dirty="0" err="1">
                          <a:solidFill>
                            <a:srgbClr val="A4482A"/>
                          </a:solidFill>
                          <a:latin typeface="맑은 고딕"/>
                          <a:ea typeface="맑은 고딕"/>
                        </a:rPr>
                        <a:t>지식·우연</a:t>
                      </a:r>
                      <a:r>
                        <a:rPr lang="ko-KR" sz="112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EF45171-FA6E-6147-AC27-1419FAA9BE59}"/>
              </a:ext>
            </a:extLst>
          </p:cNvPr>
          <p:cNvSpPr txBox="1"/>
          <p:nvPr/>
        </p:nvSpPr>
        <p:spPr>
          <a:xfrm>
            <a:off x="548640" y="4097528"/>
            <a:ext cx="11087100" cy="2794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pPr algn="l"/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② </a:t>
            </a:r>
            <a:r>
              <a:rPr lang="ko-KR" sz="1300" b="1" dirty="0">
                <a:solidFill>
                  <a:srgbClr val="C2410C"/>
                </a:solidFill>
                <a:latin typeface="맑은 고딕"/>
                <a:ea typeface="맑은 고딕"/>
              </a:rPr>
              <a:t>정답을 틀렸을 때</a:t>
            </a: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 · 단계별 손실 지표   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— 과정이 어디서 정답을 잃는가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6F0C566-20D2-AE4B-9635-7A128E5B6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391881"/>
              </p:ext>
            </p:extLst>
          </p:nvPr>
        </p:nvGraphicFramePr>
        <p:xfrm>
          <a:off x="548640" y="4440936"/>
          <a:ext cx="11087100" cy="1326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421075862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46617512"/>
                    </a:ext>
                  </a:extLst>
                </a:gridCol>
                <a:gridCol w="4102100">
                  <a:extLst>
                    <a:ext uri="{9D8B030D-6E8A-4147-A177-3AD203B41FA5}">
                      <a16:colId xmlns:a16="http://schemas.microsoft.com/office/drawing/2014/main" val="73170059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54564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1" dirty="0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Loss_L1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0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P(L1 = unrecognized)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탐지</a:t>
                      </a:r>
                      <a:r>
                        <a:rPr lang="ko-KR" altLang="en-US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— 충돌을 인지하지 못함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09408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1" dirty="0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Loss_L2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0" dirty="0" err="1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P</a:t>
                      </a:r>
                      <a:r>
                        <a:rPr lang="ko-KR" altLang="en-US" sz="1120" b="0" dirty="0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(L2 ≠ </a:t>
                      </a:r>
                      <a:r>
                        <a:rPr lang="ko-KR" altLang="en-US" sz="1120" b="0" dirty="0" err="1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correct</a:t>
                      </a:r>
                      <a:r>
                        <a:rPr lang="ko-KR" altLang="en-US" sz="1120" b="0" dirty="0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 | L1 = </a:t>
                      </a:r>
                      <a:r>
                        <a:rPr lang="ko-KR" altLang="en-US" sz="1120" b="0" dirty="0" err="1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detected</a:t>
                      </a:r>
                      <a:r>
                        <a:rPr lang="ko-KR" altLang="en-US" sz="1120" b="0" dirty="0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)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해소</a:t>
                      </a:r>
                      <a:r>
                        <a:rPr lang="ko-KR" altLang="en-US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— 인지했으나 올바른 근거 선택에 실패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0909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20" b="1" dirty="0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AIR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12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Answer Inversion Rate · 정답 역전율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0">
                          <a:solidFill>
                            <a:srgbClr val="1E2227"/>
                          </a:solidFill>
                          <a:latin typeface="Cambria Math"/>
                          <a:ea typeface="맑은 고딕"/>
                        </a:rPr>
                        <a:t>P(FA = wrong | L1 = detected, L2 = correct)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표출</a:t>
                      </a:r>
                      <a:r>
                        <a:rPr lang="ko-KR" altLang="en-US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— 올바로 판단하고도 최종 답에서 뒤집힘</a:t>
                      </a:r>
                    </a:p>
                  </a:txBody>
                  <a:tcPr marT="31750" marB="3175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82775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BEBD820-4E76-F74A-8D5C-AD5EF6E6964C}"/>
              </a:ext>
            </a:extLst>
          </p:cNvPr>
          <p:cNvSpPr txBox="1"/>
          <p:nvPr/>
        </p:nvSpPr>
        <p:spPr>
          <a:xfrm>
            <a:off x="548640" y="5901308"/>
            <a:ext cx="11087100" cy="2032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pPr algn="l"/>
            <a:r>
              <a:rPr lang="ko-KR" sz="1000" dirty="0">
                <a:solidFill>
                  <a:srgbClr val="6B7480"/>
                </a:solidFill>
                <a:latin typeface="맑은 고딕"/>
                <a:ea typeface="맑은 고딕"/>
              </a:rPr>
              <a:t>추론에선 정답에 도달했는데 최종 답은 틀린 비율을 전체 사례 수와 함께 적으면, 누구나 같은 값을 다시 계산해 확인할 수 있음  (</a:t>
            </a:r>
            <a:r>
              <a:rPr lang="en-US" sz="1000" dirty="0">
                <a:solidFill>
                  <a:srgbClr val="6B7480"/>
                </a:solidFill>
                <a:latin typeface="Cambria Math"/>
                <a:ea typeface="맑은 고딕"/>
              </a:rPr>
              <a:t>P(L2 = correct ∧ FA = wrong)</a:t>
            </a:r>
            <a:r>
              <a:rPr lang="ko-KR" sz="1000" dirty="0">
                <a:solidFill>
                  <a:srgbClr val="6B7480"/>
                </a:solidFill>
                <a:latin typeface="맑은 고딕"/>
                <a:ea typeface="맑은 고딕"/>
              </a:rPr>
              <a:t>, 분모 </a:t>
            </a:r>
            <a:r>
              <a:rPr lang="en-US" sz="1000" dirty="0">
                <a:solidFill>
                  <a:srgbClr val="6B7480"/>
                </a:solidFill>
                <a:latin typeface="Cambria Math"/>
                <a:ea typeface="맑은 고딕"/>
              </a:rPr>
              <a:t>N</a:t>
            </a:r>
            <a:r>
              <a:rPr lang="ko-KR" sz="1000" dirty="0">
                <a:solidFill>
                  <a:srgbClr val="6B7480"/>
                </a:solidFill>
                <a:latin typeface="맑은 고딕"/>
                <a:ea typeface="맑은 고딕"/>
              </a:rPr>
              <a:t> 병기)</a:t>
            </a:r>
          </a:p>
        </p:txBody>
      </p:sp>
    </p:spTree>
    <p:extLst>
      <p:ext uri="{BB962C8B-B14F-4D97-AF65-F5344CB8AC3E}">
        <p14:creationId xmlns:p14="http://schemas.microsoft.com/office/powerpoint/2010/main" val="2469984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ko-KR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§3.3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ko-KR" sz="2350" b="1" dirty="0">
                <a:solidFill>
                  <a:srgbClr val="273A52"/>
                </a:solidFill>
                <a:latin typeface="맑은 고딕"/>
                <a:ea typeface="맑은 고딕"/>
              </a:rPr>
              <a:t>가설별 판정 방법과 측정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1603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17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6FA96AE-89C5-D146-AB99-A904334A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455296"/>
              </p:ext>
            </p:extLst>
          </p:nvPr>
        </p:nvGraphicFramePr>
        <p:xfrm>
          <a:off x="546100" y="1472183"/>
          <a:ext cx="11087100" cy="4563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4150071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03809616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80402584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567082291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924446538"/>
                    </a:ext>
                  </a:extLst>
                </a:gridCol>
              </a:tblGrid>
              <a:tr h="48385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실험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RQ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질문 (가설)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 방법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측정 지표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337003"/>
                  </a:ext>
                </a:extLst>
              </a:tr>
              <a:tr h="992304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실험 1</a:t>
                      </a:r>
                    </a:p>
                  </a:txBody>
                  <a:tcPr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RQ1</a:t>
                      </a:r>
                    </a:p>
                  </a:txBody>
                  <a:tcPr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추론 결론과 최종 답변이 일치(L-a)하는가? 불일치는 어느 단계에서 생기나?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6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문항마다 추론 결론과 최종 답의 라벨을 맞대어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일치 여부 확인</a:t>
                      </a:r>
                    </a:p>
                    <a:p>
                      <a:pPr marL="171450" indent="-171450" algn="l">
                        <a:lnSpc>
                          <a:spcPct val="106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충돌 유형을 얼마나 맞게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알아차리는지 집계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AIR · 유형 인지율</a:t>
                      </a:r>
                      <a:endParaRPr lang="en-US" altLang="ko-KR" sz="1120" b="1" dirty="0">
                        <a:solidFill>
                          <a:srgbClr val="273A52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0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유형 인지율</a:t>
                      </a:r>
                      <a:r>
                        <a:rPr lang="ko-KR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 = 유형 적중 충돌문항 / 전체 충돌문항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969484"/>
                  </a:ext>
                </a:extLst>
              </a:tr>
              <a:tr h="967710">
                <a:tc vMerge="1">
                  <a:txBody>
                    <a:bodyPr/>
                    <a:lstStyle/>
                    <a:p>
                      <a:pPr algn="ctr"/>
                      <a:endParaRPr lang="ko-KR" altLang="en-US" sz="1050" b="1">
                        <a:solidFill>
                          <a:srgbClr val="273A5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RQ2</a:t>
                      </a:r>
                    </a:p>
                  </a:txBody>
                  <a:tcPr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완화로 늘어난 정답, 진짜 추론으로 맞혔나 · 우연(우회 경로)인가?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6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완화 전·후 같은 문항의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정답 변화를 경로별로 분해</a:t>
                      </a: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(신규 정답 · 숨은 퇴행 · 뒤집힘)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LGR · HR · </a:t>
                      </a:r>
                      <a:r>
                        <a:rPr lang="ko-KR" altLang="en-US" sz="1120" b="1" dirty="0" err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Flip</a:t>
                      </a:r>
                      <a:endParaRPr lang="ko-KR" altLang="en-US" sz="1120" b="1" dirty="0">
                        <a:solidFill>
                          <a:srgbClr val="273A5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54677"/>
                  </a:ext>
                </a:extLst>
              </a:tr>
              <a:tr h="99230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실험 2</a:t>
                      </a:r>
                    </a:p>
                  </a:txBody>
                  <a:tcPr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RQ3</a:t>
                      </a:r>
                    </a:p>
                  </a:txBody>
                  <a:tcPr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관측된 불일치는 충돌 고유의 실패인가, 난이도·문서 수 증가의 부수 효과인가?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6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난이도·문서 수를 걷어낸 회귀로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‘충돌 자체’의 효과만 추정</a:t>
                      </a:r>
                    </a:p>
                    <a:p>
                      <a:pPr marL="171450" indent="-171450" algn="l">
                        <a:lnSpc>
                          <a:spcPct val="106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추론 과정을 켜고/꺼서 그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기여분만 분리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충돌 </a:t>
                      </a:r>
                      <a:r>
                        <a:rPr lang="ko-KR" altLang="en-US" sz="1120" b="1" dirty="0" err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순효과</a:t>
                      </a:r>
                      <a:r>
                        <a:rPr lang="ko-KR" altLang="en-US" sz="112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 · AIR · </a:t>
                      </a:r>
                      <a:r>
                        <a:rPr lang="ko-KR" altLang="en-US" sz="1120" b="1" dirty="0" err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Shortcut</a:t>
                      </a:r>
                      <a:endParaRPr lang="en-US" altLang="ko-KR" sz="1120" b="1" dirty="0">
                        <a:solidFill>
                          <a:srgbClr val="273A52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0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충돌 </a:t>
                      </a:r>
                      <a:r>
                        <a:rPr lang="ko-KR" altLang="ko-KR" sz="1000" b="1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순효과</a:t>
                      </a:r>
                      <a:r>
                        <a:rPr lang="ko-KR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 = </a:t>
                      </a:r>
                      <a:r>
                        <a:rPr lang="ko-KR" altLang="ko-KR" sz="1000" b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공변량</a:t>
                      </a:r>
                      <a:r>
                        <a:rPr lang="ko-KR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 보정 회귀의 충돌 계수 </a:t>
                      </a:r>
                      <a:r>
                        <a:rPr lang="en-US" altLang="ko-KR" sz="1000" i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/>
                          <a:cs typeface="Cambria Math"/>
                        </a:rPr>
                        <a:t>β</a:t>
                      </a:r>
                    </a:p>
                    <a:p>
                      <a:pPr algn="l"/>
                      <a:endParaRPr lang="ko-KR" altLang="en-US" sz="1120" b="1" dirty="0">
                        <a:solidFill>
                          <a:srgbClr val="273A5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723641"/>
                  </a:ext>
                </a:extLst>
              </a:tr>
              <a:tr h="11276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실험 3</a:t>
                      </a:r>
                    </a:p>
                  </a:txBody>
                  <a:tcPr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RQ4</a:t>
                      </a:r>
                    </a:p>
                  </a:txBody>
                  <a:tcPr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추론 결론이 최종 답변에 인과적으로 영향을 주는가(L-b)?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6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맞힌 문항의 추론에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개입(절단·재생성)</a:t>
                      </a: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해 답이 바뀌는지 측정</a:t>
                      </a:r>
                    </a:p>
                    <a:p>
                      <a:pPr marL="171450" indent="-171450" algn="l">
                        <a:lnSpc>
                          <a:spcPct val="106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개입 시 경로별로 답이 얼마나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뒤집히는지 비교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정답 한정 답 변화율 · 경로별 취약성</a:t>
                      </a:r>
                      <a:endParaRPr lang="en-US" altLang="ko-KR" sz="1120" b="1" dirty="0">
                        <a:solidFill>
                          <a:srgbClr val="273A52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indent="-171450" algn="l">
                        <a:lnSpc>
                          <a:spcPct val="118000"/>
                        </a:lnSpc>
                        <a:spcAft>
                          <a:spcPts val="260"/>
                        </a:spcAft>
                        <a:buFont typeface="Arial"/>
                        <a:buChar char="•"/>
                      </a:pPr>
                      <a:r>
                        <a:rPr lang="ko-KR" altLang="ko-KR" sz="10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정답 한정 답 변화율</a:t>
                      </a:r>
                      <a:r>
                        <a:rPr lang="ko-KR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 = 개입 후 바뀐 정답 / 정답 문항</a:t>
                      </a:r>
                    </a:p>
                    <a:p>
                      <a:pPr marL="171450" indent="-171450" algn="l">
                        <a:lnSpc>
                          <a:spcPct val="118000"/>
                        </a:lnSpc>
                        <a:spcAft>
                          <a:spcPts val="260"/>
                        </a:spcAft>
                        <a:buFont typeface="Arial"/>
                        <a:buChar char="•"/>
                      </a:pPr>
                      <a:r>
                        <a:rPr lang="ko-KR" altLang="ko-KR" sz="10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경로별 취약성(</a:t>
                      </a:r>
                      <a:r>
                        <a:rPr lang="ko-KR" altLang="ko-KR" sz="1000" b="1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p</a:t>
                      </a:r>
                      <a:r>
                        <a:rPr lang="ko-KR" altLang="ko-KR" sz="10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lang="ko-KR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 = 경로 </a:t>
                      </a:r>
                      <a:r>
                        <a:rPr lang="ko-KR" altLang="ko-KR" sz="1000" b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p</a:t>
                      </a:r>
                      <a:r>
                        <a:rPr lang="ko-KR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 뒤집힘 / 경로 </a:t>
                      </a:r>
                      <a:r>
                        <a:rPr lang="ko-KR" altLang="ko-KR" sz="1000" b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p</a:t>
                      </a:r>
                      <a:r>
                        <a:rPr lang="ko-KR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/>
                          <a:ea typeface="맑은 고딕"/>
                        </a:rPr>
                        <a:t> 정답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978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62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§3.3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ko-KR" sz="2350" b="1" dirty="0">
                <a:solidFill>
                  <a:srgbClr val="273A52"/>
                </a:solidFill>
                <a:latin typeface="맑은 고딕"/>
                <a:ea typeface="맑은 고딕"/>
              </a:rPr>
              <a:t>실험 공통 설정: 대상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18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70000"/>
          <a:ext cx="11091672" cy="2145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구조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추론 채널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Qwen3.6-27B</a:t>
                      </a:r>
                    </a:p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4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2026-04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27B Dense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1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&lt;think&gt;</a:t>
                      </a:r>
                    </a:p>
                    <a:p>
                      <a:pPr algn="l">
                        <a:lnSpc>
                          <a:spcPct val="106000"/>
                        </a:lnSpc>
                      </a:pPr>
                      <a:r>
                        <a:rPr lang="ko-KR" sz="100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블록 내부 = 추론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주력 모델</a:t>
                      </a: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. 가장 최신의 밀집(dense) 추론 모델로, </a:t>
                      </a:r>
                      <a:r>
                        <a:rPr lang="ko-KR" sz="1120" b="1" dirty="0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thinking on/off 하드 토글</a:t>
                      </a: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로 추론 유무를 전환할 수 있어 비교의 기준으로 삼습니다.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Gemma-3-27B</a:t>
                      </a:r>
                    </a:p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40" b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2025-03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27B Dense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1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  <a:p>
                      <a:pPr algn="l">
                        <a:lnSpc>
                          <a:spcPct val="106000"/>
                        </a:lnSpc>
                      </a:pPr>
                      <a:r>
                        <a:rPr lang="ko-KR" sz="100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추론 채널 없음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교차 계열 일반화.</a:t>
                      </a: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다른 계열(Google)의 동급 27B 덴스로, 진단된 현상이 계열을 넘어 재현되는지 확인합니다. </a:t>
                      </a:r>
                      <a:r>
                        <a:rPr lang="ko-KR" sz="1120" b="1" dirty="0">
                          <a:solidFill>
                            <a:srgbClr val="1E7A6F"/>
                          </a:solidFill>
                          <a:latin typeface="맑은 고딕"/>
                          <a:ea typeface="맑은 고딕"/>
                        </a:rPr>
                        <a:t>thinking 토글이 없어 RQ3b(추론 채널)에는 참여하지 않습니다.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gpt-oss-20b</a:t>
                      </a:r>
                    </a:p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040" b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2025-08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MoE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21B</a:t>
                      </a:r>
                      <a:r>
                        <a:rPr sz="104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1040" b="0" dirty="0" err="1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활성</a:t>
                      </a:r>
                      <a:r>
                        <a:rPr sz="104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 3.6B)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1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Harmony</a:t>
                      </a:r>
                    </a:p>
                    <a:p>
                      <a:pPr algn="l">
                        <a:lnSpc>
                          <a:spcPct val="106000"/>
                        </a:lnSpc>
                      </a:pPr>
                      <a:r>
                        <a:rPr lang="ko-KR" sz="100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analysis 채널 = 추론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교차 계열·MoE 검증.</a:t>
                      </a: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다른 계열의 MoE 구조에서도 결과가 재현되는지 확인하며, 전용 파서로 동일 프로토콜을 적용하되 파싱 방식 차이는 교란 변인으로 명시합니다.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169664"/>
            <a:ext cx="11087100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4207764"/>
            <a:ext cx="11087100" cy="198528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선정 원칙</a:t>
            </a:r>
          </a:p>
          <a:p>
            <a:pPr marL="171450" indent="-171450" algn="l">
              <a:lnSpc>
                <a:spcPct val="132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네이티브 추론 모델만 사용합니다.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 SFT 증류 모델은 장식적 트레이스 위험이 있어 제외합니다.</a:t>
            </a:r>
            <a:endParaRPr lang="en-US" altLang="ko-KR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2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20~32B 오픈 가중치만 씁니다.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 사고 과정(추론 트레이스)을 통째로 읽어 라벨링해야 하는데, 폐쇄형 API는 이를 숨기거나 요약만 줘서 불가능하기 때문입니다. 이 규모는 제대로 된 추론 능력이 나타나면서도, 압축(양자화) 없이 같은 설정으로 여러 번 반복 실행해 우연·왜곡 없이 재현할 수 있는 지점입니다.</a:t>
            </a:r>
            <a:endParaRPr lang="en-US" altLang="ko-KR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32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추론 유무를 교차합니다.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 추론을 내보내는 모델 2개(Qwen3.6·gpt-oss)와 추론이 없는 모델 1개(Gemma-3)를 나란히 비교해, 관찰된 현상이 추론 자체에서 온 것인지 모델·계열 고유의 특성인지 가려냅니다.</a:t>
            </a:r>
          </a:p>
        </p:txBody>
      </p:sp>
      <p:sp>
        <p:nvSpPr>
          <p:cNvPr id="40" name="Footnote"/>
          <p:cNvSpPr txBox="1"/>
          <p:nvPr/>
        </p:nvSpPr>
        <p:spPr>
          <a:xfrm>
            <a:off x="546100" y="3505200"/>
            <a:ext cx="11087100" cy="1600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sz="1040" b="0" dirty="0">
                <a:solidFill>
                  <a:srgbClr val="6B7480"/>
                </a:solidFill>
                <a:latin typeface="맑은 고딕"/>
                <a:ea typeface="맑은 고딕"/>
              </a:rPr>
              <a:t>※ 권장 디코딩 </a:t>
            </a:r>
            <a:r>
              <a:rPr lang="en-US" sz="1040" b="0" dirty="0">
                <a:solidFill>
                  <a:srgbClr val="6B7480"/>
                </a:solidFill>
                <a:latin typeface="Cambria Math"/>
                <a:cs typeface="Cambria Math"/>
              </a:rPr>
              <a:t>t = 0.6, top-p 0.95</a:t>
            </a:r>
            <a:r>
              <a:rPr lang="ko-KR" sz="1040" b="0" dirty="0">
                <a:solidFill>
                  <a:srgbClr val="6B7480"/>
                </a:solidFill>
                <a:latin typeface="맑은 고딕"/>
                <a:ea typeface="맑은 고딕"/>
              </a:rPr>
              <a:t> · 시드 5개 이상 · 신뢰구간 Paired Bootstrap 95%</a:t>
            </a:r>
          </a:p>
        </p:txBody>
      </p:sp>
    </p:spTree>
    <p:extLst>
      <p:ext uri="{BB962C8B-B14F-4D97-AF65-F5344CB8AC3E}">
        <p14:creationId xmlns:p14="http://schemas.microsoft.com/office/powerpoint/2010/main" val="2068341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§3.3 실험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ko-KR" sz="2350" b="1" dirty="0">
                <a:solidFill>
                  <a:srgbClr val="273A52"/>
                </a:solidFill>
                <a:latin typeface="맑은 고딕"/>
                <a:ea typeface="맑은 고딕"/>
              </a:rPr>
              <a:t>실험 1 (RQ1·RQ2): 평가 환경·실행과 RQ1 진단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19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383214"/>
              </p:ext>
            </p:extLst>
          </p:nvPr>
        </p:nvGraphicFramePr>
        <p:xfrm>
          <a:off x="548640" y="1600200"/>
          <a:ext cx="11091672" cy="365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801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환경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분류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예상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영향</a:t>
                      </a:r>
                      <a:endParaRPr sz="11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261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Standard RAG</a:t>
                      </a: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100"/>
                        </a:spcBef>
                      </a:pPr>
                      <a:r>
                        <a:rPr sz="1000" b="0" i="1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(Lewis et al., 2020)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대조군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검색된 문서를 그대로 넣는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기본 zero-shot 구성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으로, 다른 환경들의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비교 기준(기저선)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이 된다.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기저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261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②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CAD (+AdaCAD)</a:t>
                      </a: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100"/>
                        </a:spcBef>
                      </a:pPr>
                      <a:r>
                        <a:rPr sz="1000" b="0" i="1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(Shi et al., 2024; Wang et al., 2025)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디코딩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문맥 유무의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로짓 차이를 증폭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해 문맥 신뢰도를 높이며, 대비를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추론+답변 전 구간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vs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답변 구간만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거는 두 방식을 비교한다.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L1/L2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③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CD2</a:t>
                      </a: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100"/>
                        </a:spcBef>
                      </a:pPr>
                      <a:r>
                        <a:rPr sz="1000" b="0" i="1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(Jin et al., 2024)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디코딩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충돌 시 여러 경로의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로짓 차이를 최대화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해 정답 쪽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확신을 재보정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하는 대비 디코딩(Conflict-Disentangle CD). CAD의 ‘문맥 유무’ 대비와 달리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충돌 자체를 분리·겨냥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하므로, 본 연구의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4경로 진단(해소 L2)과 직접 맞물린다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L2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261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④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Recency/Authority 프롬프트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프롬프트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date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최신성</a:t>
                      </a:r>
                      <a:r>
                        <a:rPr lang="ko-KR" altLang="en-US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·</a:t>
                      </a:r>
                      <a:r>
                        <a:rPr lang="ko-KR" altLang="en-US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url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권위를 우선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하도록 프롬프트로 유도하며, 해당 메타데이터가 없는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RAMDocs는 제외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한다.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L2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261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Reflection 프롬프트</a:t>
                      </a: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100"/>
                        </a:spcBef>
                      </a:pPr>
                      <a:r>
                        <a:rPr sz="1000" b="0" i="1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(Asai et al., 2024)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프롬프트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Self-RAG의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반추(self-reflection) 전략만 차용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해, 자신의 결론이 근거 문서와 부합하는지 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스스로 재검토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하게 한다.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AIR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6100" y="5324856"/>
            <a:ext cx="11091672" cy="10220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marL="171450" indent="-171450" algn="l">
              <a:lnSpc>
                <a:spcPct val="122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273A52"/>
                </a:solidFill>
                <a:latin typeface="맑은 고딕"/>
                <a:ea typeface="맑은 고딕"/>
              </a:rPr>
              <a:t>실행 방법.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5개 환경 × 3개 모델 × 3개 데이터셋을 순서를 섞어 전부 실행해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환경별 전환 행렬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을 도출한다</a:t>
            </a:r>
            <a:endParaRPr lang="en-US" altLang="ko-KR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22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273A52"/>
                </a:solidFill>
                <a:latin typeface="맑은 고딕"/>
                <a:ea typeface="맑은 고딕"/>
              </a:rPr>
              <a:t>프레임.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기법 대부분이 비-thinking 모델 산물이라, 성능 순위가 아니라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추론 모델에서의 정답 경로 변화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가 관심사다.</a:t>
            </a:r>
          </a:p>
          <a:p>
            <a:pPr marL="171450" indent="-171450" algn="l">
              <a:lnSpc>
                <a:spcPct val="122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273A52"/>
                </a:solidFill>
                <a:latin typeface="맑은 고딕"/>
                <a:ea typeface="맑은 고딕"/>
              </a:rPr>
              <a:t>안정성.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문항당 시드 5회 이상 반복해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최빈 경로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를 대표로 삼고, 과반 미달(예: 2-2-1)은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'불안정'으로 분리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한다.</a:t>
            </a:r>
          </a:p>
          <a:p>
            <a:pPr algn="l">
              <a:spcBef>
                <a:spcPts val="300"/>
              </a:spcBef>
            </a:pPr>
            <a:r>
              <a:rPr lang="ko-KR" sz="1000" b="0" dirty="0">
                <a:solidFill>
                  <a:srgbClr val="6B7480"/>
                </a:solidFill>
                <a:latin typeface="맑은 고딕"/>
                <a:ea typeface="맑은 고딕"/>
              </a:rPr>
              <a:t>※ MADAM-RAG·ConflictRAG는 시스템 층위가 달라 단일 모델 비교에서 제외.</a:t>
            </a:r>
          </a:p>
        </p:txBody>
      </p:sp>
      <p:sp>
        <p:nvSpPr>
          <p:cNvPr id="20" name="RQ1Subtitle"/>
          <p:cNvSpPr>
            <a:spLocks noGrp="1"/>
          </p:cNvSpPr>
          <p:nvPr/>
        </p:nvSpPr>
        <p:spPr>
          <a:xfrm>
            <a:off x="548640" y="1270000"/>
            <a:ext cx="11087100" cy="2794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① RQ1 진단. </a:t>
            </a:r>
            <a:r>
              <a:rPr lang="ko-KR" sz="1200" b="0" dirty="0">
                <a:solidFill>
                  <a:srgbClr val="1E2227"/>
                </a:solidFill>
                <a:latin typeface="맑은 고딕"/>
                <a:ea typeface="맑은 고딕"/>
              </a:rPr>
              <a:t>§3.2 프로토콜을 실행 산출(궤적·전환 행렬)에 적용해 </a:t>
            </a:r>
            <a:r>
              <a:rPr lang="ko-KR" sz="1200" b="1" dirty="0">
                <a:solidFill>
                  <a:srgbClr val="1E2227"/>
                </a:solidFill>
                <a:latin typeface="맑은 고딕"/>
                <a:ea typeface="맑은 고딕"/>
              </a:rPr>
              <a:t>불일치와 그 단계(탐지→해소→표출)</a:t>
            </a:r>
            <a:r>
              <a:rPr lang="ko-KR" sz="1200" b="0" dirty="0">
                <a:solidFill>
                  <a:srgbClr val="1E2227"/>
                </a:solidFill>
                <a:latin typeface="맑은 고딕"/>
                <a:ea typeface="맑은 고딕"/>
              </a:rPr>
              <a:t>를 문항 단위로 판정한다.</a:t>
            </a:r>
          </a:p>
        </p:txBody>
      </p:sp>
    </p:spTree>
    <p:extLst>
      <p:ext uri="{BB962C8B-B14F-4D97-AF65-F5344CB8AC3E}">
        <p14:creationId xmlns:p14="http://schemas.microsoft.com/office/powerpoint/2010/main" val="2078279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§3.3 실험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450"/>
              </a:spcAft>
            </a:pPr>
            <a:r>
              <a:rPr lang="ko-KR" altLang="ko-KR" sz="2350" b="1" dirty="0">
                <a:solidFill>
                  <a:srgbClr val="273A52"/>
                </a:solidFill>
                <a:latin typeface="맑은 고딕"/>
                <a:ea typeface="맑은 고딕"/>
              </a:rPr>
              <a:t>실험 1 (RQ2): 이득 분해 지표와 판정</a:t>
            </a:r>
            <a:endParaRPr sz="2350" b="1" dirty="0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1603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20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70000"/>
            <a:ext cx="11091672" cy="285143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② RQ2 이득 분해 — EM 상승이 ‘진짜 실력’인지 ‘표면 점수’인지 판별   </a:t>
            </a:r>
            <a:r>
              <a:rPr lang="ko-KR" sz="1200" b="0" dirty="0">
                <a:solidFill>
                  <a:srgbClr val="6B7480"/>
                </a:solidFill>
                <a:latin typeface="맑은 고딕"/>
                <a:ea typeface="맑은 고딕"/>
              </a:rPr>
              <a:t>net EM만 보면 개선·퇴행이 상쇄돼 감춰진다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F507126-CF21-9C42-A147-94A2FDC5886F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608328"/>
          <a:ext cx="11087100" cy="1820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4177886004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60323797"/>
                    </a:ext>
                  </a:extLst>
                </a:gridCol>
                <a:gridCol w="4165600">
                  <a:extLst>
                    <a:ext uri="{9D8B030D-6E8A-4147-A177-3AD203B41FA5}">
                      <a16:colId xmlns:a16="http://schemas.microsoft.com/office/drawing/2014/main" val="2575057501"/>
                    </a:ext>
                  </a:extLst>
                </a:gridCol>
              </a:tblGrid>
              <a:tr h="31861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2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 신호</a:t>
                      </a:r>
                    </a:p>
                  </a:txBody>
                  <a:tcPr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153651"/>
                  </a:ext>
                </a:extLst>
              </a:tr>
              <a:tr h="500685">
                <a:tc>
                  <a:txBody>
                    <a:bodyPr/>
                    <a:lstStyle/>
                    <a:p>
                      <a:pPr algn="l"/>
                      <a:r>
                        <a:rPr lang="en-US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LGR — Legitimate Gain Ratio</a:t>
                      </a:r>
                    </a:p>
                    <a:p>
                      <a:pPr algn="l"/>
                      <a:r>
                        <a:rPr lang="ko-KR" sz="100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정당 이득 비율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새로 맞은 정답 중 '정상 </a:t>
                      </a:r>
                      <a:r>
                        <a:rPr lang="ko-KR" altLang="en-US"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경로'로</a:t>
                      </a:r>
                      <a:r>
                        <a:rPr lang="ko-KR" altLang="en-US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맞힌 것의 비율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높으면 </a:t>
                      </a:r>
                      <a:r>
                        <a:rPr lang="ko-KR" altLang="en-US"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진짜 이득</a:t>
                      </a:r>
                      <a:r>
                        <a:rPr lang="ko-KR" altLang="en-US"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, 낮으면 표면 이득(Shortcut·우연)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012345"/>
                  </a:ext>
                </a:extLst>
              </a:tr>
              <a:tr h="500685">
                <a:tc>
                  <a:txBody>
                    <a:bodyPr/>
                    <a:lstStyle/>
                    <a:p>
                      <a:pPr algn="l"/>
                      <a:r>
                        <a:rPr lang="en-US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HR — Hidden Regression Rate</a:t>
                      </a:r>
                    </a:p>
                    <a:p>
                      <a:pPr algn="l"/>
                      <a:r>
                        <a:rPr lang="ko-KR" sz="100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숨은 퇴행율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완화 전 정상 정답이던 문항이 </a:t>
                      </a:r>
                      <a:r>
                        <a:rPr lang="ko-KR" altLang="en-US"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오답·기권·AIR로</a:t>
                      </a:r>
                      <a:r>
                        <a:rPr lang="ko-KR" altLang="en-US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무너진 비율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클수록 EM이 올라도 </a:t>
                      </a:r>
                      <a:r>
                        <a:rPr lang="ko-KR" altLang="en-US"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이득 신뢰도 차감</a:t>
                      </a:r>
                      <a:r>
                        <a:rPr lang="ko-KR" altLang="en-US"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(숨은 퇴행)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36856"/>
                  </a:ext>
                </a:extLst>
              </a:tr>
              <a:tr h="500685">
                <a:tc>
                  <a:txBody>
                    <a:bodyPr/>
                    <a:lstStyle/>
                    <a:p>
                      <a:pPr algn="l"/>
                      <a:r>
                        <a:rPr lang="en-US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Flip Rate</a:t>
                      </a:r>
                    </a:p>
                    <a:p>
                      <a:pPr algn="l"/>
                      <a:r>
                        <a:rPr lang="ko-KR" sz="1000" b="0" dirty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flip률 · 정답·오답 역전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완화 전후로 정답과 오답이 서로 뒤집힌 문항 비율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net EM = 0이어도 값이 크면 </a:t>
                      </a:r>
                      <a:r>
                        <a:rPr lang="ko-KR" altLang="en-US"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내부 churn(불안정)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89513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59B859F-C71F-8742-96D8-2DF333364E48}"/>
              </a:ext>
            </a:extLst>
          </p:cNvPr>
          <p:cNvSpPr txBox="1"/>
          <p:nvPr/>
        </p:nvSpPr>
        <p:spPr>
          <a:xfrm>
            <a:off x="548640" y="3973800"/>
            <a:ext cx="6350000" cy="2286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pPr algn="l"/>
            <a:r>
              <a:rPr lang="en-US" alt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[</a:t>
            </a:r>
            <a:r>
              <a:rPr lang="ko-KR" altLang="en-US" sz="1200" b="1" dirty="0">
                <a:solidFill>
                  <a:srgbClr val="273A52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] </a:t>
            </a:r>
            <a:r>
              <a:rPr lang="ko-KR" altLang="en-US" sz="1200" b="1" dirty="0">
                <a:solidFill>
                  <a:srgbClr val="273A52"/>
                </a:solidFill>
                <a:latin typeface="맑은 고딕"/>
                <a:ea typeface="맑은 고딕"/>
              </a:rPr>
              <a:t>전환 행렬</a:t>
            </a: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dirty="0">
                <a:solidFill>
                  <a:srgbClr val="273A52"/>
                </a:solidFill>
                <a:latin typeface="맑은 고딕"/>
                <a:ea typeface="맑은 고딕"/>
              </a:rPr>
              <a:t>구하기</a:t>
            </a:r>
            <a:endParaRPr lang="ko-KR" sz="1200" b="1" dirty="0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2FCBAA6-F9D4-0645-86DE-2A34908A8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765617"/>
              </p:ext>
            </p:extLst>
          </p:nvPr>
        </p:nvGraphicFramePr>
        <p:xfrm>
          <a:off x="548640" y="4253200"/>
          <a:ext cx="5969000" cy="149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57455229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76202629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9026691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67015045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전 ↓ / 후 →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정상 (</a:t>
                      </a:r>
                      <a:r>
                        <a:rPr lang="ko-KR" altLang="en-US"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</a:t>
                      </a:r>
                      <a:r>
                        <a:rPr lang="ko-KR" altLang="en-US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오답 (W)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기권 (A)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89266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정상 (L)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38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1" dirty="0">
                          <a:solidFill>
                            <a:srgbClr val="6D28D9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T>
                      <a:noFill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45720" marR="45720" marT="27432" marB="27432" anchor="ctr"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1854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오답 (W)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1" dirty="0">
                          <a:solidFill>
                            <a:srgbClr val="6D28D9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T>
                      <a:noFill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marL="45720" marR="45720" marT="27432" marB="27432" anchor="ctr">
                    <a:lnR w="9525" cap="flat" cmpd="sng" algn="ctr">
                      <a:noFill/>
                      <a:prstDash val="solid"/>
                    </a:lnR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85251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1" dirty="0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기권 (A)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5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92442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54E0186-0324-9144-BF33-B523D6CA637A}"/>
              </a:ext>
            </a:extLst>
          </p:cNvPr>
          <p:cNvSpPr txBox="1"/>
          <p:nvPr/>
        </p:nvSpPr>
        <p:spPr>
          <a:xfrm>
            <a:off x="6921500" y="4227800"/>
            <a:ext cx="4711700" cy="16510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읽는 법 — 케이스(모델×환경)별 해석</a:t>
            </a:r>
          </a:p>
          <a:p>
            <a:pPr marL="171450" indent="-171450" algn="l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80" b="1" dirty="0">
                <a:solidFill>
                  <a:srgbClr val="1E7A6F"/>
                </a:solidFill>
                <a:latin typeface="맑은 고딕"/>
                <a:ea typeface="맑은 고딕"/>
              </a:rPr>
              <a:t>LGR ↑</a:t>
            </a:r>
            <a:r>
              <a:rPr lang="ko-KR" sz="1080" b="0" dirty="0">
                <a:solidFill>
                  <a:srgbClr val="1E2227"/>
                </a:solidFill>
                <a:latin typeface="맑은 고딕"/>
                <a:ea typeface="맑은 고딕"/>
              </a:rPr>
              <a:t>  신규 정답(초록 칸)이 정상 경로에서 나옴 = 완화의 진짜 이득</a:t>
            </a:r>
          </a:p>
          <a:p>
            <a:pPr marL="171450" indent="-171450" algn="l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80" b="1" dirty="0">
                <a:solidFill>
                  <a:srgbClr val="C2410C"/>
                </a:solidFill>
                <a:latin typeface="맑은 고딕"/>
                <a:ea typeface="맑은 고딕"/>
              </a:rPr>
              <a:t>HR ↑</a:t>
            </a:r>
            <a:r>
              <a:rPr lang="ko-KR" sz="1080" b="0" dirty="0">
                <a:solidFill>
                  <a:srgbClr val="1E2227"/>
                </a:solidFill>
                <a:latin typeface="맑은 고딕"/>
                <a:ea typeface="맑은 고딕"/>
              </a:rPr>
              <a:t>  원래 맞던 정답이 무너짐(주황 칸) = net EM이 가린 숨은 퇴행</a:t>
            </a:r>
          </a:p>
          <a:p>
            <a:pPr marL="171450" indent="-171450" algn="l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80" b="1" dirty="0">
                <a:solidFill>
                  <a:srgbClr val="6D28D9"/>
                </a:solidFill>
                <a:latin typeface="맑은 고딕"/>
                <a:ea typeface="맑은 고딕"/>
              </a:rPr>
              <a:t>Flip ↑</a:t>
            </a:r>
            <a:r>
              <a:rPr lang="ko-KR" sz="1080" b="0" dirty="0">
                <a:solidFill>
                  <a:srgbClr val="1E2227"/>
                </a:solidFill>
                <a:latin typeface="맑은 고딕"/>
                <a:ea typeface="맑은 고딕"/>
              </a:rPr>
              <a:t>  정답↔오답 역전(보라 숫자 칸)이 잦음 = 이득이 불안정·취약</a:t>
            </a:r>
          </a:p>
          <a:p>
            <a:pPr marL="171450" indent="-171450" algn="l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80" b="1" dirty="0">
                <a:solidFill>
                  <a:srgbClr val="273A52"/>
                </a:solidFill>
                <a:latin typeface="맑은 고딕"/>
                <a:ea typeface="맑은 고딕"/>
              </a:rPr>
              <a:t>종합</a:t>
            </a:r>
            <a:r>
              <a:rPr lang="ko-KR" sz="1080" b="0" dirty="0">
                <a:solidFill>
                  <a:srgbClr val="1E2227"/>
                </a:solidFill>
                <a:latin typeface="맑은 고딕"/>
                <a:ea typeface="맑은 고딕"/>
              </a:rPr>
              <a:t>  LGR 높고 HR·Flip 낮은 케이스만 완화 이득을 신뢰</a:t>
            </a:r>
          </a:p>
        </p:txBody>
      </p:sp>
      <p:sp>
        <p:nvSpPr>
          <p:cNvPr id="30" name="구하는 법"/>
          <p:cNvSpPr txBox="1"/>
          <p:nvPr/>
        </p:nvSpPr>
        <p:spPr>
          <a:xfrm>
            <a:off x="546100" y="5918200"/>
            <a:ext cx="11087100" cy="5080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/>
          </a:bodyPr>
          <a:lstStyle/>
          <a:p>
            <a:pPr algn="l"/>
            <a:r>
              <a:rPr lang="ko-KR" sz="1150" b="1" dirty="0">
                <a:solidFill>
                  <a:srgbClr val="273A52"/>
                </a:solidFill>
                <a:latin typeface="맑은 고딕"/>
                <a:ea typeface="맑은 고딕"/>
              </a:rPr>
              <a:t>구하는 법 — 케이스별 전환 행렬마다 산출</a:t>
            </a:r>
            <a:r>
              <a:rPr lang="ko-KR" sz="1150" b="0" dirty="0">
                <a:solidFill>
                  <a:srgbClr val="6B7480"/>
                </a:solidFill>
                <a:latin typeface="맑은 고딕"/>
                <a:ea typeface="맑은 고딕"/>
              </a:rPr>
              <a:t>      </a:t>
            </a:r>
            <a:r>
              <a:rPr lang="ko-KR" sz="1100" b="0" dirty="0">
                <a:solidFill>
                  <a:srgbClr val="6B7480"/>
                </a:solidFill>
                <a:latin typeface="맑은 고딕"/>
                <a:ea typeface="맑은 고딕"/>
              </a:rPr>
              <a:t>L 정상 · W 오답 · A 기권,  </a:t>
            </a:r>
            <a:r>
              <a:rPr lang="en-US" sz="1100" b="0" dirty="0">
                <a:solidFill>
                  <a:srgbClr val="6B7480"/>
                </a:solidFill>
                <a:latin typeface="Cambria Math"/>
                <a:cs typeface="Cambria Math"/>
              </a:rPr>
              <a:t>n(i→j)</a:t>
            </a:r>
            <a:r>
              <a:rPr lang="ko-KR" sz="1100" b="0" dirty="0">
                <a:solidFill>
                  <a:srgbClr val="6B7480"/>
                </a:solidFill>
                <a:latin typeface="맑은 고딕"/>
                <a:ea typeface="맑은 고딕"/>
              </a:rPr>
              <a:t> = 전→후 칸 수,  </a:t>
            </a:r>
            <a:r>
              <a:rPr lang="en-US" sz="1100" b="0" dirty="0">
                <a:solidFill>
                  <a:srgbClr val="6B7480"/>
                </a:solidFill>
                <a:latin typeface="Cambria Math"/>
                <a:cs typeface="Cambria Math"/>
              </a:rPr>
              <a:t>N</a:t>
            </a:r>
            <a:r>
              <a:rPr lang="ko-KR" sz="1100" b="0" dirty="0">
                <a:solidFill>
                  <a:srgbClr val="6B7480"/>
                </a:solidFill>
                <a:latin typeface="맑은 고딕"/>
                <a:ea typeface="맑은 고딕"/>
              </a:rPr>
              <a:t> = 전체 90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lang="ko-KR" sz="1100" b="1" dirty="0">
                <a:solidFill>
                  <a:srgbClr val="1E7A6F"/>
                </a:solidFill>
                <a:latin typeface="맑은 고딕"/>
                <a:ea typeface="맑은 고딕"/>
              </a:rPr>
              <a:t>LGR</a:t>
            </a:r>
            <a:r>
              <a:rPr lang="en-US" sz="1100" b="0" dirty="0">
                <a:solidFill>
                  <a:srgbClr val="1E2227"/>
                </a:solidFill>
                <a:latin typeface="Cambria Math"/>
                <a:cs typeface="Cambria Math"/>
              </a:rPr>
              <a:t> = n(W→L) / ( n(W→L) + n(A→L) ) </a:t>
            </a:r>
            <a:r>
              <a:rPr lang="en-US" sz="1100" b="0" dirty="0">
                <a:solidFill>
                  <a:srgbClr val="6B7480"/>
                </a:solidFill>
                <a:latin typeface="Cambria Math"/>
                <a:cs typeface="Cambria Math"/>
              </a:rPr>
              <a:t>= 10/12 ≈ 0.83</a:t>
            </a:r>
            <a:r>
              <a:rPr lang="ko-KR" sz="1100" b="0" dirty="0">
                <a:solidFill>
                  <a:srgbClr val="6B7480"/>
                </a:solidFill>
                <a:latin typeface="맑은 고딕"/>
                <a:ea typeface="맑은 고딕"/>
              </a:rPr>
              <a:t>        ·        </a:t>
            </a:r>
            <a:r>
              <a:rPr lang="ko-KR" sz="1100" b="1" dirty="0">
                <a:solidFill>
                  <a:srgbClr val="C2410C"/>
                </a:solidFill>
                <a:latin typeface="맑은 고딕"/>
                <a:ea typeface="맑은 고딕"/>
              </a:rPr>
              <a:t>HR</a:t>
            </a:r>
            <a:r>
              <a:rPr lang="en-US" sz="1100" b="0" dirty="0">
                <a:solidFill>
                  <a:srgbClr val="1E2227"/>
                </a:solidFill>
                <a:latin typeface="Cambria Math"/>
                <a:cs typeface="Cambria Math"/>
              </a:rPr>
              <a:t> = ( n(L→W) + n(L→A) ) / Σn(L→j) </a:t>
            </a:r>
            <a:r>
              <a:rPr lang="en-US" sz="1100" b="0" dirty="0">
                <a:solidFill>
                  <a:srgbClr val="6B7480"/>
                </a:solidFill>
                <a:latin typeface="Cambria Math"/>
                <a:cs typeface="Cambria Math"/>
              </a:rPr>
              <a:t>= 5/43 ≈ 0.12</a:t>
            </a:r>
            <a:r>
              <a:rPr lang="ko-KR" sz="1100" b="0" dirty="0">
                <a:solidFill>
                  <a:srgbClr val="6B7480"/>
                </a:solidFill>
                <a:latin typeface="맑은 고딕"/>
                <a:ea typeface="맑은 고딕"/>
              </a:rPr>
              <a:t>        ·        </a:t>
            </a:r>
            <a:r>
              <a:rPr lang="ko-KR" sz="1100" b="1" dirty="0">
                <a:solidFill>
                  <a:srgbClr val="273A52"/>
                </a:solidFill>
                <a:latin typeface="맑은 고딕"/>
                <a:ea typeface="맑은 고딕"/>
              </a:rPr>
              <a:t>Flip</a:t>
            </a:r>
            <a:r>
              <a:rPr lang="en-US" sz="1100" b="0" dirty="0">
                <a:solidFill>
                  <a:srgbClr val="1E2227"/>
                </a:solidFill>
                <a:latin typeface="Cambria Math"/>
                <a:cs typeface="Cambria Math"/>
              </a:rPr>
              <a:t> = ( n(L→W) + n(W→L) ) / N </a:t>
            </a:r>
            <a:r>
              <a:rPr lang="en-US" sz="1100" b="0" dirty="0">
                <a:solidFill>
                  <a:srgbClr val="6B7480"/>
                </a:solidFill>
                <a:latin typeface="Cambria Math"/>
                <a:cs typeface="Cambria Math"/>
              </a:rPr>
              <a:t>= 14/90 ≈ 0.16</a:t>
            </a:r>
          </a:p>
        </p:txBody>
      </p:sp>
    </p:spTree>
    <p:extLst>
      <p:ext uri="{BB962C8B-B14F-4D97-AF65-F5344CB8AC3E}">
        <p14:creationId xmlns:p14="http://schemas.microsoft.com/office/powerpoint/2010/main" val="2607014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§3.3 실험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실험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2 (RQ3):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충돌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고유성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대조</a:t>
            </a:r>
            <a:r>
              <a:rPr sz="2350" b="1" dirty="0">
                <a:solidFill>
                  <a:srgbClr val="273A52"/>
                </a:solidFill>
                <a:latin typeface="맑은 고딕"/>
                <a:ea typeface="맑은 고딕"/>
              </a:rPr>
              <a:t> </a:t>
            </a:r>
            <a:r>
              <a:rPr sz="2350" b="1" dirty="0" err="1">
                <a:solidFill>
                  <a:srgbClr val="273A52"/>
                </a:solidFill>
                <a:latin typeface="맑은 고딕"/>
                <a:ea typeface="맑은 고딕"/>
              </a:rPr>
              <a:t>설계</a:t>
            </a:r>
            <a:endParaRPr sz="2350" b="1" dirty="0">
              <a:solidFill>
                <a:srgbClr val="273A52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21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3632200"/>
            <a:ext cx="11091672" cy="266750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무엇을 어떻게 검증하나 — 설계와 지표</a:t>
            </a:r>
          </a:p>
          <a:p>
            <a:pPr marL="171450" indent="-171450" algn="l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대조 1 (충돌 </a:t>
            </a:r>
            <a:r>
              <a:rPr lang="ko-KR"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순효과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)</a:t>
            </a:r>
            <a:endParaRPr lang="en-US" altLang="ko-KR" sz="1120" b="1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628650" lvl="1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ⓐ vs ⓑ를 같은 문항에서 짝지어 대조 — 충돌만 켜고 끈다. 충돌 버전만 나빠지면 →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충돌 고유의 실패(RQ3)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, 차이 없으면 난이도·문서 수 부수효과다.</a:t>
            </a:r>
            <a:endParaRPr lang="en-US" altLang="ko-KR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대조 2 (타당성 점검) </a:t>
            </a:r>
            <a:endParaRPr lang="en-US" altLang="ko-KR" sz="1120" b="1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628650" lvl="1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현실성 점검(ⓑ↔ⓒ):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충돌 없앤 ⓑ의 정답률이 자연 무충돌 ⓒ 수준으로 돌아오는지, 난이도·문서 수 보정 후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동등성 검정(TOST)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으로 판정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.</a:t>
            </a:r>
            <a:r>
              <a:rPr lang="en-US" alt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br>
              <a:rPr lang="en-US" alt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</a:br>
            <a:r>
              <a:rPr lang="en-US" altLang="ko-KR" sz="1120" dirty="0">
                <a:solidFill>
                  <a:srgbClr val="1E2227"/>
                </a:solidFill>
                <a:latin typeface="맑은 고딕"/>
                <a:ea typeface="맑은 고딕"/>
              </a:rPr>
              <a:t>(</a:t>
            </a:r>
            <a:r>
              <a:rPr lang="ko-KR" sz="1120" dirty="0">
                <a:solidFill>
                  <a:srgbClr val="1E2227"/>
                </a:solidFill>
                <a:latin typeface="맑은 고딕"/>
                <a:ea typeface="맑은 고딕"/>
              </a:rPr>
              <a:t>ⓒ</a:t>
            </a:r>
            <a:r>
              <a:rPr lang="ko-KR" altLang="en-US" sz="1120" dirty="0">
                <a:solidFill>
                  <a:srgbClr val="1E2227"/>
                </a:solidFill>
                <a:latin typeface="맑은 고딕"/>
                <a:ea typeface="맑은 고딕"/>
              </a:rPr>
              <a:t>는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목표 점수가 아니라, 우리 세팅이 현실적인지 보는 참고용.</a:t>
            </a:r>
            <a:r>
              <a:rPr lang="en-US" alt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)</a:t>
            </a:r>
            <a:endParaRPr lang="ko-KR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628650" lvl="1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부작용 차단(ⓑ′):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ⓑ는 [충돌 청크]를 noise로 교체(충돌 제거)하지만, ⓑ′은 [무관한 청크]를 같은 양 교체(충돌 그대로). </a:t>
            </a:r>
            <a:br>
              <a:rPr lang="en-US" alt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</a:b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ⓑ′의 정답률이 ⓐ와 같으면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‘noise 교체 행위’ 자체는 무해 → ⓑ 변화는 순수 충돌 제거 효과.</a:t>
            </a:r>
            <a:endParaRPr lang="en-US" altLang="ko-KR" sz="1120" b="1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지표</a:t>
            </a:r>
          </a:p>
          <a:p>
            <a:pPr marL="628650" lvl="1" indent="-171450">
              <a:lnSpc>
                <a:spcPct val="130000"/>
              </a:lnSpc>
              <a:spcAft>
                <a:spcPts val="300"/>
              </a:spcAft>
              <a:buFont typeface="Arial"/>
              <a:buChar char="•"/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주지표는 정답률(정확도). 충돌의 순 벌점을 </a:t>
            </a:r>
            <a:r>
              <a:rPr lang="en-US" sz="1120" b="0" dirty="0">
                <a:solidFill>
                  <a:srgbClr val="1E2227"/>
                </a:solidFill>
                <a:latin typeface="Cambria Math"/>
              </a:rPr>
              <a:t>Δ = Acc(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ⓑ</a:t>
            </a:r>
            <a:r>
              <a:rPr lang="en-US" sz="1120" b="0" dirty="0">
                <a:solidFill>
                  <a:srgbClr val="1E2227"/>
                </a:solidFill>
                <a:latin typeface="Cambria Math"/>
              </a:rPr>
              <a:t>) − Acc(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ⓐ</a:t>
            </a:r>
            <a:r>
              <a:rPr lang="en-US" sz="1120" b="0" dirty="0">
                <a:solidFill>
                  <a:srgbClr val="1E2227"/>
                </a:solidFill>
                <a:latin typeface="Cambria Math"/>
              </a:rPr>
              <a:t>)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로 정의해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문항 짝 대응으로 검정</a:t>
            </a:r>
            <a:r>
              <a:rPr lang="ko-KR" altLang="en-US" sz="1120" dirty="0">
                <a:solidFill>
                  <a:srgbClr val="1E2227"/>
                </a:solidFill>
                <a:latin typeface="맑은 고딕"/>
                <a:ea typeface="맑은 고딕"/>
              </a:rPr>
              <a:t>한다</a:t>
            </a:r>
            <a:r>
              <a:rPr lang="en-US" altLang="ko-KR" sz="1120" dirty="0">
                <a:solidFill>
                  <a:srgbClr val="1E2227"/>
                </a:solidFill>
                <a:latin typeface="맑은 고딕"/>
                <a:ea typeface="맑은 고딕"/>
              </a:rPr>
              <a:t>.</a:t>
            </a:r>
            <a:endParaRPr lang="ko-KR" sz="1120" b="0" dirty="0">
              <a:solidFill>
                <a:srgbClr val="1E2227"/>
              </a:solidFill>
              <a:latin typeface="맑은 고딕"/>
              <a:ea typeface="맑은 고딕"/>
            </a:endParaRPr>
          </a:p>
        </p:txBody>
      </p:sp>
      <p:sp>
        <p:nvSpPr>
          <p:cNvPr id="5" name="CondCard0">
            <a:extLst>
              <a:ext uri="{FF2B5EF4-FFF2-40B4-BE49-F238E27FC236}">
                <a16:creationId xmlns:a16="http://schemas.microsoft.com/office/drawing/2014/main" id="{B9CA751C-7053-8A40-A37E-BE300A7C8B6B}"/>
              </a:ext>
            </a:extLst>
          </p:cNvPr>
          <p:cNvSpPr/>
          <p:nvPr/>
        </p:nvSpPr>
        <p:spPr>
          <a:xfrm>
            <a:off x="546100" y="1308100"/>
            <a:ext cx="3568700" cy="20955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ⓐ  충돌 있음 (원본)</a:t>
            </a: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lang="ko-KR" sz="1120" b="1" dirty="0">
                <a:solidFill>
                  <a:srgbClr val="273A52"/>
                </a:solidFill>
                <a:latin typeface="맑은 고딕"/>
                <a:ea typeface="맑은 고딕"/>
              </a:rPr>
              <a:t>출처</a:t>
            </a:r>
          </a:p>
          <a:p>
            <a:pPr marL="171450" indent="-171450" algn="l">
              <a:lnSpc>
                <a:spcPct val="118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ko-KR"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DRAGged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 자연 충돌 182건</a:t>
            </a:r>
            <a:endParaRPr lang="en-US" altLang="ko-KR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8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QACC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 충돌 ≈ 404건 (25%)</a:t>
            </a:r>
            <a:endParaRPr lang="en-US" altLang="ko-KR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8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ko-KR"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RAMDocs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 주입 충돌 500건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sz="1120" b="1" dirty="0">
                <a:solidFill>
                  <a:srgbClr val="273A52"/>
                </a:solidFill>
                <a:latin typeface="맑은 고딕"/>
                <a:ea typeface="맑은 고딕"/>
              </a:rPr>
              <a:t>역할  </a:t>
            </a:r>
            <a:endParaRPr lang="en-US" altLang="ko-KR" sz="112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충돌이 실제로 걸린 원본, 대조의 기준</a:t>
            </a:r>
          </a:p>
        </p:txBody>
      </p:sp>
      <p:sp>
        <p:nvSpPr>
          <p:cNvPr id="8" name="CondCard1">
            <a:extLst>
              <a:ext uri="{FF2B5EF4-FFF2-40B4-BE49-F238E27FC236}">
                <a16:creationId xmlns:a16="http://schemas.microsoft.com/office/drawing/2014/main" id="{D8C78895-71A5-744D-9B57-99D32E04F632}"/>
              </a:ext>
            </a:extLst>
          </p:cNvPr>
          <p:cNvSpPr/>
          <p:nvPr/>
        </p:nvSpPr>
        <p:spPr>
          <a:xfrm>
            <a:off x="4305300" y="1308100"/>
            <a:ext cx="3568700" cy="20955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ⓑ  충돌만 제거 (같은 문항</a:t>
            </a:r>
            <a:r>
              <a:rPr lang="ko-KR" sz="1350" b="1" dirty="0">
                <a:solidFill>
                  <a:srgbClr val="273A52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lang="ko-KR" sz="1120" b="1" dirty="0">
                <a:solidFill>
                  <a:srgbClr val="273A52"/>
                </a:solidFill>
                <a:latin typeface="맑은 고딕"/>
                <a:ea typeface="맑은 고딕"/>
              </a:rPr>
              <a:t>구성</a:t>
            </a:r>
          </a:p>
          <a:p>
            <a:pPr marL="171450" indent="-171450" algn="l">
              <a:lnSpc>
                <a:spcPct val="118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ⓐ와 동일 문항에서 충돌 청크·오정보만 </a:t>
            </a:r>
            <a:r>
              <a:rPr lang="ko-KR"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noise로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교체</a:t>
            </a:r>
            <a:endParaRPr lang="en-US" altLang="ko-KR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8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문서 수·주제·난이도 고정 → 새 표집 아님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sz="1120" b="1" dirty="0">
                <a:solidFill>
                  <a:srgbClr val="273A52"/>
                </a:solidFill>
                <a:latin typeface="맑은 고딕"/>
                <a:ea typeface="맑은 고딕"/>
              </a:rPr>
              <a:t>역할  </a:t>
            </a:r>
            <a:endParaRPr lang="en-US" altLang="ko-KR" sz="112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같은 문항을 충돌 </a:t>
            </a:r>
            <a:r>
              <a:rPr lang="ko-KR"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있음↔없음으로만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비교 →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충돌의 순효과만 분리</a:t>
            </a:r>
          </a:p>
        </p:txBody>
      </p:sp>
      <p:sp>
        <p:nvSpPr>
          <p:cNvPr id="10" name="CondCard2">
            <a:extLst>
              <a:ext uri="{FF2B5EF4-FFF2-40B4-BE49-F238E27FC236}">
                <a16:creationId xmlns:a16="http://schemas.microsoft.com/office/drawing/2014/main" id="{ADEAD6E5-CB04-4147-92F9-E87E70C936A1}"/>
              </a:ext>
            </a:extLst>
          </p:cNvPr>
          <p:cNvSpPr/>
          <p:nvPr/>
        </p:nvSpPr>
        <p:spPr>
          <a:xfrm>
            <a:off x="8064500" y="1308100"/>
            <a:ext cx="3568700" cy="20955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ⓒ  자연적 무충돌 표본</a:t>
            </a:r>
          </a:p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lang="ko-KR" sz="1120" b="1" dirty="0">
                <a:solidFill>
                  <a:srgbClr val="273A52"/>
                </a:solidFill>
                <a:latin typeface="맑은 고딕"/>
                <a:ea typeface="맑은 고딕"/>
              </a:rPr>
              <a:t>출처</a:t>
            </a:r>
            <a:endParaRPr lang="en-US" altLang="ko-KR" sz="112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ko-KR" sz="1120" b="1" dirty="0" err="1">
                <a:solidFill>
                  <a:srgbClr val="1E2227"/>
                </a:solidFill>
                <a:latin typeface="맑은 고딕"/>
                <a:ea typeface="맑은 고딕"/>
              </a:rPr>
              <a:t>DRAGged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 무충돌 276건</a:t>
            </a:r>
            <a:endParaRPr lang="en-US" altLang="ko-KR" sz="1120" b="0" dirty="0">
              <a:solidFill>
                <a:srgbClr val="1E222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QACC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 비충돌 ≈ 1,213건 (75%)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</a:pPr>
            <a:r>
              <a:rPr lang="ko-KR" sz="1120" b="1" dirty="0">
                <a:solidFill>
                  <a:srgbClr val="273A52"/>
                </a:solidFill>
                <a:latin typeface="맑은 고딕"/>
                <a:ea typeface="맑은 고딕"/>
              </a:rPr>
              <a:t>역할  </a:t>
            </a:r>
            <a:endParaRPr lang="en-US" altLang="ko-KR" sz="1120" b="1" dirty="0">
              <a:solidFill>
                <a:srgbClr val="273A52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ⓑ가 자연 무충돌에 근접하는지 보는 생태적 타당성 점검</a:t>
            </a:r>
          </a:p>
        </p:txBody>
      </p:sp>
      <p:sp>
        <p:nvSpPr>
          <p:cNvPr id="51" name="CardBar51"/>
          <p:cNvSpPr/>
          <p:nvPr/>
        </p:nvSpPr>
        <p:spPr>
          <a:xfrm>
            <a:off x="546100" y="1270000"/>
            <a:ext cx="3568700" cy="38100"/>
          </a:xfrm>
          <a:prstGeom prst="rect">
            <a:avLst/>
          </a:prstGeom>
          <a:solidFill>
            <a:srgbClr val="273A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ardBar52"/>
          <p:cNvSpPr/>
          <p:nvPr/>
        </p:nvSpPr>
        <p:spPr>
          <a:xfrm>
            <a:off x="4305300" y="1270000"/>
            <a:ext cx="3568700" cy="38100"/>
          </a:xfrm>
          <a:prstGeom prst="rect">
            <a:avLst/>
          </a:prstGeom>
          <a:solidFill>
            <a:srgbClr val="273A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CardBar53"/>
          <p:cNvSpPr/>
          <p:nvPr/>
        </p:nvSpPr>
        <p:spPr>
          <a:xfrm>
            <a:off x="8064500" y="1270000"/>
            <a:ext cx="3568700" cy="38100"/>
          </a:xfrm>
          <a:prstGeom prst="rect">
            <a:avLst/>
          </a:prstGeom>
          <a:solidFill>
            <a:srgbClr val="273A5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6205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6448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0" dirty="0">
                <a:solidFill>
                  <a:srgbClr val="6B7480"/>
                </a:solidFill>
                <a:latin typeface="맑은 고딕"/>
                <a:ea typeface="맑은 고딕"/>
              </a:rPr>
              <a:t>§3 방법론</a:t>
            </a:r>
            <a:r>
              <a:rPr lang="en-US" sz="1250" b="0" dirty="0">
                <a:solidFill>
                  <a:srgbClr val="B0B7C0"/>
                </a:solidFill>
                <a:latin typeface="맑은 고딕"/>
                <a:ea typeface="맑은 고딕"/>
              </a:rPr>
              <a:t>   ›   </a:t>
            </a: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§3.3 실험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396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>
                <a:solidFill>
                  <a:srgbClr val="273A52"/>
                </a:solidFill>
                <a:latin typeface="맑은 고딕"/>
                <a:ea typeface="맑은 고딕"/>
              </a:rPr>
              <a:t>실험 3 (RQ4): 추론 채널 격리와 인과 개입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22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70000"/>
            <a:ext cx="11091672" cy="967060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① 1단계 — 추론 켜고/끄기 비교(thinking on/off)</a:t>
            </a:r>
          </a:p>
          <a:p>
            <a:pPr marL="171450" indent="-171450" algn="l">
              <a:lnSpc>
                <a:spcPct val="122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sz="1150" b="1" dirty="0">
                <a:solidFill>
                  <a:srgbClr val="1E2227"/>
                </a:solidFill>
                <a:latin typeface="맑은 고딕"/>
                <a:ea typeface="맑은 고딕"/>
              </a:rPr>
              <a:t>대조 방법: </a:t>
            </a:r>
            <a:r>
              <a:rPr lang="ko-KR" sz="1150" b="0" dirty="0">
                <a:solidFill>
                  <a:srgbClr val="1E2227"/>
                </a:solidFill>
                <a:latin typeface="맑은 고딕"/>
                <a:ea typeface="맑은 고딕"/>
              </a:rPr>
              <a:t>같은 문항을 추론 OFF↔ON으로 돌려 답 변화를 전환 행렬(실험 1과 동일)로 짝지어 비교 — (i) 충돌 해소↑(이득), (ii) 새 실패 </a:t>
            </a:r>
            <a:r>
              <a:rPr lang="ko-KR" sz="1150" b="1" dirty="0">
                <a:solidFill>
                  <a:srgbClr val="1E2227"/>
                </a:solidFill>
                <a:latin typeface="맑은 고딕"/>
                <a:ea typeface="맑은 고딕"/>
              </a:rPr>
              <a:t>AIR·Shortcut</a:t>
            </a:r>
            <a:r>
              <a:rPr lang="ko-KR" sz="1150" b="0" dirty="0">
                <a:solidFill>
                  <a:srgbClr val="1E2227"/>
                </a:solidFill>
                <a:latin typeface="맑은 고딕"/>
                <a:ea typeface="맑은 고딕"/>
              </a:rPr>
              <a:t>(부작용)을 함께 확인.</a:t>
            </a:r>
          </a:p>
          <a:p>
            <a:pPr marL="171450" indent="-171450" algn="l">
              <a:lnSpc>
                <a:spcPct val="122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sz="1150" b="1" dirty="0">
                <a:solidFill>
                  <a:srgbClr val="1E2227"/>
                </a:solidFill>
                <a:latin typeface="맑은 고딕"/>
                <a:ea typeface="맑은 고딕"/>
              </a:rPr>
              <a:t>모델: </a:t>
            </a:r>
            <a:r>
              <a:rPr lang="ko-KR" sz="1150" b="0" dirty="0">
                <a:solidFill>
                  <a:srgbClr val="1E2227"/>
                </a:solidFill>
                <a:latin typeface="맑은 고딕"/>
                <a:ea typeface="맑은 고딕"/>
              </a:rPr>
              <a:t>Qwen3.6-27B(동일 가중치 하드 토글) · 보조 gpt-oss-20b(참고용)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41188"/>
            <a:ext cx="11091672" cy="8890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marL="171450" indent="-171450" algn="l">
              <a:lnSpc>
                <a:spcPct val="112000"/>
              </a:lnSpc>
              <a:spcAft>
                <a:spcPts val="100"/>
              </a:spcAft>
              <a:buFont typeface="Arial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해석 규칙(사전등록):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절단 효과에서 ‘자르는 행위 자체’가 만든 변화(no-op 기준선)를 뺀 나머지만 인과 기여로 보고, filler 대조로 잰 형식 교란의 최대치를 넘는 효과만 인과로 해석한다.</a:t>
            </a:r>
          </a:p>
          <a:p>
            <a:pPr marL="171450" indent="-171450" algn="l">
              <a:lnSpc>
                <a:spcPct val="112000"/>
              </a:lnSpc>
              <a:spcAft>
                <a:spcPts val="100"/>
              </a:spcAft>
              <a:buFont typeface="Arial"/>
              <a:buChar char="•"/>
            </a:pP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경로별 취약성(RQ2 연계):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네 경로의 정답에 같은 개입을 가해 뒤집힘 비율을 비교한다 — 취약 경로(도약·불협)가 실제로 더 자주 뒤집히면 ‘취약’은 이름표가 아니라 인과적으로 확인된 성질이다.</a:t>
            </a:r>
          </a:p>
        </p:txBody>
      </p:sp>
      <p:sp>
        <p:nvSpPr>
          <p:cNvPr id="31" name="Stage2Header"/>
          <p:cNvSpPr/>
          <p:nvPr/>
        </p:nvSpPr>
        <p:spPr>
          <a:xfrm>
            <a:off x="548640" y="2431288"/>
            <a:ext cx="11087100" cy="2730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② 2단계 — 인과 개입 (사전등록)</a:t>
            </a:r>
          </a:p>
        </p:txBody>
      </p:sp>
      <p:graphicFrame>
        <p:nvGraphicFramePr>
          <p:cNvPr id="30" name="Intervention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06366"/>
              </p:ext>
            </p:extLst>
          </p:nvPr>
        </p:nvGraphicFramePr>
        <p:xfrm>
          <a:off x="548640" y="2724404"/>
          <a:ext cx="11091672" cy="2566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933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개입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하나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15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전체 마스킹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예비 점검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추론(&lt;think&gt;) 전체를 빈 내용·필러로 바꿔 답만 재생성 — </a:t>
                      </a: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답이 그대로면 추론은 장식</a:t>
                      </a: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23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Truncation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주력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여러 절단 지점에서 추론을 멈추고 즉시 답을 내도록 강제해, </a:t>
                      </a: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어느 지점부터 답이 고정되는지</a:t>
                      </a: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측정합니다 (Lanham ’23).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315874"/>
                  </a:ext>
                </a:extLst>
              </a:tr>
              <a:tr h="32715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On-policy Resampling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273A52"/>
                          </a:solidFill>
                          <a:latin typeface="맑은 고딕"/>
                          <a:ea typeface="맑은 고딕"/>
                        </a:rPr>
                        <a:t>주력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문장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(L2)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직후부터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답변을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여러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번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다시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생성해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그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판정이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최종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답을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좌우하는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정도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를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추정합니다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23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Filler-token 대조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대조군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절단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구간을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같은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길이의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무의미한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토큰으로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바꿔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성능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하락이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내용이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사라져서인지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길이·형식이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무너져서인지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를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구분합니다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23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자연 종료점 절단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6B7480"/>
                          </a:solidFill>
                          <a:latin typeface="맑은 고딕"/>
                          <a:ea typeface="맑은 고딕"/>
                        </a:rPr>
                        <a:t>no-op 기준선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모델이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스스로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추론을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끝낸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지점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(&lt;/think&gt;)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에서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절단해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무개입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기준선을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만들고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절단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절차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자체가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만드는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교란의</a:t>
                      </a:r>
                      <a:r>
                        <a:rPr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1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크기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를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20" b="0" dirty="0" err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측정합니다</a:t>
                      </a:r>
                      <a:r>
                        <a:rPr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266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§4 실험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>
                <a:solidFill>
                  <a:srgbClr val="273A52"/>
                </a:solidFill>
                <a:latin typeface="맑은 고딕"/>
                <a:ea typeface="맑은 고딕"/>
              </a:rPr>
              <a:t>예상 결과와 보고 계층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23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270000"/>
            <a:ext cx="3584448" cy="33020"/>
          </a:xfrm>
          <a:prstGeom prst="rect">
            <a:avLst/>
          </a:prstGeom>
          <a:solidFill>
            <a:srgbClr val="1E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03020"/>
            <a:ext cx="3584448" cy="23444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① 주력 — 완화 이득 분해</a:t>
            </a:r>
          </a:p>
          <a:p>
            <a:pPr algn="l">
              <a:lnSpc>
                <a:spcPct val="136000"/>
              </a:lnSpc>
              <a:spcAft>
                <a:spcPts val="450"/>
              </a:spcAft>
            </a:pPr>
            <a:r>
              <a:rPr lang="ko-KR" sz="1040" b="0" dirty="0">
                <a:solidFill>
                  <a:srgbClr val="6B7480"/>
                </a:solidFill>
                <a:latin typeface="맑은 고딕"/>
                <a:ea typeface="맑은 고딕"/>
              </a:rPr>
              <a:t>RQ1 · RQ2</a:t>
            </a:r>
          </a:p>
          <a:p>
            <a:pPr marL="171450" indent="-171450" algn="l">
              <a:lnSpc>
                <a:spcPct val="136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120" b="1" dirty="0">
                <a:solidFill>
                  <a:srgbClr val="1E2227"/>
                </a:solidFill>
                <a:latin typeface="맑은 고딕"/>
                <a:ea typeface="맑은 고딕"/>
              </a:rPr>
              <a:t>예상 결과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: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완화 이득</a:t>
            </a:r>
            <a:r>
              <a:rPr lang="ko-KR" altLang="en-US" sz="1120" b="0" dirty="0">
                <a:solidFill>
                  <a:srgbClr val="1E2227"/>
                </a:solidFill>
                <a:latin typeface="맑은 고딕"/>
                <a:ea typeface="맑은 고딕"/>
              </a:rPr>
              <a:t> 중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lang="ko-KR" altLang="en-US" sz="1120" b="0" dirty="0">
                <a:solidFill>
                  <a:srgbClr val="1E2227"/>
                </a:solidFill>
                <a:latin typeface="맑은 고딕"/>
                <a:ea typeface="맑은 고딕"/>
              </a:rPr>
              <a:t>일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부분이 정상 경로가 아니라 취약 경로에서 오는 경우가 있으며, 정답률 상승이 곧 추론 개선은 아님을 분해로 드러냅니다.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70000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303020"/>
            <a:ext cx="3584448" cy="23444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② 검증 — 실재성·인과</a:t>
            </a:r>
          </a:p>
          <a:p>
            <a:pPr algn="l">
              <a:lnSpc>
                <a:spcPct val="136000"/>
              </a:lnSpc>
              <a:spcAft>
                <a:spcPts val="450"/>
              </a:spcAft>
            </a:pPr>
            <a:r>
              <a:rPr lang="ko-KR" sz="1040" b="0" dirty="0">
                <a:solidFill>
                  <a:srgbClr val="6B7480"/>
                </a:solidFill>
                <a:latin typeface="맑은 고딕"/>
                <a:ea typeface="맑은 고딕"/>
              </a:rPr>
              <a:t>RQ3 · RQ4</a:t>
            </a:r>
          </a:p>
          <a:p>
            <a:pPr marL="171450" indent="-171450" algn="l">
              <a:lnSpc>
                <a:spcPct val="136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120" b="1" dirty="0">
                <a:solidFill>
                  <a:srgbClr val="1E2227"/>
                </a:solidFill>
                <a:latin typeface="맑은 고딕"/>
                <a:ea typeface="맑은 고딕"/>
              </a:rPr>
              <a:t>예상 결과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: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AIR·특이 경로율이 충돌군에서 유의하게 높고(고유성),</a:t>
            </a:r>
            <a:r>
              <a:rPr lang="ko-KR" altLang="en-US"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AIR 샘플에서 L2 판정의 인과 기여도가 비-AIR보다 낮아,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표기 실수가 아닌 진짜 유실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임을 실증합니다.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70000"/>
            <a:ext cx="358444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303020"/>
            <a:ext cx="3584448" cy="23444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③ 보강 — 강건성·기제</a:t>
            </a:r>
          </a:p>
          <a:p>
            <a:pPr algn="l">
              <a:lnSpc>
                <a:spcPct val="136000"/>
              </a:lnSpc>
              <a:spcAft>
                <a:spcPts val="450"/>
              </a:spcAft>
            </a:pPr>
            <a:r>
              <a:rPr lang="ko-KR" sz="1040" b="0" dirty="0">
                <a:solidFill>
                  <a:srgbClr val="6B7480"/>
                </a:solidFill>
                <a:latin typeface="맑은 고딕"/>
                <a:ea typeface="맑은 고딕"/>
              </a:rPr>
              <a:t>thinking on/off 통제 · 유형 인지 · 트레이스 상관 분석</a:t>
            </a:r>
          </a:p>
          <a:p>
            <a:pPr marL="171450" indent="-171450" algn="l">
              <a:lnSpc>
                <a:spcPct val="136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120" b="1" dirty="0">
                <a:solidFill>
                  <a:srgbClr val="1E2227"/>
                </a:solidFill>
                <a:latin typeface="맑은 고딕"/>
                <a:ea typeface="맑은 고딕"/>
              </a:rPr>
              <a:t>예상 결과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: 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thinking-off에서 AIR·Shortcut이 사라지면 추론 채널이 원인이라는 증거가 되고,</a:t>
            </a:r>
            <a:r>
              <a:rPr lang="ko-KR" altLang="en-US" sz="1120" b="0" dirty="0">
                <a:solidFill>
                  <a:srgbClr val="1E2227"/>
                </a:solidFill>
                <a:latin typeface="맑은 고딕"/>
                <a:ea typeface="맑은 고딕"/>
              </a:rPr>
              <a:t> </a:t>
            </a:r>
            <a:r>
              <a:rPr lang="ko-KR" sz="1120" b="0" dirty="0" err="1">
                <a:solidFill>
                  <a:srgbClr val="1E2227"/>
                </a:solidFill>
                <a:latin typeface="맑은 고딕"/>
                <a:ea typeface="맑은 고딕"/>
              </a:rPr>
              <a:t>Semantic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 Shift·엔트로피 스파이크가 AIR 지점과 상관되면 개입 지점 후보가 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57752"/>
            <a:ext cx="11091672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890772"/>
            <a:ext cx="11091672" cy="177749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이 구조가 주는 안전판</a:t>
            </a:r>
          </a:p>
          <a:p>
            <a:pPr marL="285750" indent="-285750" algn="l">
              <a:lnSpc>
                <a:spcPct val="144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sz="1220" b="1" dirty="0">
                <a:solidFill>
                  <a:srgbClr val="1E2227"/>
                </a:solidFill>
                <a:latin typeface="맑은 고딕"/>
                <a:ea typeface="맑은 고딕"/>
              </a:rPr>
              <a:t>결과 비의존.  </a:t>
            </a:r>
            <a:r>
              <a:rPr lang="ko-KR" sz="1220" b="0" dirty="0">
                <a:solidFill>
                  <a:srgbClr val="1E2227"/>
                </a:solidFill>
                <a:latin typeface="맑은 고딕"/>
                <a:ea typeface="맑은 고딕"/>
              </a:rPr>
              <a:t>분해 결론이 어느 방향이든 기여가 성립하므로, ‘밋밋한 결과’ 위험을 구조적으로 낮춥니다.</a:t>
            </a:r>
          </a:p>
          <a:p>
            <a:pPr marL="285750" indent="-285750" algn="l">
              <a:lnSpc>
                <a:spcPct val="144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sz="1220" b="1" dirty="0">
                <a:solidFill>
                  <a:srgbClr val="1E2227"/>
                </a:solidFill>
                <a:latin typeface="맑은 고딕"/>
                <a:ea typeface="맑은 고딕"/>
              </a:rPr>
              <a:t>과적재 방지.  </a:t>
            </a:r>
            <a:r>
              <a:rPr lang="ko-KR" sz="1220" b="0" dirty="0">
                <a:solidFill>
                  <a:srgbClr val="1E2227"/>
                </a:solidFill>
                <a:latin typeface="맑은 고딕"/>
                <a:ea typeface="맑은 고딕"/>
              </a:rPr>
              <a:t>①이 논문의 중심이고 ②는 타당성을 받치며 ③은 부차입니다. 지표가 많아도 서사는 하나입니다.</a:t>
            </a:r>
          </a:p>
          <a:p>
            <a:pPr marL="285750" indent="-285750" algn="l">
              <a:lnSpc>
                <a:spcPct val="14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220" b="1" dirty="0">
                <a:solidFill>
                  <a:srgbClr val="1E2227"/>
                </a:solidFill>
                <a:latin typeface="맑은 고딕"/>
                <a:ea typeface="맑은 고딕"/>
              </a:rPr>
              <a:t>실측 대체.  </a:t>
            </a:r>
            <a:r>
              <a:rPr lang="ko-KR" sz="1220" b="0" dirty="0">
                <a:solidFill>
                  <a:srgbClr val="1E2227"/>
                </a:solidFill>
                <a:latin typeface="맑은 고딕"/>
                <a:ea typeface="맑은 고딕"/>
              </a:rPr>
              <a:t>본 절은 가설 상태로 사전등록하며, 실측이 나오면 수치로 대체합니다.</a:t>
            </a:r>
          </a:p>
        </p:txBody>
      </p:sp>
    </p:spTree>
    <p:extLst>
      <p:ext uri="{BB962C8B-B14F-4D97-AF65-F5344CB8AC3E}">
        <p14:creationId xmlns:p14="http://schemas.microsoft.com/office/powerpoint/2010/main" val="3117937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§5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>
                <a:solidFill>
                  <a:srgbClr val="273A52"/>
                </a:solidFill>
                <a:latin typeface="맑은 고딕"/>
                <a:ea typeface="맑은 고딕"/>
              </a:rPr>
              <a:t>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24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270000"/>
            <a:ext cx="3584448" cy="33020"/>
          </a:xfrm>
          <a:prstGeom prst="rect">
            <a:avLst/>
          </a:prstGeom>
          <a:solidFill>
            <a:srgbClr val="A44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03020"/>
            <a:ext cx="3584448" cy="30302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표본·검정력</a:t>
            </a:r>
          </a:p>
          <a:p>
            <a:pPr algn="l">
              <a:lnSpc>
                <a:spcPct val="142000"/>
              </a:lnSpc>
              <a:spcAft>
                <a:spcPts val="450"/>
              </a:spcAft>
            </a:pPr>
            <a:r>
              <a:rPr lang="ko-KR" sz="118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lang="ko-KR" sz="1180" b="1" dirty="0">
                <a:solidFill>
                  <a:srgbClr val="1E2227"/>
                </a:solidFill>
                <a:latin typeface="맑은 고딕"/>
                <a:ea typeface="맑은 고딕"/>
              </a:rPr>
              <a:t>자연 시간충돌은 주력 62건</a:t>
            </a:r>
            <a:r>
              <a:rPr lang="ko-KR" sz="1180" b="0" dirty="0">
                <a:solidFill>
                  <a:srgbClr val="1E2227"/>
                </a:solidFill>
                <a:latin typeface="맑은 고딕"/>
                <a:ea typeface="맑은 고딕"/>
              </a:rPr>
              <a:t>이며, QACC가 보조합니다.</a:t>
            </a:r>
          </a:p>
          <a:p>
            <a:pPr algn="l">
              <a:lnSpc>
                <a:spcPct val="142000"/>
              </a:lnSpc>
              <a:spcAft>
                <a:spcPts val="450"/>
              </a:spcAft>
            </a:pPr>
            <a:r>
              <a:rPr lang="ko-KR" sz="118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lang="ko-KR" sz="1180" b="1" dirty="0">
                <a:solidFill>
                  <a:srgbClr val="1E2227"/>
                </a:solidFill>
                <a:latin typeface="맑은 고딕"/>
                <a:ea typeface="맑은 고딕"/>
              </a:rPr>
              <a:t>N&lt;20 셀에서는 비교 주장을 하지 않습니다</a:t>
            </a:r>
            <a:r>
              <a:rPr lang="ko-KR" sz="1180" b="0" dirty="0">
                <a:solidFill>
                  <a:srgbClr val="1E2227"/>
                </a:solidFill>
                <a:latin typeface="맑은 고딕"/>
                <a:ea typeface="맑은 고딕"/>
              </a:rPr>
              <a:t> (사전등록).</a:t>
            </a:r>
          </a:p>
          <a:p>
            <a:pPr algn="l">
              <a:lnSpc>
                <a:spcPct val="142000"/>
              </a:lnSpc>
              <a:spcAft>
                <a:spcPts val="450"/>
              </a:spcAft>
            </a:pPr>
            <a:r>
              <a:rPr lang="ko-KR" sz="118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lang="ko-KR" sz="1180" b="0" dirty="0">
                <a:solidFill>
                  <a:srgbClr val="1E2227"/>
                </a:solidFill>
                <a:latin typeface="맑은 고딕"/>
                <a:ea typeface="맑은 고딕"/>
              </a:rPr>
              <a:t>오정보 5건(DRAGged)은 정성 사례로만 쓰고, 정량은 RAMDocs로 보강합니다.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70000"/>
            <a:ext cx="3584448" cy="33020"/>
          </a:xfrm>
          <a:prstGeom prst="rect">
            <a:avLst/>
          </a:prstGeom>
          <a:solidFill>
            <a:srgbClr val="A44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303020"/>
            <a:ext cx="3584448" cy="30302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라벨·언어화</a:t>
            </a:r>
          </a:p>
          <a:p>
            <a:pPr algn="l">
              <a:lnSpc>
                <a:spcPct val="142000"/>
              </a:lnSpc>
              <a:spcAft>
                <a:spcPts val="450"/>
              </a:spcAft>
            </a:pPr>
            <a:r>
              <a:rPr lang="ko-KR" sz="118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lang="ko-KR" sz="1180" b="1" dirty="0">
                <a:solidFill>
                  <a:srgbClr val="1E2227"/>
                </a:solidFill>
                <a:latin typeface="맑은 고딕"/>
                <a:ea typeface="맑은 고딕"/>
              </a:rPr>
              <a:t>L2는 텍스트에 기반한 추론</a:t>
            </a:r>
            <a:r>
              <a:rPr lang="ko-KR" sz="1180" b="0" dirty="0">
                <a:solidFill>
                  <a:srgbClr val="1E2227"/>
                </a:solidFill>
                <a:latin typeface="맑은 고딕"/>
                <a:ea typeface="맑은 고딕"/>
              </a:rPr>
              <a:t>이라, κ·전수 검증으로 신뢰를 확보하되 잔여 불확실성을 명시합니다.</a:t>
            </a:r>
          </a:p>
          <a:p>
            <a:pPr algn="l">
              <a:lnSpc>
                <a:spcPct val="142000"/>
              </a:lnSpc>
              <a:spcAft>
                <a:spcPts val="450"/>
              </a:spcAft>
            </a:pPr>
            <a:r>
              <a:rPr lang="ko-KR" sz="118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lang="ko-KR" sz="1180" b="1" dirty="0">
                <a:solidFill>
                  <a:srgbClr val="1E2227"/>
                </a:solidFill>
                <a:latin typeface="맑은 고딕"/>
                <a:ea typeface="맑은 고딕"/>
              </a:rPr>
              <a:t>언어화 갭은 완전히 제거할 수 없습니다.</a:t>
            </a:r>
            <a:r>
              <a:rPr lang="ko-KR" sz="1180" b="0" dirty="0">
                <a:solidFill>
                  <a:srgbClr val="1E2227"/>
                </a:solidFill>
                <a:latin typeface="맑은 고딕"/>
                <a:ea typeface="맑은 고딕"/>
              </a:rPr>
              <a:t>  ‘속으로 했으나 적지 않은’ 경우가 남지만, AIR은 존재 조건이라 강건합니다.</a:t>
            </a:r>
          </a:p>
          <a:p>
            <a:pPr algn="l">
              <a:lnSpc>
                <a:spcPct val="142000"/>
              </a:lnSpc>
              <a:spcAft>
                <a:spcPts val="450"/>
              </a:spcAft>
            </a:pPr>
            <a:r>
              <a:rPr lang="ko-KR" sz="118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lang="ko-KR" sz="1180" b="0" dirty="0">
                <a:solidFill>
                  <a:srgbClr val="1E2227"/>
                </a:solidFill>
                <a:latin typeface="맑은 고딕"/>
                <a:ea typeface="맑은 고딕"/>
              </a:rPr>
              <a:t>모델별 언어화 습관 차이는 분리해 보고합니다.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70000"/>
            <a:ext cx="3584448" cy="33020"/>
          </a:xfrm>
          <a:prstGeom prst="rect">
            <a:avLst/>
          </a:prstGeom>
          <a:solidFill>
            <a:srgbClr val="A44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303020"/>
            <a:ext cx="3584448" cy="30302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200" b="1" dirty="0">
                <a:solidFill>
                  <a:srgbClr val="273A52"/>
                </a:solidFill>
                <a:latin typeface="맑은 고딕"/>
                <a:ea typeface="맑은 고딕"/>
              </a:rPr>
              <a:t>스코프</a:t>
            </a:r>
          </a:p>
          <a:p>
            <a:pPr algn="l">
              <a:lnSpc>
                <a:spcPct val="142000"/>
              </a:lnSpc>
              <a:spcAft>
                <a:spcPts val="450"/>
              </a:spcAft>
            </a:pPr>
            <a:r>
              <a:rPr lang="ko-KR" sz="118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lang="ko-KR" sz="1180" b="1" dirty="0">
                <a:solidFill>
                  <a:srgbClr val="1E2227"/>
                </a:solidFill>
                <a:latin typeface="맑은 고딕"/>
                <a:ea typeface="맑은 고딕"/>
              </a:rPr>
              <a:t>AIR·Shortcut은 thinking 아키텍처 고유 특성입니다.</a:t>
            </a:r>
            <a:r>
              <a:rPr lang="ko-KR" sz="1180" b="0" dirty="0">
                <a:solidFill>
                  <a:srgbClr val="1E2227"/>
                </a:solidFill>
                <a:latin typeface="맑은 고딕"/>
                <a:ea typeface="맑은 고딕"/>
              </a:rPr>
              <a:t>  결함이 아니라 명시적 범위이며, 비-thinking으로 일반화하지 않습니다.</a:t>
            </a:r>
          </a:p>
          <a:p>
            <a:pPr algn="l">
              <a:lnSpc>
                <a:spcPct val="142000"/>
              </a:lnSpc>
              <a:spcAft>
                <a:spcPts val="450"/>
              </a:spcAft>
            </a:pPr>
            <a:r>
              <a:rPr lang="ko-KR" sz="118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lang="ko-KR" sz="1180" b="1" dirty="0">
                <a:solidFill>
                  <a:srgbClr val="1E2227"/>
                </a:solidFill>
                <a:latin typeface="맑은 고딕"/>
                <a:ea typeface="맑은 고딕"/>
              </a:rPr>
              <a:t>개입은 생성 단계 조작만</a:t>
            </a:r>
            <a:r>
              <a:rPr lang="ko-KR" sz="1180" b="0" dirty="0">
                <a:solidFill>
                  <a:srgbClr val="1E2227"/>
                </a:solidFill>
                <a:latin typeface="맑은 고딕"/>
                <a:ea typeface="맑은 고딕"/>
              </a:rPr>
              <a:t>  다루며, 내부(활성화) 개입은 범위 밖입니다.</a:t>
            </a:r>
          </a:p>
          <a:p>
            <a:pPr algn="l">
              <a:lnSpc>
                <a:spcPct val="142000"/>
              </a:lnSpc>
              <a:spcAft>
                <a:spcPts val="450"/>
              </a:spcAft>
            </a:pPr>
            <a:r>
              <a:rPr lang="ko-KR" sz="1180" b="1" dirty="0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lang="ko-KR" sz="1180" b="0" dirty="0">
                <a:solidFill>
                  <a:srgbClr val="1E2227"/>
                </a:solidFill>
                <a:latin typeface="맑은 고딕"/>
                <a:ea typeface="맑은 고딕"/>
              </a:rPr>
              <a:t>도메인은 웹 검색과 합성이며, 기업 지식베이스(KB)는 향후 이식합니다.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16120"/>
            <a:ext cx="11091672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549140"/>
            <a:ext cx="11091672" cy="11099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인용 등급 관리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하중 근거는 전부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게재 확정 문헌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으로 지탱합니다. 프리프린트는 데이터셋 출처·포지셔닝 같은 비하중 용도로만 한정하고, 제출 시점에 게재 상태를 재확인합니다.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673342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91672" cy="210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en-US" sz="1250" b="1" dirty="0">
                <a:solidFill>
                  <a:srgbClr val="273A52"/>
                </a:solidFill>
                <a:latin typeface="맑은 고딕"/>
                <a:ea typeface="맑은 고딕"/>
              </a:rPr>
              <a:t>§6 향후 연구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sz="2350" b="1">
                <a:solidFill>
                  <a:srgbClr val="273A52"/>
                </a:solidFill>
                <a:latin typeface="맑은 고딕"/>
                <a:ea typeface="맑은 고딕"/>
              </a:rPr>
              <a:t>향후 연구: 진단 결과에 따른 분기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3856"/>
            <a:ext cx="11091672" cy="17780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84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450"/>
              </a:spcAft>
            </a:pPr>
            <a:fld id="{C2B3A1D0-1111-2222-3333-444455556666}" type="slidenum">
              <a:rPr lang="en-US" altLang="ko-KR" sz="950">
                <a:solidFill>
                  <a:srgbClr val="6B7480"/>
                </a:solidFill>
                <a:latin typeface="맑은 고딕"/>
                <a:ea typeface="맑은 고딕"/>
              </a:rPr>
              <a:t>25</a:t>
            </a:fld>
            <a:endParaRPr lang="en-US" altLang="ko-KR" sz="950">
              <a:solidFill>
                <a:srgbClr val="6B748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70000"/>
            <a:ext cx="11091672" cy="207557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spAutoFit/>
          </a:bodyPr>
          <a:lstStyle/>
          <a:p>
            <a:pPr algn="l">
              <a:lnSpc>
                <a:spcPct val="122000"/>
              </a:lnSpc>
              <a:spcAft>
                <a:spcPts val="450"/>
              </a:spcAft>
            </a:pPr>
            <a:r>
              <a:rPr lang="ko-KR" sz="1230" b="0" dirty="0">
                <a:solidFill>
                  <a:srgbClr val="6B7480"/>
                </a:solidFill>
                <a:latin typeface="맑은 고딕"/>
                <a:ea typeface="맑은 고딕"/>
              </a:rPr>
              <a:t>본 연구는 진단에 집중합니다. 처방(완화 설계)은 진단이 개입 지점을 특정한 뒤에야 근거를 갖습니다. 예상 결과에 따라 다음과 같이 갈립니다.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945799"/>
              </p:ext>
            </p:extLst>
          </p:nvPr>
        </p:nvGraphicFramePr>
        <p:xfrm>
          <a:off x="548640" y="1654048"/>
          <a:ext cx="11091672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진단 결과가 이러면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뒤따르는 처방 연구</a:t>
                      </a:r>
                    </a:p>
                  </a:txBody>
                  <a:tcPr marL="82296" marR="82296" marT="36576" marB="36576" anchor="ctr">
                    <a:solidFill>
                      <a:srgbClr val="27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AIR ↑</a:t>
                      </a: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(+ 전환부 엔트로피 스파이크)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그 지점만 겨냥한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경량 개입</a:t>
                      </a: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입니다. 엔트로피 트리거 재디코딩과 표출 직전 검증 스텝을 씁니다.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LGR ↓</a:t>
                      </a: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(이득이 취약 경로에 집중)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정상 경로 선택을 강화하고, 병목 유형별로 완화를 고르는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경로-인지형 선택기</a:t>
                      </a: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입니다.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Shortcut ↑</a:t>
                      </a:r>
                      <a:r>
                        <a:rPr sz="1120" b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(초기 문서 고착)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위치 편향을 완화하고, 답변 전에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명시적 해소를 강제</a:t>
                      </a: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합니다 (프롬프트나 경량 학습).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sz="1120" b="1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thinking-off에서 소멸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200"/>
                        </a:spcAft>
                      </a:pP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추론에서 답변으로의 </a:t>
                      </a:r>
                      <a:r>
                        <a:rPr lang="ko-KR" sz="1120" b="1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핸드오프 자체를 겨냥한 정합성 정렬</a:t>
                      </a:r>
                      <a:r>
                        <a:rPr lang="ko-KR" sz="1120" b="0" dirty="0">
                          <a:solidFill>
                            <a:srgbClr val="1E2227"/>
                          </a:solidFill>
                          <a:latin typeface="맑은 고딕"/>
                          <a:ea typeface="맑은 고딕"/>
                        </a:rPr>
                        <a:t> (학습 개입)</a:t>
                      </a:r>
                    </a:p>
                  </a:txBody>
                  <a:tcPr marL="82296" marR="82296" marT="36576" marB="36576" anchor="ctr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214368"/>
            <a:ext cx="545896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4247388"/>
            <a:ext cx="5458968" cy="15671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73A52"/>
                </a:solidFill>
                <a:latin typeface="맑은 고딕"/>
                <a:ea typeface="맑은 고딕"/>
              </a:rPr>
              <a:t>프레임워크 확장</a:t>
            </a:r>
          </a:p>
          <a:p>
            <a:pPr algn="l">
              <a:lnSpc>
                <a:spcPct val="136000"/>
              </a:lnSpc>
              <a:spcAft>
                <a:spcPts val="450"/>
              </a:spcAft>
            </a:pPr>
            <a:r>
              <a:rPr sz="1200" b="1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sz="1200" b="1">
                <a:solidFill>
                  <a:srgbClr val="1E2227"/>
                </a:solidFill>
                <a:latin typeface="맑은 고딕"/>
                <a:ea typeface="맑은 고딕"/>
              </a:rPr>
              <a:t>도메인 이식: </a:t>
            </a:r>
            <a:r>
              <a:rPr sz="1200" b="0">
                <a:solidFill>
                  <a:srgbClr val="1E2227"/>
                </a:solidFill>
                <a:latin typeface="맑은 고딕"/>
                <a:ea typeface="맑은 고딕"/>
              </a:rPr>
              <a:t>기업 KB(버전·시간 충돌)로 동일 프로토콜</a:t>
            </a:r>
          </a:p>
          <a:p>
            <a:pPr algn="l">
              <a:lnSpc>
                <a:spcPct val="136000"/>
              </a:lnSpc>
              <a:spcAft>
                <a:spcPts val="450"/>
              </a:spcAft>
            </a:pPr>
            <a:r>
              <a:rPr sz="1200" b="1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sz="1200" b="1">
                <a:solidFill>
                  <a:srgbClr val="1E2227"/>
                </a:solidFill>
                <a:latin typeface="맑은 고딕"/>
                <a:ea typeface="맑은 고딕"/>
              </a:rPr>
              <a:t>충돌 유형: </a:t>
            </a:r>
            <a:r>
              <a:rPr sz="1200" b="0">
                <a:solidFill>
                  <a:srgbClr val="1E2227"/>
                </a:solidFill>
                <a:latin typeface="맑은 고딕"/>
                <a:ea typeface="맑은 고딕"/>
              </a:rPr>
              <a:t>Context-Memory 충돌로 3단계 라벨링 확장</a:t>
            </a:r>
          </a:p>
          <a:p>
            <a:pPr algn="l">
              <a:lnSpc>
                <a:spcPct val="136000"/>
              </a:lnSpc>
              <a:spcAft>
                <a:spcPts val="450"/>
              </a:spcAft>
            </a:pPr>
            <a:r>
              <a:rPr sz="1200" b="1">
                <a:solidFill>
                  <a:srgbClr val="273A52"/>
                </a:solidFill>
                <a:latin typeface="맑은 고딕"/>
                <a:ea typeface="맑은 고딕"/>
              </a:rPr>
              <a:t>·  </a:t>
            </a:r>
            <a:r>
              <a:rPr sz="1200" b="1">
                <a:solidFill>
                  <a:srgbClr val="1E2227"/>
                </a:solidFill>
                <a:latin typeface="맑은 고딕"/>
                <a:ea typeface="맑은 고딕"/>
              </a:rPr>
              <a:t>기제 심화: </a:t>
            </a:r>
            <a:r>
              <a:rPr sz="1200" b="0">
                <a:solidFill>
                  <a:srgbClr val="1E2227"/>
                </a:solidFill>
                <a:latin typeface="맑은 고딕"/>
                <a:ea typeface="맑은 고딕"/>
              </a:rPr>
              <a:t>상관 신호를 내부(활성화) 개입으로 승격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4214368"/>
            <a:ext cx="5458968" cy="3302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81344" y="4247388"/>
            <a:ext cx="5458968" cy="15671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sz="1300" b="1" dirty="0">
                <a:solidFill>
                  <a:srgbClr val="273A52"/>
                </a:solidFill>
                <a:latin typeface="맑은 고딕"/>
                <a:ea typeface="맑은 고딕"/>
              </a:rPr>
              <a:t>예측적 활용</a:t>
            </a:r>
          </a:p>
          <a:p>
            <a:pPr algn="l">
              <a:lnSpc>
                <a:spcPct val="136000"/>
              </a:lnSpc>
              <a:spcAft>
                <a:spcPts val="450"/>
              </a:spcAft>
            </a:pP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경로 서명(Shortcut·Blind-Hit·전환부 엔트로피)이 </a:t>
            </a:r>
            <a:r>
              <a:rPr lang="ko-KR" sz="1120" b="1" dirty="0">
                <a:solidFill>
                  <a:srgbClr val="1E2227"/>
                </a:solidFill>
                <a:latin typeface="맑은 고딕"/>
                <a:ea typeface="맑은 고딕"/>
              </a:rPr>
              <a:t>추론 시점에 취약한 정답을 사전 식별</a:t>
            </a:r>
            <a:r>
              <a:rPr lang="ko-KR" sz="1120" b="0" dirty="0">
                <a:solidFill>
                  <a:srgbClr val="1E2227"/>
                </a:solidFill>
                <a:latin typeface="맑은 고딕"/>
                <a:ea typeface="맑은 고딕"/>
              </a:rPr>
              <a:t>하는 신호가 되는지 검증합니다.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040" b="0" dirty="0">
                <a:solidFill>
                  <a:srgbClr val="6B7480"/>
                </a:solidFill>
                <a:latin typeface="맑은 고딕"/>
                <a:ea typeface="맑은 고딕"/>
              </a:rPr>
              <a:t>이는 신뢰도 보정과 선택적 기권의 트리거 후보가 됩니다.</a:t>
            </a:r>
          </a:p>
        </p:txBody>
      </p:sp>
    </p:spTree>
    <p:extLst>
      <p:ext uri="{BB962C8B-B14F-4D97-AF65-F5344CB8AC3E}">
        <p14:creationId xmlns:p14="http://schemas.microsoft.com/office/powerpoint/2010/main" val="824420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A50AF8-9C30-3940-859C-DC6B75219EA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2460c43-f09b-4ca8-8f18-72205e86b57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7014</TotalTime>
  <Words>6438</Words>
  <Application>Microsoft Macintosh PowerPoint</Application>
  <PresentationFormat>와이드스크린</PresentationFormat>
  <Paragraphs>696</Paragraphs>
  <Slides>25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맑은 고딕</vt:lpstr>
      <vt:lpstr>Arial</vt:lpstr>
      <vt:lpstr>Calibri</vt:lpstr>
      <vt:lpstr>Cambria Math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유진</cp:lastModifiedBy>
  <cp:revision>42</cp:revision>
  <cp:lastPrinted>2026-07-09T01:49:40Z</cp:lastPrinted>
  <dcterms:created xsi:type="dcterms:W3CDTF">2013-01-27T09:14:16Z</dcterms:created>
  <dcterms:modified xsi:type="dcterms:W3CDTF">2026-07-13T12:51:20Z</dcterms:modified>
  <cp:category/>
</cp:coreProperties>
</file>