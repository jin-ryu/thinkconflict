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764" r:id="rId2"/>
    <p:sldId id="425" r:id="rId3"/>
    <p:sldId id="766" r:id="rId4"/>
    <p:sldId id="771" r:id="rId5"/>
    <p:sldId id="774" r:id="rId6"/>
    <p:sldId id="778" r:id="rId7"/>
    <p:sldId id="780" r:id="rId8"/>
    <p:sldId id="781" r:id="rId9"/>
    <p:sldId id="782" r:id="rId10"/>
    <p:sldId id="783" r:id="rId11"/>
    <p:sldId id="784" r:id="rId12"/>
    <p:sldId id="785" r:id="rId13"/>
    <p:sldId id="786" r:id="rId14"/>
    <p:sldId id="787" r:id="rId15"/>
    <p:sldId id="788" r:id="rId16"/>
    <p:sldId id="789" r:id="rId17"/>
    <p:sldId id="790" r:id="rId18"/>
    <p:sldId id="791" r:id="rId19"/>
    <p:sldId id="792" r:id="rId20"/>
    <p:sldId id="793" r:id="rId21"/>
    <p:sldId id="794" r:id="rId22"/>
    <p:sldId id="795" r:id="rId23"/>
    <p:sldId id="796" r:id="rId24"/>
    <p:sldId id="797"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보통 스타일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16"/>
    <p:restoredTop sz="66202"/>
  </p:normalViewPr>
  <p:slideViewPr>
    <p:cSldViewPr snapToGrid="0" snapToObjects="1">
      <p:cViewPr varScale="1">
        <p:scale>
          <a:sx n="84" d="100"/>
          <a:sy n="84" d="100"/>
        </p:scale>
        <p:origin x="1480"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BA8BD9-86D8-1141-BC51-BDCD8349F7F7}" type="datetimeFigureOut">
              <a:rPr kumimoji="1" lang="ko-KR" altLang="en-US" smtClean="0"/>
              <a:t>2026. 7. 21.</a:t>
            </a:fld>
            <a:endParaRPr kumimoji="1"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492483-278F-4C46-B567-3E1E49742A91}" type="slidenum">
              <a:rPr kumimoji="1" lang="ko-KR" altLang="en-US" smtClean="0"/>
              <a:t>‹#›</a:t>
            </a:fld>
            <a:endParaRPr kumimoji="1" lang="ko-KR" altLang="en-US"/>
          </a:p>
        </p:txBody>
      </p:sp>
    </p:spTree>
    <p:extLst>
      <p:ext uri="{BB962C8B-B14F-4D97-AF65-F5344CB8AC3E}">
        <p14:creationId xmlns:p14="http://schemas.microsoft.com/office/powerpoint/2010/main" val="212578306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700"/>
              </a:spcBef>
              <a:spcAft>
                <a:spcPts val="300"/>
              </a:spcAft>
              <a:buNone/>
            </a:pPr>
            <a:r>
              <a:rPr lang="ko-KR" altLang="en-US" sz="1400" b="1" dirty="0"/>
              <a:t>V1 · TV-RAG (해결)</a:t>
            </a:r>
          </a:p>
          <a:p>
            <a:pPr algn="l">
              <a:lnSpc>
                <a:spcPct val="118000"/>
              </a:lnSpc>
              <a:spcBef>
                <a:spcPts val="0"/>
              </a:spcBef>
              <a:spcAft>
                <a:spcPts val="400"/>
              </a:spcAft>
              <a:buNone/>
            </a:pPr>
            <a:r>
              <a:rPr lang="ko-KR" altLang="en-US" sz="1200" dirty="0"/>
              <a:t>V1은 HoH 논문(ACL'25)이 제기한 문제를 해결하는 방향으로 시작했습니다. HoH는 위키피디아 편집 이력으로 과거와 현재가 충돌하는 데이터를 만들어, 최신 정보가 있어도 오래된 정보가 섞이면 RAG 성능이 떨어진다는 걸 보인 벤치마크입니다.</a:t>
            </a:r>
          </a:p>
          <a:p>
            <a:pPr algn="l">
              <a:lnSpc>
                <a:spcPct val="118000"/>
              </a:lnSpc>
              <a:spcBef>
                <a:spcPts val="0"/>
              </a:spcBef>
              <a:spcAft>
                <a:spcPts val="400"/>
              </a:spcAft>
              <a:buNone/>
            </a:pPr>
            <a:r>
              <a:rPr lang="ko-KR" altLang="en-US" sz="1200" dirty="0"/>
              <a:t>저는 이걸 실제 RAG 환경에 더 가깝게 다시 구성해, 충돌 문서에 노이즈까지 더해 데이터셋을 확장했습니다. 그리고 정답 F1과 함께, 근거가 되는 evidence chunk를 LLM이 직접 고르도록 해 측정했습니다. 그 결과 시간 충돌이 있을 때 모델이 취약하고, 근거를 고르는 오류율이 정답 오류율보다 높다는 점을 확인했습니다.</a:t>
            </a:r>
          </a:p>
          <a:p>
            <a:pPr algn="l">
              <a:lnSpc>
                <a:spcPct val="118000"/>
              </a:lnSpc>
              <a:spcBef>
                <a:spcPts val="0"/>
              </a:spcBef>
              <a:spcAft>
                <a:spcPts val="400"/>
              </a:spcAft>
              <a:buNone/>
            </a:pPr>
            <a:r>
              <a:rPr lang="ko-KR" altLang="en-US" sz="1200" dirty="0"/>
              <a:t>이 부분에 대해 교수님께서 두 가지 피드백을 주셨습니다. 첫째는 최신 LLM이 정말 이걸 못하는 게 맞는지, 이미 해결 방법이 많지는 않은지, 둘째는 학습이 아니라 프롬프팅처럼 더 가벼운 방법으로도 효과를 낼 수 있지 않은지였습니다.</a:t>
            </a:r>
          </a:p>
          <a:p>
            <a:pPr algn="l">
              <a:lnSpc>
                <a:spcPct val="118000"/>
              </a:lnSpc>
              <a:spcBef>
                <a:spcPts val="0"/>
              </a:spcBef>
              <a:spcAft>
                <a:spcPts val="400"/>
              </a:spcAft>
              <a:buNone/>
            </a:pPr>
            <a:r>
              <a:rPr lang="ko-KR" altLang="en-US" sz="1200" dirty="0"/>
              <a:t>먼저 첫 번째를 고민해 봤습니다. 실험에서 모델이 헷갈려 하는 건 분명했지만, 데이터를 다시 보니 편집 이력으로 충돌을 만든 특성상 문서 대부분이 거의 같고 일부만 다른 형태였습니다. 그래서 일반적 상황이라기보다 모델이 특히 헷갈릴 엣지 케이스에 가깝다고 봤고, 의미를 가지려면 법률처럼 시간적 추론이 핵심인 특수 도메인에 한정해야 할 것 같았습니다. 그런데 찾아보니 아직 preprint이지만 LegalSearch-R1이 '사건 발생 시점에 맞는 법조문을 적용해야 한다'는 제 문제의식과 거의 같은 지점을 이미 강화학습으로 다루고 있었고, 규칙·그래프 기반 선행 연구도 많아 신규성을 확보하기 어렵다고 판단해 이 방향은 접었습니다.</a:t>
            </a:r>
            <a:endParaRPr lang="en-US" altLang="ko-KR" sz="1200" dirty="0"/>
          </a:p>
          <a:p>
            <a:pPr algn="l">
              <a:lnSpc>
                <a:spcPct val="118000"/>
              </a:lnSpc>
              <a:spcBef>
                <a:spcPts val="0"/>
              </a:spcBef>
              <a:spcAft>
                <a:spcPts val="400"/>
              </a:spcAft>
              <a:buNone/>
            </a:pPr>
            <a:endParaRPr lang="ko-KR" altLang="en-US" sz="1200" dirty="0"/>
          </a:p>
          <a:p>
            <a:pPr algn="l">
              <a:lnSpc>
                <a:spcPct val="118000"/>
              </a:lnSpc>
              <a:spcBef>
                <a:spcPts val="700"/>
              </a:spcBef>
              <a:spcAft>
                <a:spcPts val="300"/>
              </a:spcAft>
              <a:buNone/>
            </a:pPr>
            <a:r>
              <a:rPr lang="ko-KR" altLang="en-US" sz="1400" b="1" dirty="0"/>
              <a:t>V2 · 평가 맹점 (진단)</a:t>
            </a:r>
          </a:p>
          <a:p>
            <a:pPr algn="l">
              <a:lnSpc>
                <a:spcPct val="118000"/>
              </a:lnSpc>
              <a:spcBef>
                <a:spcPts val="0"/>
              </a:spcBef>
              <a:spcAft>
                <a:spcPts val="400"/>
              </a:spcAft>
              <a:buNone/>
            </a:pPr>
            <a:r>
              <a:rPr lang="ko-KR" altLang="en-US" sz="1200" dirty="0"/>
              <a:t>V1에서 근거 청크의 오답률이 정답 오답률보다 높았다는 점이 계속 남았습니다. 답은 맞혀도 근거는 틀린 경우가 많다는 뜻이라, 인용 지표 자체를 들여다볼 필요가 있다고 봤습니다.</a:t>
            </a:r>
          </a:p>
          <a:p>
            <a:pPr algn="l">
              <a:lnSpc>
                <a:spcPct val="118000"/>
              </a:lnSpc>
              <a:spcBef>
                <a:spcPts val="0"/>
              </a:spcBef>
              <a:spcAft>
                <a:spcPts val="400"/>
              </a:spcAft>
              <a:buNone/>
            </a:pPr>
            <a:r>
              <a:rPr lang="ko-KR" altLang="en-US" sz="1200" dirty="0"/>
              <a:t>그래서 V2에서는 기존 인용 평가 지표가 정답 포함 여부를 반영하지 못한다는 점을 분석·비판하는 방향으로 틀어 봤습니다. 핵심은, 인용 정밀도나 충실성 같은 지표가 '정답인지'를 보는 게 아니라 모델이 실제로 답변한 내용과 인용한 근거가 서로 일치하는지만 본다는 점입니다. 그래서 틀린 시점의 문서를 근거로, 그에 맞게 틀리게 답한 경우도 이 지표들은 그대로 통과시켜 버립니다.</a:t>
            </a:r>
          </a:p>
          <a:p>
            <a:pPr algn="l">
              <a:lnSpc>
                <a:spcPct val="118000"/>
              </a:lnSpc>
              <a:spcBef>
                <a:spcPts val="0"/>
              </a:spcBef>
              <a:spcAft>
                <a:spcPts val="400"/>
              </a:spcAft>
              <a:buNone/>
            </a:pPr>
            <a:r>
              <a:rPr lang="ko-KR" altLang="en-US" sz="1200" dirty="0"/>
              <a:t>다만 이 방향은 맹점을 지적하는 데서 그친다는 한계가 있었습니다. 문제만 드러낼 뿐 대안까지는 제시하지 못해, 기여 폭이 좁다고 판단했습니다.</a:t>
            </a:r>
            <a:endParaRPr lang="en-US" altLang="ko-KR" sz="1200" dirty="0"/>
          </a:p>
          <a:p>
            <a:pPr algn="l">
              <a:lnSpc>
                <a:spcPct val="118000"/>
              </a:lnSpc>
              <a:spcBef>
                <a:spcPts val="0"/>
              </a:spcBef>
              <a:spcAft>
                <a:spcPts val="400"/>
              </a:spcAft>
              <a:buNone/>
            </a:pPr>
            <a:endParaRPr lang="ko-KR" altLang="en-US" sz="1200" dirty="0"/>
          </a:p>
          <a:p>
            <a:pPr algn="l">
              <a:lnSpc>
                <a:spcPct val="118000"/>
              </a:lnSpc>
              <a:spcBef>
                <a:spcPts val="700"/>
              </a:spcBef>
              <a:spcAft>
                <a:spcPts val="300"/>
              </a:spcAft>
              <a:buNone/>
            </a:pPr>
            <a:r>
              <a:rPr lang="ko-KR" altLang="en-US" sz="1400" b="1" dirty="0"/>
              <a:t>V3 · GoldCite (지표 제안)</a:t>
            </a:r>
          </a:p>
          <a:p>
            <a:pPr algn="l">
              <a:lnSpc>
                <a:spcPct val="118000"/>
              </a:lnSpc>
              <a:spcBef>
                <a:spcPts val="0"/>
              </a:spcBef>
              <a:spcAft>
                <a:spcPts val="400"/>
              </a:spcAft>
              <a:buNone/>
            </a:pPr>
            <a:r>
              <a:rPr lang="ko-KR" altLang="en-US" sz="1200" dirty="0"/>
              <a:t>그 한계를 넘어서기 위한 것이 V3, GoldCite입니다. 진단에서 멈추지 않고, 올바른 시점의 기준 문서만 근거로 인정하는 시점-유효 인용 지표와 오류 진단 프레임까지 직접 제안하는 단계입니다.</a:t>
            </a:r>
          </a:p>
          <a:p>
            <a:pPr algn="l">
              <a:lnSpc>
                <a:spcPct val="118000"/>
              </a:lnSpc>
              <a:spcBef>
                <a:spcPts val="0"/>
              </a:spcBef>
              <a:spcAft>
                <a:spcPts val="400"/>
              </a:spcAft>
              <a:buNone/>
            </a:pPr>
            <a:r>
              <a:rPr lang="ko-KR" altLang="en-US" sz="1200" dirty="0"/>
              <a:t>다만 두 가지 고민이 있었습니다. 첫째는 선점 문제입니다. GaRAGe(ACL'25, Amazon)는 사람이 직접 만든 정답과 각 근거에 대한 상세 주석을 바탕으로, LLM이 답변을 생성할 때 실제로 관련성 있는 근거를 식별하는지를 평가하는 벤치마크인데, 그중 일부가 이미 제 아이디어와 비슷한 지점을 다루고 있어서 이걸로 차별성을 갖기는 어렵다고 판단했습니다. 둘째는 데이터 문제로, 시간 충돌 사례 자체가 희소해 제안한 지표의 효용성을 충분히 입증하기 어려웠습니다.</a:t>
            </a:r>
          </a:p>
          <a:p>
            <a:pPr algn="l">
              <a:lnSpc>
                <a:spcPct val="118000"/>
              </a:lnSpc>
              <a:spcBef>
                <a:spcPts val="0"/>
              </a:spcBef>
              <a:spcAft>
                <a:spcPts val="400"/>
              </a:spcAft>
              <a:buNone/>
            </a:pPr>
            <a:r>
              <a:rPr lang="ko-KR" altLang="en-US" sz="1200" dirty="0"/>
              <a:t>정리하면 세 번의 시도는 문제를 증명하고(V1), 평가의 허점을 진단하고(V2), 새 지표로 메우려 한(V3) 하나의 흐름이었고, 여기서 남은 과제가 본 연구의 출발점이 됩니다.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3</a:t>
            </a:fld>
            <a:endParaRPr kumimoji="1" lang="ko-KR" altLang="en-US"/>
          </a:p>
        </p:txBody>
      </p:sp>
    </p:spTree>
    <p:extLst>
      <p:ext uri="{BB962C8B-B14F-4D97-AF65-F5344CB8AC3E}">
        <p14:creationId xmlns:p14="http://schemas.microsoft.com/office/powerpoint/2010/main" val="2884390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앞서 V1과 V2를 왜 접었는지 말씀드렸는데, 이 장에서는 두 파일럿 실험이 구체적으로 어떤 문제에 대해 무엇을 얻었고, 그것이 왜 ThinkConflict로 이어지는지를 정리했습니다.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① 선행 실험이 남긴 결과 — V1 · TV-RAG</a:t>
            </a:r>
          </a:p>
          <a:p>
            <a:pPr algn="l">
              <a:lnSpc>
                <a:spcPct val="118000"/>
              </a:lnSpc>
              <a:spcBef>
                <a:spcPts val="0"/>
              </a:spcBef>
              <a:spcAft>
                <a:spcPts val="400"/>
              </a:spcAft>
              <a:buNone/>
            </a:pPr>
            <a:r>
              <a:rPr lang="ko-KR" altLang="en-US" sz="1200" dirty="0">
                <a:latin typeface="맑은 고딕"/>
                <a:ea typeface="맑은 고딕"/>
              </a:rPr>
              <a:t>먼저 V1은 '기존 LLM이 시간 충돌에 취약한가'라는 질문에서 출발했습니다. 결과적으로, 충돌되는 문서가 함께 주어지면 정답과 근거 모두 성능이 뚜렷하게 무너졌습니다. 특히 모델이 고른 근거의 정확도가 정답률보다 더 크게 하락했는데, 이는 답보다 근거가 먼저 무너진다는 뜻입니다. 즉 정답률만 보면 이 시점·근거 실패가 가려진다는 점을 확인했습니다.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① — V2 · 인용 평가 맹점</a:t>
            </a:r>
          </a:p>
          <a:p>
            <a:pPr algn="l">
              <a:lnSpc>
                <a:spcPct val="118000"/>
              </a:lnSpc>
              <a:spcBef>
                <a:spcPts val="0"/>
              </a:spcBef>
              <a:spcAft>
                <a:spcPts val="400"/>
              </a:spcAft>
              <a:buNone/>
            </a:pPr>
            <a:r>
              <a:rPr lang="ko-KR" altLang="en-US" sz="1200" dirty="0">
                <a:latin typeface="맑은 고딕"/>
                <a:ea typeface="맑은 고딕"/>
              </a:rPr>
              <a:t>V2는 '그렇다면 표준 인용 지표가 이 틀린 답을 걸러내는가'를 물었습니다. 여기서 '정상 인용'이란, 답이 맞았는지 틀렸는지와 무관하게 인용 지표가 '근거가 답변을 잘 뒷받침한다'고 판정한, 즉 지표상 점수가 높게 나온 인용을 말합니다. 사실 인용 지표는 애초에 정답 자체를 보지 않기 때문에, 틀린 답을 걸러내지 못하는 건 어찌 보면 당연한 결과입니다. 그래서 여기서 진짜 의미 있는 발견은, 답이 틀렸는데도 모델이 근거까지 그럴듯하게 갖춰 자신 있게 답한다는 점이었습니다. 실제로 틀린 답의 대부분이 '정상 인용'으로 통과됐고, 최신 모델도 예외가 아니었습니다. 또 하나 확인한 것은 오류의 원인입니다. 충돌되는 문서를 빼서 충돌을 해소한 뒤 다시 테스트하면 모델이 정답을 맞혔는데, 이는 오답의 원인이 바로 그 시간 충돌 자체였음을 보여 줍니다.</a:t>
            </a: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② 두 실험의 공통 발견</a:t>
            </a:r>
          </a:p>
          <a:p>
            <a:pPr algn="l">
              <a:lnSpc>
                <a:spcPct val="118000"/>
              </a:lnSpc>
              <a:spcBef>
                <a:spcPts val="0"/>
              </a:spcBef>
              <a:spcAft>
                <a:spcPts val="400"/>
              </a:spcAft>
              <a:buNone/>
            </a:pPr>
            <a:r>
              <a:rPr lang="ko-KR" altLang="en-US" sz="1200" dirty="0">
                <a:latin typeface="맑은 고딕"/>
                <a:ea typeface="맑은 고딕"/>
              </a:rPr>
              <a:t>두 실험을 관통하는 공통 발견은, 정답(</a:t>
            </a:r>
            <a:r>
              <a:rPr lang="ko-KR" altLang="en-US" sz="1200" dirty="0">
                <a:latin typeface="Cambria Math"/>
                <a:ea typeface="Cambria Math"/>
              </a:rPr>
              <a:t>EM</a:t>
            </a:r>
            <a:r>
              <a:rPr lang="ko-KR" altLang="en-US" sz="1200" dirty="0">
                <a:latin typeface="맑은 고딕"/>
                <a:ea typeface="맑은 고딕"/>
              </a:rPr>
              <a:t>)은 맞혀도 근거를 제대로 짚지 못해 답과 근거가 따로 놀았다는 점입니다. 그래서 '맞다/틀리다'를 넘어 '어디서, 왜 틀렸는지'를 진단해야 한다는 결론에 이르렀습니다.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③ ThinkConflict로 전환</a:t>
            </a:r>
          </a:p>
          <a:p>
            <a:pPr algn="l">
              <a:lnSpc>
                <a:spcPct val="118000"/>
              </a:lnSpc>
              <a:spcBef>
                <a:spcPts val="0"/>
              </a:spcBef>
              <a:spcAft>
                <a:spcPts val="400"/>
              </a:spcAft>
              <a:buNone/>
            </a:pPr>
            <a:r>
              <a:rPr lang="ko-KR" altLang="en-US" sz="1200" dirty="0">
                <a:latin typeface="맑은 고딕"/>
                <a:ea typeface="맑은 고딕"/>
              </a:rPr>
              <a:t>그래서 ThinkConflict로 방향을 전환했습니다. 세 축에서 넓혔습니다. 관측 대상은 표면적인 인용 지표에서 추론 궤적과 답변을 함께 대조하는 쪽으로, 충돌 범위는 시간 충돌에서 일반 지식 충돌 전체로, 기여 수준은 현상을 측정·보고하는 데서 어디서·왜 틀렸는지 밝히는 쪽으로 나아갔습니다. 이 세 전환이 다음 장부터 설명할 ThinkConflict의 핵심입니다.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앞 장에서 관측 대상·충돌 범위·기여 수준을 전환했다고 말씀드렸는데, 그 전환이 향하는 문제 제기를 이 장에서 구체화합니다. 지금까지 충돌을 진단하거나 해소하려는 연구들은 대부분 충돌 상황에서 모델이 '정답을 맞혔는가'만 확인했습니다. 하지만 그 정답 안에는 근거를 제대로 대조해서 맞힌 경우도 있고, 단순히 운으로 맞힌 경우도 섞여 있을 수 있는데, 기존 방식으로는 이 둘을 구분할 수가 없습니다. 결국 '맞았다'는 사실 뒤에 왜·어디서 맞고 틀렸는지가 가려져 있는 셈이죠. 그래서 저는 이러한 문제 제기를 해보려고 합니다 — 충돌 상황의 실패를 단계별로 갈라서 진단해 보자는 것입니다. 이 문제의식을 두 가지 근거로 뒷받침했습니다.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근거 ① · 충돌은 흔하고 실재한다</a:t>
            </a:r>
          </a:p>
          <a:p>
            <a:pPr algn="l">
              <a:lnSpc>
                <a:spcPct val="118000"/>
              </a:lnSpc>
              <a:spcBef>
                <a:spcPts val="0"/>
              </a:spcBef>
              <a:spcAft>
                <a:spcPts val="400"/>
              </a:spcAft>
              <a:buNone/>
            </a:pPr>
            <a:r>
              <a:rPr lang="ko-KR" altLang="en-US" sz="1200" dirty="0">
                <a:latin typeface="맑은 고딕"/>
                <a:ea typeface="맑은 고딕"/>
              </a:rPr>
              <a:t>먼저 하나는, 이 충돌이 특수한 상황이 아니라 실제로 흔하고 실재한다는 점입니다. 지표 하나하나를 뜯어보기보다, 여러 최근 연구가 공통적으로 같은 걸 보여 준다는 데 방점을 두고 싶습니다. 실제 구글 검색 결과에서도, 모호하지 않은 일반 질문에서도, 심지어 위키백과처럼 품질이 높은 코퍼스에서도 문서 간 충돌이 상당한 비율로 확인됐습니다. 즉 충돌은 어쩌다 생기는 예외가 아니라 RAG가 일상적으로 마주치는 조건이라는 겁니다.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근거 ② · 기존 지표는 '왜·어디서'를 재지 않는다</a:t>
            </a:r>
          </a:p>
          <a:p>
            <a:pPr algn="l">
              <a:lnSpc>
                <a:spcPct val="118000"/>
              </a:lnSpc>
              <a:spcBef>
                <a:spcPts val="0"/>
              </a:spcBef>
              <a:spcAft>
                <a:spcPts val="400"/>
              </a:spcAft>
              <a:buNone/>
            </a:pPr>
            <a:r>
              <a:rPr lang="ko-KR" altLang="en-US" sz="1200" dirty="0">
                <a:latin typeface="맑은 고딕"/>
                <a:ea typeface="맑은 고딕"/>
              </a:rPr>
              <a:t>다른 하나는, 그런데 기존 지표들은 애초에 이 '왜·어디서'를 재도록 만들어지지 않았다는 점입니다. 정답률이든 근거 인용 지표든, 결국 '얼마나 맞혔나' 혹은 '답이 인용한 근거와 맞나'만 볼 뿐, 그 답이 실제로 정답인지, 그리고 실패가 어느 단계에서 비롯됐는지는 보지 못합니다. 그래서 같은 정답이라도 제대로 추론해서 맞힌 건지 우연히 맞힌 건지, 같은 오답이라도 어디서 어긋난 건지가 하나의 숫자에 뭉개져 버립니다.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정리 · 본 연구의 목표</a:t>
            </a:r>
          </a:p>
          <a:p>
            <a:pPr algn="l">
              <a:lnSpc>
                <a:spcPct val="118000"/>
              </a:lnSpc>
              <a:spcBef>
                <a:spcPts val="0"/>
              </a:spcBef>
              <a:spcAft>
                <a:spcPts val="400"/>
              </a:spcAft>
              <a:buNone/>
            </a:pPr>
            <a:r>
              <a:rPr lang="ko-KR" altLang="en-US" sz="1200" dirty="0">
                <a:latin typeface="맑은 고딕"/>
                <a:ea typeface="맑은 고딕"/>
              </a:rPr>
              <a:t>결국 두 근거를 합치면, 충돌은 이미 흔한데 그 실패를 단계별로 갈라 진단할 도구가 없다는 공백이 분명해집니다. 본 연구는 바로 그 진단 도구를 만드는 것을 목표로 합니다.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5</a:t>
            </a:fld>
            <a:endParaRPr kumimoji="1" lang="ko-KR" altLang="en-US"/>
          </a:p>
        </p:txBody>
      </p:sp>
    </p:spTree>
    <p:extLst>
      <p:ext uri="{BB962C8B-B14F-4D97-AF65-F5344CB8AC3E}">
        <p14:creationId xmlns:p14="http://schemas.microsoft.com/office/powerpoint/2010/main" val="794670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앞 장에서 충돌 상황의 실패를 단계별로 진단하겠다고 말씀드렸는데, 그렇다면 '무엇을 보고 진단하느냐'가 문제입니다. 본 연구는 그 창구로 모델의 추론 트레이스, 즉 모델이 답을 내기까지 밟은 사고 과정을 씁니다. 이 장에서는 왜 지금 그게 가능한지, 그리고 어디까지 주장할 수 있는지를 정리했습니다.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① 왜 지금 가능한가 — 진단 방법론의 성숙</a:t>
            </a:r>
          </a:p>
          <a:p>
            <a:pPr algn="l">
              <a:lnSpc>
                <a:spcPct val="118000"/>
              </a:lnSpc>
              <a:spcBef>
                <a:spcPts val="0"/>
              </a:spcBef>
              <a:spcAft>
                <a:spcPts val="400"/>
              </a:spcAft>
              <a:buNone/>
            </a:pPr>
            <a:r>
              <a:rPr lang="ko-KR" altLang="en-US" sz="1200" dirty="0">
                <a:latin typeface="맑은 고딕"/>
                <a:ea typeface="맑은 고딕"/>
              </a:rPr>
              <a:t>먼저 '왜 이제 와서 가능한가'인데, 진단 방법론이 최근 두 단계를 거치며 성숙했기 때문입니다. 예전에는 프롬프트로 CoT를 강제해서 분석했는데, 이렇게 만든 설명은 답을 정해 놓고 사후에 정당화하기 쉬워서 모델 내부 계산에 얼마나 충실한지는 잴 수가 없었습니다. 그래서 이 계열이 정립한 건, 이런 CoT 설명에서 잴 수 있는 건 내부 진실이 아니라 출력 수준의 '자기일관성'까지라는 점이었습니다.</a:t>
            </a:r>
          </a:p>
          <a:p>
            <a:pPr algn="l">
              <a:lnSpc>
                <a:spcPct val="118000"/>
              </a:lnSpc>
              <a:spcBef>
                <a:spcPts val="0"/>
              </a:spcBef>
              <a:spcAft>
                <a:spcPts val="400"/>
              </a:spcAft>
              <a:buNone/>
            </a:pPr>
            <a:r>
              <a:rPr lang="ko-KR" altLang="en-US" sz="1200" dirty="0">
                <a:latin typeface="맑은 고딕"/>
                <a:ea typeface="맑은 고딕"/>
              </a:rPr>
              <a:t>그다음 세대인 추론 모델은 사고 과정을 스스로 밖으로 드러내고, 그 트레이스를 직접 읽거나 중간에 개입해 보는 방법들이 자리잡았습니다. 그러면서 트레이스가 완벽하진 않아도 다른 방법으론 못 보던 걸 드러내는 유용한 관측 신호로 인정받게 됐습니다.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② 어디까지 주장하나 — 트레이스의 주장 범위</a:t>
            </a:r>
          </a:p>
          <a:p>
            <a:pPr algn="l">
              <a:lnSpc>
                <a:spcPct val="118000"/>
              </a:lnSpc>
              <a:spcBef>
                <a:spcPts val="0"/>
              </a:spcBef>
              <a:spcAft>
                <a:spcPts val="400"/>
              </a:spcAft>
              <a:buNone/>
            </a:pPr>
            <a:r>
              <a:rPr lang="ko-KR" altLang="en-US" sz="1200" dirty="0">
                <a:latin typeface="맑은 고딕"/>
                <a:ea typeface="맑은 고딕"/>
              </a:rPr>
              <a:t>여기서 중요한 건, 우리가 트레이스를 '모델의 속마음을 그대로 비추는 완벽한 거울'로 보지는 않는다는 점입니다. 트레이스가 모델 내부 계산을 진짜로 반영하는지까지는 사실 아무도 보장할 수 없습니다. 그럼에도 트레이스를 진단의 기준으로 삼을 수 있는 이유는, </a:t>
            </a:r>
            <a:r>
              <a:rPr lang="ko-KR" altLang="en-US" sz="1200" b="1" dirty="0">
                <a:latin typeface="맑은 고딕"/>
                <a:ea typeface="맑은 고딕"/>
              </a:rPr>
              <a:t>그것이 최소한 답을 만들어 내는 데 실제로 관여하는, 관측 가능한 신호라는 점이 여러 방식으로 확인됐기 때문입니다.</a:t>
            </a:r>
          </a:p>
          <a:p>
            <a:pPr algn="l">
              <a:lnSpc>
                <a:spcPct val="118000"/>
              </a:lnSpc>
              <a:spcBef>
                <a:spcPts val="0"/>
              </a:spcBef>
              <a:spcAft>
                <a:spcPts val="400"/>
              </a:spcAft>
              <a:buNone/>
            </a:pPr>
            <a:r>
              <a:rPr lang="ko-KR" altLang="en-US" sz="1200" dirty="0">
                <a:latin typeface="맑은 고딕"/>
                <a:ea typeface="맑은 고딕"/>
              </a:rPr>
              <a:t>그래서 본 연구는 트레이스에 대해 딱 필요한 만큼만 주장합니다. </a:t>
            </a:r>
            <a:r>
              <a:rPr lang="ko-KR" altLang="en-US" sz="1200" b="1" dirty="0">
                <a:latin typeface="맑은 고딕"/>
                <a:ea typeface="맑은 고딕"/>
              </a:rPr>
              <a:t>하나는 '자기일관성', 즉 트레이스와 최종 답이 서로 앞뒤가 맞는가이고, 다른 하나는 '인과적 사용', 즉 그 트레이스가 실제로 답을 만드는 데 쓰였는가입니다. </a:t>
            </a:r>
            <a:r>
              <a:rPr lang="ko-KR" altLang="en-US" sz="1200" dirty="0">
                <a:latin typeface="맑은 고딕"/>
                <a:ea typeface="맑은 고딕"/>
              </a:rPr>
              <a:t>반면 트레이스가 내부 계산을 진짜로 반영하느냐 하는 '내부 충실성'은 우리가 검증할 수 있는 범위 밖이라, 명시적으로 향후 연구로 남겨 둡니다.</a:t>
            </a:r>
          </a:p>
          <a:p>
            <a:pPr algn="l">
              <a:lnSpc>
                <a:spcPct val="118000"/>
              </a:lnSpc>
              <a:spcBef>
                <a:spcPts val="0"/>
              </a:spcBef>
              <a:spcAft>
                <a:spcPts val="400"/>
              </a:spcAft>
              <a:buNone/>
            </a:pPr>
            <a:r>
              <a:rPr lang="ko-KR" altLang="en-US" sz="1200" dirty="0">
                <a:latin typeface="맑은 고딕"/>
                <a:ea typeface="맑은 고딕"/>
              </a:rPr>
              <a:t>정리하면, 트레이스를 과신하지도 폄하하지도 않고 '진단에 쓸 만한, 근거 있는 도구'로 위치시키는 것이 이 장의 핵심입니다.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6</a:t>
            </a:fld>
            <a:endParaRPr kumimoji="1" lang="ko-KR" altLang="en-US"/>
          </a:p>
        </p:txBody>
      </p:sp>
    </p:spTree>
    <p:extLst>
      <p:ext uri="{BB962C8B-B14F-4D97-AF65-F5344CB8AC3E}">
        <p14:creationId xmlns:p14="http://schemas.microsoft.com/office/powerpoint/2010/main" val="28483108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앞 장에서 추론 트레이스를 진단의 기준으로 삼겠다고 말씀드렸는데, 그 기준으로 실제 무엇을 해냈는지를 세 가지 기여로 정리했습니다. 출발 질문은 하나입니다 — '완화 기법이 올려 준 정답률이, 정말 제대로 된 대조·추론에서 나온 것인가?’</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기여 1 · 완화 이득 분해 (핵심 발견)</a:t>
            </a:r>
          </a:p>
          <a:p>
            <a:pPr algn="l">
              <a:lnSpc>
                <a:spcPct val="118000"/>
              </a:lnSpc>
              <a:spcBef>
                <a:spcPts val="0"/>
              </a:spcBef>
              <a:spcAft>
                <a:spcPts val="400"/>
              </a:spcAft>
              <a:buNone/>
            </a:pPr>
            <a:r>
              <a:rPr lang="ko-KR" altLang="en-US" sz="1200" dirty="0">
                <a:latin typeface="맑은 고딕"/>
                <a:ea typeface="맑은 고딕"/>
              </a:rPr>
              <a:t>첫째는, 완화 기법이 정답률을 올렸을 때 그 늘어난 정답이 진짜 추론에서 온 건지 아니면 요행으로 맞은 건지를 문항 단위로 갈라 본 것입니다. 늘어난 정답 중 실제로 제대로 추론해 맞힌 몫(진짜 이득)과, 총점은 올랐어도 뒤에서 조용히 망가진 문항(숨은 퇴행)을 함께 봅니다. 정답률 하나로는 이득과 퇴행이 상쇄되며 가려졌던 부분을 문항별로 드러낸 게 핵심 발견입니다.</a:t>
            </a:r>
          </a:p>
          <a:p>
            <a:pPr algn="l">
              <a:lnSpc>
                <a:spcPct val="118000"/>
              </a:lnSpc>
              <a:spcBef>
                <a:spcPts val="700"/>
              </a:spcBef>
              <a:spcAft>
                <a:spcPts val="300"/>
              </a:spcAft>
              <a:buNone/>
            </a:pPr>
            <a:endParaRPr lang="en-US" altLang="ko-KR" sz="1400" b="1"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기여 2 · 진단 프레임워크 (도구)</a:t>
            </a:r>
          </a:p>
          <a:p>
            <a:pPr algn="l">
              <a:lnSpc>
                <a:spcPct val="118000"/>
              </a:lnSpc>
              <a:spcBef>
                <a:spcPts val="0"/>
              </a:spcBef>
              <a:spcAft>
                <a:spcPts val="400"/>
              </a:spcAft>
              <a:buNone/>
            </a:pPr>
            <a:r>
              <a:rPr lang="ko-KR" altLang="en-US" sz="1200" dirty="0">
                <a:latin typeface="맑은 고딕"/>
                <a:ea typeface="맑은 고딕"/>
              </a:rPr>
              <a:t>둘째는, 그 분해를 가능하게 하는 진단 도구 자체입니다. 정답이든 오답이든 어떤 경로로 만들어졌는지를 추론에서 답변에 이르는 과정에서 탐지·해소·표출 세 단계로 쪼개 라벨링합니다. 특히 '맞힌 정답'도 뭉뚱그리지 않고 정상·도약·불협·맹목처럼 겹치지 않는 네 경로 중 하나로 분류합니다. 같은 정답 안에 질적으로 다른 성공과 실패가 섞여 있다는 걸 이 틀로 드러냅니다.</a:t>
            </a:r>
          </a:p>
          <a:p>
            <a:pPr algn="l">
              <a:lnSpc>
                <a:spcPct val="118000"/>
              </a:lnSpc>
              <a:spcBef>
                <a:spcPts val="700"/>
              </a:spcBef>
              <a:spcAft>
                <a:spcPts val="300"/>
              </a:spcAft>
              <a:buNone/>
            </a:pPr>
            <a:endParaRPr lang="en-US" altLang="ko-KR" sz="1400" b="1"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기여 3 · 검증 — 충돌 고유성·인과성</a:t>
            </a:r>
          </a:p>
          <a:p>
            <a:pPr algn="l">
              <a:lnSpc>
                <a:spcPct val="118000"/>
              </a:lnSpc>
              <a:spcBef>
                <a:spcPts val="0"/>
              </a:spcBef>
              <a:spcAft>
                <a:spcPts val="400"/>
              </a:spcAft>
              <a:buNone/>
            </a:pPr>
            <a:r>
              <a:rPr lang="ko-KR" altLang="en-US" sz="1200" dirty="0">
                <a:latin typeface="맑은 고딕"/>
                <a:ea typeface="맑은 고딕"/>
              </a:rPr>
              <a:t>셋째는, 관측한 실패와 이득이 정말 '충돌 때문'이고 '추론이 답을 실제로 만든' 결과인지 검증한 것입니다. 하나는 충돌 없는 대조군과 비교해 단순히 문제가 어려워서가 아님을 가려내고, 다른 하나는 추론 중간을 잘라 보거나 다시 생성해 그 추론이 실제로 답을 좌우하는지 — 인과적으로 쓰였는지를 확인합니다.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종합</a:t>
            </a:r>
          </a:p>
          <a:p>
            <a:pPr algn="l">
              <a:lnSpc>
                <a:spcPct val="118000"/>
              </a:lnSpc>
              <a:spcBef>
                <a:spcPts val="0"/>
              </a:spcBef>
              <a:spcAft>
                <a:spcPts val="400"/>
              </a:spcAft>
              <a:buNone/>
            </a:pPr>
            <a:r>
              <a:rPr lang="ko-KR" altLang="en-US" sz="1200" dirty="0">
                <a:latin typeface="맑은 고딕"/>
                <a:ea typeface="맑은 고딕"/>
              </a:rPr>
              <a:t>세 기여는 맞물려 있습니다. 완화가 올린 점수가 진짜인지 문항·경로 단위로 따지고(기여 1), 그 판단을 가능하게 하는 3단계 진단 프레임워크를 세우고(기여 2), 그 관측이 충돌 고유의 것이며 추론이 답을 구동한다는 것까지 검증하는(기여 3) 하나의 진단 체계입니다. 현상 관찰에서 그치지 않고 원인 규명까지 간다는 게 핵심입니다.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7</a:t>
            </a:fld>
            <a:endParaRPr kumimoji="1" lang="ko-KR" altLang="en-US"/>
          </a:p>
        </p:txBody>
      </p:sp>
    </p:spTree>
    <p:extLst>
      <p:ext uri="{BB962C8B-B14F-4D97-AF65-F5344CB8AC3E}">
        <p14:creationId xmlns:p14="http://schemas.microsoft.com/office/powerpoint/2010/main" val="108543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앞 장에서 기여를 개념 수준에서 말씀드렸는데, 이 장에서는 그걸 구체적인 연구 질문 네 개와, 그 질문들이 딛고 서는 세 가지 핵심 개념으로 정리했습니다.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네 가지 연구 질문 (RQ1–RQ4)</a:t>
            </a:r>
          </a:p>
          <a:p>
            <a:pPr algn="l">
              <a:lnSpc>
                <a:spcPct val="118000"/>
              </a:lnSpc>
              <a:spcBef>
                <a:spcPts val="0"/>
              </a:spcBef>
              <a:spcAft>
                <a:spcPts val="400"/>
              </a:spcAft>
              <a:buNone/>
            </a:pPr>
            <a:r>
              <a:rPr lang="ko-KR" altLang="en-US" sz="1200" dirty="0">
                <a:latin typeface="맑은 고딕"/>
                <a:ea typeface="맑은 고딕"/>
              </a:rPr>
              <a:t>먼저 실험 1에는 두 질문이 있습니다. RQ1은 진단 질문으로, 충돌 문맥에서 모델의 추론 결론과 최종 답변이 서로 일치하는지, 그리고 어긋난다면 그것이 탐지→해소→표출 중 어느 단계에서 생기는지를 봅니다. RQ2는 완화 기법을 해부하는 질문으로, 완화로 늘어난 정답이 진짜 제대로 추론해서 맞힌 건지 아니면 도약·불협·맹목 같은 우회 경로로 우연히 맞은 건지를 가립니다.</a:t>
            </a:r>
          </a:p>
          <a:p>
            <a:pPr algn="l">
              <a:lnSpc>
                <a:spcPct val="118000"/>
              </a:lnSpc>
              <a:spcBef>
                <a:spcPts val="0"/>
              </a:spcBef>
              <a:spcAft>
                <a:spcPts val="400"/>
              </a:spcAft>
              <a:buNone/>
            </a:pPr>
            <a:r>
              <a:rPr lang="ko-KR" altLang="en-US" sz="1200" dirty="0">
                <a:latin typeface="맑은 고딕"/>
                <a:ea typeface="맑은 고딕"/>
              </a:rPr>
              <a:t>실험 2에는 검증 질문 두 개가 있습니다. RQ3은 관측된 불일치가 충돌 고유의 실패인지, 아니면 단순히 문서가 많아지고 문제가 어려워져서 생긴 부수 효과인지를 충돌 없는 대조군과 비교해 분리합니다. RQ4는 그 추론이 실제로 답을 좌우하는지, 아니면 답이 추론과 무관하게 독립적으로 결정되는지를 인과적으로 규명합니다.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핵심 개념 — L-a / L-b / L-c</a:t>
            </a:r>
          </a:p>
          <a:p>
            <a:pPr algn="l">
              <a:lnSpc>
                <a:spcPct val="118000"/>
              </a:lnSpc>
              <a:spcBef>
                <a:spcPts val="0"/>
              </a:spcBef>
              <a:spcAft>
                <a:spcPts val="400"/>
              </a:spcAft>
              <a:buNone/>
            </a:pPr>
            <a:r>
              <a:rPr lang="ko-KR" altLang="en-US" sz="1200" dirty="0">
                <a:latin typeface="맑은 고딕"/>
                <a:ea typeface="맑은 고딕"/>
              </a:rPr>
              <a:t>이 질문들을 재기 위해 세 개념을 나눠 둡니다. L-a는 '자기일관성'으로, 추론 결론과 최종 답의 내용이 맞아떨어지는가이며 RQ1·2·3에서 씁니다. L-b는 '인과적 사용'으로, 추론이 답 결정에 실제로 영향을 주는가이고, 추론 중간을 잘라 보거나 다시 생성해 답이 바뀌는지로 검증하며 RQ4의 근거가 됩니다.</a:t>
            </a:r>
          </a:p>
          <a:p>
            <a:pPr algn="l">
              <a:lnSpc>
                <a:spcPct val="118000"/>
              </a:lnSpc>
              <a:spcBef>
                <a:spcPts val="0"/>
              </a:spcBef>
              <a:spcAft>
                <a:spcPts val="400"/>
              </a:spcAft>
              <a:buNone/>
            </a:pPr>
            <a:r>
              <a:rPr lang="ko-KR" altLang="en-US" sz="1200" dirty="0">
                <a:latin typeface="맑은 고딕"/>
                <a:ea typeface="맑은 고딕"/>
              </a:rPr>
              <a:t>반면 L-c '내부 충실성' — 트레이스가 모델의 진짜 속마음을 반영하는가 — 은 텍스트만으로는 판정할 수 없어(모델이 실제 이유와 다른 설명을 쓸 수 있으므로) 본 연구 범위 밖에 둡니다. 대신 모든 주장을 L-a와 L-b만으로 성립하도록 설계해, 내부를 들여다보지 않고도 결론이 서게 했습니다.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8</a:t>
            </a:fld>
            <a:endParaRPr kumimoji="1" lang="ko-KR" altLang="en-US"/>
          </a:p>
        </p:txBody>
      </p:sp>
    </p:spTree>
    <p:extLst>
      <p:ext uri="{BB962C8B-B14F-4D97-AF65-F5344CB8AC3E}">
        <p14:creationId xmlns:p14="http://schemas.microsoft.com/office/powerpoint/2010/main" val="835319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앞서 연구 질문과 개념을 봤는데, 이 장은 그것들이 기존 연구 지형의 어디에 서 있는지를 세 갈래로 정리하고 본 연구의 교차점을 짚습니다.</a:t>
            </a:r>
          </a:p>
          <a:p>
            <a:pPr algn="l">
              <a:lnSpc>
                <a:spcPct val="118000"/>
              </a:lnSpc>
              <a:spcBef>
                <a:spcPts val="700"/>
              </a:spcBef>
              <a:spcAft>
                <a:spcPts val="300"/>
              </a:spcAft>
              <a:buNone/>
            </a:pPr>
            <a:r>
              <a:rPr lang="ko-KR" altLang="en-US" sz="1400" b="1" dirty="0">
                <a:latin typeface="맑은 고딕"/>
                <a:ea typeface="맑은 고딕"/>
              </a:rPr>
              <a:t>① 충돌 진단·유형화</a:t>
            </a:r>
          </a:p>
          <a:p>
            <a:pPr algn="l">
              <a:lnSpc>
                <a:spcPct val="118000"/>
              </a:lnSpc>
              <a:spcBef>
                <a:spcPts val="0"/>
              </a:spcBef>
              <a:spcAft>
                <a:spcPts val="400"/>
              </a:spcAft>
              <a:buNone/>
            </a:pPr>
            <a:r>
              <a:rPr lang="ko-KR" altLang="en-US" sz="1200" dirty="0">
                <a:latin typeface="맑은 고딕"/>
                <a:ea typeface="맑은 고딕"/>
              </a:rPr>
              <a:t>첫 갈래는 충돌이 무엇이고 얼마나 흔한지를 유형화하고 정량화한 연구들입니다. 충돌을 몇 가지 유형으로 나누고, 실제 웹 검색에서 충돌이 얼마나 자주 나타나는지, 또 합성한 충돌로 학습하면 오히려 역효과가 난다는 것까지 보여 줍니다. 본 연구는 여기서 데이터와 문제의식을 가져옵니다.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② 충돌 완화 기법</a:t>
            </a:r>
          </a:p>
          <a:p>
            <a:pPr algn="l">
              <a:lnSpc>
                <a:spcPct val="118000"/>
              </a:lnSpc>
              <a:spcBef>
                <a:spcPts val="0"/>
              </a:spcBef>
              <a:spcAft>
                <a:spcPts val="400"/>
              </a:spcAft>
              <a:buNone/>
            </a:pPr>
            <a:r>
              <a:rPr lang="ko-KR" altLang="en-US" sz="1200" dirty="0">
                <a:latin typeface="맑은 고딕"/>
                <a:ea typeface="맑은 고딕"/>
              </a:rPr>
              <a:t>둘째 갈래는 충돌을 실제로 해소하려는 완화 기법입니다. 디코딩 제어, 자기 성찰, 다중 에이전트 토론 같은 방법으로 정답률을 끌어올립니다. 다만 이들은 '정답률이 올랐다'는 결과는 보여도, 그 이득이 추론 채널에서 왜 생겼는지 인과는 규명하지 않습니다. 본 연구는 여기서 완화 기법을 가져와 추론 모델에 이식합니다.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③ 진단·통제 방법론</a:t>
            </a:r>
          </a:p>
          <a:p>
            <a:pPr algn="l">
              <a:lnSpc>
                <a:spcPct val="118000"/>
              </a:lnSpc>
              <a:spcBef>
                <a:spcPts val="0"/>
              </a:spcBef>
              <a:spcAft>
                <a:spcPts val="400"/>
              </a:spcAft>
              <a:buNone/>
            </a:pPr>
            <a:r>
              <a:rPr lang="ko-KR" altLang="en-US" sz="1200" dirty="0">
                <a:latin typeface="맑은 고딕"/>
                <a:ea typeface="맑은 고딕"/>
              </a:rPr>
              <a:t>셋째 갈래는 추론에 직접 개입하거나 조건을 통제해 무엇이 답을 좌우하는지 알아내는 방법론입니다. 추론 중간을 자르거나 다시 생성해 보고, 충돌 없는 대조군을 설계해 비교합니다. 본 연구는 여기서 검증 도구를 빌려옵니다.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본 연구의 위치</a:t>
            </a:r>
          </a:p>
          <a:p>
            <a:pPr algn="l">
              <a:lnSpc>
                <a:spcPct val="118000"/>
              </a:lnSpc>
              <a:spcBef>
                <a:spcPts val="0"/>
              </a:spcBef>
              <a:spcAft>
                <a:spcPts val="400"/>
              </a:spcAft>
              <a:buNone/>
            </a:pPr>
            <a:r>
              <a:rPr lang="ko-KR" altLang="en-US" sz="1200" dirty="0">
                <a:latin typeface="맑은 고딕"/>
                <a:ea typeface="맑은 고딕"/>
              </a:rPr>
              <a:t>정리하면 본 연구는 ①의 데이터에서 ②의 완화 기법을 추론 모델로 이식하고, ③의 방법으로 그 이득이 진짜인지 검증합니다. 다시 말해 ②가 비워 둔 '추론의 인과 규명'을 ③으로 메우는 자리에 서 있습니다.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9</a:t>
            </a:fld>
            <a:endParaRPr kumimoji="1" lang="ko-KR" altLang="en-US"/>
          </a:p>
        </p:txBody>
      </p:sp>
    </p:spTree>
    <p:extLst>
      <p:ext uri="{BB962C8B-B14F-4D97-AF65-F5344CB8AC3E}">
        <p14:creationId xmlns:p14="http://schemas.microsoft.com/office/powerpoint/2010/main" val="5405949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여기서부터 실제 실험 설정입니다. 충돌 데이터는 새로 만들지 않고, 이미 검증된 공개 데이터셋 세 개를 역할을 나눠 가져다 썼습니다. 핵심은 세 데이터셋의 성격이 서로 달라서 하나로 합치지 않았다는 점입니다.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DRAGged — 실제 웹의 자연 충돌</a:t>
            </a:r>
          </a:p>
          <a:p>
            <a:pPr algn="l">
              <a:lnSpc>
                <a:spcPct val="118000"/>
              </a:lnSpc>
              <a:spcBef>
                <a:spcPts val="0"/>
              </a:spcBef>
              <a:spcAft>
                <a:spcPts val="400"/>
              </a:spcAft>
              <a:buNone/>
            </a:pPr>
            <a:r>
              <a:rPr lang="ko-KR" altLang="en-US" sz="1200" dirty="0">
                <a:latin typeface="맑은 고딕"/>
                <a:ea typeface="맑은 고딕"/>
              </a:rPr>
              <a:t>DRAGged는 구글에서 실제로 검색한 웹 문서를 그대로 쓰고, 한 질문에 충돌이 하나만 들어 있으며, 전문가가 다섯 가지 유형으로 구분해 둔 데이터입니다. 실제 웹에서 자연스럽게 생기는 충돌을 대표합니다.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QACC — 검색 문서 간 충돌</a:t>
            </a:r>
          </a:p>
          <a:p>
            <a:pPr algn="l">
              <a:lnSpc>
                <a:spcPct val="118000"/>
              </a:lnSpc>
              <a:spcBef>
                <a:spcPts val="0"/>
              </a:spcBef>
              <a:spcAft>
                <a:spcPts val="400"/>
              </a:spcAft>
              <a:buNone/>
            </a:pPr>
            <a:r>
              <a:rPr lang="ko-KR" altLang="en-US" sz="1200" dirty="0">
                <a:latin typeface="맑은 고딕"/>
                <a:ea typeface="맑은 고딕"/>
              </a:rPr>
              <a:t>QACC도 구글 검색 기반인데, 뜻이 명확한 질문 하나에 여러 문서를 붙인 구조입니다. 그중 4분의 1 정도에서 문서들끼리 답이 엇갈리는, 전형적인 문맥 간 충돌 사례입니다.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RAMDocs — 모호성·오정보·노이즈 혼합</a:t>
            </a:r>
          </a:p>
          <a:p>
            <a:pPr algn="l">
              <a:lnSpc>
                <a:spcPct val="118000"/>
              </a:lnSpc>
              <a:spcBef>
                <a:spcPts val="0"/>
              </a:spcBef>
              <a:spcAft>
                <a:spcPts val="400"/>
              </a:spcAft>
              <a:buNone/>
            </a:pPr>
            <a:r>
              <a:rPr lang="ko-KR" altLang="en-US" sz="1200" dirty="0">
                <a:latin typeface="맑은 고딕"/>
                <a:ea typeface="맑은 고딕"/>
              </a:rPr>
              <a:t>RAMDocs는 위키피디아에 오정보와 노이즈를 일부러 섞은 데이터로, 한 질문에 모호성·오정보·노이즈가 한꺼번에 들어 있습니다. 유형이 하나로 깔끔히 안 나뉘어서, 원본을 그대로 쓰지 않고 두 갈래로 나눠 전처리해 사용했습니다.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왜 합치지 않았나</a:t>
            </a:r>
          </a:p>
          <a:p>
            <a:pPr algn="l">
              <a:lnSpc>
                <a:spcPct val="118000"/>
              </a:lnSpc>
              <a:spcBef>
                <a:spcPts val="0"/>
              </a:spcBef>
              <a:spcAft>
                <a:spcPts val="400"/>
              </a:spcAft>
              <a:buNone/>
            </a:pPr>
            <a:r>
              <a:rPr lang="ko-KR" altLang="en-US" sz="1200" dirty="0">
                <a:latin typeface="맑은 고딕"/>
                <a:ea typeface="맑은 고딕"/>
              </a:rPr>
              <a:t>세 데이터셋은 충돌의 정의도 다르고 문서 길이도 달라서, 하나로 합치면 결과가 뭉개집니다. 그래서 합치지 않고 각자 분리해 보고하고, 지표도 데이터셋별로 나눠 집계했습니다. 성격이 다른 충돌에서도 같은 경향이 일관되게 나오는지를 보려는 설계입니다.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10</a:t>
            </a:fld>
            <a:endParaRPr kumimoji="1" lang="ko-KR" altLang="en-US"/>
          </a:p>
        </p:txBody>
      </p:sp>
    </p:spTree>
    <p:extLst>
      <p:ext uri="{BB962C8B-B14F-4D97-AF65-F5344CB8AC3E}">
        <p14:creationId xmlns:p14="http://schemas.microsoft.com/office/powerpoint/2010/main" val="3457582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앞 장에서 세 데이터셋을 합치지 않는다고 했는데, 그렇다고 제각각 다룬 건 아닙니다. 원본이 무엇이든 동일한 5단계 전처리를 거쳐 같은 형태로 </a:t>
            </a:r>
            <a:r>
              <a:rPr lang="ko-KR" altLang="en-US" sz="1200" dirty="0" err="1">
                <a:latin typeface="맑은 고딕"/>
                <a:ea typeface="맑은 고딕"/>
              </a:rPr>
              <a:t>정규화했습니다</a:t>
            </a:r>
            <a:r>
              <a:rPr lang="ko-KR" altLang="en-US" sz="1200" dirty="0">
                <a:latin typeface="맑은 고딕"/>
                <a:ea typeface="맑은 고딕"/>
              </a:rPr>
              <a:t>.</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공통 전처리 5단계</a:t>
            </a:r>
          </a:p>
          <a:p>
            <a:pPr algn="l">
              <a:lnSpc>
                <a:spcPct val="118000"/>
              </a:lnSpc>
              <a:spcBef>
                <a:spcPts val="0"/>
              </a:spcBef>
              <a:spcAft>
                <a:spcPts val="400"/>
              </a:spcAft>
              <a:buNone/>
            </a:pPr>
            <a:r>
              <a:rPr lang="ko-KR" altLang="en-US" sz="1200" dirty="0">
                <a:latin typeface="맑은 고딕"/>
                <a:ea typeface="맑은 고딕"/>
              </a:rPr>
              <a:t>먼저 각 데이터셋의 서로 다른 원본 포맷을 파악하고, question·correct_answer·chunks라는 공통 필드로 정규화합니다. 그다음 각 청크를 correct·conflict·noise 세 종류로 라벨링하고, 이 세 종류를 한 chunks 배열에 섞어 담습니다. 마지막으로 사람이 사실 충돌을 전수 확인해 확정·교정합니다.</a:t>
            </a:r>
          </a:p>
          <a:p>
            <a:pPr algn="l">
              <a:lnSpc>
                <a:spcPct val="118000"/>
              </a:lnSpc>
              <a:spcBef>
                <a:spcPts val="700"/>
              </a:spcBef>
              <a:spcAft>
                <a:spcPts val="300"/>
              </a:spcAft>
              <a:buNone/>
            </a:pPr>
            <a:endParaRPr lang="en-US" altLang="ko-KR" sz="1400" b="1"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공통 산출물과 처리 규약</a:t>
            </a:r>
          </a:p>
          <a:p>
            <a:pPr algn="l">
              <a:lnSpc>
                <a:spcPct val="118000"/>
              </a:lnSpc>
              <a:spcBef>
                <a:spcPts val="0"/>
              </a:spcBef>
              <a:spcAft>
                <a:spcPts val="400"/>
              </a:spcAft>
              <a:buNone/>
            </a:pPr>
            <a:r>
              <a:rPr lang="ko-KR" altLang="en-US" sz="1200" dirty="0">
                <a:latin typeface="맑은 고딕"/>
                <a:ea typeface="맑은 고딕"/>
              </a:rPr>
              <a:t>그 결과 모든 인스턴스가 같은 JSON 스키마를 갖습니다. 공통으로 부여하는 건 청크의 id·label·text뿐이고, 나머지 원본 필드는 그대로 보존합니다. 문서 길이는 chunks에서 파생해 필요 시 회귀 공변량으로 쓰고, 충돌 유형은 No conflict·Complementary·Conflicting opinions·Outdated·Misinformation 다섯 라벨 중 하나로 통일합니다. 이때 DRAGged는 전문가가 이미 붙인 라벨을 그대로 쓰고, RAMDocs와 QACC는 LLM과 사람이 함께 부여합니다.</a:t>
            </a:r>
          </a:p>
          <a:p>
            <a:pPr algn="l">
              <a:lnSpc>
                <a:spcPct val="118000"/>
              </a:lnSpc>
              <a:spcBef>
                <a:spcPts val="700"/>
              </a:spcBef>
              <a:spcAft>
                <a:spcPts val="300"/>
              </a:spcAft>
              <a:buNone/>
            </a:pPr>
            <a:endParaRPr lang="en-US" altLang="ko-KR" sz="1400" b="1"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왜 이렇게 했나</a:t>
            </a:r>
          </a:p>
          <a:p>
            <a:pPr algn="l">
              <a:lnSpc>
                <a:spcPct val="118000"/>
              </a:lnSpc>
              <a:spcBef>
                <a:spcPts val="0"/>
              </a:spcBef>
              <a:spcAft>
                <a:spcPts val="400"/>
              </a:spcAft>
              <a:buNone/>
            </a:pPr>
            <a:r>
              <a:rPr lang="ko-KR" altLang="en-US" sz="1200" dirty="0">
                <a:latin typeface="맑은 고딕"/>
                <a:ea typeface="맑은 고딕"/>
              </a:rPr>
              <a:t>핵심은, 성격이 다른 원본을 같은 스키마로 맞춰 두면 데이터셋을 합치지 않고도 동일한 지표와 라벨 체계로 나란히 비교할 수 있다는 점입니다. 앞 장의 '분리 보고' 설계가 여기서 실제로 가능해집니다.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11</a:t>
            </a:fld>
            <a:endParaRPr kumimoji="1" lang="ko-KR" altLang="en-US"/>
          </a:p>
        </p:txBody>
      </p:sp>
    </p:spTree>
    <p:extLst>
      <p:ext uri="{BB962C8B-B14F-4D97-AF65-F5344CB8AC3E}">
        <p14:creationId xmlns:p14="http://schemas.microsoft.com/office/powerpoint/2010/main" val="4016170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앞 장에서 공통 전처리 절차를 개괄했는데, 여기서부터는 데이터셋별로 실제 어떻게 옮겼는지를 봅니다. 먼저 DRAGged입니다.</a:t>
            </a:r>
          </a:p>
          <a:p>
            <a:pPr algn="l">
              <a:lnSpc>
                <a:spcPct val="118000"/>
              </a:lnSpc>
              <a:spcBef>
                <a:spcPts val="700"/>
              </a:spcBef>
              <a:spcAft>
                <a:spcPts val="300"/>
              </a:spcAft>
              <a:buNone/>
            </a:pPr>
            <a:endParaRPr lang="en-US" altLang="ko-KR" sz="1400" b="1"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원본 구조</a:t>
            </a:r>
          </a:p>
          <a:p>
            <a:pPr algn="l">
              <a:lnSpc>
                <a:spcPct val="118000"/>
              </a:lnSpc>
              <a:spcBef>
                <a:spcPts val="0"/>
              </a:spcBef>
              <a:spcAft>
                <a:spcPts val="400"/>
              </a:spcAft>
              <a:buNone/>
            </a:pPr>
            <a:r>
              <a:rPr lang="ko-KR" altLang="en-US" sz="1200" dirty="0">
                <a:latin typeface="맑은 고딕"/>
                <a:ea typeface="맑은 고딕"/>
              </a:rPr>
              <a:t>DRAGged 원본은 질문, 전문가가 붙인 충돌 유형(5분류), 시점-유효 정답, 그리고 구글 상위 10개 검색 스니펫 배열로 이뤄져 있습니다. 스니펫마다 날짜·출처 URL·짧은 텍스트가 있어 최신성과 출처, 충돌 탐지에 씁니다. 다만 개별 스니펫에는 '이게 정답 근거다'라는 라벨이 없어서, 어느 청크가 정답의 근거인지 따로 매핑해 줘야 합니다.</a:t>
            </a:r>
          </a:p>
          <a:p>
            <a:pPr algn="l">
              <a:lnSpc>
                <a:spcPct val="118000"/>
              </a:lnSpc>
              <a:spcBef>
                <a:spcPts val="700"/>
              </a:spcBef>
              <a:spcAft>
                <a:spcPts val="300"/>
              </a:spcAft>
              <a:buNone/>
            </a:pPr>
            <a:endParaRPr lang="en-US" altLang="ko-KR" sz="1400" b="1" dirty="0">
              <a:latin typeface="맑은 고딕"/>
              <a:ea typeface="맑은 고딕"/>
            </a:endParaRPr>
          </a:p>
          <a:p>
            <a:pPr algn="l">
              <a:lnSpc>
                <a:spcPct val="118000"/>
              </a:lnSpc>
              <a:spcBef>
                <a:spcPts val="700"/>
              </a:spcBef>
              <a:spcAft>
                <a:spcPts val="300"/>
              </a:spcAft>
              <a:buNone/>
            </a:pPr>
            <a:r>
              <a:rPr lang="ko-KR" altLang="en-US" sz="1400" b="1" dirty="0" err="1">
                <a:latin typeface="맑은 고딕"/>
                <a:ea typeface="맑은 고딕"/>
              </a:rPr>
              <a:t>전처리</a:t>
            </a:r>
            <a:r>
              <a:rPr lang="ko-KR" altLang="en-US" sz="1400" b="1" dirty="0">
                <a:latin typeface="맑은 고딕"/>
                <a:ea typeface="맑은 고딕"/>
              </a:rPr>
              <a:t> 3단계</a:t>
            </a:r>
          </a:p>
          <a:p>
            <a:pPr algn="l">
              <a:lnSpc>
                <a:spcPct val="118000"/>
              </a:lnSpc>
              <a:spcBef>
                <a:spcPts val="0"/>
              </a:spcBef>
              <a:spcAft>
                <a:spcPts val="400"/>
              </a:spcAft>
              <a:buNone/>
            </a:pPr>
            <a:r>
              <a:rPr lang="ko-KR" altLang="en-US" sz="1200" dirty="0">
                <a:latin typeface="맑은 고딕"/>
                <a:ea typeface="맑은 고딕"/>
              </a:rPr>
              <a:t>그래서 세 단계로 정리했습니다. ① 라벨 확보 — 청크에 correct·conflict·noise 라벨이 없으니, LLM이 초벌 분류한 뒤 사람이 전수 검토로 확정합니다. ② 정답 확정·검증 — 정답의 오탈자를 정오표로 보정해 최종 확정합니다. ③ 공통 구조 매핑 — 확정한 라벨을 공통 구조, 즉 correct·conflict·noise 청크와 정답 형태로 정리합니다.</a:t>
            </a:r>
          </a:p>
          <a:p>
            <a:pPr algn="l">
              <a:lnSpc>
                <a:spcPct val="118000"/>
              </a:lnSpc>
              <a:spcBef>
                <a:spcPts val="700"/>
              </a:spcBef>
              <a:spcAft>
                <a:spcPts val="300"/>
              </a:spcAft>
              <a:buNone/>
            </a:pPr>
            <a:endParaRPr lang="en-US" altLang="ko-KR" sz="1400" b="1">
              <a:latin typeface="맑은 고딕"/>
              <a:ea typeface="맑은 고딕"/>
            </a:endParaRPr>
          </a:p>
          <a:p>
            <a:pPr algn="l">
              <a:lnSpc>
                <a:spcPct val="118000"/>
              </a:lnSpc>
              <a:spcBef>
                <a:spcPts val="700"/>
              </a:spcBef>
              <a:spcAft>
                <a:spcPts val="300"/>
              </a:spcAft>
              <a:buNone/>
            </a:pPr>
            <a:r>
              <a:rPr lang="ko-KR" altLang="en-US" sz="1400" b="1">
                <a:latin typeface="맑은 고딕"/>
                <a:ea typeface="맑은 고딕"/>
              </a:rPr>
              <a:t>정리</a:t>
            </a:r>
            <a:endParaRPr lang="ko-KR" altLang="en-US" sz="1400" b="1" dirty="0">
              <a:latin typeface="맑은 고딕"/>
              <a:ea typeface="맑은 고딕"/>
            </a:endParaRPr>
          </a:p>
          <a:p>
            <a:pPr algn="l">
              <a:lnSpc>
                <a:spcPct val="118000"/>
              </a:lnSpc>
              <a:spcBef>
                <a:spcPts val="0"/>
              </a:spcBef>
              <a:spcAft>
                <a:spcPts val="400"/>
              </a:spcAft>
              <a:buNone/>
            </a:pPr>
            <a:r>
              <a:rPr lang="ko-KR" altLang="en-US" sz="1200" dirty="0">
                <a:latin typeface="맑은 고딕"/>
                <a:ea typeface="맑은 고딕"/>
              </a:rPr>
              <a:t>요컨대 DRAGged는 전문가 유형 라벨과 실제 웹 스니펫은 그대로 살리되, 청크 단위의 정답·충돌·노이즈 라벨을 새로 붙여 공통 스키마에 맞춘 경우입니다.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12</a:t>
            </a:fld>
            <a:endParaRPr kumimoji="1" lang="ko-KR" altLang="en-US"/>
          </a:p>
        </p:txBody>
      </p:sp>
    </p:spTree>
    <p:extLst>
      <p:ext uri="{BB962C8B-B14F-4D97-AF65-F5344CB8AC3E}">
        <p14:creationId xmlns:p14="http://schemas.microsoft.com/office/powerpoint/2010/main" val="28293602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다음은 QACC입니다. 구조가 DRAGged와 달라서 처리 방식도 조금 다릅니다.</a:t>
            </a:r>
          </a:p>
          <a:p>
            <a:pPr algn="l">
              <a:lnSpc>
                <a:spcPct val="118000"/>
              </a:lnSpc>
              <a:spcBef>
                <a:spcPts val="700"/>
              </a:spcBef>
              <a:spcAft>
                <a:spcPts val="300"/>
              </a:spcAft>
              <a:buNone/>
            </a:pPr>
            <a:r>
              <a:rPr lang="ko-KR" altLang="en-US" sz="1400" b="1" dirty="0">
                <a:latin typeface="맑은 고딕"/>
                <a:ea typeface="맑은 고딕"/>
              </a:rPr>
              <a:t>원본 구조</a:t>
            </a:r>
          </a:p>
          <a:p>
            <a:pPr algn="l">
              <a:lnSpc>
                <a:spcPct val="118000"/>
              </a:lnSpc>
              <a:spcBef>
                <a:spcPts val="0"/>
              </a:spcBef>
              <a:spcAft>
                <a:spcPts val="400"/>
              </a:spcAft>
              <a:buNone/>
            </a:pPr>
            <a:r>
              <a:rPr lang="ko-KR" altLang="en-US" sz="1200" dirty="0">
                <a:latin typeface="맑은 고딕"/>
                <a:ea typeface="맑은 고딕"/>
              </a:rPr>
              <a:t>QACC는 뜻이 명확한 질문에 구글 상위 10개 스니펫과 출처, 그리고 서로 상충하는 두 후보 답과 각각을 지지하는 문서, 확정된 정답, 그 정답을 고른 사유(다수결·출처·상식·최신성)가 함께 들어 있습니다. 핵심은 '정답'과 '상충 답' 짝이 원본에 이미 내장돼 있다는 점입니다. 그래서 정답 쪽은 correct, 반대 답 쪽은 conflict로 별도 매핑 없이 바로 대응됩니다.</a:t>
            </a:r>
          </a:p>
          <a:p>
            <a:pPr algn="l">
              <a:lnSpc>
                <a:spcPct val="118000"/>
              </a:lnSpc>
              <a:spcBef>
                <a:spcPts val="700"/>
              </a:spcBef>
              <a:spcAft>
                <a:spcPts val="300"/>
              </a:spcAft>
              <a:buNone/>
            </a:pPr>
            <a:r>
              <a:rPr lang="ko-KR" altLang="en-US" sz="1400" b="1" dirty="0">
                <a:latin typeface="맑은 고딕"/>
                <a:ea typeface="맑은 고딕"/>
              </a:rPr>
              <a:t>전처리 — 스크리닝이 핵심</a:t>
            </a:r>
          </a:p>
          <a:p>
            <a:pPr algn="l">
              <a:lnSpc>
                <a:spcPct val="118000"/>
              </a:lnSpc>
              <a:spcBef>
                <a:spcPts val="0"/>
              </a:spcBef>
              <a:spcAft>
                <a:spcPts val="400"/>
              </a:spcAft>
              <a:buNone/>
            </a:pPr>
            <a:r>
              <a:rPr lang="ko-KR" altLang="en-US" sz="1200" dirty="0">
                <a:latin typeface="맑은 고딕"/>
                <a:ea typeface="맑은 고딕"/>
              </a:rPr>
              <a:t>충돌 쌍이 이미 있으니 여기서는 매핑보다 스크리닝이 중요합니다. conflict_type을 새로 부여하면서, 오타나 표현 세분화 차이처럼 '표기만 다른 가짜 충돌'을 걸러내는 게 목적입니다. 절차는 세 단계로 — ① 충돌 유형이 없으니 LLM이 먼저 분류하고 사람이 검수하고, ② 정답이 맞는지 LLM과 사람이 재확인하고, ③ 검색 조각과 출처를 청크로 묶어 정답 지지는 correct, 반대 답은 conflict, 무관은 noise로 라벨링합니다.</a:t>
            </a:r>
          </a:p>
          <a:p>
            <a:pPr algn="l">
              <a:lnSpc>
                <a:spcPct val="118000"/>
              </a:lnSpc>
              <a:spcBef>
                <a:spcPts val="700"/>
              </a:spcBef>
              <a:spcAft>
                <a:spcPts val="300"/>
              </a:spcAft>
              <a:buNone/>
            </a:pPr>
            <a:r>
              <a:rPr lang="ko-KR" altLang="en-US" sz="1400" b="1" dirty="0">
                <a:latin typeface="맑은 고딕"/>
                <a:ea typeface="맑은 고딕"/>
              </a:rPr>
              <a:t>정리</a:t>
            </a:r>
          </a:p>
          <a:p>
            <a:pPr algn="l">
              <a:lnSpc>
                <a:spcPct val="118000"/>
              </a:lnSpc>
              <a:spcBef>
                <a:spcPts val="0"/>
              </a:spcBef>
              <a:spcAft>
                <a:spcPts val="400"/>
              </a:spcAft>
              <a:buNone/>
            </a:pPr>
            <a:r>
              <a:rPr lang="ko-KR" altLang="en-US" sz="1200" dirty="0">
                <a:latin typeface="맑은 고딕"/>
                <a:ea typeface="맑은 고딕"/>
              </a:rPr>
              <a:t>요컨대 QACC는 충돌 쌍이 원본에 내장돼 매핑 부담은 적지만, 진짜 충돌만 남기려 가짜 충돌을 걸러내는 스크리닝이 관건인 경우였습니다.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13</a:t>
            </a:fld>
            <a:endParaRPr kumimoji="1" lang="ko-KR" altLang="en-US"/>
          </a:p>
        </p:txBody>
      </p:sp>
    </p:spTree>
    <p:extLst>
      <p:ext uri="{BB962C8B-B14F-4D97-AF65-F5344CB8AC3E}">
        <p14:creationId xmlns:p14="http://schemas.microsoft.com/office/powerpoint/2010/main" val="15898367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마지막은 RAMDocs입니다. 앞의 두 데이터셋과 달리 위키 기반 합성 데이터라, 라벨이 이미 다 붙어 있는 대신 요인이 한 문항에 겹쳐 있는 게 </a:t>
            </a:r>
            <a:r>
              <a:rPr lang="ko-KR" altLang="en-US" sz="1200">
                <a:latin typeface="맑은 고딕"/>
                <a:ea typeface="맑은 고딕"/>
              </a:rPr>
              <a:t>특징입니다.</a:t>
            </a:r>
            <a:endParaRPr lang="en-US" altLang="ko-KR" sz="1200">
              <a:latin typeface="맑은 고딕"/>
              <a:ea typeface="맑은 고딕"/>
            </a:endParaRPr>
          </a:p>
          <a:p>
            <a:pPr algn="l">
              <a:lnSpc>
                <a:spcPct val="118000"/>
              </a:lnSpc>
              <a:spcBef>
                <a:spcPts val="0"/>
              </a:spcBef>
              <a:spcAft>
                <a:spcPts val="400"/>
              </a:spcAft>
              <a:buNone/>
            </a:pPr>
            <a:endParaRPr lang="ko-KR" altLang="en-US" sz="1200">
              <a:latin typeface="맑은 고딕"/>
              <a:ea typeface="맑은 고딕"/>
            </a:endParaRPr>
          </a:p>
          <a:p>
            <a:pPr algn="l">
              <a:lnSpc>
                <a:spcPct val="118000"/>
              </a:lnSpc>
              <a:spcBef>
                <a:spcPts val="700"/>
              </a:spcBef>
              <a:spcAft>
                <a:spcPts val="300"/>
              </a:spcAft>
              <a:buNone/>
            </a:pPr>
            <a:r>
              <a:rPr lang="ko-KR" altLang="en-US" sz="1400" b="1">
                <a:latin typeface="맑은 고딕"/>
                <a:ea typeface="맑은 고딕"/>
              </a:rPr>
              <a:t>원본 </a:t>
            </a:r>
            <a:r>
              <a:rPr lang="ko-KR" altLang="en-US" sz="1400" b="1" dirty="0">
                <a:latin typeface="맑은 고딕"/>
                <a:ea typeface="맑은 고딕"/>
              </a:rPr>
              <a:t>구조</a:t>
            </a:r>
          </a:p>
          <a:p>
            <a:pPr algn="l">
              <a:lnSpc>
                <a:spcPct val="118000"/>
              </a:lnSpc>
              <a:spcBef>
                <a:spcPts val="0"/>
              </a:spcBef>
              <a:spcAft>
                <a:spcPts val="400"/>
              </a:spcAft>
              <a:buNone/>
            </a:pPr>
            <a:r>
              <a:rPr lang="ko-KR" altLang="en-US" sz="1200" dirty="0">
                <a:latin typeface="맑은 고딕"/>
                <a:ea typeface="맑은 고딕"/>
              </a:rPr>
              <a:t>질문에 문서 배열이 붙고, 각 문서에는 유형(correct·misinfo·noise)과 그 문서가 주장하는 답이 내장돼 있으며, 유효 정답과 오답 목록도 함께 들어 있습니다. 라벨과 정답이 이미 있으니 정답 문서를 따로 매핑할 필요는 없습니다. 다만 한 문항 안에 정답 지지·오정보·노이즈 문서가 한꺼번에 섞여 </a:t>
            </a:r>
            <a:r>
              <a:rPr lang="ko-KR" altLang="en-US" sz="1200">
                <a:latin typeface="맑은 고딕"/>
                <a:ea typeface="맑은 고딕"/>
              </a:rPr>
              <a:t>있습니다.</a:t>
            </a:r>
            <a:endParaRPr lang="en-US" altLang="ko-KR" sz="1200">
              <a:latin typeface="맑은 고딕"/>
              <a:ea typeface="맑은 고딕"/>
            </a:endParaRPr>
          </a:p>
          <a:p>
            <a:pPr algn="l">
              <a:lnSpc>
                <a:spcPct val="118000"/>
              </a:lnSpc>
              <a:spcBef>
                <a:spcPts val="0"/>
              </a:spcBef>
              <a:spcAft>
                <a:spcPts val="400"/>
              </a:spcAft>
              <a:buNone/>
            </a:pPr>
            <a:endParaRPr lang="ko-KR" altLang="en-US" sz="1200">
              <a:latin typeface="맑은 고딕"/>
              <a:ea typeface="맑은 고딕"/>
            </a:endParaRPr>
          </a:p>
          <a:p>
            <a:pPr algn="l">
              <a:lnSpc>
                <a:spcPct val="118000"/>
              </a:lnSpc>
              <a:spcBef>
                <a:spcPts val="700"/>
              </a:spcBef>
              <a:spcAft>
                <a:spcPts val="300"/>
              </a:spcAft>
              <a:buNone/>
            </a:pPr>
            <a:r>
              <a:rPr lang="ko-KR" altLang="en-US" sz="1400" b="1">
                <a:latin typeface="맑은 고딕"/>
                <a:ea typeface="맑은 고딕"/>
              </a:rPr>
              <a:t>전처리 </a:t>
            </a:r>
            <a:r>
              <a:rPr lang="ko-KR" altLang="en-US" sz="1400" b="1" dirty="0">
                <a:latin typeface="맑은 고딕"/>
                <a:ea typeface="맑은 고딕"/>
              </a:rPr>
              <a:t>— 라벨 승계 후 분리</a:t>
            </a:r>
          </a:p>
          <a:p>
            <a:pPr algn="l">
              <a:lnSpc>
                <a:spcPct val="118000"/>
              </a:lnSpc>
              <a:spcBef>
                <a:spcPts val="0"/>
              </a:spcBef>
              <a:spcAft>
                <a:spcPts val="400"/>
              </a:spcAft>
              <a:buNone/>
            </a:pPr>
            <a:r>
              <a:rPr lang="ko-KR" altLang="en-US" sz="1200" dirty="0">
                <a:latin typeface="맑은 고딕"/>
                <a:ea typeface="맑은 고딕"/>
              </a:rPr>
              <a:t>그래서 라벨은 그대로 승계합니다. ① 유형이 합성 단계에서 이미 부여돼 있어 승계하고, ② 유효 정답·오답도 원본대로 쓰고, ③ 유형을 공통 라벨로 매핑합니다(correct는 correct, misinfo는 conflict, noise는 noise). 여기까진 앞과 같은데, 결정적으로 ④ 세 요인이 한 문항에 겹쳐 있어 데이터셋을 둘로 나눕니다 — 충돌을 하나만 남긴 분해형(A)을 본 실험에 쓰고, 원본 그대로의 결합형(B)은 향후 과제용으로 </a:t>
            </a:r>
            <a:r>
              <a:rPr lang="ko-KR" altLang="en-US" sz="1200">
                <a:latin typeface="맑은 고딕"/>
                <a:ea typeface="맑은 고딕"/>
              </a:rPr>
              <a:t>보관합니다.</a:t>
            </a:r>
            <a:endParaRPr lang="en-US" altLang="ko-KR" sz="1200">
              <a:latin typeface="맑은 고딕"/>
              <a:ea typeface="맑은 고딕"/>
            </a:endParaRPr>
          </a:p>
          <a:p>
            <a:pPr algn="l">
              <a:lnSpc>
                <a:spcPct val="118000"/>
              </a:lnSpc>
              <a:spcBef>
                <a:spcPts val="0"/>
              </a:spcBef>
              <a:spcAft>
                <a:spcPts val="400"/>
              </a:spcAft>
              <a:buNone/>
            </a:pPr>
            <a:endParaRPr lang="ko-KR" altLang="en-US" sz="1200">
              <a:latin typeface="맑은 고딕"/>
              <a:ea typeface="맑은 고딕"/>
            </a:endParaRPr>
          </a:p>
          <a:p>
            <a:pPr algn="l">
              <a:lnSpc>
                <a:spcPct val="118000"/>
              </a:lnSpc>
              <a:spcBef>
                <a:spcPts val="700"/>
              </a:spcBef>
              <a:spcAft>
                <a:spcPts val="300"/>
              </a:spcAft>
              <a:buNone/>
            </a:pPr>
            <a:r>
              <a:rPr lang="ko-KR" altLang="en-US" sz="1400" b="1">
                <a:latin typeface="맑은 고딕"/>
                <a:ea typeface="맑은 고딕"/>
              </a:rPr>
              <a:t>정리</a:t>
            </a:r>
            <a:endParaRPr lang="ko-KR" altLang="en-US" sz="1400" b="1" dirty="0">
              <a:latin typeface="맑은 고딕"/>
              <a:ea typeface="맑은 고딕"/>
            </a:endParaRPr>
          </a:p>
          <a:p>
            <a:pPr algn="l">
              <a:lnSpc>
                <a:spcPct val="118000"/>
              </a:lnSpc>
              <a:spcBef>
                <a:spcPts val="0"/>
              </a:spcBef>
              <a:spcAft>
                <a:spcPts val="400"/>
              </a:spcAft>
              <a:buNone/>
            </a:pPr>
            <a:r>
              <a:rPr lang="ko-KR" altLang="en-US" sz="1200" dirty="0">
                <a:latin typeface="맑은 고딕"/>
                <a:ea typeface="맑은 고딕"/>
              </a:rPr>
              <a:t>요컨대 RAMDocs는 라벨이 완비된 대신 요인이 겹쳐 있어서, 인과를 깨끗하게 보려고 충돌을 하나만 남긴 분해형을 실험에 쓴 경우입니다. 이렇게 세 데이터셋을 각자 성격에 맞게 같은 공통 구조로 정리했습니다.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14</a:t>
            </a:fld>
            <a:endParaRPr kumimoji="1" lang="ko-KR" altLang="en-US"/>
          </a:p>
        </p:txBody>
      </p:sp>
    </p:spTree>
    <p:extLst>
      <p:ext uri="{BB962C8B-B14F-4D97-AF65-F5344CB8AC3E}">
        <p14:creationId xmlns:p14="http://schemas.microsoft.com/office/powerpoint/2010/main" val="40212731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데이터를 공통 구조로 맞췄으니, 이제 그 위에서 무엇을 측정하는지입니다. 이 3단계 라벨링 프로토콜은 실험 1부터 3까지가 공통으로 쓰는 측정 도구로, 모델의 추론 궤적을 세 단계로 나눠 라벨을 붙입니다.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3단계 라벨링 — 탐지 · 해소 · 표출</a:t>
            </a:r>
          </a:p>
          <a:p>
            <a:pPr algn="l">
              <a:lnSpc>
                <a:spcPct val="118000"/>
              </a:lnSpc>
              <a:spcBef>
                <a:spcPts val="0"/>
              </a:spcBef>
              <a:spcAft>
                <a:spcPts val="400"/>
              </a:spcAft>
              <a:buNone/>
            </a:pPr>
            <a:r>
              <a:rPr lang="ko-KR" altLang="en-US" sz="1200" dirty="0">
                <a:latin typeface="맑은 고딕"/>
                <a:ea typeface="맑은 고딕"/>
              </a:rPr>
              <a:t>Level 1 탐지는 '문서 간 불일치를 감지했는가'로, 감지 여부와 함께 원인 유형(시간·오정보·관점)까지 짚었는지를 유형 인지율로 봅니다. Level 2 해소는 '정답을 지지하는 문서를 유효하다고 결론지었는가'로, 시간 충돌은 날짜 최신성, 오정보는 출처 권위로 판정합니다. Final 표출은 '최종 답변에서 정답을 실제로 내놓았는가'입니다. 중요한 건 이 탐지→해소→표출 순서가 '규범 경로'일 뿐이고, 여기서 벗어난 경우가 바로 앞서 말한 특이 경로(도약·불협·맹목)라는 점입니다.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err="1">
                <a:latin typeface="맑은 고딕"/>
                <a:ea typeface="맑은 고딕"/>
              </a:rPr>
              <a:t>라벨링</a:t>
            </a:r>
            <a:r>
              <a:rPr lang="ko-KR" altLang="en-US" sz="1400" b="1" dirty="0">
                <a:latin typeface="맑은 고딕"/>
                <a:ea typeface="맑은 고딕"/>
              </a:rPr>
              <a:t> 주의사항</a:t>
            </a:r>
          </a:p>
          <a:p>
            <a:pPr algn="l">
              <a:lnSpc>
                <a:spcPct val="118000"/>
              </a:lnSpc>
              <a:spcBef>
                <a:spcPts val="0"/>
              </a:spcBef>
              <a:spcAft>
                <a:spcPts val="400"/>
              </a:spcAft>
              <a:buNone/>
            </a:pPr>
            <a:r>
              <a:rPr lang="ko-KR" altLang="en-US" sz="1200" dirty="0">
                <a:latin typeface="맑은 고딕"/>
                <a:ea typeface="맑은 고딕"/>
              </a:rPr>
              <a:t>지표가 오염되지 않도록 몇 가지 규칙을 사전에 정했습니다. 긴 트레이스는 결론이 계속 흔들려 읽는 사람마다 달라질 수 있으니, 마지막으로 문서를 명시적으로 지지한 지점을 결론으로 확정하고 없으면 unresolved로 둡니다. '판단 불가' 기권을 오답으로 세면 기권만 유도해도 지표가 좋아 보이는 착시가 생기므로, 기권은 판정에서 빼고 기권율은 따로 보고합니다. 표기만 다른 답은 정규화·동치 판정으로 채점하고, 정답이 여럿인 문항은 그중 하나만 맞혀도 정답으로 인정합니다.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정리</a:t>
            </a:r>
          </a:p>
          <a:p>
            <a:pPr algn="l">
              <a:lnSpc>
                <a:spcPct val="118000"/>
              </a:lnSpc>
              <a:spcBef>
                <a:spcPts val="0"/>
              </a:spcBef>
              <a:spcAft>
                <a:spcPts val="400"/>
              </a:spcAft>
              <a:buNone/>
            </a:pPr>
            <a:r>
              <a:rPr lang="ko-KR" altLang="en-US" sz="1200" dirty="0">
                <a:latin typeface="맑은 고딕"/>
                <a:ea typeface="맑은 고딕"/>
              </a:rPr>
              <a:t>요컨대 정답 하나로 뭉뚱그리지 않고 감지·해소·표출을 분리해, 어느 단계에서 무엇이 일어났는지를 볼 수 있게 한 것이 이 프로토콜의 핵심입니다.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15</a:t>
            </a:fld>
            <a:endParaRPr kumimoji="1" lang="ko-KR" altLang="en-US"/>
          </a:p>
        </p:txBody>
      </p:sp>
    </p:spTree>
    <p:extLst>
      <p:ext uri="{BB962C8B-B14F-4D97-AF65-F5344CB8AC3E}">
        <p14:creationId xmlns:p14="http://schemas.microsoft.com/office/powerpoint/2010/main" val="3970304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앞 장에서 궤적을 탐지·해소·표출로 라벨링했는데, 이 장은 그 라벨을 실제 지표로 집계하는 체계입니다. 정답을 맞혔을 때와 틀렸을 때를 나눠서 </a:t>
            </a:r>
            <a:r>
              <a:rPr lang="ko-KR" altLang="en-US" sz="1200">
                <a:latin typeface="맑은 고딕"/>
                <a:ea typeface="맑은 고딕"/>
              </a:rPr>
              <a:t>봅니다.</a:t>
            </a:r>
            <a:endParaRPr lang="en-US" altLang="ko-KR" sz="1200">
              <a:latin typeface="맑은 고딕"/>
              <a:ea typeface="맑은 고딕"/>
            </a:endParaRPr>
          </a:p>
          <a:p>
            <a:pPr algn="l">
              <a:lnSpc>
                <a:spcPct val="118000"/>
              </a:lnSpc>
              <a:spcBef>
                <a:spcPts val="0"/>
              </a:spcBef>
              <a:spcAft>
                <a:spcPts val="400"/>
              </a:spcAft>
              <a:buNone/>
            </a:pPr>
            <a:endParaRPr lang="ko-KR" altLang="en-US" sz="1200">
              <a:latin typeface="맑은 고딕"/>
              <a:ea typeface="맑은 고딕"/>
            </a:endParaRPr>
          </a:p>
          <a:p>
            <a:pPr algn="l">
              <a:lnSpc>
                <a:spcPct val="118000"/>
              </a:lnSpc>
              <a:spcBef>
                <a:spcPts val="700"/>
              </a:spcBef>
              <a:spcAft>
                <a:spcPts val="300"/>
              </a:spcAft>
              <a:buNone/>
            </a:pPr>
            <a:r>
              <a:rPr lang="ko-KR" altLang="en-US" sz="1400" b="1">
                <a:latin typeface="맑은 고딕"/>
                <a:ea typeface="맑은 고딕"/>
              </a:rPr>
              <a:t>① </a:t>
            </a:r>
            <a:r>
              <a:rPr lang="ko-KR" altLang="en-US" sz="1400" b="1" dirty="0">
                <a:latin typeface="맑은 고딕"/>
                <a:ea typeface="맑은 고딕"/>
              </a:rPr>
              <a:t>정답을 맞혔을 때 — 4경로 분해</a:t>
            </a:r>
          </a:p>
          <a:p>
            <a:pPr algn="l">
              <a:lnSpc>
                <a:spcPct val="118000"/>
              </a:lnSpc>
              <a:spcBef>
                <a:spcPts val="0"/>
              </a:spcBef>
              <a:spcAft>
                <a:spcPts val="400"/>
              </a:spcAft>
              <a:buNone/>
            </a:pPr>
            <a:r>
              <a:rPr lang="ko-KR" altLang="en-US" sz="1200" dirty="0">
                <a:latin typeface="맑은 고딕"/>
                <a:ea typeface="맑은 고딕"/>
              </a:rPr>
              <a:t>같은 '정답'도 어떻게 도달했는지에 따라 네 갈래로 나눕니다. 정상(Legitimate)은 인지와 해소를 제대로 거친 견고한 정답이고, 도약(Shortcut)은 명시적 해소 없이 건너뛴 근거가 약한 취약 정답, 불협 적중(Discordant Hit)은 오답 문서를 지지해 놓고도 정답을 낸 경우, 맹목 적중(Blind-Hit)은 충돌을 인지조차 못한 채 파라메트릭 지식이나 우연으로 맞은 경우입니다. 뒤의 셋은 겉보기엔 정답이지만 근거가 없거나 어긋난 '가짜 정답'인 </a:t>
            </a:r>
            <a:r>
              <a:rPr lang="ko-KR" altLang="en-US" sz="1200">
                <a:latin typeface="맑은 고딕"/>
                <a:ea typeface="맑은 고딕"/>
              </a:rPr>
              <a:t>셈입니다.</a:t>
            </a:r>
            <a:endParaRPr lang="en-US" altLang="ko-KR" sz="1200">
              <a:latin typeface="맑은 고딕"/>
              <a:ea typeface="맑은 고딕"/>
            </a:endParaRPr>
          </a:p>
          <a:p>
            <a:pPr algn="l">
              <a:lnSpc>
                <a:spcPct val="118000"/>
              </a:lnSpc>
              <a:spcBef>
                <a:spcPts val="0"/>
              </a:spcBef>
              <a:spcAft>
                <a:spcPts val="400"/>
              </a:spcAft>
              <a:buNone/>
            </a:pPr>
            <a:endParaRPr lang="ko-KR" altLang="en-US" sz="1200">
              <a:latin typeface="맑은 고딕"/>
              <a:ea typeface="맑은 고딕"/>
            </a:endParaRPr>
          </a:p>
          <a:p>
            <a:pPr algn="l">
              <a:lnSpc>
                <a:spcPct val="118000"/>
              </a:lnSpc>
              <a:spcBef>
                <a:spcPts val="700"/>
              </a:spcBef>
              <a:spcAft>
                <a:spcPts val="300"/>
              </a:spcAft>
              <a:buNone/>
            </a:pPr>
            <a:r>
              <a:rPr lang="ko-KR" altLang="en-US" sz="1400" b="1">
                <a:latin typeface="맑은 고딕"/>
                <a:ea typeface="맑은 고딕"/>
              </a:rPr>
              <a:t>② </a:t>
            </a:r>
            <a:r>
              <a:rPr lang="ko-KR" altLang="en-US" sz="1400" b="1" dirty="0">
                <a:latin typeface="맑은 고딕"/>
                <a:ea typeface="맑은 고딕"/>
              </a:rPr>
              <a:t>정답을 틀렸을 때 — 단계별 손실 지표</a:t>
            </a:r>
          </a:p>
          <a:p>
            <a:pPr algn="l">
              <a:lnSpc>
                <a:spcPct val="118000"/>
              </a:lnSpc>
              <a:spcBef>
                <a:spcPts val="0"/>
              </a:spcBef>
              <a:spcAft>
                <a:spcPts val="400"/>
              </a:spcAft>
              <a:buNone/>
            </a:pPr>
            <a:r>
              <a:rPr lang="ko-KR" altLang="en-US" sz="1200" dirty="0">
                <a:latin typeface="맑은 고딕"/>
                <a:ea typeface="맑은 고딕"/>
              </a:rPr>
              <a:t>과정이 어디서 정답을 잃는지를 세 지표로 봅니다. </a:t>
            </a:r>
            <a:r>
              <a:rPr lang="ko-KR" altLang="en-US" sz="1200" dirty="0">
                <a:latin typeface="Cambria Math"/>
                <a:ea typeface="Cambria Math"/>
              </a:rPr>
              <a:t>Loss_L1</a:t>
            </a:r>
            <a:r>
              <a:rPr lang="ko-KR" altLang="en-US" sz="1200" dirty="0">
                <a:latin typeface="맑은 고딕"/>
                <a:ea typeface="맑은 고딕"/>
              </a:rPr>
              <a:t>은 탐지 실패, 즉 충돌을 인지하지 못한 확률이고, </a:t>
            </a:r>
            <a:r>
              <a:rPr lang="ko-KR" altLang="en-US" sz="1200" dirty="0">
                <a:latin typeface="Cambria Math"/>
                <a:ea typeface="Cambria Math"/>
              </a:rPr>
              <a:t>Loss_L2</a:t>
            </a:r>
            <a:r>
              <a:rPr lang="ko-KR" altLang="en-US" sz="1200" dirty="0">
                <a:latin typeface="맑은 고딕"/>
                <a:ea typeface="맑은 고딕"/>
              </a:rPr>
              <a:t>는 해소 실패로 인지했으나 올바른 근거를 고르지 못한 확률입니다. 그리고 </a:t>
            </a:r>
            <a:r>
              <a:rPr lang="ko-KR" altLang="en-US" sz="1200" dirty="0">
                <a:latin typeface="Cambria Math"/>
                <a:ea typeface="Cambria Math"/>
              </a:rPr>
              <a:t>AIR</a:t>
            </a:r>
            <a:r>
              <a:rPr lang="ko-KR" altLang="en-US" sz="1200" dirty="0">
                <a:latin typeface="맑은 고딕"/>
                <a:ea typeface="맑은 고딕"/>
              </a:rPr>
              <a:t>(정답 역전율)은 표출 실패로, 올바로 판단하고도 최종 답에서 뒤집힌 </a:t>
            </a:r>
            <a:r>
              <a:rPr lang="ko-KR" altLang="en-US" sz="1200" dirty="0">
                <a:latin typeface="Cambria Math"/>
                <a:ea typeface="Cambria Math"/>
              </a:rPr>
              <a:t>P(FA = wrong | L1 = detected, L2 = correct)</a:t>
            </a:r>
            <a:r>
              <a:rPr lang="ko-KR" altLang="en-US" sz="1200" dirty="0">
                <a:latin typeface="맑은 고딕"/>
                <a:ea typeface="맑은 고딕"/>
              </a:rPr>
              <a:t>로 </a:t>
            </a:r>
            <a:r>
              <a:rPr lang="ko-KR" altLang="en-US" sz="1200">
                <a:latin typeface="맑은 고딕"/>
                <a:ea typeface="맑은 고딕"/>
              </a:rPr>
              <a:t>정의합니다.</a:t>
            </a:r>
            <a:endParaRPr lang="en-US" altLang="ko-KR" sz="1200">
              <a:latin typeface="맑은 고딕"/>
              <a:ea typeface="맑은 고딕"/>
            </a:endParaRPr>
          </a:p>
          <a:p>
            <a:pPr algn="l">
              <a:lnSpc>
                <a:spcPct val="118000"/>
              </a:lnSpc>
              <a:spcBef>
                <a:spcPts val="0"/>
              </a:spcBef>
              <a:spcAft>
                <a:spcPts val="400"/>
              </a:spcAft>
              <a:buNone/>
            </a:pPr>
            <a:endParaRPr lang="ko-KR" altLang="en-US" sz="1200">
              <a:latin typeface="맑은 고딕"/>
              <a:ea typeface="맑은 고딕"/>
            </a:endParaRPr>
          </a:p>
          <a:p>
            <a:pPr algn="l">
              <a:lnSpc>
                <a:spcPct val="118000"/>
              </a:lnSpc>
              <a:spcBef>
                <a:spcPts val="700"/>
              </a:spcBef>
              <a:spcAft>
                <a:spcPts val="300"/>
              </a:spcAft>
              <a:buNone/>
            </a:pPr>
            <a:r>
              <a:rPr lang="ko-KR" altLang="en-US" sz="1400" b="1">
                <a:latin typeface="맑은 고딕"/>
                <a:ea typeface="맑은 고딕"/>
              </a:rPr>
              <a:t>정리</a:t>
            </a:r>
            <a:endParaRPr lang="ko-KR" altLang="en-US" sz="1400" b="1" dirty="0">
              <a:latin typeface="맑은 고딕"/>
              <a:ea typeface="맑은 고딕"/>
            </a:endParaRPr>
          </a:p>
          <a:p>
            <a:pPr algn="l">
              <a:lnSpc>
                <a:spcPct val="118000"/>
              </a:lnSpc>
              <a:spcBef>
                <a:spcPts val="0"/>
              </a:spcBef>
              <a:spcAft>
                <a:spcPts val="400"/>
              </a:spcAft>
              <a:buNone/>
            </a:pPr>
            <a:r>
              <a:rPr lang="ko-KR" altLang="en-US" sz="1200" dirty="0">
                <a:latin typeface="맑은 고딕"/>
                <a:ea typeface="맑은 고딕"/>
              </a:rPr>
              <a:t>요컨대 정답률 하나로 뭉뚱그리지 않고, 맞은 정답은 질을 네 경로로 가르고 틀린 답은 어느 단계에서 잃었는지를 지표화해, 앞서 말한 '진짜 이득'과 '숨은 퇴행'을 실제로 계산할 수 있게 한 체계입니다. 모든 지표는 비율과 표본 수를 함께 적어 누구나 다시 계산해 확인할 수 있게 했습니다.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16</a:t>
            </a:fld>
            <a:endParaRPr kumimoji="1" lang="ko-KR" altLang="en-US"/>
          </a:p>
        </p:txBody>
      </p:sp>
    </p:spTree>
    <p:extLst>
      <p:ext uri="{BB962C8B-B14F-4D97-AF65-F5344CB8AC3E}">
        <p14:creationId xmlns:p14="http://schemas.microsoft.com/office/powerpoint/2010/main" val="28304809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지금까지 데이터·프로토콜·지표를 봤는데, 이 표는 그것들이 각 실험과 연구 질문에 어떻게 배치되는지를 한 장에 모은 설계도입니다. 실험별로 가설 → 판정 방법 → 지표 순으로 정리돼 </a:t>
            </a:r>
            <a:r>
              <a:rPr lang="ko-KR" altLang="en-US" sz="1200">
                <a:latin typeface="맑은 고딕"/>
                <a:ea typeface="맑은 고딕"/>
              </a:rPr>
              <a:t>있습니다.</a:t>
            </a:r>
            <a:endParaRPr lang="en-US" altLang="ko-KR" sz="1200">
              <a:latin typeface="맑은 고딕"/>
              <a:ea typeface="맑은 고딕"/>
            </a:endParaRPr>
          </a:p>
          <a:p>
            <a:pPr algn="l">
              <a:lnSpc>
                <a:spcPct val="118000"/>
              </a:lnSpc>
              <a:spcBef>
                <a:spcPts val="0"/>
              </a:spcBef>
              <a:spcAft>
                <a:spcPts val="400"/>
              </a:spcAft>
              <a:buNone/>
            </a:pPr>
            <a:endParaRPr lang="ko-KR" altLang="en-US" sz="1200">
              <a:latin typeface="맑은 고딕"/>
              <a:ea typeface="맑은 고딕"/>
            </a:endParaRPr>
          </a:p>
          <a:p>
            <a:pPr algn="l">
              <a:lnSpc>
                <a:spcPct val="118000"/>
              </a:lnSpc>
              <a:spcBef>
                <a:spcPts val="700"/>
              </a:spcBef>
              <a:spcAft>
                <a:spcPts val="300"/>
              </a:spcAft>
              <a:buNone/>
            </a:pPr>
            <a:r>
              <a:rPr lang="ko-KR" altLang="en-US" sz="1400" b="1">
                <a:latin typeface="맑은 고딕"/>
                <a:ea typeface="맑은 고딕"/>
              </a:rPr>
              <a:t>실험 </a:t>
            </a:r>
            <a:r>
              <a:rPr lang="ko-KR" altLang="en-US" sz="1400" b="1" dirty="0">
                <a:latin typeface="맑은 고딕"/>
                <a:ea typeface="맑은 고딕"/>
              </a:rPr>
              <a:t>1 — RQ1 · RQ2</a:t>
            </a:r>
          </a:p>
          <a:p>
            <a:pPr algn="l">
              <a:lnSpc>
                <a:spcPct val="118000"/>
              </a:lnSpc>
              <a:spcBef>
                <a:spcPts val="0"/>
              </a:spcBef>
              <a:spcAft>
                <a:spcPts val="400"/>
              </a:spcAft>
              <a:buNone/>
            </a:pPr>
            <a:r>
              <a:rPr lang="ko-KR" altLang="en-US" sz="1200" dirty="0">
                <a:latin typeface="맑은 고딕"/>
                <a:ea typeface="맑은 고딕"/>
              </a:rPr>
              <a:t>RQ1은 '추론 결론과 최종 답이 일치하는가, 어긋나면 어느 단계에서인가'를, 문항별 라벨을 맞대고 충돌 유형 인지율을 집계해 봅니다(지표 </a:t>
            </a:r>
            <a:r>
              <a:rPr lang="ko-KR" altLang="en-US" sz="1200" dirty="0">
                <a:latin typeface="Cambria Math"/>
                <a:ea typeface="Cambria Math"/>
              </a:rPr>
              <a:t>AIR</a:t>
            </a:r>
            <a:r>
              <a:rPr lang="ko-KR" altLang="en-US" sz="1200" dirty="0">
                <a:latin typeface="맑은 고딕"/>
                <a:ea typeface="맑은 고딕"/>
              </a:rPr>
              <a:t> · 유형 인지율). RQ2는 '완화로 늘어난 정답이 진짜 추론인지 우연인지'를, 완화 전후 같은 문항의 정답 변화를 경로별로 분해해 봅니다 — 신규 정답(</a:t>
            </a:r>
            <a:r>
              <a:rPr lang="ko-KR" altLang="en-US" sz="1200" dirty="0">
                <a:latin typeface="Cambria Math"/>
                <a:ea typeface="Cambria Math"/>
              </a:rPr>
              <a:t>LGR</a:t>
            </a:r>
            <a:r>
              <a:rPr lang="ko-KR" altLang="en-US" sz="1200" dirty="0">
                <a:latin typeface="맑은 고딕"/>
                <a:ea typeface="맑은 고딕"/>
              </a:rPr>
              <a:t>), 숨은 퇴행(</a:t>
            </a:r>
            <a:r>
              <a:rPr lang="ko-KR" altLang="en-US" sz="1200" dirty="0">
                <a:latin typeface="Cambria Math"/>
                <a:ea typeface="Cambria Math"/>
              </a:rPr>
              <a:t>HR</a:t>
            </a:r>
            <a:r>
              <a:rPr lang="ko-KR" altLang="en-US" sz="1200" dirty="0">
                <a:latin typeface="맑은 고딕"/>
                <a:ea typeface="맑은 고딕"/>
              </a:rPr>
              <a:t>), 뒤집힘(</a:t>
            </a:r>
            <a:r>
              <a:rPr lang="ko-KR" altLang="en-US" sz="1200" dirty="0">
                <a:latin typeface="Cambria Math"/>
                <a:ea typeface="Cambria Math"/>
              </a:rPr>
              <a:t>Flip</a:t>
            </a:r>
            <a:r>
              <a:rPr lang="ko-KR" altLang="en-US" sz="1200" dirty="0">
                <a:latin typeface="맑은 고딕"/>
                <a:ea typeface="맑은 고딕"/>
              </a:rPr>
              <a:t>)으로요.</a:t>
            </a:r>
          </a:p>
          <a:p>
            <a:pPr algn="l">
              <a:lnSpc>
                <a:spcPct val="118000"/>
              </a:lnSpc>
              <a:spcBef>
                <a:spcPts val="700"/>
              </a:spcBef>
              <a:spcAft>
                <a:spcPts val="300"/>
              </a:spcAft>
              <a:buNone/>
            </a:pPr>
            <a:endParaRPr lang="en-US" altLang="ko-KR" sz="1400" b="1">
              <a:latin typeface="맑은 고딕"/>
              <a:ea typeface="맑은 고딕"/>
            </a:endParaRPr>
          </a:p>
          <a:p>
            <a:pPr algn="l">
              <a:lnSpc>
                <a:spcPct val="118000"/>
              </a:lnSpc>
              <a:spcBef>
                <a:spcPts val="700"/>
              </a:spcBef>
              <a:spcAft>
                <a:spcPts val="300"/>
              </a:spcAft>
              <a:buNone/>
            </a:pPr>
            <a:r>
              <a:rPr lang="ko-KR" altLang="en-US" sz="1400" b="1">
                <a:latin typeface="맑은 고딕"/>
                <a:ea typeface="맑은 고딕"/>
              </a:rPr>
              <a:t>실험 </a:t>
            </a:r>
            <a:r>
              <a:rPr lang="ko-KR" altLang="en-US" sz="1400" b="1" dirty="0">
                <a:latin typeface="맑은 고딕"/>
                <a:ea typeface="맑은 고딕"/>
              </a:rPr>
              <a:t>2 — RQ3</a:t>
            </a:r>
          </a:p>
          <a:p>
            <a:pPr algn="l">
              <a:lnSpc>
                <a:spcPct val="118000"/>
              </a:lnSpc>
              <a:spcBef>
                <a:spcPts val="0"/>
              </a:spcBef>
              <a:spcAft>
                <a:spcPts val="400"/>
              </a:spcAft>
              <a:buNone/>
            </a:pPr>
            <a:r>
              <a:rPr lang="ko-KR" altLang="en-US" sz="1200" dirty="0">
                <a:latin typeface="맑은 고딕"/>
                <a:ea typeface="맑은 고딕"/>
              </a:rPr>
              <a:t>'관측된 불일치가 충돌 고유의 실패인지, 아니면 난이도·문서 수 증가의 부수 효과인지'를 봅니다. 난이도와 문서 수를 공변량으로 걷어낸 회귀에서 '충돌 자체'의 순효과 계수 </a:t>
            </a:r>
            <a:r>
              <a:rPr lang="ko-KR" altLang="en-US" sz="1200" dirty="0">
                <a:latin typeface="Cambria Math"/>
                <a:ea typeface="Cambria Math"/>
              </a:rPr>
              <a:t>β</a:t>
            </a:r>
            <a:r>
              <a:rPr lang="ko-KR" altLang="en-US" sz="1200" dirty="0">
                <a:latin typeface="맑은 고딕"/>
                <a:ea typeface="맑은 고딕"/>
              </a:rPr>
              <a:t>만 추정하고, 추론을 켜고 꺼 그 기여분을 분리합니다(지표 충돌 순효과 · </a:t>
            </a:r>
            <a:r>
              <a:rPr lang="ko-KR" altLang="en-US" sz="1200" dirty="0">
                <a:latin typeface="Cambria Math"/>
                <a:ea typeface="Cambria Math"/>
              </a:rPr>
              <a:t>AIR</a:t>
            </a:r>
            <a:r>
              <a:rPr lang="ko-KR" altLang="en-US" sz="1200" dirty="0">
                <a:latin typeface="맑은 고딕"/>
                <a:ea typeface="맑은 고딕"/>
              </a:rPr>
              <a:t> · </a:t>
            </a:r>
            <a:r>
              <a:rPr lang="ko-KR" altLang="en-US" sz="1200" dirty="0">
                <a:latin typeface="Cambria Math"/>
                <a:ea typeface="Cambria Math"/>
              </a:rPr>
              <a:t>Shortcut</a:t>
            </a:r>
            <a:r>
              <a:rPr lang="ko-KR" altLang="en-US" sz="1200" dirty="0">
                <a:latin typeface="맑은 고딕"/>
                <a:ea typeface="맑은 고딕"/>
              </a:rPr>
              <a:t>).</a:t>
            </a:r>
          </a:p>
          <a:p>
            <a:pPr algn="l">
              <a:lnSpc>
                <a:spcPct val="118000"/>
              </a:lnSpc>
              <a:spcBef>
                <a:spcPts val="700"/>
              </a:spcBef>
              <a:spcAft>
                <a:spcPts val="300"/>
              </a:spcAft>
              <a:buNone/>
            </a:pPr>
            <a:endParaRPr lang="en-US" altLang="ko-KR" sz="1400" b="1">
              <a:latin typeface="맑은 고딕"/>
              <a:ea typeface="맑은 고딕"/>
            </a:endParaRPr>
          </a:p>
          <a:p>
            <a:pPr algn="l">
              <a:lnSpc>
                <a:spcPct val="118000"/>
              </a:lnSpc>
              <a:spcBef>
                <a:spcPts val="700"/>
              </a:spcBef>
              <a:spcAft>
                <a:spcPts val="300"/>
              </a:spcAft>
              <a:buNone/>
            </a:pPr>
            <a:r>
              <a:rPr lang="ko-KR" altLang="en-US" sz="1400" b="1">
                <a:latin typeface="맑은 고딕"/>
                <a:ea typeface="맑은 고딕"/>
              </a:rPr>
              <a:t>실험 </a:t>
            </a:r>
            <a:r>
              <a:rPr lang="ko-KR" altLang="en-US" sz="1400" b="1" dirty="0">
                <a:latin typeface="맑은 고딕"/>
                <a:ea typeface="맑은 고딕"/>
              </a:rPr>
              <a:t>3 — RQ4</a:t>
            </a:r>
          </a:p>
          <a:p>
            <a:pPr algn="l">
              <a:lnSpc>
                <a:spcPct val="118000"/>
              </a:lnSpc>
              <a:spcBef>
                <a:spcPts val="0"/>
              </a:spcBef>
              <a:spcAft>
                <a:spcPts val="400"/>
              </a:spcAft>
              <a:buNone/>
            </a:pPr>
            <a:r>
              <a:rPr lang="ko-KR" altLang="en-US" sz="1200" dirty="0">
                <a:latin typeface="맑은 고딕"/>
                <a:ea typeface="맑은 고딕"/>
              </a:rPr>
              <a:t>'추론 결론이 최종 답에 인과적으로 영향을 주는가'를 봅니다. 맞힌 문항의 추론을 잘라 보거나 다시 생성해 답이 바뀌는지를 측정하고, 경로별로 얼마나 뒤집히는지를 비교합니다(지표 정답 한정 답 변화율 · 경로별 취약성).</a:t>
            </a:r>
          </a:p>
          <a:p>
            <a:pPr algn="l">
              <a:lnSpc>
                <a:spcPct val="118000"/>
              </a:lnSpc>
              <a:spcBef>
                <a:spcPts val="700"/>
              </a:spcBef>
              <a:spcAft>
                <a:spcPts val="300"/>
              </a:spcAft>
              <a:buNone/>
            </a:pPr>
            <a:endParaRPr lang="en-US" altLang="ko-KR" sz="1400" b="1">
              <a:latin typeface="맑은 고딕"/>
              <a:ea typeface="맑은 고딕"/>
            </a:endParaRPr>
          </a:p>
          <a:p>
            <a:pPr algn="l">
              <a:lnSpc>
                <a:spcPct val="118000"/>
              </a:lnSpc>
              <a:spcBef>
                <a:spcPts val="700"/>
              </a:spcBef>
              <a:spcAft>
                <a:spcPts val="300"/>
              </a:spcAft>
              <a:buNone/>
            </a:pPr>
            <a:r>
              <a:rPr lang="ko-KR" altLang="en-US" sz="1400" b="1">
                <a:latin typeface="맑은 고딕"/>
                <a:ea typeface="맑은 고딕"/>
              </a:rPr>
              <a:t>정리</a:t>
            </a:r>
            <a:endParaRPr lang="ko-KR" altLang="en-US" sz="1400" b="1" dirty="0">
              <a:latin typeface="맑은 고딕"/>
              <a:ea typeface="맑은 고딕"/>
            </a:endParaRPr>
          </a:p>
          <a:p>
            <a:pPr algn="l">
              <a:lnSpc>
                <a:spcPct val="118000"/>
              </a:lnSpc>
              <a:spcBef>
                <a:spcPts val="0"/>
              </a:spcBef>
              <a:spcAft>
                <a:spcPts val="400"/>
              </a:spcAft>
              <a:buNone/>
            </a:pPr>
            <a:r>
              <a:rPr lang="ko-KR" altLang="en-US" sz="1200" dirty="0">
                <a:latin typeface="맑은 고딕"/>
                <a:ea typeface="맑은 고딕"/>
              </a:rPr>
              <a:t>요컨대 네 질문이 두 축 — '무엇이 일어났나'라는 진단과 '그게 충돌·추론 때문인가'라는 인과 — 로 나뉘고, 질문마다 판정 방법과 지표가 일대일로 붙어 있습니다. 그래서 이후 결과를 이 틀에 그대로 대응시켜 읽으면 됩니다.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17</a:t>
            </a:fld>
            <a:endParaRPr kumimoji="1" lang="ko-KR" altLang="en-US"/>
          </a:p>
        </p:txBody>
      </p:sp>
    </p:spTree>
    <p:extLst>
      <p:ext uri="{BB962C8B-B14F-4D97-AF65-F5344CB8AC3E}">
        <p14:creationId xmlns:p14="http://schemas.microsoft.com/office/powerpoint/2010/main" val="3998929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실험 설계를 봤으니, 이제 어떤 모델로 돌렸는지입니다. 모델 세 개를 골랐는데, 무엇보다 '왜 이 세 개인가'라는 선정 원칙이 </a:t>
            </a:r>
            <a:r>
              <a:rPr lang="ko-KR" altLang="en-US" sz="1200">
                <a:latin typeface="맑은 고딕"/>
                <a:ea typeface="맑은 고딕"/>
              </a:rPr>
              <a:t>핵심입니다.</a:t>
            </a:r>
            <a:endParaRPr lang="en-US" altLang="ko-KR" sz="1200">
              <a:latin typeface="맑은 고딕"/>
              <a:ea typeface="맑은 고딕"/>
            </a:endParaRPr>
          </a:p>
          <a:p>
            <a:pPr algn="l">
              <a:lnSpc>
                <a:spcPct val="118000"/>
              </a:lnSpc>
              <a:spcBef>
                <a:spcPts val="0"/>
              </a:spcBef>
              <a:spcAft>
                <a:spcPts val="400"/>
              </a:spcAft>
              <a:buNone/>
            </a:pPr>
            <a:endParaRPr lang="ko-KR" altLang="en-US" sz="1200">
              <a:latin typeface="맑은 고딕"/>
              <a:ea typeface="맑은 고딕"/>
            </a:endParaRPr>
          </a:p>
          <a:p>
            <a:pPr algn="l">
              <a:lnSpc>
                <a:spcPct val="118000"/>
              </a:lnSpc>
              <a:spcBef>
                <a:spcPts val="700"/>
              </a:spcBef>
              <a:spcAft>
                <a:spcPts val="300"/>
              </a:spcAft>
              <a:buNone/>
            </a:pPr>
            <a:r>
              <a:rPr lang="ko-KR" altLang="en-US" sz="1400" b="1">
                <a:latin typeface="맑은 고딕"/>
                <a:ea typeface="맑은 고딕"/>
              </a:rPr>
              <a:t>대상 </a:t>
            </a:r>
            <a:r>
              <a:rPr lang="ko-KR" altLang="en-US" sz="1400" b="1" dirty="0">
                <a:latin typeface="맑은 고딕"/>
                <a:ea typeface="맑은 고딕"/>
              </a:rPr>
              <a:t>모델 3종</a:t>
            </a:r>
          </a:p>
          <a:p>
            <a:pPr algn="l">
              <a:lnSpc>
                <a:spcPct val="118000"/>
              </a:lnSpc>
              <a:spcBef>
                <a:spcPts val="0"/>
              </a:spcBef>
              <a:spcAft>
                <a:spcPts val="400"/>
              </a:spcAft>
              <a:buNone/>
            </a:pPr>
            <a:r>
              <a:rPr lang="ko-KR" altLang="en-US" sz="1200" dirty="0">
                <a:latin typeface="맑은 고딕"/>
                <a:ea typeface="맑은 고딕"/>
              </a:rPr>
              <a:t>주력은 Qwen3.6-27B입니다. think 채널을 하드 토글로 켜고 끌 수 있어 추론이 있을 때와 없을 때를 비교하는 기준이 됩니다. Gemma-3-27B는 같은 크기의 다른 계열(구글) 덴스 모델로, 현상이 계열을 넘어 재현되는지 보되 추론 토글이 없어 추론 채널 실험(RQ3b)에는 빠집니다. gpt-oss-20b는 MoE 구조에서도 재현되는지 보는 교차 검증용으로, 전용 파서로 같은 프로토콜을 적용하되 파싱 방식 차이는 교란 변인으로 명시합니다.</a:t>
            </a:r>
          </a:p>
          <a:p>
            <a:pPr algn="l">
              <a:lnSpc>
                <a:spcPct val="118000"/>
              </a:lnSpc>
              <a:spcBef>
                <a:spcPts val="700"/>
              </a:spcBef>
              <a:spcAft>
                <a:spcPts val="300"/>
              </a:spcAft>
              <a:buNone/>
            </a:pPr>
            <a:endParaRPr lang="en-US" altLang="ko-KR" sz="1400" b="1">
              <a:latin typeface="맑은 고딕"/>
              <a:ea typeface="맑은 고딕"/>
            </a:endParaRPr>
          </a:p>
          <a:p>
            <a:pPr algn="l">
              <a:lnSpc>
                <a:spcPct val="118000"/>
              </a:lnSpc>
              <a:spcBef>
                <a:spcPts val="700"/>
              </a:spcBef>
              <a:spcAft>
                <a:spcPts val="300"/>
              </a:spcAft>
              <a:buNone/>
            </a:pPr>
            <a:r>
              <a:rPr lang="ko-KR" altLang="en-US" sz="1400" b="1">
                <a:latin typeface="맑은 고딕"/>
                <a:ea typeface="맑은 고딕"/>
              </a:rPr>
              <a:t>선정 </a:t>
            </a:r>
            <a:r>
              <a:rPr lang="ko-KR" altLang="en-US" sz="1400" b="1" dirty="0">
                <a:latin typeface="맑은 고딕"/>
                <a:ea typeface="맑은 고딕"/>
              </a:rPr>
              <a:t>원칙</a:t>
            </a:r>
          </a:p>
          <a:p>
            <a:pPr algn="l">
              <a:lnSpc>
                <a:spcPct val="118000"/>
              </a:lnSpc>
              <a:spcBef>
                <a:spcPts val="0"/>
              </a:spcBef>
              <a:spcAft>
                <a:spcPts val="400"/>
              </a:spcAft>
              <a:buNone/>
            </a:pPr>
            <a:r>
              <a:rPr lang="ko-KR" altLang="en-US" sz="1200" dirty="0">
                <a:latin typeface="맑은 고딕"/>
                <a:ea typeface="맑은 고딕"/>
              </a:rPr>
              <a:t>고른 기준은 셋입니다. 첫째, 네이티브 추론 모델만 씁니다 — 증류(SFT) 모델은 트레이스가 장식일 위험이 있어 제외합니다. 둘째, 20~32B 오픈 가중치만 씁니다 — 사고 과정을 통째로 읽어 라벨링해야 하는데 폐쇄형 API는 이를 숨기거나 요약만 주기 때문이고, 이 규모가 제대로 된 추론이 나타나면서도 양자화 없이 반복 실행해 재현할 수 있는 지점이기 때문입니다. 셋째, 추론 유무를 교차합니다 — 추론을 내보내는 두 모델과 추론이 없는 한 모델을 나란히 놓아, 관찰된 현상이 추론 자체 때문인지 모델·계열 고유 특성인지 가려냅니다.</a:t>
            </a:r>
          </a:p>
          <a:p>
            <a:pPr algn="l">
              <a:lnSpc>
                <a:spcPct val="118000"/>
              </a:lnSpc>
              <a:spcBef>
                <a:spcPts val="700"/>
              </a:spcBef>
              <a:spcAft>
                <a:spcPts val="300"/>
              </a:spcAft>
              <a:buNone/>
            </a:pPr>
            <a:endParaRPr lang="en-US" altLang="ko-KR" sz="1400" b="1">
              <a:latin typeface="맑은 고딕"/>
              <a:ea typeface="맑은 고딕"/>
            </a:endParaRPr>
          </a:p>
          <a:p>
            <a:pPr algn="l">
              <a:lnSpc>
                <a:spcPct val="118000"/>
              </a:lnSpc>
              <a:spcBef>
                <a:spcPts val="700"/>
              </a:spcBef>
              <a:spcAft>
                <a:spcPts val="300"/>
              </a:spcAft>
              <a:buNone/>
            </a:pPr>
            <a:r>
              <a:rPr lang="ko-KR" altLang="en-US" sz="1400" b="1">
                <a:latin typeface="맑은 고딕"/>
                <a:ea typeface="맑은 고딕"/>
              </a:rPr>
              <a:t>정리</a:t>
            </a:r>
            <a:endParaRPr lang="ko-KR" altLang="en-US" sz="1400" b="1" dirty="0">
              <a:latin typeface="맑은 고딕"/>
              <a:ea typeface="맑은 고딕"/>
            </a:endParaRPr>
          </a:p>
          <a:p>
            <a:pPr algn="l">
              <a:lnSpc>
                <a:spcPct val="118000"/>
              </a:lnSpc>
              <a:spcBef>
                <a:spcPts val="0"/>
              </a:spcBef>
              <a:spcAft>
                <a:spcPts val="400"/>
              </a:spcAft>
              <a:buNone/>
            </a:pPr>
            <a:r>
              <a:rPr lang="ko-KR" altLang="en-US" sz="1200" dirty="0">
                <a:latin typeface="맑은 고딕"/>
                <a:ea typeface="맑은 고딕"/>
              </a:rPr>
              <a:t>요컨대 '왜 다른 모델은 뺐나'가 아니라, 트레이스를 직접 읽고 추론 유무를 통제할 수 있는 조건을 만족하는 모델만 골라 해석 가능성과 재현성을 확보했다는 게 핵심입니다. 디코딩도 </a:t>
            </a:r>
            <a:r>
              <a:rPr lang="ko-KR" altLang="en-US" sz="1200" dirty="0">
                <a:latin typeface="Cambria Math"/>
                <a:ea typeface="Cambria Math"/>
              </a:rPr>
              <a:t>t = 0.6, top-p 0.95</a:t>
            </a:r>
            <a:r>
              <a:rPr lang="ko-KR" altLang="en-US" sz="1200" dirty="0">
                <a:latin typeface="맑은 고딕"/>
                <a:ea typeface="맑은 고딕"/>
              </a:rPr>
              <a:t>에 시드 다섯 개 이상, 신뢰구간은 Paired Bootstrap 95%로 고정해 재현성을 맞췄습니다.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18</a:t>
            </a:fld>
            <a:endParaRPr kumimoji="1" lang="ko-KR" altLang="en-US"/>
          </a:p>
        </p:txBody>
      </p:sp>
    </p:spTree>
    <p:extLst>
      <p:ext uri="{BB962C8B-B14F-4D97-AF65-F5344CB8AC3E}">
        <p14:creationId xmlns:p14="http://schemas.microsoft.com/office/powerpoint/2010/main" val="27474190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앞서 모델을 정했으니, 이제 실험 1의 평가 환경과 실행 방법입니다. 완화 기법을 다섯 개 환경으로 놓고, 그 위에서 RQ1 진단을 돌립니다.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다섯 개 평가 환경</a:t>
            </a:r>
          </a:p>
          <a:p>
            <a:pPr algn="l">
              <a:lnSpc>
                <a:spcPct val="118000"/>
              </a:lnSpc>
              <a:spcBef>
                <a:spcPts val="0"/>
              </a:spcBef>
              <a:spcAft>
                <a:spcPts val="400"/>
              </a:spcAft>
              <a:buNone/>
            </a:pPr>
            <a:r>
              <a:rPr lang="ko-KR" altLang="en-US" sz="1200" dirty="0">
                <a:latin typeface="맑은 고딕"/>
                <a:ea typeface="맑은 고딕"/>
              </a:rPr>
              <a:t>기준은 Standard RAG입니다. 검색 문서를 그대로 넣는 기본 구성이라 나머지를 재는 기저선이 됩니다. 나머지 넷은 완화 기법인데, 디코딩 계열 둘과 프롬프트 계열 둘로 나뉩니다. CAD는 문맥이 있을 때와 없을 때의 로짓 차이를 증폭해 문맥을 더 믿게 하고, CD2는 충돌 자체를 분리해 정답 쪽 확신을 재보정합니다 — 특히 CD2는 본 연구의 해소(L2) 진단과 직접 맞물립니다. 프롬프트 쪽은 Recency/Authority가 날짜·출처 권위를 우선하게 유도하고(메타데이터가 없는 RAMDocs는 제외), Reflection은 자기 결론이 근거와 맞는지 스스로 재검토하게 합니다.</a:t>
            </a:r>
          </a:p>
          <a:p>
            <a:pPr algn="l">
              <a:lnSpc>
                <a:spcPct val="118000"/>
              </a:lnSpc>
              <a:spcBef>
                <a:spcPts val="700"/>
              </a:spcBef>
              <a:spcAft>
                <a:spcPts val="300"/>
              </a:spcAft>
              <a:buNone/>
            </a:pPr>
            <a:endParaRPr lang="en-US" altLang="ko-KR" sz="1400" b="1"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실행 방법과 관점</a:t>
            </a:r>
          </a:p>
          <a:p>
            <a:pPr algn="l">
              <a:lnSpc>
                <a:spcPct val="118000"/>
              </a:lnSpc>
              <a:spcBef>
                <a:spcPts val="0"/>
              </a:spcBef>
              <a:spcAft>
                <a:spcPts val="400"/>
              </a:spcAft>
              <a:buNone/>
            </a:pPr>
            <a:r>
              <a:rPr lang="ko-KR" altLang="en-US" sz="1200" dirty="0">
                <a:latin typeface="맑은 고딕"/>
                <a:ea typeface="맑은 고딕"/>
              </a:rPr>
              <a:t>다섯 개 환경 × 세 모델 × 세 데이터셋을 순서를 섞어 전부 돌려서, 환경별 '전환 행렬'을 뽑습니다. 여기서 관심은 완화 기법의 성능 순위가 아닙니다 — 이 기법들 대부분이 추론이 없는 모델용으로 나온 것이라, 추론 모델에 얹었을 때 정답 경로가 어떻게 바뀌는가가 핵심입니다. 안정성을 위해 문항마다 시드를 여러 번 반복해 가장 자주 나온 경로를 대표로 삼고, 과반에 못 미치면 '불안정'으로 따로 뺍니다.</a:t>
            </a:r>
          </a:p>
          <a:p>
            <a:pPr algn="l">
              <a:lnSpc>
                <a:spcPct val="118000"/>
              </a:lnSpc>
              <a:spcBef>
                <a:spcPts val="700"/>
              </a:spcBef>
              <a:spcAft>
                <a:spcPts val="300"/>
              </a:spcAft>
              <a:buNone/>
            </a:pPr>
            <a:endParaRPr lang="en-US" altLang="ko-KR" sz="1400" b="1"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RQ1 진단</a:t>
            </a:r>
          </a:p>
          <a:p>
            <a:pPr algn="l">
              <a:lnSpc>
                <a:spcPct val="118000"/>
              </a:lnSpc>
              <a:spcBef>
                <a:spcPts val="0"/>
              </a:spcBef>
              <a:spcAft>
                <a:spcPts val="400"/>
              </a:spcAft>
              <a:buNone/>
            </a:pPr>
            <a:r>
              <a:rPr lang="ko-KR" altLang="en-US" sz="1200" dirty="0">
                <a:latin typeface="맑은 고딕"/>
                <a:ea typeface="맑은 고딕"/>
              </a:rPr>
              <a:t>그렇게 나온 산출물, 즉 궤적과 전환 행렬에 앞서 만든 3단계 프로토콜을 적용해, 불일치가 있는지와 그것이 탐지·해소·표출 중 어느 단계에서 생기는지를 문항 단위로 판정합니다. 여기서부터 실제 진단 결과가 나오기 시작합니다.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19</a:t>
            </a:fld>
            <a:endParaRPr kumimoji="1" lang="ko-KR" altLang="en-US"/>
          </a:p>
        </p:txBody>
      </p:sp>
    </p:spTree>
    <p:extLst>
      <p:ext uri="{BB962C8B-B14F-4D97-AF65-F5344CB8AC3E}">
        <p14:creationId xmlns:p14="http://schemas.microsoft.com/office/powerpoint/2010/main" val="9584243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앞서 전환 행렬을 얻었으니, RQ2는 그걸로 '완화가 올린 정답률이 진짜 실력인지 표면 점수인지'를 가립니다. 핵심은, 순 정답률(</a:t>
            </a:r>
            <a:r>
              <a:rPr lang="ko-KR" altLang="en-US" sz="1200" dirty="0">
                <a:latin typeface="Cambria Math"/>
                <a:ea typeface="Cambria Math"/>
              </a:rPr>
              <a:t>net EM</a:t>
            </a:r>
            <a:r>
              <a:rPr lang="ko-KR" altLang="en-US" sz="1200" dirty="0">
                <a:latin typeface="맑은 고딕"/>
                <a:ea typeface="맑은 고딕"/>
              </a:rPr>
              <a:t>)만 보면 개선과 퇴행이 서로 상쇄돼 실제로 무슨 일이 있었는지가 감춰진다는 점입니다.</a:t>
            </a:r>
          </a:p>
          <a:p>
            <a:pPr algn="l">
              <a:lnSpc>
                <a:spcPct val="118000"/>
              </a:lnSpc>
              <a:spcBef>
                <a:spcPts val="700"/>
              </a:spcBef>
              <a:spcAft>
                <a:spcPts val="300"/>
              </a:spcAft>
              <a:buNone/>
            </a:pPr>
            <a:endParaRPr lang="en-US" altLang="ko-KR" sz="1400" b="1"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세 지표 — LGR · HR · Flip</a:t>
            </a:r>
          </a:p>
          <a:p>
            <a:pPr algn="l">
              <a:lnSpc>
                <a:spcPct val="118000"/>
              </a:lnSpc>
              <a:spcBef>
                <a:spcPts val="0"/>
              </a:spcBef>
              <a:spcAft>
                <a:spcPts val="400"/>
              </a:spcAft>
              <a:buNone/>
            </a:pPr>
            <a:r>
              <a:rPr lang="ko-KR" altLang="en-US" sz="1200" dirty="0">
                <a:latin typeface="Cambria Math"/>
                <a:ea typeface="Cambria Math"/>
              </a:rPr>
              <a:t>LGR</a:t>
            </a:r>
            <a:r>
              <a:rPr lang="ko-KR" altLang="en-US" sz="1200" dirty="0">
                <a:latin typeface="맑은 고딕"/>
                <a:ea typeface="맑은 고딕"/>
              </a:rPr>
              <a:t>(정당 이득 비율)은 새로 맞은 정답 중 제대로 추론한 '정상 경로'의 비율입니다 — 높으면 진짜 이득, 낮으면 표면 이득입니다. </a:t>
            </a:r>
            <a:r>
              <a:rPr lang="ko-KR" altLang="en-US" sz="1200" dirty="0">
                <a:latin typeface="Cambria Math"/>
                <a:ea typeface="Cambria Math"/>
              </a:rPr>
              <a:t>HR</a:t>
            </a:r>
            <a:r>
              <a:rPr lang="ko-KR" altLang="en-US" sz="1200" dirty="0">
                <a:latin typeface="맑은 고딕"/>
                <a:ea typeface="맑은 고딕"/>
              </a:rPr>
              <a:t>(숨은 퇴행율)은 원래 정상적으로 맞던 문항이 오답·기권으로 무너진 비율로, 클수록 </a:t>
            </a:r>
            <a:r>
              <a:rPr lang="ko-KR" altLang="en-US" sz="1200" dirty="0">
                <a:latin typeface="Cambria Math"/>
                <a:ea typeface="Cambria Math"/>
              </a:rPr>
              <a:t>EM</a:t>
            </a:r>
            <a:r>
              <a:rPr lang="ko-KR" altLang="en-US" sz="1200" dirty="0">
                <a:latin typeface="맑은 고딕"/>
                <a:ea typeface="맑은 고딕"/>
              </a:rPr>
              <a:t>이 올라도 이득의 신뢰도를 깎아야 합니다. </a:t>
            </a:r>
            <a:r>
              <a:rPr lang="ko-KR" altLang="en-US" sz="1200" dirty="0">
                <a:latin typeface="Cambria Math"/>
                <a:ea typeface="Cambria Math"/>
              </a:rPr>
              <a:t>Flip</a:t>
            </a:r>
            <a:r>
              <a:rPr lang="ko-KR" altLang="en-US" sz="1200" dirty="0">
                <a:latin typeface="맑은 고딕"/>
                <a:ea typeface="맑은 고딕"/>
              </a:rPr>
              <a:t>(역전율)은 정답과 오답이 서로 뒤집힌 비율로, </a:t>
            </a:r>
            <a:r>
              <a:rPr lang="ko-KR" altLang="en-US" sz="1200" dirty="0">
                <a:latin typeface="Cambria Math"/>
                <a:ea typeface="Cambria Math"/>
              </a:rPr>
              <a:t>net EM</a:t>
            </a:r>
            <a:r>
              <a:rPr lang="ko-KR" altLang="en-US" sz="1200" dirty="0">
                <a:latin typeface="맑은 고딕"/>
                <a:ea typeface="맑은 고딕"/>
              </a:rPr>
              <a:t>이 0이어도 값이 크면 내부가 불안정하게 요동친다는 뜻입니다.</a:t>
            </a:r>
          </a:p>
          <a:p>
            <a:pPr algn="l">
              <a:lnSpc>
                <a:spcPct val="118000"/>
              </a:lnSpc>
              <a:spcBef>
                <a:spcPts val="700"/>
              </a:spcBef>
              <a:spcAft>
                <a:spcPts val="300"/>
              </a:spcAft>
              <a:buNone/>
            </a:pPr>
            <a:endParaRPr lang="en-US" altLang="ko-KR" sz="1400" b="1"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계산과 판정</a:t>
            </a:r>
          </a:p>
          <a:p>
            <a:pPr algn="l">
              <a:lnSpc>
                <a:spcPct val="118000"/>
              </a:lnSpc>
              <a:spcBef>
                <a:spcPts val="0"/>
              </a:spcBef>
              <a:spcAft>
                <a:spcPts val="400"/>
              </a:spcAft>
              <a:buNone/>
            </a:pPr>
            <a:r>
              <a:rPr lang="ko-KR" altLang="en-US" sz="1200" dirty="0">
                <a:latin typeface="맑은 고딕"/>
                <a:ea typeface="맑은 고딕"/>
              </a:rPr>
              <a:t>이 지표들은 케이스(모델×환경)마다 전환 행렬에서 바로 계산됩니다. 예컨대 </a:t>
            </a:r>
            <a:r>
              <a:rPr lang="ko-KR" altLang="en-US" sz="1200" dirty="0">
                <a:latin typeface="Cambria Math"/>
                <a:ea typeface="Cambria Math"/>
              </a:rPr>
              <a:t>LGR = n(W→L) / ( n(W→L) + n(A→L) )</a:t>
            </a:r>
            <a:r>
              <a:rPr lang="ko-KR" altLang="en-US" sz="1200" dirty="0">
                <a:latin typeface="맑은 고딕"/>
                <a:ea typeface="맑은 고딕"/>
              </a:rPr>
              <a:t> 처럼, 오답에서 정상으로 바뀐 칸을 새 정답의 분자로 삼는 식입니다. 종합 판정은 분명합니다 — </a:t>
            </a:r>
            <a:r>
              <a:rPr lang="ko-KR" altLang="en-US" sz="1200" dirty="0">
                <a:latin typeface="Cambria Math"/>
                <a:ea typeface="Cambria Math"/>
              </a:rPr>
              <a:t>LGR</a:t>
            </a:r>
            <a:r>
              <a:rPr lang="ko-KR" altLang="en-US" sz="1200" dirty="0">
                <a:latin typeface="맑은 고딕"/>
                <a:ea typeface="맑은 고딕"/>
              </a:rPr>
              <a:t>이 높고 </a:t>
            </a:r>
            <a:r>
              <a:rPr lang="ko-KR" altLang="en-US" sz="1200" dirty="0">
                <a:latin typeface="Cambria Math"/>
                <a:ea typeface="Cambria Math"/>
              </a:rPr>
              <a:t>HR</a:t>
            </a:r>
            <a:r>
              <a:rPr lang="ko-KR" altLang="en-US" sz="1200" dirty="0">
                <a:latin typeface="맑은 고딕"/>
                <a:ea typeface="맑은 고딕"/>
              </a:rPr>
              <a:t>·</a:t>
            </a:r>
            <a:r>
              <a:rPr lang="ko-KR" altLang="en-US" sz="1200" dirty="0">
                <a:latin typeface="Cambria Math"/>
                <a:ea typeface="Cambria Math"/>
              </a:rPr>
              <a:t>Flip</a:t>
            </a:r>
            <a:r>
              <a:rPr lang="ko-KR" altLang="en-US" sz="1200" dirty="0">
                <a:latin typeface="맑은 고딕"/>
                <a:ea typeface="맑은 고딕"/>
              </a:rPr>
              <a:t>이 낮은 케이스만 완화 이득을 신뢰합니다. 정답률이 올랐다는 사실 하나로 완화가 통했다고 말하지 않는 것이 이 장의 요지입니다.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20</a:t>
            </a:fld>
            <a:endParaRPr kumimoji="1" lang="ko-KR" altLang="en-US"/>
          </a:p>
        </p:txBody>
      </p:sp>
    </p:spTree>
    <p:extLst>
      <p:ext uri="{BB962C8B-B14F-4D97-AF65-F5344CB8AC3E}">
        <p14:creationId xmlns:p14="http://schemas.microsoft.com/office/powerpoint/2010/main" val="29267501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실험 2는 RQ3, '앞서 본 실패가 정말 충돌 때문인지 아니면 그냥 문서가 많고 어려워서인지'를 대조 설계로 가립니다. 핵심은 같은 문항을 조건만 바꿔 짝지어 비교하는 것입니다.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네 조건 — ⓐ · ⓑ · ⓑ′ · ⓒ</a:t>
            </a:r>
          </a:p>
          <a:p>
            <a:pPr algn="l">
              <a:lnSpc>
                <a:spcPct val="118000"/>
              </a:lnSpc>
              <a:spcBef>
                <a:spcPts val="0"/>
              </a:spcBef>
              <a:spcAft>
                <a:spcPts val="400"/>
              </a:spcAft>
              <a:buNone/>
            </a:pPr>
            <a:r>
              <a:rPr lang="ko-KR" altLang="en-US" sz="1200" dirty="0">
                <a:latin typeface="맑은 고딕"/>
                <a:ea typeface="맑은 고딕"/>
              </a:rPr>
              <a:t>ⓐ 원본은 충돌이 실제로 들어 있는 문서 세트로, 모든 비교의 기준입니다. ⓑ는 같은 문항에서 충돌 청크만 노이즈로 바꿔, 문서 수·주제·난이도는 그대로 두고 충돌만 뺀 조건입니다. 그래서 ⓐ와 ⓑ를 짝지어 비교하면 충돌의 순효과 </a:t>
            </a:r>
            <a:r>
              <a:rPr lang="ko-KR" altLang="en-US" sz="1200" dirty="0">
                <a:latin typeface="Cambria Math"/>
                <a:ea typeface="Cambria Math"/>
              </a:rPr>
              <a:t>Δ = Acc(ⓑ) − Acc(ⓐ)</a:t>
            </a:r>
            <a:r>
              <a:rPr lang="ko-KR" altLang="en-US" sz="1200" dirty="0">
                <a:latin typeface="맑은 고딕"/>
                <a:ea typeface="맑은 고딕"/>
              </a:rPr>
              <a:t>가 나옵니다.</a:t>
            </a:r>
          </a:p>
          <a:p>
            <a:pPr algn="l">
              <a:lnSpc>
                <a:spcPct val="118000"/>
              </a:lnSpc>
              <a:spcBef>
                <a:spcPts val="0"/>
              </a:spcBef>
              <a:spcAft>
                <a:spcPts val="400"/>
              </a:spcAft>
              <a:buNone/>
            </a:pPr>
            <a:r>
              <a:rPr lang="ko-KR" altLang="en-US" sz="1200" dirty="0">
                <a:latin typeface="맑은 고딕"/>
                <a:ea typeface="맑은 고딕"/>
              </a:rPr>
              <a:t>ⓑ′는 위약 대조입니다. 충돌은 그대로 두고 무관한 문서를 같은 양의 노이즈로 바꾸는데, 만약 ⓑ′가 ⓐ와 비슷하면 '문서를 교체하는 행위 자체'는 무해하다는 뜻이라, ⓑ의 개선이 순수하게 충돌 제거 덕분임을 보증해 줍니다. ⓒ는 원래 충돌이 없는 다른 문항으로, 문항이 달라 인과 비교엔 쓰지 못하고 난이도·문서 수를 보정한 뒤 ⓑ가 자연 상태와 실질적으로 차이가 없는지만 보는 참고용(동등성 검정)입니다.</a:t>
            </a:r>
          </a:p>
          <a:p>
            <a:pPr algn="l">
              <a:lnSpc>
                <a:spcPct val="118000"/>
              </a:lnSpc>
              <a:spcBef>
                <a:spcPts val="700"/>
              </a:spcBef>
              <a:spcAft>
                <a:spcPts val="300"/>
              </a:spcAft>
              <a:buNone/>
            </a:pPr>
            <a:endParaRPr lang="en-US" altLang="ko-KR" sz="1400" b="1"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핵심 — 인과는 ⓐ↔ⓑ에서만</a:t>
            </a:r>
          </a:p>
          <a:p>
            <a:pPr algn="l">
              <a:lnSpc>
                <a:spcPct val="118000"/>
              </a:lnSpc>
              <a:spcBef>
                <a:spcPts val="0"/>
              </a:spcBef>
              <a:spcAft>
                <a:spcPts val="400"/>
              </a:spcAft>
              <a:buNone/>
            </a:pPr>
            <a:r>
              <a:rPr lang="ko-KR" altLang="en-US" sz="1200" dirty="0">
                <a:latin typeface="맑은 고딕"/>
                <a:ea typeface="맑은 고딕"/>
              </a:rPr>
              <a:t>정리하면 인과 결론은 오직 같은 문항을 짝지은 ⓐ↔ⓑ 비교에서만 나오고, ⓑ′는 조작 부작용 차단, ⓒ는 현실성 참고입니다. 이렇게 난이도·문서 수 같은 교란을 통제해, 관측된 성능 저하가 '충돌 그 자체' 때문임을 깨끗하게 분리하는 것이 이 설계의 핵심입니다.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21</a:t>
            </a:fld>
            <a:endParaRPr kumimoji="1" lang="ko-KR" altLang="en-US"/>
          </a:p>
        </p:txBody>
      </p:sp>
    </p:spTree>
    <p:extLst>
      <p:ext uri="{BB962C8B-B14F-4D97-AF65-F5344CB8AC3E}">
        <p14:creationId xmlns:p14="http://schemas.microsoft.com/office/powerpoint/2010/main" val="40642720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실험 3은 RQ4, '추론이 답을 실제로 구동하는지'를 추론 채널을 격리하고 직접 개입해 인과로 증명합니다. 두 단계로 진행합니다.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1단계 — 추론 켜고/끄기</a:t>
            </a:r>
          </a:p>
          <a:p>
            <a:pPr algn="l">
              <a:lnSpc>
                <a:spcPct val="118000"/>
              </a:lnSpc>
              <a:spcBef>
                <a:spcPts val="0"/>
              </a:spcBef>
              <a:spcAft>
                <a:spcPts val="400"/>
              </a:spcAft>
              <a:buNone/>
            </a:pPr>
            <a:r>
              <a:rPr lang="ko-KR" altLang="en-US" sz="1200" dirty="0">
                <a:latin typeface="맑은 고딕"/>
                <a:ea typeface="맑은 고딕"/>
              </a:rPr>
              <a:t>같은 문항을 추론을 켜고 끈 채로 돌려 정답률 차이를 짝지어 비교합니다. 특히 껐을 때 맞던 문항이 켰을 때 틀리는 뒤집힘이 있으면, 그 원인(</a:t>
            </a:r>
            <a:r>
              <a:rPr lang="ko-KR" altLang="en-US" sz="1200" dirty="0">
                <a:latin typeface="Cambria Math"/>
                <a:ea typeface="Cambria Math"/>
              </a:rPr>
              <a:t>AIR</a:t>
            </a:r>
            <a:r>
              <a:rPr lang="ko-KR" altLang="en-US" sz="1200" dirty="0">
                <a:latin typeface="맑은 고딕"/>
                <a:ea typeface="맑은 고딕"/>
              </a:rPr>
              <a:t>·</a:t>
            </a:r>
            <a:r>
              <a:rPr lang="ko-KR" altLang="en-US" sz="1200" dirty="0">
                <a:latin typeface="Cambria Math"/>
                <a:ea typeface="Cambria Math"/>
              </a:rPr>
              <a:t>Shortcut</a:t>
            </a:r>
            <a:r>
              <a:rPr lang="ko-KR" altLang="en-US" sz="1200" dirty="0">
                <a:latin typeface="맑은 고딕"/>
                <a:ea typeface="맑은 고딕"/>
              </a:rPr>
              <a:t>)은 추론을 켠 트레이스에서만 사후 판정합니다. 같은 가중치에서 하드 토글이 되는 Qwen3.6-27B가 주력이고 gpt-oss-20b는 참고용입니다.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2단계 — 인과 개입 (네 가지, 사전등록)</a:t>
            </a:r>
          </a:p>
          <a:p>
            <a:pPr algn="l">
              <a:lnSpc>
                <a:spcPct val="118000"/>
              </a:lnSpc>
              <a:spcBef>
                <a:spcPts val="0"/>
              </a:spcBef>
              <a:spcAft>
                <a:spcPts val="400"/>
              </a:spcAft>
              <a:buNone/>
            </a:pPr>
            <a:r>
              <a:rPr lang="ko-KR" altLang="en-US" sz="1200" dirty="0">
                <a:latin typeface="맑은 고딕"/>
                <a:ea typeface="맑은 고딕"/>
              </a:rPr>
              <a:t>트레이스에 직접 손을 대 답이 따라 움직이는지 봅니다. Truncation은 추론을 여러 비율(</a:t>
            </a:r>
            <a:r>
              <a:rPr lang="ko-KR" altLang="en-US" sz="1200" dirty="0">
                <a:latin typeface="Cambria Math"/>
                <a:ea typeface="Cambria Math"/>
              </a:rPr>
              <a:t>25 / 50 / 75%</a:t>
            </a:r>
            <a:r>
              <a:rPr lang="ko-KR" altLang="en-US" sz="1200" dirty="0">
                <a:latin typeface="맑은 고딕"/>
                <a:ea typeface="맑은 고딕"/>
              </a:rPr>
              <a:t>)에서 잘라 답이 언제 굳는지(안정화 지점)를 보고, On-policy Resampling은 특정 문장 이후를 다시 쓰게 해 그 문장이 바뀔 때 답도 바뀌는지 — 즉 어느 문장이 답을 결정하는지를 봅니다. Adding Mistakes는 일부러 틀린 중간 결론을 넣어 답이 따라 뒤집히면 직접 증거로 삼고, Filler Tokens는 내용 없이 길이만 채워 하락 원인이 내용 상실인지 길이·형식 붕괴인지 가리는 대조군입니다. 모든 개입은 지점당 </a:t>
            </a:r>
            <a:r>
              <a:rPr lang="ko-KR" altLang="en-US" sz="1200" dirty="0">
                <a:latin typeface="Cambria Math"/>
                <a:ea typeface="Cambria Math"/>
              </a:rPr>
              <a:t>k</a:t>
            </a:r>
            <a:r>
              <a:rPr lang="ko-KR" altLang="en-US" sz="1200" dirty="0">
                <a:latin typeface="맑은 고딕"/>
                <a:ea typeface="맑은 고딕"/>
              </a:rPr>
              <a:t>회 재샘플링해 '답 분포'의 변화로 판정합니다.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정리</a:t>
            </a:r>
          </a:p>
          <a:p>
            <a:pPr algn="l">
              <a:lnSpc>
                <a:spcPct val="118000"/>
              </a:lnSpc>
              <a:spcBef>
                <a:spcPts val="0"/>
              </a:spcBef>
              <a:spcAft>
                <a:spcPts val="400"/>
              </a:spcAft>
              <a:buNone/>
            </a:pPr>
            <a:r>
              <a:rPr lang="ko-KR" altLang="en-US" sz="1200" dirty="0">
                <a:latin typeface="맑은 고딕"/>
                <a:ea typeface="맑은 고딕"/>
              </a:rPr>
              <a:t>요컨대 상관이 아니라 개입을 통해 '추론을 건드리면 답이 실제로 바뀐다'를 보이려는 설계입니다. 이 인과 개입이 트레이스를 진단 근거로 쓴다는 주장의 마지막 버팀목이고, 개입 방식을 사전등록해 결과를 보고 유리한 걸 고른 게 아님을 담보했습니다.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22</a:t>
            </a:fld>
            <a:endParaRPr kumimoji="1" lang="ko-KR" altLang="en-US"/>
          </a:p>
        </p:txBody>
      </p:sp>
    </p:spTree>
    <p:extLst>
      <p:ext uri="{BB962C8B-B14F-4D97-AF65-F5344CB8AC3E}">
        <p14:creationId xmlns:p14="http://schemas.microsoft.com/office/powerpoint/2010/main" val="23556461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지금까지 세 실험의 설계를 봤는데, 이 장은 각 실험에서 무엇이 나올 것으로 기대하는지와, 이 연구가 스스로 인정하는 한계를 함께 정리했습니다.</a:t>
            </a:r>
          </a:p>
          <a:p>
            <a:pPr algn="l">
              <a:lnSpc>
                <a:spcPct val="118000"/>
              </a:lnSpc>
              <a:spcBef>
                <a:spcPts val="700"/>
              </a:spcBef>
              <a:spcAft>
                <a:spcPts val="300"/>
              </a:spcAft>
              <a:buNone/>
            </a:pPr>
            <a:endParaRPr lang="en-US" altLang="ko-KR" sz="1400" b="1"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예상 결과</a:t>
            </a:r>
          </a:p>
          <a:p>
            <a:pPr algn="l">
              <a:lnSpc>
                <a:spcPct val="118000"/>
              </a:lnSpc>
              <a:spcBef>
                <a:spcPts val="0"/>
              </a:spcBef>
              <a:spcAft>
                <a:spcPts val="400"/>
              </a:spcAft>
              <a:buNone/>
            </a:pPr>
            <a:r>
              <a:rPr lang="ko-KR" altLang="en-US" sz="1200" dirty="0">
                <a:latin typeface="맑은 고딕"/>
                <a:ea typeface="맑은 고딕"/>
              </a:rPr>
              <a:t>실험 1에서는 추론 결론과 최종 답의 불일치가 실제로 관측되고 </a:t>
            </a:r>
            <a:r>
              <a:rPr lang="ko-KR" altLang="en-US" sz="1200" dirty="0">
                <a:latin typeface="Cambria Math"/>
                <a:ea typeface="Cambria Math"/>
              </a:rPr>
              <a:t>AIR</a:t>
            </a:r>
            <a:r>
              <a:rPr lang="ko-KR" altLang="en-US" sz="1200" dirty="0">
                <a:latin typeface="맑은 고딕"/>
                <a:ea typeface="맑은 고딕"/>
              </a:rPr>
              <a:t>로 정량화되며 어느 단계에서 잃는지가 특정될 것으로 봅니다. 또 완화가 올린 정답률의 일부는 취약 경로에서 나와 '정답률 상승 = 추론 개선'이 아님이 드러날 것입니다. 실험 2에서는 같은 문항에서 충돌만 뺀 조건이 유의하게 회복되어, 실패가 난이도·문서 수가 아니라 충돌 고유의 효과임이 확인될 것입니다. 실험 3에서는 추론에 개입하면 답이 영점·필러 기준을 넘어 바뀌어 추론이 장식이 아니라 답을 결정한다는 것(</a:t>
            </a:r>
            <a:r>
              <a:rPr lang="ko-KR" altLang="en-US" sz="1200" dirty="0">
                <a:latin typeface="Cambria Math"/>
                <a:ea typeface="Cambria Math"/>
              </a:rPr>
              <a:t>L-b</a:t>
            </a:r>
            <a:r>
              <a:rPr lang="ko-KR" altLang="en-US" sz="1200" dirty="0">
                <a:latin typeface="맑은 고딕"/>
                <a:ea typeface="맑은 고딕"/>
              </a:rPr>
              <a:t>)이 보이고, 약한 경로가 더 자주 뒤집히며 추론을 끄면 그 현상이 사라져 추론 채널이 원인임이 확증될 것입니다.</a:t>
            </a:r>
          </a:p>
          <a:p>
            <a:pPr algn="l">
              <a:lnSpc>
                <a:spcPct val="118000"/>
              </a:lnSpc>
              <a:spcBef>
                <a:spcPts val="700"/>
              </a:spcBef>
              <a:spcAft>
                <a:spcPts val="300"/>
              </a:spcAft>
              <a:buNone/>
            </a:pPr>
            <a:endParaRPr lang="en-US" altLang="ko-KR" sz="1400" b="1"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한계와 대응</a:t>
            </a:r>
          </a:p>
          <a:p>
            <a:pPr algn="l">
              <a:lnSpc>
                <a:spcPct val="118000"/>
              </a:lnSpc>
              <a:spcBef>
                <a:spcPts val="0"/>
              </a:spcBef>
              <a:spcAft>
                <a:spcPts val="400"/>
              </a:spcAft>
              <a:buNone/>
            </a:pPr>
            <a:r>
              <a:rPr lang="ko-KR" altLang="en-US" sz="1200" dirty="0">
                <a:latin typeface="맑은 고딕"/>
                <a:ea typeface="맑은 고딕"/>
              </a:rPr>
              <a:t>네 가지 한계를 감추지 않고 각각 대응과 함께 답니다. 첫째, 지표가 추론을 글로 쓰는 thinking 모델에만 적용됩니다 → 추론을 끈 조건을 대조군으로 함께 봅니다. 둘째, 자연 충돌 표본이 적어(약 182건) 세부 셀의 검정력이 약합니다 → 표본이 적은(</a:t>
            </a:r>
            <a:r>
              <a:rPr lang="ko-KR" altLang="en-US" sz="1200" dirty="0">
                <a:latin typeface="Cambria Math"/>
                <a:ea typeface="Cambria Math"/>
              </a:rPr>
              <a:t>N &lt; 20</a:t>
            </a:r>
            <a:r>
              <a:rPr lang="ko-KR" altLang="en-US" sz="1200" dirty="0">
                <a:latin typeface="맑은 고딕"/>
                <a:ea typeface="맑은 고딕"/>
              </a:rPr>
              <a:t>) 셀은 사전등록으로 비교에서 빼고 다른 데이터셋으로 보강합니다. 셋째, 트레이스가 내부 추론을 다 반영하진 못해 '속으로 알고도 안 쓴' 경우를 놓칩니다 → 이중 라벨링(</a:t>
            </a:r>
            <a:r>
              <a:rPr lang="ko-KR" altLang="en-US" sz="1200" dirty="0">
                <a:latin typeface="Cambria Math"/>
                <a:ea typeface="Cambria Math"/>
              </a:rPr>
              <a:t>κ</a:t>
            </a:r>
            <a:r>
              <a:rPr lang="ko-KR" altLang="en-US" sz="1200" dirty="0">
                <a:latin typeface="맑은 고딕"/>
                <a:ea typeface="맑은 고딕"/>
              </a:rPr>
              <a:t>)으로 전수 검증하고 </a:t>
            </a:r>
            <a:r>
              <a:rPr lang="ko-KR" altLang="en-US" sz="1200" dirty="0">
                <a:latin typeface="Cambria Math"/>
                <a:ea typeface="Cambria Math"/>
              </a:rPr>
              <a:t>AIR</a:t>
            </a:r>
            <a:r>
              <a:rPr lang="ko-KR" altLang="en-US" sz="1200" dirty="0">
                <a:latin typeface="맑은 고딕"/>
                <a:ea typeface="맑은 고딕"/>
              </a:rPr>
              <a:t>은 '써 놓고 어긴' 경우만 집계합니다. 넷째, 개입이 출력 텍스트 단계에 한정돼 '행동 수준' 인과까지만 봅니다 → 내부 활성화 개입과 기업 KB 적용은 향후 과제로 둡니다.</a:t>
            </a:r>
          </a:p>
          <a:p>
            <a:pPr algn="l">
              <a:lnSpc>
                <a:spcPct val="118000"/>
              </a:lnSpc>
              <a:spcBef>
                <a:spcPts val="700"/>
              </a:spcBef>
              <a:spcAft>
                <a:spcPts val="300"/>
              </a:spcAft>
              <a:buNone/>
            </a:pPr>
            <a:endParaRPr lang="en-US" altLang="ko-KR" sz="1400" b="1"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정리</a:t>
            </a:r>
          </a:p>
          <a:p>
            <a:pPr algn="l">
              <a:lnSpc>
                <a:spcPct val="118000"/>
              </a:lnSpc>
              <a:spcBef>
                <a:spcPts val="0"/>
              </a:spcBef>
              <a:spcAft>
                <a:spcPts val="400"/>
              </a:spcAft>
              <a:buNone/>
            </a:pPr>
            <a:r>
              <a:rPr lang="ko-KR" altLang="en-US" sz="1200" dirty="0">
                <a:latin typeface="맑은 고딕"/>
                <a:ea typeface="맑은 고딕"/>
              </a:rPr>
              <a:t>요컨대 예상 결과는 앞서 세운 지표·설계에 그대로 대응하고, 한계는 숨기지 않고 각각 통제·대응 방안과 함께 제시했다는 점이 이 장의 핵심입니다.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23</a:t>
            </a:fld>
            <a:endParaRPr kumimoji="1" lang="ko-KR" altLang="en-US"/>
          </a:p>
        </p:txBody>
      </p:sp>
    </p:spTree>
    <p:extLst>
      <p:ext uri="{BB962C8B-B14F-4D97-AF65-F5344CB8AC3E}">
        <p14:creationId xmlns:p14="http://schemas.microsoft.com/office/powerpoint/2010/main" val="20451374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gn="l">
              <a:lnSpc>
                <a:spcPct val="118000"/>
              </a:lnSpc>
              <a:spcBef>
                <a:spcPts val="0"/>
              </a:spcBef>
              <a:spcAft>
                <a:spcPts val="400"/>
              </a:spcAft>
              <a:buNone/>
            </a:pPr>
            <a:r>
              <a:rPr lang="ko-KR" altLang="en-US" sz="1200" dirty="0">
                <a:latin typeface="맑은 고딕"/>
                <a:ea typeface="맑은 고딕"/>
              </a:rPr>
              <a:t>마지막으로 향후 연구입니다. 강조하고 싶은 건, 본 연구가 '처방'이 아니라 '진단'에 집중한다는 점입니다. 완화 기법을 새로 설계하는 처방은, 진단이 '어디를 고쳐야 하는지'를 특정한 뒤에야 근거를 가집니다. 그래서 진단 결과가 어떻게 나오느냐에 따라 후속 연구가 갈립니다.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진단 결과에 따른 분기</a:t>
            </a:r>
          </a:p>
          <a:p>
            <a:pPr algn="l">
              <a:lnSpc>
                <a:spcPct val="118000"/>
              </a:lnSpc>
              <a:spcBef>
                <a:spcPts val="0"/>
              </a:spcBef>
              <a:spcAft>
                <a:spcPts val="400"/>
              </a:spcAft>
              <a:buNone/>
            </a:pPr>
            <a:r>
              <a:rPr lang="ko-KR" altLang="en-US" sz="1200" dirty="0">
                <a:latin typeface="Cambria Math"/>
                <a:ea typeface="Cambria Math"/>
              </a:rPr>
              <a:t>AIR</a:t>
            </a:r>
            <a:r>
              <a:rPr lang="ko-KR" altLang="en-US" sz="1200" dirty="0">
                <a:latin typeface="맑은 고딕"/>
                <a:ea typeface="맑은 고딕"/>
              </a:rPr>
              <a:t>이 높게 나오면, 추론은 답에 도달했는데 표출 단계에서 흘린 것이라 병목이 추론→답변 전이부에 있습니다. 그러면 표출 직전에 검증기로 답을 게이팅하거나, 추론과 답변의 정합성을 맞추는 학습으로 처방할 수 있습니다. </a:t>
            </a:r>
            <a:r>
              <a:rPr lang="ko-KR" altLang="en-US" sz="1200" dirty="0">
                <a:latin typeface="Cambria Math"/>
                <a:ea typeface="Cambria Math"/>
              </a:rPr>
              <a:t>LGR</a:t>
            </a:r>
            <a:r>
              <a:rPr lang="ko-KR" altLang="en-US" sz="1200" dirty="0">
                <a:latin typeface="맑은 고딕"/>
                <a:ea typeface="맑은 고딕"/>
              </a:rPr>
              <a:t>이 낮으면 늘어난 정답이 취약 경로에서 나왔다는 뜻이라, 정답률 대신 견고 경로 비중을 직접 높이도록 보상하거나 견고 경로로 도달한 샘플만 채택하는 필터를 겁니다.</a:t>
            </a:r>
          </a:p>
          <a:p>
            <a:pPr algn="l">
              <a:lnSpc>
                <a:spcPct val="118000"/>
              </a:lnSpc>
              <a:spcBef>
                <a:spcPts val="0"/>
              </a:spcBef>
              <a:spcAft>
                <a:spcPts val="400"/>
              </a:spcAft>
              <a:buNone/>
            </a:pPr>
            <a:r>
              <a:rPr lang="ko-KR" altLang="en-US" sz="1200" dirty="0">
                <a:latin typeface="Cambria Math"/>
                <a:ea typeface="Cambria Math"/>
              </a:rPr>
              <a:t>Shortcut</a:t>
            </a:r>
            <a:r>
              <a:rPr lang="ko-KR" altLang="en-US" sz="1200" dirty="0">
                <a:latin typeface="맑은 고딕"/>
                <a:ea typeface="맑은 고딕"/>
              </a:rPr>
              <a:t>이 많으면 상당수가 지름길로 맞힌 것이라, 답을 내기 전에 충돌 해소 단계를 명시적으로 강제하거나 과정 보상으로 도약을 억제합니다. 마지막으로 추론을 껐을 때 오류가 사라지면 원인이 추론 과정 자체라는 확증이므로, 트레이스 안에서 실패를 일으키는 특정 스텝을 짚어 활성화 수준까지 개입하는 표적 완화로 나아갑니다.</a:t>
            </a:r>
            <a:endParaRPr lang="en-US" altLang="ko-KR" sz="1200" dirty="0">
              <a:latin typeface="맑은 고딕"/>
              <a:ea typeface="맑은 고딕"/>
            </a:endParaRPr>
          </a:p>
          <a:p>
            <a:pPr algn="l">
              <a:lnSpc>
                <a:spcPct val="118000"/>
              </a:lnSpc>
              <a:spcBef>
                <a:spcPts val="0"/>
              </a:spcBef>
              <a:spcAft>
                <a:spcPts val="400"/>
              </a:spcAft>
              <a:buNone/>
            </a:pPr>
            <a:endParaRPr lang="ko-KR" altLang="en-US" sz="1200" dirty="0">
              <a:latin typeface="맑은 고딕"/>
              <a:ea typeface="맑은 고딕"/>
            </a:endParaRPr>
          </a:p>
          <a:p>
            <a:pPr algn="l">
              <a:lnSpc>
                <a:spcPct val="118000"/>
              </a:lnSpc>
              <a:spcBef>
                <a:spcPts val="700"/>
              </a:spcBef>
              <a:spcAft>
                <a:spcPts val="300"/>
              </a:spcAft>
              <a:buNone/>
            </a:pPr>
            <a:r>
              <a:rPr lang="ko-KR" altLang="en-US" sz="1400" b="1" dirty="0">
                <a:latin typeface="맑은 고딕"/>
                <a:ea typeface="맑은 고딕"/>
              </a:rPr>
              <a:t>마무리</a:t>
            </a:r>
          </a:p>
          <a:p>
            <a:pPr algn="l">
              <a:lnSpc>
                <a:spcPct val="118000"/>
              </a:lnSpc>
              <a:spcBef>
                <a:spcPts val="0"/>
              </a:spcBef>
              <a:spcAft>
                <a:spcPts val="400"/>
              </a:spcAft>
              <a:buNone/>
            </a:pPr>
            <a:r>
              <a:rPr lang="ko-KR" altLang="en-US" sz="1200" dirty="0">
                <a:latin typeface="맑은 고딕"/>
                <a:ea typeface="맑은 고딕"/>
              </a:rPr>
              <a:t>정리하면, 이 연구의 기여는 '무엇이 잘못됐는지'를 넘어 '어디를, 왜 고쳐야 하는지'까지 짚어 주는 진단 도구이고, 그 진단이 다음 처방 연구의 출발점이 됩니다. 여기까지가 발표입니다. 감사합니다.</a:t>
            </a:r>
          </a:p>
        </p:txBody>
      </p:sp>
      <p:sp>
        <p:nvSpPr>
          <p:cNvPr id="4" name="슬라이드 번호 개체 틀 3"/>
          <p:cNvSpPr>
            <a:spLocks noGrp="1"/>
          </p:cNvSpPr>
          <p:nvPr>
            <p:ph type="sldNum" sz="quarter" idx="5"/>
          </p:nvPr>
        </p:nvSpPr>
        <p:spPr/>
        <p:txBody>
          <a:bodyPr/>
          <a:lstStyle/>
          <a:p>
            <a:fld id="{79492483-278F-4C46-B567-3E1E49742A91}" type="slidenum">
              <a:rPr kumimoji="1" lang="ko-KR" altLang="en-US" smtClean="0"/>
              <a:t>24</a:t>
            </a:fld>
            <a:endParaRPr kumimoji="1" lang="ko-KR" altLang="en-US"/>
          </a:p>
        </p:txBody>
      </p:sp>
    </p:spTree>
    <p:extLst>
      <p:ext uri="{BB962C8B-B14F-4D97-AF65-F5344CB8AC3E}">
        <p14:creationId xmlns:p14="http://schemas.microsoft.com/office/powerpoint/2010/main" val="421239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arxiv.org/pdf/2605.25920"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6100" y="2159000"/>
            <a:ext cx="88900" cy="2133600"/>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2108200"/>
            <a:ext cx="10515600" cy="556947"/>
          </a:xfrm>
          <a:prstGeom prst="rect">
            <a:avLst/>
          </a:prstGeom>
          <a:noFill/>
        </p:spPr>
        <p:txBody>
          <a:bodyPr wrap="square" lIns="0" tIns="0" rIns="0" bIns="0">
            <a:spAutoFit/>
          </a:bodyPr>
          <a:lstStyle/>
          <a:p>
            <a:pPr algn="l">
              <a:lnSpc>
                <a:spcPct val="122000"/>
              </a:lnSpc>
              <a:spcAft>
                <a:spcPts val="450"/>
              </a:spcAft>
            </a:pPr>
            <a:r>
              <a:rPr lang="en-US" sz="3300" b="1" dirty="0">
                <a:solidFill>
                  <a:srgbClr val="273A52"/>
                </a:solidFill>
                <a:latin typeface="맑은 고딕"/>
                <a:ea typeface="맑은 고딕"/>
              </a:rPr>
              <a:t>Lost in Translation? From Thought to Text</a:t>
            </a:r>
          </a:p>
        </p:txBody>
      </p:sp>
      <p:sp>
        <p:nvSpPr>
          <p:cNvPr id="4" name="TextBox 3"/>
          <p:cNvSpPr txBox="1"/>
          <p:nvPr/>
        </p:nvSpPr>
        <p:spPr>
          <a:xfrm>
            <a:off x="960120" y="2844800"/>
            <a:ext cx="10515600" cy="282963"/>
          </a:xfrm>
          <a:prstGeom prst="rect">
            <a:avLst/>
          </a:prstGeom>
          <a:noFill/>
        </p:spPr>
        <p:txBody>
          <a:bodyPr wrap="square" lIns="0" tIns="0" rIns="0" bIns="0">
            <a:spAutoFit/>
          </a:bodyPr>
          <a:lstStyle/>
          <a:p>
            <a:pPr algn="l">
              <a:lnSpc>
                <a:spcPct val="120000"/>
              </a:lnSpc>
            </a:pPr>
            <a:r>
              <a:rPr lang="en-US" sz="1700" b="0" dirty="0">
                <a:solidFill>
                  <a:srgbClr val="4A5568"/>
                </a:solidFill>
                <a:latin typeface="맑은 고딕"/>
                <a:ea typeface="맑은 고딕"/>
              </a:rPr>
              <a:t>Investigating Reasoning–Answer Consistency in RAG under Inter-Context Conflicts</a:t>
            </a:r>
          </a:p>
        </p:txBody>
      </p:sp>
      <p:sp>
        <p:nvSpPr>
          <p:cNvPr id="5" name="TextBox 4"/>
          <p:cNvSpPr txBox="1"/>
          <p:nvPr/>
        </p:nvSpPr>
        <p:spPr>
          <a:xfrm>
            <a:off x="960120" y="3632200"/>
            <a:ext cx="10515600" cy="299634"/>
          </a:xfrm>
          <a:prstGeom prst="rect">
            <a:avLst/>
          </a:prstGeom>
          <a:noFill/>
        </p:spPr>
        <p:txBody>
          <a:bodyPr wrap="square" lIns="0" tIns="0" rIns="0" bIns="0">
            <a:spAutoFit/>
          </a:bodyPr>
          <a:lstStyle/>
          <a:p>
            <a:pPr algn="l">
              <a:lnSpc>
                <a:spcPct val="120000"/>
              </a:lnSpc>
            </a:pPr>
            <a:r>
              <a:rPr lang="ko-KR" sz="1800" b="1" dirty="0">
                <a:solidFill>
                  <a:srgbClr val="1E2227"/>
                </a:solidFill>
                <a:latin typeface="맑은 고딕"/>
                <a:ea typeface="맑은 고딕"/>
              </a:rPr>
              <a:t>연구 여정과 연구 계획 보고</a:t>
            </a:r>
          </a:p>
        </p:txBody>
      </p:sp>
      <p:sp>
        <p:nvSpPr>
          <p:cNvPr id="7" name="TextBox 6"/>
          <p:cNvSpPr txBox="1"/>
          <p:nvPr/>
        </p:nvSpPr>
        <p:spPr>
          <a:xfrm>
            <a:off x="960120" y="4098508"/>
            <a:ext cx="10515600" cy="194092"/>
          </a:xfrm>
          <a:prstGeom prst="rect">
            <a:avLst/>
          </a:prstGeom>
          <a:noFill/>
        </p:spPr>
        <p:txBody>
          <a:bodyPr wrap="square" lIns="0" tIns="0" rIns="0" bIns="0">
            <a:spAutoFit/>
          </a:bodyPr>
          <a:lstStyle/>
          <a:p>
            <a:pPr algn="l">
              <a:lnSpc>
                <a:spcPct val="122000"/>
              </a:lnSpc>
              <a:spcAft>
                <a:spcPts val="450"/>
              </a:spcAft>
            </a:pPr>
            <a:r>
              <a:rPr sz="1150" b="0" dirty="0" err="1">
                <a:solidFill>
                  <a:srgbClr val="6B7480"/>
                </a:solidFill>
                <a:latin typeface="맑은 고딕"/>
                <a:ea typeface="맑은 고딕"/>
              </a:rPr>
              <a:t>데이터사이언스융합학과</a:t>
            </a:r>
            <a:r>
              <a:rPr sz="1150" b="0" dirty="0">
                <a:solidFill>
                  <a:srgbClr val="6B7480"/>
                </a:solidFill>
                <a:latin typeface="맑은 고딕"/>
                <a:ea typeface="맑은 고딕"/>
              </a:rPr>
              <a:t>  유진      |      2026. 07.</a:t>
            </a:r>
          </a:p>
        </p:txBody>
      </p:sp>
    </p:spTree>
    <p:extLst>
      <p:ext uri="{BB962C8B-B14F-4D97-AF65-F5344CB8AC3E}">
        <p14:creationId xmlns:p14="http://schemas.microsoft.com/office/powerpoint/2010/main" val="2917433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585216"/>
            <a:ext cx="11091672" cy="502920"/>
          </a:xfrm>
          <a:prstGeom prst="rect">
            <a:avLst/>
          </a:prstGeom>
          <a:noFill/>
        </p:spPr>
        <p:txBody>
          <a:bodyPr wrap="square" lIns="0" tIns="0" rIns="0" bIns="0">
            <a:spAutoFit/>
          </a:bodyPr>
          <a:lstStyle/>
          <a:p>
            <a:pPr algn="l">
              <a:lnSpc>
                <a:spcPct val="122000"/>
              </a:lnSpc>
              <a:spcAft>
                <a:spcPts val="450"/>
              </a:spcAft>
            </a:pPr>
            <a:r>
              <a:rPr sz="2350" b="1">
                <a:solidFill>
                  <a:srgbClr val="273A52"/>
                </a:solidFill>
                <a:latin typeface="맑은 고딕"/>
                <a:ea typeface="맑은 고딕"/>
              </a:rPr>
              <a:t>목차</a:t>
            </a: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모서리가 둥근 직사각형 5">
            <a:extLst>
              <a:ext uri="{FF2B5EF4-FFF2-40B4-BE49-F238E27FC236}">
                <a16:creationId xmlns:a16="http://schemas.microsoft.com/office/drawing/2014/main" id="{325044C7-C1AE-BE49-AE35-F0ED391949F7}"/>
              </a:ext>
            </a:extLst>
          </p:cNvPr>
          <p:cNvSpPr/>
          <p:nvPr/>
        </p:nvSpPr>
        <p:spPr>
          <a:xfrm>
            <a:off x="546100" y="1447795"/>
            <a:ext cx="482600" cy="482600"/>
          </a:xfrm>
          <a:prstGeom prst="roundRect">
            <a:avLst/>
          </a:prstGeom>
          <a:no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lIns="0" tIns="0" rIns="0" bIns="0" rtlCol="0" anchor="ctr" anchorCtr="0">
            <a:noAutofit/>
          </a:bodyPr>
          <a:lstStyle/>
          <a:p>
            <a:pPr algn="l"/>
            <a:r>
              <a:rPr lang="en-US" altLang="ko-KR" sz="2000" b="1" dirty="0">
                <a:solidFill>
                  <a:srgbClr val="273A52"/>
                </a:solidFill>
                <a:latin typeface="맑은 고딕"/>
                <a:ea typeface="맑은 고딕"/>
              </a:rPr>
              <a:t>01</a:t>
            </a:r>
            <a:endParaRPr lang="ko-KR" altLang="en-US" sz="2000" b="1" dirty="0">
              <a:solidFill>
                <a:srgbClr val="273A52"/>
              </a:solidFill>
              <a:latin typeface="맑은 고딕"/>
              <a:ea typeface="맑은 고딕"/>
            </a:endParaRPr>
          </a:p>
        </p:txBody>
      </p:sp>
      <p:sp>
        <p:nvSpPr>
          <p:cNvPr id="41" name="TextBox 40">
            <a:extLst>
              <a:ext uri="{FF2B5EF4-FFF2-40B4-BE49-F238E27FC236}">
                <a16:creationId xmlns:a16="http://schemas.microsoft.com/office/drawing/2014/main" id="{69525D36-0371-0542-A203-29CDE34606EA}"/>
              </a:ext>
            </a:extLst>
          </p:cNvPr>
          <p:cNvSpPr txBox="1"/>
          <p:nvPr/>
        </p:nvSpPr>
        <p:spPr>
          <a:xfrm>
            <a:off x="1206500" y="1562100"/>
            <a:ext cx="10160000" cy="330200"/>
          </a:xfrm>
          <a:prstGeom prst="rect">
            <a:avLst/>
          </a:prstGeom>
          <a:noFill/>
        </p:spPr>
        <p:txBody>
          <a:bodyPr vertOverflow="overflow" vert="horz" wrap="none" lIns="91440" tIns="0" rIns="91440" bIns="0" rtlCol="0" anchor="t" anchorCtr="0">
            <a:spAutoFit/>
          </a:bodyPr>
          <a:lstStyle/>
          <a:p>
            <a:pPr algn="l"/>
            <a:r>
              <a:rPr lang="ko-KR" altLang="en-US" sz="1700" b="1">
                <a:solidFill>
                  <a:srgbClr val="273A52"/>
                </a:solidFill>
                <a:latin typeface="맑은 고딕"/>
                <a:ea typeface="맑은 고딕"/>
              </a:rPr>
              <a:t>연구 여정</a:t>
            </a:r>
          </a:p>
        </p:txBody>
      </p:sp>
      <p:sp>
        <p:nvSpPr>
          <p:cNvPr id="42" name="TextBox 41">
            <a:extLst>
              <a:ext uri="{FF2B5EF4-FFF2-40B4-BE49-F238E27FC236}">
                <a16:creationId xmlns:a16="http://schemas.microsoft.com/office/drawing/2014/main" id="{FF5A89D9-36F1-ED44-AEFF-0489891FCD96}"/>
              </a:ext>
            </a:extLst>
          </p:cNvPr>
          <p:cNvSpPr txBox="1"/>
          <p:nvPr/>
        </p:nvSpPr>
        <p:spPr>
          <a:xfrm>
            <a:off x="1206500" y="1879600"/>
            <a:ext cx="10160000" cy="228600"/>
          </a:xfrm>
          <a:prstGeom prst="rect">
            <a:avLst/>
          </a:prstGeom>
          <a:noFill/>
        </p:spPr>
        <p:txBody>
          <a:bodyPr vertOverflow="overflow" vert="horz" wrap="none" lIns="91440" tIns="0" rIns="91440" bIns="0" rtlCol="0" anchor="t" anchorCtr="0">
            <a:spAutoFit/>
          </a:bodyPr>
          <a:lstStyle/>
          <a:p>
            <a:pPr algn="l"/>
            <a:r>
              <a:rPr lang="ko-KR" altLang="en-US" sz="1250">
                <a:solidFill>
                  <a:srgbClr val="6B7480"/>
                </a:solidFill>
                <a:latin typeface="맑은 고딕"/>
                <a:ea typeface="맑은 고딕"/>
              </a:rPr>
              <a:t>선행 시도 </a:t>
            </a:r>
            <a:r>
              <a:rPr lang="en" altLang="ko-KR" sz="1250">
                <a:solidFill>
                  <a:srgbClr val="6B7480"/>
                </a:solidFill>
                <a:latin typeface="맑은 고딕"/>
                <a:ea typeface="맑은 고딕"/>
              </a:rPr>
              <a:t>V1–V3</a:t>
            </a:r>
            <a:r>
              <a:rPr lang="ko-KR" altLang="en-US" sz="1250">
                <a:solidFill>
                  <a:srgbClr val="6B7480"/>
                </a:solidFill>
                <a:latin typeface="맑은 고딕"/>
                <a:ea typeface="맑은 고딕"/>
              </a:rPr>
              <a:t>와 </a:t>
            </a:r>
            <a:r>
              <a:rPr lang="en" altLang="ko-KR" sz="1250">
                <a:solidFill>
                  <a:srgbClr val="6B7480"/>
                </a:solidFill>
                <a:latin typeface="맑은 고딕"/>
                <a:ea typeface="맑은 고딕"/>
              </a:rPr>
              <a:t>ThinkConflict</a:t>
            </a:r>
            <a:r>
              <a:rPr lang="ko-KR" altLang="en-US" sz="1250">
                <a:solidFill>
                  <a:srgbClr val="6B7480"/>
                </a:solidFill>
                <a:latin typeface="맑은 고딕"/>
                <a:ea typeface="맑은 고딕"/>
              </a:rPr>
              <a:t>로의 전환</a:t>
            </a:r>
          </a:p>
        </p:txBody>
      </p:sp>
      <p:sp>
        <p:nvSpPr>
          <p:cNvPr id="43" name="모서리가 둥근 직사각형 42">
            <a:extLst>
              <a:ext uri="{FF2B5EF4-FFF2-40B4-BE49-F238E27FC236}">
                <a16:creationId xmlns:a16="http://schemas.microsoft.com/office/drawing/2014/main" id="{CDD97156-CB35-4F49-8EE6-E362C7F414D4}"/>
              </a:ext>
            </a:extLst>
          </p:cNvPr>
          <p:cNvSpPr/>
          <p:nvPr/>
        </p:nvSpPr>
        <p:spPr>
          <a:xfrm>
            <a:off x="546100" y="2235195"/>
            <a:ext cx="482600" cy="482600"/>
          </a:xfrm>
          <a:prstGeom prst="roundRect">
            <a:avLst/>
          </a:prstGeom>
          <a:no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lIns="0" tIns="0" rIns="0" bIns="0" rtlCol="0" anchor="ctr" anchorCtr="0">
            <a:noAutofit/>
          </a:bodyPr>
          <a:lstStyle/>
          <a:p>
            <a:pPr algn="l"/>
            <a:r>
              <a:rPr lang="en-US" altLang="ko-KR" sz="2000" b="1">
                <a:solidFill>
                  <a:srgbClr val="273A52"/>
                </a:solidFill>
                <a:latin typeface="맑은 고딕"/>
                <a:ea typeface="맑은 고딕"/>
              </a:rPr>
              <a:t>02</a:t>
            </a:r>
            <a:endParaRPr lang="ko-KR" altLang="en-US" sz="2000" b="1">
              <a:solidFill>
                <a:srgbClr val="273A52"/>
              </a:solidFill>
              <a:latin typeface="맑은 고딕"/>
              <a:ea typeface="맑은 고딕"/>
            </a:endParaRPr>
          </a:p>
        </p:txBody>
      </p:sp>
      <p:sp>
        <p:nvSpPr>
          <p:cNvPr id="44" name="TextBox 43">
            <a:extLst>
              <a:ext uri="{FF2B5EF4-FFF2-40B4-BE49-F238E27FC236}">
                <a16:creationId xmlns:a16="http://schemas.microsoft.com/office/drawing/2014/main" id="{CB30B48B-D2B5-3945-BAA3-A3772ED289F1}"/>
              </a:ext>
            </a:extLst>
          </p:cNvPr>
          <p:cNvSpPr txBox="1"/>
          <p:nvPr/>
        </p:nvSpPr>
        <p:spPr>
          <a:xfrm>
            <a:off x="1206500" y="2349500"/>
            <a:ext cx="10160000" cy="330200"/>
          </a:xfrm>
          <a:prstGeom prst="rect">
            <a:avLst/>
          </a:prstGeom>
          <a:noFill/>
        </p:spPr>
        <p:txBody>
          <a:bodyPr vertOverflow="overflow" vert="horz" wrap="none" lIns="91440" tIns="0" rIns="91440" bIns="0" rtlCol="0" anchor="t" anchorCtr="0">
            <a:spAutoFit/>
          </a:bodyPr>
          <a:lstStyle/>
          <a:p>
            <a:pPr algn="l"/>
            <a:r>
              <a:rPr lang="ko-KR" altLang="en-US" sz="1700" b="1">
                <a:solidFill>
                  <a:srgbClr val="273A52"/>
                </a:solidFill>
                <a:latin typeface="맑은 고딕"/>
                <a:ea typeface="맑은 고딕"/>
              </a:rPr>
              <a:t>서론</a:t>
            </a:r>
          </a:p>
        </p:txBody>
      </p:sp>
      <p:sp>
        <p:nvSpPr>
          <p:cNvPr id="45" name="TextBox 44">
            <a:extLst>
              <a:ext uri="{FF2B5EF4-FFF2-40B4-BE49-F238E27FC236}">
                <a16:creationId xmlns:a16="http://schemas.microsoft.com/office/drawing/2014/main" id="{E7C0D21A-9BEC-384C-B265-3949301D6460}"/>
              </a:ext>
            </a:extLst>
          </p:cNvPr>
          <p:cNvSpPr txBox="1"/>
          <p:nvPr/>
        </p:nvSpPr>
        <p:spPr>
          <a:xfrm>
            <a:off x="1206500" y="2667000"/>
            <a:ext cx="10160000" cy="228600"/>
          </a:xfrm>
          <a:prstGeom prst="rect">
            <a:avLst/>
          </a:prstGeom>
          <a:noFill/>
        </p:spPr>
        <p:txBody>
          <a:bodyPr vertOverflow="overflow" vert="horz" wrap="none" lIns="91440" tIns="0" rIns="91440" bIns="0" rtlCol="0" anchor="t" anchorCtr="0">
            <a:spAutoFit/>
          </a:bodyPr>
          <a:lstStyle/>
          <a:p>
            <a:pPr algn="l"/>
            <a:r>
              <a:rPr lang="ko-KR" altLang="en-US" sz="1250">
                <a:solidFill>
                  <a:srgbClr val="6B7480"/>
                </a:solidFill>
                <a:latin typeface="맑은 고딕"/>
                <a:ea typeface="맑은 고딕"/>
              </a:rPr>
              <a:t>배경</a:t>
            </a:r>
            <a:r>
              <a:rPr lang="en-US" altLang="ko-KR" sz="1250">
                <a:solidFill>
                  <a:srgbClr val="6B7480"/>
                </a:solidFill>
                <a:latin typeface="맑은 고딕"/>
                <a:ea typeface="맑은 고딕"/>
              </a:rPr>
              <a:t>·</a:t>
            </a:r>
            <a:r>
              <a:rPr lang="ko-KR" altLang="en-US" sz="1250">
                <a:solidFill>
                  <a:srgbClr val="6B7480"/>
                </a:solidFill>
                <a:latin typeface="맑은 고딕"/>
                <a:ea typeface="맑은 고딕"/>
              </a:rPr>
              <a:t>문제 </a:t>
            </a:r>
            <a:r>
              <a:rPr lang="en-US" altLang="ko-KR" sz="1250">
                <a:solidFill>
                  <a:srgbClr val="6B7480"/>
                </a:solidFill>
                <a:latin typeface="맑은 고딕"/>
                <a:ea typeface="맑은 고딕"/>
              </a:rPr>
              <a:t>· </a:t>
            </a:r>
            <a:r>
              <a:rPr lang="ko-KR" altLang="en-US" sz="1250">
                <a:solidFill>
                  <a:srgbClr val="6B7480"/>
                </a:solidFill>
                <a:latin typeface="맑은 고딕"/>
                <a:ea typeface="맑은 고딕"/>
              </a:rPr>
              <a:t>연구 동기 </a:t>
            </a:r>
            <a:r>
              <a:rPr lang="en-US" altLang="ko-KR" sz="1250">
                <a:solidFill>
                  <a:srgbClr val="6B7480"/>
                </a:solidFill>
                <a:latin typeface="맑은 고딕"/>
                <a:ea typeface="맑은 고딕"/>
              </a:rPr>
              <a:t>· </a:t>
            </a:r>
            <a:r>
              <a:rPr lang="ko-KR" altLang="en-US" sz="1250">
                <a:solidFill>
                  <a:srgbClr val="6B7480"/>
                </a:solidFill>
                <a:latin typeface="맑은 고딕"/>
                <a:ea typeface="맑은 고딕"/>
              </a:rPr>
              <a:t>기여 </a:t>
            </a:r>
            <a:r>
              <a:rPr lang="en-US" altLang="ko-KR" sz="1250">
                <a:solidFill>
                  <a:srgbClr val="6B7480"/>
                </a:solidFill>
                <a:latin typeface="맑은 고딕"/>
                <a:ea typeface="맑은 고딕"/>
              </a:rPr>
              <a:t>· </a:t>
            </a:r>
            <a:r>
              <a:rPr lang="ko-KR" altLang="en-US" sz="1250">
                <a:solidFill>
                  <a:srgbClr val="6B7480"/>
                </a:solidFill>
                <a:latin typeface="맑은 고딕"/>
                <a:ea typeface="맑은 고딕"/>
              </a:rPr>
              <a:t>연구 질문</a:t>
            </a:r>
          </a:p>
        </p:txBody>
      </p:sp>
      <p:sp>
        <p:nvSpPr>
          <p:cNvPr id="46" name="모서리가 둥근 직사각형 45">
            <a:extLst>
              <a:ext uri="{FF2B5EF4-FFF2-40B4-BE49-F238E27FC236}">
                <a16:creationId xmlns:a16="http://schemas.microsoft.com/office/drawing/2014/main" id="{F2498B3F-2A95-CD49-9385-55F126B47462}"/>
              </a:ext>
            </a:extLst>
          </p:cNvPr>
          <p:cNvSpPr/>
          <p:nvPr/>
        </p:nvSpPr>
        <p:spPr>
          <a:xfrm>
            <a:off x="546100" y="3022595"/>
            <a:ext cx="482600" cy="482600"/>
          </a:xfrm>
          <a:prstGeom prst="roundRect">
            <a:avLst/>
          </a:prstGeom>
          <a:no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lIns="0" tIns="0" rIns="0" bIns="0" rtlCol="0" anchor="ctr" anchorCtr="0">
            <a:noAutofit/>
          </a:bodyPr>
          <a:lstStyle/>
          <a:p>
            <a:pPr algn="l"/>
            <a:r>
              <a:rPr lang="en-US" altLang="ko-KR" sz="2000" b="1">
                <a:solidFill>
                  <a:srgbClr val="273A52"/>
                </a:solidFill>
                <a:latin typeface="맑은 고딕"/>
                <a:ea typeface="맑은 고딕"/>
              </a:rPr>
              <a:t>03</a:t>
            </a:r>
            <a:endParaRPr lang="ko-KR" altLang="en-US" sz="2000" b="1">
              <a:solidFill>
                <a:srgbClr val="273A52"/>
              </a:solidFill>
              <a:latin typeface="맑은 고딕"/>
              <a:ea typeface="맑은 고딕"/>
            </a:endParaRPr>
          </a:p>
        </p:txBody>
      </p:sp>
      <p:sp>
        <p:nvSpPr>
          <p:cNvPr id="47" name="TextBox 46">
            <a:extLst>
              <a:ext uri="{FF2B5EF4-FFF2-40B4-BE49-F238E27FC236}">
                <a16:creationId xmlns:a16="http://schemas.microsoft.com/office/drawing/2014/main" id="{A5524417-C7D8-5440-89D1-16D312F89E18}"/>
              </a:ext>
            </a:extLst>
          </p:cNvPr>
          <p:cNvSpPr txBox="1"/>
          <p:nvPr/>
        </p:nvSpPr>
        <p:spPr>
          <a:xfrm>
            <a:off x="1206500" y="3136900"/>
            <a:ext cx="10160000" cy="330200"/>
          </a:xfrm>
          <a:prstGeom prst="rect">
            <a:avLst/>
          </a:prstGeom>
          <a:noFill/>
        </p:spPr>
        <p:txBody>
          <a:bodyPr vertOverflow="overflow" vert="horz" wrap="none" lIns="91440" tIns="0" rIns="91440" bIns="0" rtlCol="0" anchor="t" anchorCtr="0">
            <a:spAutoFit/>
          </a:bodyPr>
          <a:lstStyle/>
          <a:p>
            <a:pPr algn="l"/>
            <a:r>
              <a:rPr lang="ko-KR" altLang="en-US" sz="1700" b="1">
                <a:solidFill>
                  <a:srgbClr val="273A52"/>
                </a:solidFill>
                <a:latin typeface="맑은 고딕"/>
                <a:ea typeface="맑은 고딕"/>
              </a:rPr>
              <a:t>관련 연구</a:t>
            </a:r>
          </a:p>
        </p:txBody>
      </p:sp>
      <p:sp>
        <p:nvSpPr>
          <p:cNvPr id="48" name="TextBox 47">
            <a:extLst>
              <a:ext uri="{FF2B5EF4-FFF2-40B4-BE49-F238E27FC236}">
                <a16:creationId xmlns:a16="http://schemas.microsoft.com/office/drawing/2014/main" id="{BAF24786-EC24-5246-A8B3-08E3A50DC574}"/>
              </a:ext>
            </a:extLst>
          </p:cNvPr>
          <p:cNvSpPr txBox="1"/>
          <p:nvPr/>
        </p:nvSpPr>
        <p:spPr>
          <a:xfrm>
            <a:off x="1206500" y="3454400"/>
            <a:ext cx="10160000" cy="228600"/>
          </a:xfrm>
          <a:prstGeom prst="rect">
            <a:avLst/>
          </a:prstGeom>
          <a:noFill/>
        </p:spPr>
        <p:txBody>
          <a:bodyPr vertOverflow="overflow" vert="horz" wrap="none" lIns="91440" tIns="0" rIns="91440" bIns="0" rtlCol="0" anchor="t" anchorCtr="0">
            <a:spAutoFit/>
          </a:bodyPr>
          <a:lstStyle/>
          <a:p>
            <a:pPr algn="l"/>
            <a:r>
              <a:rPr lang="ko-KR" altLang="en-US" sz="1250">
                <a:solidFill>
                  <a:srgbClr val="6B7480"/>
                </a:solidFill>
                <a:latin typeface="맑은 고딕"/>
                <a:ea typeface="맑은 고딕"/>
              </a:rPr>
              <a:t>충돌 진단</a:t>
            </a:r>
            <a:r>
              <a:rPr lang="en-US" altLang="ko-KR" sz="1250">
                <a:solidFill>
                  <a:srgbClr val="6B7480"/>
                </a:solidFill>
                <a:latin typeface="맑은 고딕"/>
                <a:ea typeface="맑은 고딕"/>
              </a:rPr>
              <a:t>·</a:t>
            </a:r>
            <a:r>
              <a:rPr lang="ko-KR" altLang="en-US" sz="1250">
                <a:solidFill>
                  <a:srgbClr val="6B7480"/>
                </a:solidFill>
                <a:latin typeface="맑은 고딕"/>
                <a:ea typeface="맑은 고딕"/>
              </a:rPr>
              <a:t>완화 연구와 본 연구의 위치</a:t>
            </a:r>
          </a:p>
        </p:txBody>
      </p:sp>
      <p:sp>
        <p:nvSpPr>
          <p:cNvPr id="49" name="모서리가 둥근 직사각형 48">
            <a:extLst>
              <a:ext uri="{FF2B5EF4-FFF2-40B4-BE49-F238E27FC236}">
                <a16:creationId xmlns:a16="http://schemas.microsoft.com/office/drawing/2014/main" id="{E3F85996-5817-D04A-81C1-9253D47200D6}"/>
              </a:ext>
            </a:extLst>
          </p:cNvPr>
          <p:cNvSpPr/>
          <p:nvPr/>
        </p:nvSpPr>
        <p:spPr>
          <a:xfrm>
            <a:off x="546100" y="3809995"/>
            <a:ext cx="482600" cy="482600"/>
          </a:xfrm>
          <a:prstGeom prst="roundRect">
            <a:avLst/>
          </a:prstGeom>
          <a:no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lIns="0" tIns="0" rIns="0" bIns="0" rtlCol="0" anchor="ctr" anchorCtr="0">
            <a:noAutofit/>
          </a:bodyPr>
          <a:lstStyle/>
          <a:p>
            <a:pPr algn="l"/>
            <a:r>
              <a:rPr lang="en-US" altLang="ko-KR" sz="2000" b="1">
                <a:solidFill>
                  <a:srgbClr val="273A52"/>
                </a:solidFill>
                <a:latin typeface="맑은 고딕"/>
                <a:ea typeface="맑은 고딕"/>
              </a:rPr>
              <a:t>04</a:t>
            </a:r>
            <a:endParaRPr lang="ko-KR" altLang="en-US" sz="2000" b="1">
              <a:solidFill>
                <a:srgbClr val="273A52"/>
              </a:solidFill>
              <a:latin typeface="맑은 고딕"/>
              <a:ea typeface="맑은 고딕"/>
            </a:endParaRPr>
          </a:p>
        </p:txBody>
      </p:sp>
      <p:sp>
        <p:nvSpPr>
          <p:cNvPr id="50" name="TextBox 49">
            <a:extLst>
              <a:ext uri="{FF2B5EF4-FFF2-40B4-BE49-F238E27FC236}">
                <a16:creationId xmlns:a16="http://schemas.microsoft.com/office/drawing/2014/main" id="{75C74C5B-C60B-8E4C-903B-D36A2915644B}"/>
              </a:ext>
            </a:extLst>
          </p:cNvPr>
          <p:cNvSpPr txBox="1"/>
          <p:nvPr/>
        </p:nvSpPr>
        <p:spPr>
          <a:xfrm>
            <a:off x="1206500" y="3924300"/>
            <a:ext cx="10160000" cy="330200"/>
          </a:xfrm>
          <a:prstGeom prst="rect">
            <a:avLst/>
          </a:prstGeom>
          <a:noFill/>
        </p:spPr>
        <p:txBody>
          <a:bodyPr vertOverflow="overflow" vert="horz" wrap="none" lIns="91440" tIns="0" rIns="91440" bIns="0" rtlCol="0" anchor="t" anchorCtr="0">
            <a:spAutoFit/>
          </a:bodyPr>
          <a:lstStyle/>
          <a:p>
            <a:pPr algn="l"/>
            <a:r>
              <a:rPr lang="ko-KR" altLang="en-US" sz="1700" b="1">
                <a:solidFill>
                  <a:srgbClr val="273A52"/>
                </a:solidFill>
                <a:latin typeface="맑은 고딕"/>
                <a:ea typeface="맑은 고딕"/>
              </a:rPr>
              <a:t>방법론</a:t>
            </a:r>
          </a:p>
        </p:txBody>
      </p:sp>
      <p:sp>
        <p:nvSpPr>
          <p:cNvPr id="51" name="TextBox 50">
            <a:extLst>
              <a:ext uri="{FF2B5EF4-FFF2-40B4-BE49-F238E27FC236}">
                <a16:creationId xmlns:a16="http://schemas.microsoft.com/office/drawing/2014/main" id="{32AC1153-9D9F-6043-B635-A635220ADE08}"/>
              </a:ext>
            </a:extLst>
          </p:cNvPr>
          <p:cNvSpPr txBox="1"/>
          <p:nvPr/>
        </p:nvSpPr>
        <p:spPr>
          <a:xfrm>
            <a:off x="1206500" y="4241800"/>
            <a:ext cx="10160000" cy="228600"/>
          </a:xfrm>
          <a:prstGeom prst="rect">
            <a:avLst/>
          </a:prstGeom>
          <a:noFill/>
        </p:spPr>
        <p:txBody>
          <a:bodyPr vertOverflow="overflow" vert="horz" wrap="none" lIns="91440" tIns="0" rIns="91440" bIns="0" rtlCol="0" anchor="t" anchorCtr="0">
            <a:spAutoFit/>
          </a:bodyPr>
          <a:lstStyle/>
          <a:p>
            <a:pPr algn="l"/>
            <a:r>
              <a:rPr lang="ko-KR" altLang="en-US" sz="1250">
                <a:solidFill>
                  <a:srgbClr val="6B7480"/>
                </a:solidFill>
                <a:latin typeface="맑은 고딕"/>
                <a:ea typeface="맑은 고딕"/>
              </a:rPr>
              <a:t>데이터셋 </a:t>
            </a:r>
            <a:r>
              <a:rPr lang="en-US" altLang="ko-KR" sz="1250">
                <a:solidFill>
                  <a:srgbClr val="6B7480"/>
                </a:solidFill>
                <a:latin typeface="맑은 고딕"/>
                <a:ea typeface="맑은 고딕"/>
              </a:rPr>
              <a:t>· </a:t>
            </a:r>
            <a:r>
              <a:rPr lang="ko-KR" altLang="en-US" sz="1250">
                <a:solidFill>
                  <a:srgbClr val="6B7480"/>
                </a:solidFill>
                <a:latin typeface="맑은 고딕"/>
                <a:ea typeface="맑은 고딕"/>
              </a:rPr>
              <a:t>진단 프로토콜 </a:t>
            </a:r>
            <a:r>
              <a:rPr lang="en-US" altLang="ko-KR" sz="1250">
                <a:solidFill>
                  <a:srgbClr val="6B7480"/>
                </a:solidFill>
                <a:latin typeface="맑은 고딕"/>
                <a:ea typeface="맑은 고딕"/>
              </a:rPr>
              <a:t>· </a:t>
            </a:r>
            <a:r>
              <a:rPr lang="ko-KR" altLang="en-US" sz="1250">
                <a:solidFill>
                  <a:srgbClr val="6B7480"/>
                </a:solidFill>
                <a:latin typeface="맑은 고딕"/>
                <a:ea typeface="맑은 고딕"/>
              </a:rPr>
              <a:t>실험 설계</a:t>
            </a:r>
          </a:p>
        </p:txBody>
      </p:sp>
      <p:sp>
        <p:nvSpPr>
          <p:cNvPr id="52" name="모서리가 둥근 직사각형 51">
            <a:extLst>
              <a:ext uri="{FF2B5EF4-FFF2-40B4-BE49-F238E27FC236}">
                <a16:creationId xmlns:a16="http://schemas.microsoft.com/office/drawing/2014/main" id="{49447159-9617-AA49-B686-B940890B4BEE}"/>
              </a:ext>
            </a:extLst>
          </p:cNvPr>
          <p:cNvSpPr/>
          <p:nvPr/>
        </p:nvSpPr>
        <p:spPr>
          <a:xfrm>
            <a:off x="546100" y="4597395"/>
            <a:ext cx="482600" cy="482600"/>
          </a:xfrm>
          <a:prstGeom prst="roundRect">
            <a:avLst/>
          </a:prstGeom>
          <a:no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lIns="0" tIns="0" rIns="0" bIns="0" rtlCol="0" anchor="ctr" anchorCtr="0">
            <a:noAutofit/>
          </a:bodyPr>
          <a:lstStyle/>
          <a:p>
            <a:pPr algn="l"/>
            <a:r>
              <a:rPr lang="en-US" altLang="ko-KR" sz="2000" b="1">
                <a:solidFill>
                  <a:srgbClr val="273A52"/>
                </a:solidFill>
                <a:latin typeface="맑은 고딕"/>
                <a:ea typeface="맑은 고딕"/>
              </a:rPr>
              <a:t>05</a:t>
            </a:r>
            <a:endParaRPr lang="ko-KR" altLang="en-US" sz="2000" b="1">
              <a:solidFill>
                <a:srgbClr val="273A52"/>
              </a:solidFill>
              <a:latin typeface="맑은 고딕"/>
              <a:ea typeface="맑은 고딕"/>
            </a:endParaRPr>
          </a:p>
        </p:txBody>
      </p:sp>
      <p:sp>
        <p:nvSpPr>
          <p:cNvPr id="53" name="TextBox 52">
            <a:extLst>
              <a:ext uri="{FF2B5EF4-FFF2-40B4-BE49-F238E27FC236}">
                <a16:creationId xmlns:a16="http://schemas.microsoft.com/office/drawing/2014/main" id="{1B8773A6-0DCA-314F-8812-FB15C6BA5012}"/>
              </a:ext>
            </a:extLst>
          </p:cNvPr>
          <p:cNvSpPr txBox="1"/>
          <p:nvPr/>
        </p:nvSpPr>
        <p:spPr>
          <a:xfrm>
            <a:off x="1206500" y="4711700"/>
            <a:ext cx="10160000" cy="330200"/>
          </a:xfrm>
          <a:prstGeom prst="rect">
            <a:avLst/>
          </a:prstGeom>
          <a:noFill/>
        </p:spPr>
        <p:txBody>
          <a:bodyPr vertOverflow="overflow" vert="horz" wrap="none" lIns="91440" tIns="0" rIns="91440" bIns="0" rtlCol="0" anchor="t" anchorCtr="0">
            <a:spAutoFit/>
          </a:bodyPr>
          <a:lstStyle/>
          <a:p>
            <a:pPr algn="l"/>
            <a:r>
              <a:rPr lang="ko-KR" altLang="en-US" sz="1700" b="1">
                <a:solidFill>
                  <a:srgbClr val="273A52"/>
                </a:solidFill>
                <a:latin typeface="맑은 고딕"/>
                <a:ea typeface="맑은 고딕"/>
              </a:rPr>
              <a:t>실험 결과</a:t>
            </a:r>
          </a:p>
        </p:txBody>
      </p:sp>
      <p:sp>
        <p:nvSpPr>
          <p:cNvPr id="54" name="TextBox 53">
            <a:extLst>
              <a:ext uri="{FF2B5EF4-FFF2-40B4-BE49-F238E27FC236}">
                <a16:creationId xmlns:a16="http://schemas.microsoft.com/office/drawing/2014/main" id="{4C7166AB-9D94-BB4B-8D15-77291198DA98}"/>
              </a:ext>
            </a:extLst>
          </p:cNvPr>
          <p:cNvSpPr txBox="1"/>
          <p:nvPr/>
        </p:nvSpPr>
        <p:spPr>
          <a:xfrm>
            <a:off x="1206500" y="5029200"/>
            <a:ext cx="10160000" cy="228600"/>
          </a:xfrm>
          <a:prstGeom prst="rect">
            <a:avLst/>
          </a:prstGeom>
          <a:noFill/>
        </p:spPr>
        <p:txBody>
          <a:bodyPr vertOverflow="overflow" vert="horz" wrap="none" lIns="91440" tIns="0" rIns="91440" bIns="0" rtlCol="0" anchor="t" anchorCtr="0">
            <a:spAutoFit/>
          </a:bodyPr>
          <a:lstStyle/>
          <a:p>
            <a:pPr algn="l"/>
            <a:r>
              <a:rPr lang="ko-KR" altLang="en-US" sz="1250">
                <a:solidFill>
                  <a:srgbClr val="6B7480"/>
                </a:solidFill>
                <a:latin typeface="맑은 고딕"/>
                <a:ea typeface="맑은 고딕"/>
              </a:rPr>
              <a:t>예상 결과와 보고 계층</a:t>
            </a:r>
          </a:p>
        </p:txBody>
      </p:sp>
      <p:sp>
        <p:nvSpPr>
          <p:cNvPr id="55" name="모서리가 둥근 직사각형 54">
            <a:extLst>
              <a:ext uri="{FF2B5EF4-FFF2-40B4-BE49-F238E27FC236}">
                <a16:creationId xmlns:a16="http://schemas.microsoft.com/office/drawing/2014/main" id="{DE8C2F02-29CF-564C-B334-43A6CF32FEEA}"/>
              </a:ext>
            </a:extLst>
          </p:cNvPr>
          <p:cNvSpPr/>
          <p:nvPr/>
        </p:nvSpPr>
        <p:spPr>
          <a:xfrm>
            <a:off x="546100" y="5384795"/>
            <a:ext cx="482600" cy="482600"/>
          </a:xfrm>
          <a:prstGeom prst="roundRect">
            <a:avLst/>
          </a:prstGeom>
          <a:no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lIns="0" tIns="0" rIns="0" bIns="0" rtlCol="0" anchor="ctr" anchorCtr="0">
            <a:noAutofit/>
          </a:bodyPr>
          <a:lstStyle/>
          <a:p>
            <a:pPr algn="l"/>
            <a:r>
              <a:rPr lang="en-US" altLang="ko-KR" sz="2000" b="1">
                <a:solidFill>
                  <a:srgbClr val="273A52"/>
                </a:solidFill>
                <a:latin typeface="맑은 고딕"/>
                <a:ea typeface="맑은 고딕"/>
              </a:rPr>
              <a:t>06</a:t>
            </a:r>
            <a:endParaRPr lang="ko-KR" altLang="en-US" sz="2000" b="1">
              <a:solidFill>
                <a:srgbClr val="273A52"/>
              </a:solidFill>
              <a:latin typeface="맑은 고딕"/>
              <a:ea typeface="맑은 고딕"/>
            </a:endParaRPr>
          </a:p>
        </p:txBody>
      </p:sp>
      <p:sp>
        <p:nvSpPr>
          <p:cNvPr id="56" name="TextBox 55">
            <a:extLst>
              <a:ext uri="{FF2B5EF4-FFF2-40B4-BE49-F238E27FC236}">
                <a16:creationId xmlns:a16="http://schemas.microsoft.com/office/drawing/2014/main" id="{3723A3F3-94D4-4A45-8C30-2A65FEA4FB9B}"/>
              </a:ext>
            </a:extLst>
          </p:cNvPr>
          <p:cNvSpPr txBox="1"/>
          <p:nvPr/>
        </p:nvSpPr>
        <p:spPr>
          <a:xfrm>
            <a:off x="1206500" y="5499100"/>
            <a:ext cx="10160000" cy="330200"/>
          </a:xfrm>
          <a:prstGeom prst="rect">
            <a:avLst/>
          </a:prstGeom>
          <a:noFill/>
        </p:spPr>
        <p:txBody>
          <a:bodyPr vertOverflow="overflow" vert="horz" wrap="none" lIns="91440" tIns="0" rIns="91440" bIns="0" rtlCol="0" anchor="t" anchorCtr="0">
            <a:spAutoFit/>
          </a:bodyPr>
          <a:lstStyle/>
          <a:p>
            <a:pPr algn="l"/>
            <a:r>
              <a:rPr lang="ko-KR" altLang="en-US" sz="1700" b="1">
                <a:solidFill>
                  <a:srgbClr val="273A52"/>
                </a:solidFill>
                <a:latin typeface="맑은 고딕"/>
                <a:ea typeface="맑은 고딕"/>
              </a:rPr>
              <a:t>한계 </a:t>
            </a:r>
            <a:r>
              <a:rPr lang="en-US" altLang="ko-KR" sz="1700" b="1">
                <a:solidFill>
                  <a:srgbClr val="273A52"/>
                </a:solidFill>
                <a:latin typeface="맑은 고딕"/>
                <a:ea typeface="맑은 고딕"/>
              </a:rPr>
              <a:t>· </a:t>
            </a:r>
            <a:r>
              <a:rPr lang="ko-KR" altLang="en-US" sz="1700" b="1">
                <a:solidFill>
                  <a:srgbClr val="273A52"/>
                </a:solidFill>
                <a:latin typeface="맑은 고딕"/>
                <a:ea typeface="맑은 고딕"/>
              </a:rPr>
              <a:t>향후 연구</a:t>
            </a:r>
          </a:p>
        </p:txBody>
      </p:sp>
      <p:sp>
        <p:nvSpPr>
          <p:cNvPr id="57" name="TextBox 56">
            <a:extLst>
              <a:ext uri="{FF2B5EF4-FFF2-40B4-BE49-F238E27FC236}">
                <a16:creationId xmlns:a16="http://schemas.microsoft.com/office/drawing/2014/main" id="{A2EFF901-58F1-BB4A-B8A5-2DAFD5FD11EC}"/>
              </a:ext>
            </a:extLst>
          </p:cNvPr>
          <p:cNvSpPr txBox="1"/>
          <p:nvPr/>
        </p:nvSpPr>
        <p:spPr>
          <a:xfrm>
            <a:off x="1206500" y="5816600"/>
            <a:ext cx="10160000" cy="228600"/>
          </a:xfrm>
          <a:prstGeom prst="rect">
            <a:avLst/>
          </a:prstGeom>
          <a:noFill/>
        </p:spPr>
        <p:txBody>
          <a:bodyPr vertOverflow="overflow" vert="horz" wrap="none" lIns="91440" tIns="0" rIns="91440" bIns="0" rtlCol="0" anchor="t" anchorCtr="0">
            <a:spAutoFit/>
          </a:bodyPr>
          <a:lstStyle/>
          <a:p>
            <a:pPr algn="l"/>
            <a:r>
              <a:rPr lang="ko-KR" altLang="en-US" sz="1250">
                <a:solidFill>
                  <a:srgbClr val="6B7480"/>
                </a:solidFill>
                <a:latin typeface="맑은 고딕"/>
                <a:ea typeface="맑은 고딕"/>
              </a:rPr>
              <a:t>연구의 한계와 진단 결과에 따른 후속 방향</a:t>
            </a:r>
          </a:p>
        </p:txBody>
      </p:sp>
    </p:spTree>
    <p:extLst>
      <p:ext uri="{BB962C8B-B14F-4D97-AF65-F5344CB8AC3E}">
        <p14:creationId xmlns:p14="http://schemas.microsoft.com/office/powerpoint/2010/main" val="2873254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0" dirty="0">
                <a:solidFill>
                  <a:srgbClr val="6B7480"/>
                </a:solidFill>
                <a:latin typeface="맑은 고딕"/>
                <a:ea typeface="맑은 고딕"/>
              </a:rPr>
              <a:t>연구 여정</a:t>
            </a:r>
            <a:r>
              <a:rPr lang="en-US" sz="1250" b="0" dirty="0">
                <a:solidFill>
                  <a:srgbClr val="B0B7C0"/>
                </a:solidFill>
                <a:latin typeface="맑은 고딕"/>
                <a:ea typeface="맑은 고딕"/>
              </a:rPr>
              <a:t>   ›   </a:t>
            </a:r>
            <a:r>
              <a:rPr lang="en-US" sz="1250" b="1" dirty="0">
                <a:solidFill>
                  <a:srgbClr val="273A52"/>
                </a:solidFill>
                <a:latin typeface="맑은 고딕"/>
                <a:ea typeface="맑은 고딕"/>
              </a:rPr>
              <a:t>① 선행 시도</a:t>
            </a:r>
          </a:p>
        </p:txBody>
      </p:sp>
      <p:sp>
        <p:nvSpPr>
          <p:cNvPr id="3" name="TextBox 2"/>
          <p:cNvSpPr txBox="1"/>
          <p:nvPr/>
        </p:nvSpPr>
        <p:spPr>
          <a:xfrm>
            <a:off x="548640" y="585216"/>
            <a:ext cx="11091672" cy="396647"/>
          </a:xfrm>
          <a:prstGeom prst="rect">
            <a:avLst/>
          </a:prstGeom>
          <a:noFill/>
        </p:spPr>
        <p:txBody>
          <a:bodyPr wrap="square" lIns="0" tIns="0" rIns="0" bIns="0">
            <a:spAutoFit/>
          </a:bodyPr>
          <a:lstStyle/>
          <a:p>
            <a:pPr algn="l">
              <a:lnSpc>
                <a:spcPct val="122000"/>
              </a:lnSpc>
              <a:spcAft>
                <a:spcPts val="450"/>
              </a:spcAft>
            </a:pPr>
            <a:r>
              <a:rPr sz="2350" b="1" dirty="0" err="1">
                <a:solidFill>
                  <a:srgbClr val="273A52"/>
                </a:solidFill>
                <a:latin typeface="맑은 고딕"/>
                <a:ea typeface="맑은 고딕"/>
              </a:rPr>
              <a:t>선행</a:t>
            </a:r>
            <a:r>
              <a:rPr sz="2350" b="1" dirty="0">
                <a:solidFill>
                  <a:srgbClr val="273A52"/>
                </a:solidFill>
                <a:latin typeface="맑은 고딕"/>
                <a:ea typeface="맑은 고딕"/>
              </a:rPr>
              <a:t> </a:t>
            </a:r>
            <a:r>
              <a:rPr sz="2350" b="1" dirty="0" err="1">
                <a:solidFill>
                  <a:srgbClr val="273A52"/>
                </a:solidFill>
                <a:latin typeface="맑은 고딕"/>
                <a:ea typeface="맑은 고딕"/>
              </a:rPr>
              <a:t>시도</a:t>
            </a:r>
            <a:r>
              <a:rPr sz="2350" b="1" dirty="0">
                <a:solidFill>
                  <a:srgbClr val="273A52"/>
                </a:solidFill>
                <a:latin typeface="맑은 고딕"/>
                <a:ea typeface="맑은 고딕"/>
              </a:rPr>
              <a:t> V1–V3</a:t>
            </a: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274320"/>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3</a:t>
            </a:fld>
            <a:endParaRPr lang="en-US" altLang="ko-KR" sz="950">
              <a:solidFill>
                <a:srgbClr val="6B7480"/>
              </a:solidFill>
              <a:latin typeface="맑은 고딕"/>
              <a:ea typeface="맑은 고딕"/>
            </a:endParaRPr>
          </a:p>
        </p:txBody>
      </p:sp>
      <p:sp>
        <p:nvSpPr>
          <p:cNvPr id="7" name="TextBox 6"/>
          <p:cNvSpPr txBox="1"/>
          <p:nvPr/>
        </p:nvSpPr>
        <p:spPr>
          <a:xfrm>
            <a:off x="548640" y="1270000"/>
            <a:ext cx="11091672" cy="207557"/>
          </a:xfrm>
          <a:prstGeom prst="rect">
            <a:avLst/>
          </a:prstGeom>
          <a:noFill/>
        </p:spPr>
        <p:txBody>
          <a:bodyPr wrap="square" lIns="91440" tIns="45720" rIns="91440" bIns="45720" anchor="t" anchorCtr="0">
            <a:spAutoFit/>
          </a:bodyPr>
          <a:lstStyle/>
          <a:p>
            <a:pPr algn="l">
              <a:lnSpc>
                <a:spcPct val="122000"/>
              </a:lnSpc>
              <a:spcAft>
                <a:spcPts val="450"/>
              </a:spcAft>
            </a:pPr>
            <a:r>
              <a:rPr sz="1230" b="0" dirty="0" err="1">
                <a:solidFill>
                  <a:srgbClr val="6B7480"/>
                </a:solidFill>
                <a:latin typeface="맑은 고딕"/>
                <a:ea typeface="맑은 고딕"/>
              </a:rPr>
              <a:t>시간충돌</a:t>
            </a:r>
            <a:r>
              <a:rPr sz="1230" b="0" dirty="0">
                <a:solidFill>
                  <a:srgbClr val="6B7480"/>
                </a:solidFill>
                <a:latin typeface="맑은 고딕"/>
                <a:ea typeface="맑은 고딕"/>
              </a:rPr>
              <a:t> RAG </a:t>
            </a:r>
            <a:r>
              <a:rPr sz="1230" b="0" dirty="0" err="1">
                <a:solidFill>
                  <a:srgbClr val="6B7480"/>
                </a:solidFill>
                <a:latin typeface="맑은 고딕"/>
                <a:ea typeface="맑은 고딕"/>
              </a:rPr>
              <a:t>하나의</a:t>
            </a:r>
            <a:r>
              <a:rPr sz="1230" b="0" dirty="0">
                <a:solidFill>
                  <a:srgbClr val="6B7480"/>
                </a:solidFill>
                <a:latin typeface="맑은 고딕"/>
                <a:ea typeface="맑은 고딕"/>
              </a:rPr>
              <a:t> </a:t>
            </a:r>
            <a:r>
              <a:rPr sz="1230" b="0" dirty="0" err="1">
                <a:solidFill>
                  <a:srgbClr val="6B7480"/>
                </a:solidFill>
                <a:latin typeface="맑은 고딕"/>
                <a:ea typeface="맑은 고딕"/>
              </a:rPr>
              <a:t>문제를</a:t>
            </a:r>
            <a:r>
              <a:rPr sz="1230" b="0" dirty="0">
                <a:solidFill>
                  <a:srgbClr val="6B7480"/>
                </a:solidFill>
                <a:latin typeface="맑은 고딕"/>
                <a:ea typeface="맑은 고딕"/>
              </a:rPr>
              <a:t> </a:t>
            </a:r>
            <a:r>
              <a:rPr sz="1230" b="0" dirty="0" err="1">
                <a:solidFill>
                  <a:srgbClr val="6B7480"/>
                </a:solidFill>
                <a:latin typeface="맑은 고딕"/>
                <a:ea typeface="맑은 고딕"/>
              </a:rPr>
              <a:t>논문</a:t>
            </a:r>
            <a:r>
              <a:rPr sz="1230" b="0" dirty="0">
                <a:solidFill>
                  <a:srgbClr val="6B7480"/>
                </a:solidFill>
                <a:latin typeface="맑은 고딕"/>
                <a:ea typeface="맑은 고딕"/>
              </a:rPr>
              <a:t> </a:t>
            </a:r>
            <a:r>
              <a:rPr sz="1230" b="0" dirty="0" err="1">
                <a:solidFill>
                  <a:srgbClr val="6B7480"/>
                </a:solidFill>
                <a:latin typeface="맑은 고딕"/>
                <a:ea typeface="맑은 고딕"/>
              </a:rPr>
              <a:t>타입을</a:t>
            </a:r>
            <a:r>
              <a:rPr sz="1230" b="0" dirty="0">
                <a:solidFill>
                  <a:srgbClr val="6B7480"/>
                </a:solidFill>
                <a:latin typeface="맑은 고딕"/>
                <a:ea typeface="맑은 고딕"/>
              </a:rPr>
              <a:t> </a:t>
            </a:r>
            <a:r>
              <a:rPr sz="1230" b="0" dirty="0" err="1">
                <a:solidFill>
                  <a:srgbClr val="6B7480"/>
                </a:solidFill>
                <a:latin typeface="맑은 고딕"/>
                <a:ea typeface="맑은 고딕"/>
              </a:rPr>
              <a:t>바꿔가며</a:t>
            </a:r>
            <a:r>
              <a:rPr sz="1230" b="0" dirty="0">
                <a:solidFill>
                  <a:srgbClr val="6B7480"/>
                </a:solidFill>
                <a:latin typeface="맑은 고딕"/>
                <a:ea typeface="맑은 고딕"/>
              </a:rPr>
              <a:t> </a:t>
            </a:r>
            <a:r>
              <a:rPr sz="1230" b="0" dirty="0" err="1">
                <a:solidFill>
                  <a:srgbClr val="6B7480"/>
                </a:solidFill>
                <a:latin typeface="맑은 고딕"/>
                <a:ea typeface="맑은 고딕"/>
              </a:rPr>
              <a:t>세</a:t>
            </a:r>
            <a:r>
              <a:rPr sz="1230" b="0" dirty="0">
                <a:solidFill>
                  <a:srgbClr val="6B7480"/>
                </a:solidFill>
                <a:latin typeface="맑은 고딕"/>
                <a:ea typeface="맑은 고딕"/>
              </a:rPr>
              <a:t> </a:t>
            </a:r>
            <a:r>
              <a:rPr sz="1230" b="0" dirty="0" err="1">
                <a:solidFill>
                  <a:srgbClr val="6B7480"/>
                </a:solidFill>
                <a:latin typeface="맑은 고딕"/>
                <a:ea typeface="맑은 고딕"/>
              </a:rPr>
              <a:t>차례</a:t>
            </a:r>
            <a:r>
              <a:rPr sz="1230" b="0" dirty="0">
                <a:solidFill>
                  <a:srgbClr val="6B7480"/>
                </a:solidFill>
                <a:latin typeface="맑은 고딕"/>
                <a:ea typeface="맑은 고딕"/>
              </a:rPr>
              <a:t> </a:t>
            </a:r>
            <a:r>
              <a:rPr sz="1230" b="0" dirty="0" err="1">
                <a:solidFill>
                  <a:srgbClr val="6B7480"/>
                </a:solidFill>
                <a:latin typeface="맑은 고딕"/>
                <a:ea typeface="맑은 고딕"/>
              </a:rPr>
              <a:t>공략</a:t>
            </a:r>
            <a:endParaRPr sz="1230" b="0" dirty="0">
              <a:solidFill>
                <a:srgbClr val="6B7480"/>
              </a:solidFill>
              <a:latin typeface="맑은 고딕"/>
              <a:ea typeface="맑은 고딕"/>
            </a:endParaRPr>
          </a:p>
        </p:txBody>
      </p:sp>
      <p:graphicFrame>
        <p:nvGraphicFramePr>
          <p:cNvPr id="8" name="Table 7"/>
          <p:cNvGraphicFramePr>
            <a:graphicFrameLocks noGrp="1"/>
          </p:cNvGraphicFramePr>
          <p:nvPr/>
        </p:nvGraphicFramePr>
        <p:xfrm>
          <a:off x="548640" y="1818639"/>
          <a:ext cx="11091672" cy="3712461"/>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456432">
                  <a:extLst>
                    <a:ext uri="{9D8B030D-6E8A-4147-A177-3AD203B41FA5}">
                      <a16:colId xmlns:a16="http://schemas.microsoft.com/office/drawing/2014/main" val="20003"/>
                    </a:ext>
                  </a:extLst>
                </a:gridCol>
              </a:tblGrid>
              <a:tr h="420621">
                <a:tc>
                  <a:txBody>
                    <a:bodyPr/>
                    <a:lstStyle/>
                    <a:p>
                      <a:pPr algn="ctr">
                        <a:lnSpc>
                          <a:spcPct val="114000"/>
                        </a:lnSpc>
                        <a:spcAft>
                          <a:spcPts val="200"/>
                        </a:spcAft>
                      </a:pPr>
                      <a:r>
                        <a:rPr sz="1150" b="1" dirty="0" err="1">
                          <a:solidFill>
                            <a:srgbClr val="FFFFFF"/>
                          </a:solidFill>
                          <a:latin typeface="맑은 고딕"/>
                          <a:ea typeface="맑은 고딕"/>
                        </a:rPr>
                        <a:t>버전</a:t>
                      </a:r>
                      <a:r>
                        <a:rPr sz="1150" b="1" dirty="0">
                          <a:solidFill>
                            <a:srgbClr val="FFFFFF"/>
                          </a:solidFill>
                          <a:latin typeface="맑은 고딕"/>
                          <a:ea typeface="맑은 고딕"/>
                        </a:rPr>
                        <a:t> · </a:t>
                      </a:r>
                      <a:r>
                        <a:rPr sz="1150" b="1" dirty="0" err="1">
                          <a:solidFill>
                            <a:srgbClr val="FFFFFF"/>
                          </a:solidFill>
                          <a:latin typeface="맑은 고딕"/>
                          <a:ea typeface="맑은 고딕"/>
                        </a:rPr>
                        <a:t>타입</a:t>
                      </a:r>
                      <a:endParaRPr sz="1150" b="1" dirty="0">
                        <a:solidFill>
                          <a:srgbClr val="FFFFFF"/>
                        </a:solidFill>
                        <a:latin typeface="맑은 고딕"/>
                        <a:ea typeface="맑은 고딕"/>
                      </a:endParaRPr>
                    </a:p>
                  </a:txBody>
                  <a:tcPr marL="82296" marR="82296" marT="36576" marB="36576" anchor="ctr">
                    <a:solidFill>
                      <a:srgbClr val="273A52"/>
                    </a:solidFill>
                  </a:tcPr>
                </a:tc>
                <a:tc>
                  <a:txBody>
                    <a:bodyPr/>
                    <a:lstStyle/>
                    <a:p>
                      <a:pPr algn="ctr">
                        <a:lnSpc>
                          <a:spcPct val="114000"/>
                        </a:lnSpc>
                        <a:spcAft>
                          <a:spcPts val="200"/>
                        </a:spcAft>
                      </a:pPr>
                      <a:r>
                        <a:rPr sz="1150" b="1" dirty="0" err="1">
                          <a:solidFill>
                            <a:srgbClr val="FFFFFF"/>
                          </a:solidFill>
                          <a:latin typeface="맑은 고딕"/>
                          <a:ea typeface="맑은 고딕"/>
                        </a:rPr>
                        <a:t>무엇을</a:t>
                      </a:r>
                      <a:r>
                        <a:rPr sz="1150" b="1" dirty="0">
                          <a:solidFill>
                            <a:srgbClr val="FFFFFF"/>
                          </a:solidFill>
                          <a:latin typeface="맑은 고딕"/>
                          <a:ea typeface="맑은 고딕"/>
                        </a:rPr>
                        <a:t> </a:t>
                      </a:r>
                      <a:r>
                        <a:rPr sz="1150" b="1" dirty="0" err="1">
                          <a:solidFill>
                            <a:srgbClr val="FFFFFF"/>
                          </a:solidFill>
                          <a:latin typeface="맑은 고딕"/>
                          <a:ea typeface="맑은 고딕"/>
                        </a:rPr>
                        <a:t>시도했나</a:t>
                      </a:r>
                      <a:endParaRPr sz="1150" b="1" dirty="0">
                        <a:solidFill>
                          <a:srgbClr val="FFFFFF"/>
                        </a:solidFill>
                        <a:latin typeface="맑은 고딕"/>
                        <a:ea typeface="맑은 고딕"/>
                      </a:endParaRPr>
                    </a:p>
                  </a:txBody>
                  <a:tcPr marL="82296" marR="82296" marT="36576" marB="36576" anchor="ctr">
                    <a:solidFill>
                      <a:srgbClr val="273A52"/>
                    </a:solidFill>
                  </a:tcPr>
                </a:tc>
                <a:tc>
                  <a:txBody>
                    <a:bodyPr/>
                    <a:lstStyle/>
                    <a:p>
                      <a:pPr algn="ctr">
                        <a:lnSpc>
                          <a:spcPct val="114000"/>
                        </a:lnSpc>
                        <a:spcAft>
                          <a:spcPts val="200"/>
                        </a:spcAft>
                      </a:pPr>
                      <a:r>
                        <a:rPr sz="1150" b="1" dirty="0" err="1">
                          <a:solidFill>
                            <a:srgbClr val="FFFFFF"/>
                          </a:solidFill>
                          <a:latin typeface="맑은 고딕"/>
                          <a:ea typeface="맑은 고딕"/>
                        </a:rPr>
                        <a:t>무엇을</a:t>
                      </a:r>
                      <a:r>
                        <a:rPr sz="1150" b="1" dirty="0">
                          <a:solidFill>
                            <a:srgbClr val="FFFFFF"/>
                          </a:solidFill>
                          <a:latin typeface="맑은 고딕"/>
                          <a:ea typeface="맑은 고딕"/>
                        </a:rPr>
                        <a:t> </a:t>
                      </a:r>
                      <a:r>
                        <a:rPr sz="1150" b="1" dirty="0" err="1">
                          <a:solidFill>
                            <a:srgbClr val="FFFFFF"/>
                          </a:solidFill>
                          <a:latin typeface="맑은 고딕"/>
                          <a:ea typeface="맑은 고딕"/>
                        </a:rPr>
                        <a:t>얻었나</a:t>
                      </a:r>
                      <a:endParaRPr sz="1150" b="1" dirty="0">
                        <a:solidFill>
                          <a:srgbClr val="FFFFFF"/>
                        </a:solidFill>
                        <a:latin typeface="맑은 고딕"/>
                        <a:ea typeface="맑은 고딕"/>
                      </a:endParaRPr>
                    </a:p>
                  </a:txBody>
                  <a:tcPr marL="82296" marR="82296" marT="36576" marB="36576" anchor="ctr">
                    <a:solidFill>
                      <a:srgbClr val="273A52"/>
                    </a:solidFill>
                  </a:tcPr>
                </a:tc>
                <a:tc>
                  <a:txBody>
                    <a:bodyPr/>
                    <a:lstStyle/>
                    <a:p>
                      <a:pPr algn="ctr">
                        <a:lnSpc>
                          <a:spcPct val="114000"/>
                        </a:lnSpc>
                        <a:spcAft>
                          <a:spcPts val="200"/>
                        </a:spcAft>
                      </a:pPr>
                      <a:r>
                        <a:rPr sz="1150" b="1" dirty="0" err="1">
                          <a:solidFill>
                            <a:srgbClr val="FFFFFF"/>
                          </a:solidFill>
                          <a:latin typeface="맑은 고딕"/>
                          <a:ea typeface="맑은 고딕"/>
                        </a:rPr>
                        <a:t>왜</a:t>
                      </a:r>
                      <a:r>
                        <a:rPr sz="1150" b="1" dirty="0">
                          <a:solidFill>
                            <a:srgbClr val="FFFFFF"/>
                          </a:solidFill>
                          <a:latin typeface="맑은 고딕"/>
                          <a:ea typeface="맑은 고딕"/>
                        </a:rPr>
                        <a:t> </a:t>
                      </a:r>
                      <a:r>
                        <a:rPr sz="1150" b="1" dirty="0" err="1">
                          <a:solidFill>
                            <a:srgbClr val="FFFFFF"/>
                          </a:solidFill>
                          <a:latin typeface="맑은 고딕"/>
                          <a:ea typeface="맑은 고딕"/>
                        </a:rPr>
                        <a:t>멈췄나</a:t>
                      </a:r>
                      <a:r>
                        <a:rPr sz="1150" b="1" dirty="0">
                          <a:solidFill>
                            <a:srgbClr val="FFFFFF"/>
                          </a:solidFill>
                          <a:latin typeface="맑은 고딕"/>
                          <a:ea typeface="맑은 고딕"/>
                        </a:rPr>
                        <a:t> (</a:t>
                      </a:r>
                      <a:r>
                        <a:rPr sz="1150" b="1" dirty="0" err="1">
                          <a:solidFill>
                            <a:srgbClr val="FFFFFF"/>
                          </a:solidFill>
                          <a:latin typeface="맑은 고딕"/>
                          <a:ea typeface="맑은 고딕"/>
                        </a:rPr>
                        <a:t>전환</a:t>
                      </a:r>
                      <a:r>
                        <a:rPr sz="1150" b="1" dirty="0">
                          <a:solidFill>
                            <a:srgbClr val="FFFFFF"/>
                          </a:solidFill>
                          <a:latin typeface="맑은 고딕"/>
                          <a:ea typeface="맑은 고딕"/>
                        </a:rPr>
                        <a:t> </a:t>
                      </a:r>
                      <a:r>
                        <a:rPr sz="1150" b="1" dirty="0" err="1">
                          <a:solidFill>
                            <a:srgbClr val="FFFFFF"/>
                          </a:solidFill>
                          <a:latin typeface="맑은 고딕"/>
                          <a:ea typeface="맑은 고딕"/>
                        </a:rPr>
                        <a:t>이유</a:t>
                      </a:r>
                      <a:r>
                        <a:rPr sz="1150" b="1" dirty="0">
                          <a:solidFill>
                            <a:srgbClr val="FFFFFF"/>
                          </a:solidFill>
                          <a:latin typeface="맑은 고딕"/>
                          <a:ea typeface="맑은 고딕"/>
                        </a:rPr>
                        <a:t>)</a:t>
                      </a:r>
                    </a:p>
                  </a:txBody>
                  <a:tcPr marL="82296" marR="82296" marT="36576" marB="36576" anchor="ctr">
                    <a:solidFill>
                      <a:srgbClr val="273A52"/>
                    </a:solidFill>
                  </a:tcPr>
                </a:tc>
                <a:extLst>
                  <a:ext uri="{0D108BD9-81ED-4DB2-BD59-A6C34878D82A}">
                    <a16:rowId xmlns:a16="http://schemas.microsoft.com/office/drawing/2014/main" val="10000"/>
                  </a:ext>
                </a:extLst>
              </a:tr>
              <a:tr h="1097280">
                <a:tc>
                  <a:txBody>
                    <a:bodyPr/>
                    <a:lstStyle/>
                    <a:p>
                      <a:pPr algn="l">
                        <a:lnSpc>
                          <a:spcPct val="114000"/>
                        </a:lnSpc>
                        <a:spcAft>
                          <a:spcPts val="200"/>
                        </a:spcAft>
                      </a:pPr>
                      <a:r>
                        <a:rPr sz="1120" b="1">
                          <a:solidFill>
                            <a:srgbClr val="273A52"/>
                          </a:solidFill>
                          <a:latin typeface="맑은 고딕"/>
                          <a:ea typeface="맑은 고딕"/>
                        </a:rPr>
                        <a:t>V1 · TV-RAG</a:t>
                      </a:r>
                    </a:p>
                    <a:p>
                      <a:pPr algn="l">
                        <a:lnSpc>
                          <a:spcPct val="114000"/>
                        </a:lnSpc>
                        <a:spcAft>
                          <a:spcPts val="200"/>
                        </a:spcAft>
                      </a:pPr>
                      <a:r>
                        <a:rPr sz="1040" b="0">
                          <a:solidFill>
                            <a:srgbClr val="6B7480"/>
                          </a:solidFill>
                          <a:latin typeface="맑은 고딕"/>
                          <a:ea typeface="맑은 고딕"/>
                        </a:rPr>
                        <a:t>해결 (Mitigation)</a:t>
                      </a:r>
                    </a:p>
                  </a:txBody>
                  <a:tcPr marL="82296" marR="82296" marT="36576" marB="36576" anchor="ctr">
                    <a:solidFill>
                      <a:srgbClr val="FFFFFF"/>
                    </a:solidFill>
                  </a:tcPr>
                </a:tc>
                <a:tc>
                  <a:txBody>
                    <a:bodyPr/>
                    <a:lstStyle/>
                    <a:p>
                      <a:pPr algn="l">
                        <a:lnSpc>
                          <a:spcPct val="114000"/>
                        </a:lnSpc>
                        <a:spcAft>
                          <a:spcPts val="200"/>
                        </a:spcAft>
                      </a:pPr>
                      <a:r>
                        <a:rPr sz="1120" b="0">
                          <a:solidFill>
                            <a:srgbClr val="1E2227"/>
                          </a:solidFill>
                          <a:latin typeface="맑은 고딕"/>
                          <a:ea typeface="맑은 고딕"/>
                        </a:rPr>
                        <a:t>올바른 시점 문서를 선택할 때만 보상하는 </a:t>
                      </a:r>
                      <a:r>
                        <a:rPr sz="1120" b="1">
                          <a:solidFill>
                            <a:srgbClr val="1E2227"/>
                          </a:solidFill>
                          <a:latin typeface="맑은 고딕"/>
                          <a:ea typeface="맑은 고딕"/>
                        </a:rPr>
                        <a:t>강화학습(GRPO) 보상 모델</a:t>
                      </a:r>
                      <a:r>
                        <a:rPr sz="1120" b="0">
                          <a:solidFill>
                            <a:srgbClr val="1E2227"/>
                          </a:solidFill>
                          <a:latin typeface="맑은 고딕"/>
                          <a:ea typeface="맑은 고딕"/>
                        </a:rPr>
                        <a:t> 설계</a:t>
                      </a:r>
                    </a:p>
                  </a:txBody>
                  <a:tcPr marL="82296" marR="82296" marT="36576" marB="36576" anchor="ctr">
                    <a:solidFill>
                      <a:srgbClr val="FFFFFF"/>
                    </a:solidFill>
                  </a:tcPr>
                </a:tc>
                <a:tc>
                  <a:txBody>
                    <a:bodyPr/>
                    <a:lstStyle/>
                    <a:p>
                      <a:pPr marL="171450" indent="-171450" algn="l">
                        <a:lnSpc>
                          <a:spcPct val="114000"/>
                        </a:lnSpc>
                        <a:spcAft>
                          <a:spcPts val="200"/>
                        </a:spcAft>
                        <a:buFont typeface="Arial" panose="020B0604020202020204" pitchFamily="34" charset="0"/>
                        <a:buChar char="•"/>
                      </a:pPr>
                      <a:r>
                        <a:rPr sz="1080" b="0" dirty="0" err="1">
                          <a:solidFill>
                            <a:srgbClr val="1E2227"/>
                          </a:solidFill>
                          <a:latin typeface="맑은 고딕"/>
                          <a:ea typeface="맑은 고딕"/>
                        </a:rPr>
                        <a:t>규모·유형</a:t>
                      </a:r>
                      <a:r>
                        <a:rPr sz="1080" b="0" dirty="0">
                          <a:solidFill>
                            <a:srgbClr val="1E2227"/>
                          </a:solidFill>
                          <a:latin typeface="맑은 고딕"/>
                          <a:ea typeface="맑은 고딕"/>
                        </a:rPr>
                        <a:t> </a:t>
                      </a:r>
                      <a:r>
                        <a:rPr sz="1080" b="0" dirty="0" err="1">
                          <a:solidFill>
                            <a:srgbClr val="1E2227"/>
                          </a:solidFill>
                          <a:latin typeface="맑은 고딕"/>
                          <a:ea typeface="맑은 고딕"/>
                        </a:rPr>
                        <a:t>무관</a:t>
                      </a:r>
                      <a:r>
                        <a:rPr sz="1080" b="0" dirty="0">
                          <a:solidFill>
                            <a:srgbClr val="1E2227"/>
                          </a:solidFill>
                          <a:latin typeface="맑은 고딕"/>
                          <a:ea typeface="맑은 고딕"/>
                        </a:rPr>
                        <a:t> </a:t>
                      </a:r>
                      <a:r>
                        <a:rPr lang="ko-KR" altLang="en-US" sz="1080" b="1" dirty="0">
                          <a:solidFill>
                            <a:srgbClr val="1E2227"/>
                          </a:solidFill>
                          <a:latin typeface="맑은 고딕"/>
                          <a:ea typeface="맑은 고딕"/>
                        </a:rPr>
                        <a:t>시간적 충돌 </a:t>
                      </a:r>
                      <a:r>
                        <a:rPr sz="1080" b="1" dirty="0" err="1">
                          <a:solidFill>
                            <a:srgbClr val="1E2227"/>
                          </a:solidFill>
                          <a:latin typeface="맑은 고딕"/>
                          <a:ea typeface="맑은 고딕"/>
                        </a:rPr>
                        <a:t>취약성</a:t>
                      </a:r>
                      <a:r>
                        <a:rPr sz="1080" b="1" dirty="0">
                          <a:solidFill>
                            <a:srgbClr val="1E2227"/>
                          </a:solidFill>
                          <a:latin typeface="맑은 고딕"/>
                          <a:ea typeface="맑은 고딕"/>
                        </a:rPr>
                        <a:t> </a:t>
                      </a:r>
                      <a:r>
                        <a:rPr sz="1080" b="1" dirty="0" err="1">
                          <a:solidFill>
                            <a:srgbClr val="1E2227"/>
                          </a:solidFill>
                          <a:latin typeface="맑은 고딕"/>
                          <a:ea typeface="맑은 고딕"/>
                        </a:rPr>
                        <a:t>실증</a:t>
                      </a:r>
                      <a:endParaRPr lang="en-US" sz="1080" b="1" dirty="0">
                        <a:solidFill>
                          <a:srgbClr val="1E2227"/>
                        </a:solidFill>
                        <a:latin typeface="맑은 고딕"/>
                        <a:ea typeface="맑은 고딕"/>
                      </a:endParaRPr>
                    </a:p>
                    <a:p>
                      <a:pPr marL="171450" indent="-171450" algn="l">
                        <a:lnSpc>
                          <a:spcPct val="114000"/>
                        </a:lnSpc>
                        <a:spcAft>
                          <a:spcPts val="200"/>
                        </a:spcAft>
                        <a:buFont typeface="Arial" panose="020B0604020202020204" pitchFamily="34" charset="0"/>
                        <a:buChar char="•"/>
                      </a:pPr>
                      <a:r>
                        <a:rPr sz="1080" b="0" dirty="0" err="1">
                          <a:solidFill>
                            <a:srgbClr val="1E2227"/>
                          </a:solidFill>
                          <a:latin typeface="맑은 고딕"/>
                          <a:ea typeface="맑은 고딕"/>
                        </a:rPr>
                        <a:t>모델이</a:t>
                      </a:r>
                      <a:r>
                        <a:rPr sz="1080" b="0" dirty="0">
                          <a:solidFill>
                            <a:srgbClr val="1E2227"/>
                          </a:solidFill>
                          <a:latin typeface="맑은 고딕"/>
                          <a:ea typeface="맑은 고딕"/>
                        </a:rPr>
                        <a:t> 제시한 근거의 오류율 &gt; 정답 오류율</a:t>
                      </a:r>
                    </a:p>
                  </a:txBody>
                  <a:tcPr marL="82296" marR="82296" marT="36576" marB="36576" anchor="ctr">
                    <a:solidFill>
                      <a:srgbClr val="FFFFFF"/>
                    </a:solidFill>
                  </a:tcPr>
                </a:tc>
                <a:tc>
                  <a:txBody>
                    <a:bodyPr/>
                    <a:lstStyle/>
                    <a:p>
                      <a:pPr algn="l">
                        <a:lnSpc>
                          <a:spcPct val="114000"/>
                        </a:lnSpc>
                        <a:spcAft>
                          <a:spcPts val="200"/>
                        </a:spcAft>
                      </a:pPr>
                      <a:r>
                        <a:rPr sz="1050" b="1" dirty="0">
                          <a:solidFill>
                            <a:srgbClr val="A4482A"/>
                          </a:solidFill>
                          <a:latin typeface="맑은 고딕"/>
                          <a:ea typeface="맑은 고딕"/>
                        </a:rPr>
                        <a:t>•  </a:t>
                      </a:r>
                      <a:r>
                        <a:rPr sz="1050" b="1" dirty="0" err="1">
                          <a:solidFill>
                            <a:srgbClr val="A4482A"/>
                          </a:solidFill>
                          <a:latin typeface="맑은 고딕"/>
                          <a:ea typeface="맑은 고딕"/>
                        </a:rPr>
                        <a:t>동시기</a:t>
                      </a:r>
                      <a:r>
                        <a:rPr sz="1050" b="1" dirty="0">
                          <a:solidFill>
                            <a:srgbClr val="A4482A"/>
                          </a:solidFill>
                          <a:latin typeface="맑은 고딕"/>
                          <a:ea typeface="맑은 고딕"/>
                        </a:rPr>
                        <a:t> </a:t>
                      </a:r>
                      <a:r>
                        <a:rPr sz="1050" b="1" dirty="0" err="1">
                          <a:solidFill>
                            <a:srgbClr val="A4482A"/>
                          </a:solidFill>
                          <a:latin typeface="맑은 고딕"/>
                          <a:ea typeface="맑은 고딕"/>
                        </a:rPr>
                        <a:t>선점</a:t>
                      </a:r>
                      <a:r>
                        <a:rPr sz="1050" b="0" dirty="0">
                          <a:solidFill>
                            <a:srgbClr val="1E2227"/>
                          </a:solidFill>
                          <a:latin typeface="맑은 고딕"/>
                          <a:ea typeface="맑은 고딕"/>
                        </a:rPr>
                        <a:t>  </a:t>
                      </a:r>
                      <a:r>
                        <a:rPr sz="1050" b="1" dirty="0">
                          <a:solidFill>
                            <a:srgbClr val="1E2227"/>
                          </a:solidFill>
                          <a:latin typeface="맑은 고딕"/>
                          <a:ea typeface="맑은 고딕"/>
                        </a:rPr>
                        <a:t>LegalSearch-R1</a:t>
                      </a:r>
                      <a:r>
                        <a:rPr sz="1050" b="0" dirty="0">
                          <a:solidFill>
                            <a:srgbClr val="1E2227"/>
                          </a:solidFill>
                          <a:latin typeface="맑은 고딕"/>
                          <a:ea typeface="맑은 고딕"/>
                        </a:rPr>
                        <a:t>('26)</a:t>
                      </a:r>
                      <a:r>
                        <a:rPr sz="1050" b="0" dirty="0" err="1">
                          <a:solidFill>
                            <a:srgbClr val="1E2227"/>
                          </a:solidFill>
                          <a:latin typeface="맑은 고딕"/>
                          <a:ea typeface="맑은 고딕"/>
                        </a:rPr>
                        <a:t>에</a:t>
                      </a:r>
                      <a:r>
                        <a:rPr sz="1050" b="0" dirty="0">
                          <a:solidFill>
                            <a:srgbClr val="1E2227"/>
                          </a:solidFill>
                          <a:latin typeface="맑은 고딕"/>
                          <a:ea typeface="맑은 고딕"/>
                        </a:rPr>
                        <a:t> </a:t>
                      </a:r>
                      <a:r>
                        <a:rPr sz="1050" b="0" dirty="0" err="1">
                          <a:solidFill>
                            <a:srgbClr val="1E2227"/>
                          </a:solidFill>
                          <a:latin typeface="맑은 고딕"/>
                          <a:ea typeface="맑은 고딕"/>
                        </a:rPr>
                        <a:t>거의</a:t>
                      </a:r>
                      <a:r>
                        <a:rPr sz="1050" b="0" dirty="0">
                          <a:solidFill>
                            <a:srgbClr val="1E2227"/>
                          </a:solidFill>
                          <a:latin typeface="맑은 고딕"/>
                          <a:ea typeface="맑은 고딕"/>
                        </a:rPr>
                        <a:t> </a:t>
                      </a:r>
                      <a:r>
                        <a:rPr sz="1050" b="0" dirty="0" err="1">
                          <a:solidFill>
                            <a:srgbClr val="1E2227"/>
                          </a:solidFill>
                          <a:latin typeface="맑은 고딕"/>
                          <a:ea typeface="맑은 고딕"/>
                        </a:rPr>
                        <a:t>동일</a:t>
                      </a:r>
                      <a:r>
                        <a:rPr sz="1050" b="0" dirty="0">
                          <a:solidFill>
                            <a:srgbClr val="1E2227"/>
                          </a:solidFill>
                          <a:latin typeface="맑은 고딕"/>
                          <a:ea typeface="맑은 고딕"/>
                        </a:rPr>
                        <a:t> </a:t>
                      </a:r>
                      <a:r>
                        <a:rPr sz="1050" b="0" dirty="0" err="1">
                          <a:solidFill>
                            <a:srgbClr val="1E2227"/>
                          </a:solidFill>
                          <a:latin typeface="맑은 고딕"/>
                          <a:ea typeface="맑은 고딕"/>
                        </a:rPr>
                        <a:t>선점</a:t>
                      </a:r>
                      <a:endParaRPr sz="1050" b="0" dirty="0">
                        <a:solidFill>
                          <a:srgbClr val="1E2227"/>
                        </a:solidFill>
                        <a:latin typeface="맑은 고딕"/>
                        <a:ea typeface="맑은 고딕"/>
                      </a:endParaRPr>
                    </a:p>
                    <a:p>
                      <a:pPr algn="l">
                        <a:lnSpc>
                          <a:spcPct val="114000"/>
                        </a:lnSpc>
                        <a:spcAft>
                          <a:spcPts val="200"/>
                        </a:spcAft>
                      </a:pPr>
                      <a:r>
                        <a:rPr sz="1050" b="1" dirty="0">
                          <a:solidFill>
                            <a:srgbClr val="A4482A"/>
                          </a:solidFill>
                          <a:latin typeface="맑은 고딕"/>
                          <a:ea typeface="맑은 고딕"/>
                        </a:rPr>
                        <a:t>•  </a:t>
                      </a:r>
                      <a:r>
                        <a:rPr sz="1050" b="1" dirty="0" err="1">
                          <a:solidFill>
                            <a:srgbClr val="A4482A"/>
                          </a:solidFill>
                          <a:latin typeface="맑은 고딕"/>
                          <a:ea typeface="맑은 고딕"/>
                        </a:rPr>
                        <a:t>더</a:t>
                      </a:r>
                      <a:r>
                        <a:rPr sz="1050" b="1" dirty="0">
                          <a:solidFill>
                            <a:srgbClr val="A4482A"/>
                          </a:solidFill>
                          <a:latin typeface="맑은 고딕"/>
                          <a:ea typeface="맑은 고딕"/>
                        </a:rPr>
                        <a:t> </a:t>
                      </a:r>
                      <a:r>
                        <a:rPr sz="1050" b="1" dirty="0" err="1">
                          <a:solidFill>
                            <a:srgbClr val="A4482A"/>
                          </a:solidFill>
                          <a:latin typeface="맑은 고딕"/>
                          <a:ea typeface="맑은 고딕"/>
                        </a:rPr>
                        <a:t>쉬운</a:t>
                      </a:r>
                      <a:r>
                        <a:rPr sz="1050" b="1" dirty="0">
                          <a:solidFill>
                            <a:srgbClr val="A4482A"/>
                          </a:solidFill>
                          <a:latin typeface="맑은 고딕"/>
                          <a:ea typeface="맑은 고딕"/>
                        </a:rPr>
                        <a:t> </a:t>
                      </a:r>
                      <a:r>
                        <a:rPr sz="1050" b="1" dirty="0" err="1">
                          <a:solidFill>
                            <a:srgbClr val="A4482A"/>
                          </a:solidFill>
                          <a:latin typeface="맑은 고딕"/>
                          <a:ea typeface="맑은 고딕"/>
                        </a:rPr>
                        <a:t>방법</a:t>
                      </a:r>
                      <a:r>
                        <a:rPr sz="1050" b="0" dirty="0">
                          <a:solidFill>
                            <a:srgbClr val="1E2227"/>
                          </a:solidFill>
                          <a:latin typeface="맑은 고딕"/>
                          <a:ea typeface="맑은 고딕"/>
                        </a:rPr>
                        <a:t>  </a:t>
                      </a:r>
                      <a:r>
                        <a:rPr sz="1050" b="0" dirty="0" err="1">
                          <a:solidFill>
                            <a:srgbClr val="1E2227"/>
                          </a:solidFill>
                          <a:latin typeface="맑은 고딕"/>
                          <a:ea typeface="맑은 고딕"/>
                        </a:rPr>
                        <a:t>규칙기반·그래프가</a:t>
                      </a:r>
                      <a:r>
                        <a:rPr sz="1050" b="0" dirty="0">
                          <a:solidFill>
                            <a:srgbClr val="1E2227"/>
                          </a:solidFill>
                          <a:latin typeface="맑은 고딕"/>
                          <a:ea typeface="맑은 고딕"/>
                        </a:rPr>
                        <a:t> </a:t>
                      </a:r>
                      <a:r>
                        <a:rPr sz="1050" b="0" dirty="0" err="1">
                          <a:solidFill>
                            <a:srgbClr val="1E2227"/>
                          </a:solidFill>
                          <a:latin typeface="맑은 고딕"/>
                          <a:ea typeface="맑은 고딕"/>
                        </a:rPr>
                        <a:t>이미</a:t>
                      </a:r>
                      <a:r>
                        <a:rPr sz="1050" b="0" dirty="0">
                          <a:solidFill>
                            <a:srgbClr val="1E2227"/>
                          </a:solidFill>
                          <a:latin typeface="맑은 고딕"/>
                          <a:ea typeface="맑은 고딕"/>
                        </a:rPr>
                        <a:t> </a:t>
                      </a:r>
                      <a:r>
                        <a:rPr sz="1050" b="0" dirty="0" err="1">
                          <a:solidFill>
                            <a:srgbClr val="1E2227"/>
                          </a:solidFill>
                          <a:latin typeface="맑은 고딕"/>
                          <a:ea typeface="맑은 고딕"/>
                        </a:rPr>
                        <a:t>처리</a:t>
                      </a:r>
                      <a:endParaRPr sz="1050" b="0" dirty="0">
                        <a:solidFill>
                          <a:srgbClr val="1E2227"/>
                        </a:solidFill>
                        <a:latin typeface="맑은 고딕"/>
                        <a:ea typeface="맑은 고딕"/>
                      </a:endParaRPr>
                    </a:p>
                  </a:txBody>
                  <a:tcPr marL="82296" marR="82296" marT="36576" marB="36576" anchor="ctr">
                    <a:solidFill>
                      <a:srgbClr val="FFFFFF"/>
                    </a:solidFill>
                  </a:tcPr>
                </a:tc>
                <a:extLst>
                  <a:ext uri="{0D108BD9-81ED-4DB2-BD59-A6C34878D82A}">
                    <a16:rowId xmlns:a16="http://schemas.microsoft.com/office/drawing/2014/main" val="10001"/>
                  </a:ext>
                </a:extLst>
              </a:tr>
              <a:tr h="1097280">
                <a:tc>
                  <a:txBody>
                    <a:bodyPr/>
                    <a:lstStyle/>
                    <a:p>
                      <a:pPr algn="l">
                        <a:lnSpc>
                          <a:spcPct val="114000"/>
                        </a:lnSpc>
                        <a:spcAft>
                          <a:spcPts val="200"/>
                        </a:spcAft>
                      </a:pPr>
                      <a:r>
                        <a:rPr sz="1120" b="1" dirty="0">
                          <a:solidFill>
                            <a:srgbClr val="273A52"/>
                          </a:solidFill>
                          <a:latin typeface="맑은 고딕"/>
                          <a:ea typeface="맑은 고딕"/>
                        </a:rPr>
                        <a:t>V2 · </a:t>
                      </a:r>
                      <a:r>
                        <a:rPr sz="1120" b="1" dirty="0" err="1">
                          <a:solidFill>
                            <a:srgbClr val="273A52"/>
                          </a:solidFill>
                          <a:latin typeface="맑은 고딕"/>
                          <a:ea typeface="맑은 고딕"/>
                        </a:rPr>
                        <a:t>평가</a:t>
                      </a:r>
                      <a:r>
                        <a:rPr sz="1120" b="1" dirty="0">
                          <a:solidFill>
                            <a:srgbClr val="273A52"/>
                          </a:solidFill>
                          <a:latin typeface="맑은 고딕"/>
                          <a:ea typeface="맑은 고딕"/>
                        </a:rPr>
                        <a:t> </a:t>
                      </a:r>
                      <a:r>
                        <a:rPr sz="1120" b="1" dirty="0" err="1">
                          <a:solidFill>
                            <a:srgbClr val="273A52"/>
                          </a:solidFill>
                          <a:latin typeface="맑은 고딕"/>
                          <a:ea typeface="맑은 고딕"/>
                        </a:rPr>
                        <a:t>맹점</a:t>
                      </a:r>
                      <a:endParaRPr sz="1120" b="1" dirty="0">
                        <a:solidFill>
                          <a:srgbClr val="273A52"/>
                        </a:solidFill>
                        <a:latin typeface="맑은 고딕"/>
                        <a:ea typeface="맑은 고딕"/>
                      </a:endParaRPr>
                    </a:p>
                    <a:p>
                      <a:pPr algn="l">
                        <a:lnSpc>
                          <a:spcPct val="114000"/>
                        </a:lnSpc>
                        <a:spcAft>
                          <a:spcPts val="200"/>
                        </a:spcAft>
                      </a:pPr>
                      <a:r>
                        <a:rPr lang="ko-KR" altLang="en-US" sz="1040" b="0" dirty="0">
                          <a:solidFill>
                            <a:srgbClr val="6B7480"/>
                          </a:solidFill>
                          <a:latin typeface="맑은 고딕"/>
                          <a:ea typeface="맑은 고딕"/>
                        </a:rPr>
                        <a:t>진단 </a:t>
                      </a:r>
                      <a:r>
                        <a:rPr lang="en-US" altLang="ko-KR" sz="1040" b="0" dirty="0">
                          <a:solidFill>
                            <a:srgbClr val="6B7480"/>
                          </a:solidFill>
                          <a:latin typeface="맑은 고딕"/>
                          <a:ea typeface="맑은 고딕"/>
                        </a:rPr>
                        <a:t>(</a:t>
                      </a:r>
                      <a:r>
                        <a:rPr lang="en" sz="1040" b="0" dirty="0">
                          <a:solidFill>
                            <a:srgbClr val="6B7480"/>
                          </a:solidFill>
                          <a:latin typeface="맑은 고딕"/>
                          <a:ea typeface="맑은 고딕"/>
                        </a:rPr>
                        <a:t>Diagnosis)</a:t>
                      </a:r>
                    </a:p>
                  </a:txBody>
                  <a:tcPr marL="82296" marR="82296" marT="36576" marB="36576" anchor="ctr">
                    <a:solidFill>
                      <a:srgbClr val="F6F7F9"/>
                    </a:solidFill>
                  </a:tcPr>
                </a:tc>
                <a:tc>
                  <a:txBody>
                    <a:bodyPr/>
                    <a:lstStyle/>
                    <a:p>
                      <a:pPr algn="l">
                        <a:lnSpc>
                          <a:spcPct val="114000"/>
                        </a:lnSpc>
                        <a:spcAft>
                          <a:spcPts val="200"/>
                        </a:spcAft>
                      </a:pPr>
                      <a:r>
                        <a:rPr sz="1120" b="0" dirty="0" err="1">
                          <a:solidFill>
                            <a:srgbClr val="1E2227"/>
                          </a:solidFill>
                          <a:latin typeface="맑은 고딕"/>
                          <a:ea typeface="맑은 고딕"/>
                        </a:rPr>
                        <a:t>기존</a:t>
                      </a:r>
                      <a:r>
                        <a:rPr sz="1120" b="0" dirty="0">
                          <a:solidFill>
                            <a:srgbClr val="1E2227"/>
                          </a:solidFill>
                          <a:latin typeface="맑은 고딕"/>
                          <a:ea typeface="맑은 고딕"/>
                        </a:rPr>
                        <a:t> </a:t>
                      </a:r>
                      <a:r>
                        <a:rPr sz="1120" b="0" dirty="0" err="1">
                          <a:solidFill>
                            <a:srgbClr val="1E2227"/>
                          </a:solidFill>
                          <a:latin typeface="맑은 고딕"/>
                          <a:ea typeface="맑은 고딕"/>
                        </a:rPr>
                        <a:t>인용</a:t>
                      </a:r>
                      <a:r>
                        <a:rPr sz="1120" b="0" dirty="0">
                          <a:solidFill>
                            <a:srgbClr val="1E2227"/>
                          </a:solidFill>
                          <a:latin typeface="맑은 고딕"/>
                          <a:ea typeface="맑은 고딕"/>
                        </a:rPr>
                        <a:t> </a:t>
                      </a:r>
                      <a:r>
                        <a:rPr sz="1120" b="0" dirty="0" err="1">
                          <a:solidFill>
                            <a:srgbClr val="1E2227"/>
                          </a:solidFill>
                          <a:latin typeface="맑은 고딕"/>
                          <a:ea typeface="맑은 고딕"/>
                        </a:rPr>
                        <a:t>지표가</a:t>
                      </a:r>
                      <a:r>
                        <a:rPr sz="1120" b="0" dirty="0">
                          <a:solidFill>
                            <a:srgbClr val="1E2227"/>
                          </a:solidFill>
                          <a:latin typeface="맑은 고딕"/>
                          <a:ea typeface="맑은 고딕"/>
                        </a:rPr>
                        <a:t> </a:t>
                      </a:r>
                      <a:r>
                        <a:rPr sz="1120" b="1" dirty="0" err="1">
                          <a:solidFill>
                            <a:srgbClr val="1E2227"/>
                          </a:solidFill>
                          <a:latin typeface="맑은 고딕"/>
                          <a:ea typeface="맑은 고딕"/>
                        </a:rPr>
                        <a:t>틀린</a:t>
                      </a:r>
                      <a:r>
                        <a:rPr sz="1120" b="1" dirty="0">
                          <a:solidFill>
                            <a:srgbClr val="1E2227"/>
                          </a:solidFill>
                          <a:latin typeface="맑은 고딕"/>
                          <a:ea typeface="맑은 고딕"/>
                        </a:rPr>
                        <a:t> </a:t>
                      </a:r>
                      <a:r>
                        <a:rPr sz="1120" b="1" dirty="0" err="1">
                          <a:solidFill>
                            <a:srgbClr val="1E2227"/>
                          </a:solidFill>
                          <a:latin typeface="맑은 고딕"/>
                          <a:ea typeface="맑은 고딕"/>
                        </a:rPr>
                        <a:t>시점</a:t>
                      </a:r>
                      <a:r>
                        <a:rPr sz="1120" b="1" dirty="0">
                          <a:solidFill>
                            <a:srgbClr val="1E2227"/>
                          </a:solidFill>
                          <a:latin typeface="맑은 고딕"/>
                          <a:ea typeface="맑은 고딕"/>
                        </a:rPr>
                        <a:t> </a:t>
                      </a:r>
                      <a:r>
                        <a:rPr sz="1120" b="1" dirty="0" err="1">
                          <a:solidFill>
                            <a:srgbClr val="1E2227"/>
                          </a:solidFill>
                          <a:latin typeface="맑은 고딕"/>
                          <a:ea typeface="맑은 고딕"/>
                        </a:rPr>
                        <a:t>문서</a:t>
                      </a:r>
                      <a:r>
                        <a:rPr sz="1120" b="1" dirty="0">
                          <a:solidFill>
                            <a:srgbClr val="1E2227"/>
                          </a:solidFill>
                          <a:latin typeface="맑은 고딕"/>
                          <a:ea typeface="맑은 고딕"/>
                        </a:rPr>
                        <a:t> </a:t>
                      </a:r>
                      <a:r>
                        <a:rPr sz="1120" b="1" dirty="0" err="1">
                          <a:solidFill>
                            <a:srgbClr val="1E2227"/>
                          </a:solidFill>
                          <a:latin typeface="맑은 고딕"/>
                          <a:ea typeface="맑은 고딕"/>
                        </a:rPr>
                        <a:t>인용도</a:t>
                      </a:r>
                      <a:r>
                        <a:rPr sz="1120" b="1" dirty="0">
                          <a:solidFill>
                            <a:srgbClr val="1E2227"/>
                          </a:solidFill>
                          <a:latin typeface="맑은 고딕"/>
                          <a:ea typeface="맑은 고딕"/>
                        </a:rPr>
                        <a:t> </a:t>
                      </a:r>
                      <a:r>
                        <a:rPr sz="1120" b="1" dirty="0" err="1">
                          <a:solidFill>
                            <a:srgbClr val="1E2227"/>
                          </a:solidFill>
                          <a:latin typeface="맑은 고딕"/>
                          <a:ea typeface="맑은 고딕"/>
                        </a:rPr>
                        <a:t>통과</a:t>
                      </a:r>
                      <a:r>
                        <a:rPr sz="1120" b="0" dirty="0" err="1">
                          <a:solidFill>
                            <a:srgbClr val="1E2227"/>
                          </a:solidFill>
                          <a:latin typeface="맑은 고딕"/>
                          <a:ea typeface="맑은 고딕"/>
                        </a:rPr>
                        <a:t>시키는</a:t>
                      </a:r>
                      <a:r>
                        <a:rPr sz="1120" b="0" dirty="0">
                          <a:solidFill>
                            <a:srgbClr val="1E2227"/>
                          </a:solidFill>
                          <a:latin typeface="맑은 고딕"/>
                          <a:ea typeface="맑은 고딕"/>
                        </a:rPr>
                        <a:t> </a:t>
                      </a:r>
                      <a:r>
                        <a:rPr sz="1120" b="0" dirty="0" err="1">
                          <a:solidFill>
                            <a:srgbClr val="1E2227"/>
                          </a:solidFill>
                          <a:latin typeface="맑은 고딕"/>
                          <a:ea typeface="맑은 고딕"/>
                        </a:rPr>
                        <a:t>맹점을</a:t>
                      </a:r>
                      <a:r>
                        <a:rPr sz="1120" b="0" dirty="0">
                          <a:solidFill>
                            <a:srgbClr val="1E2227"/>
                          </a:solidFill>
                          <a:latin typeface="맑은 고딕"/>
                          <a:ea typeface="맑은 고딕"/>
                        </a:rPr>
                        <a:t> </a:t>
                      </a:r>
                      <a:r>
                        <a:rPr sz="1120" b="0" dirty="0" err="1">
                          <a:solidFill>
                            <a:srgbClr val="1E2227"/>
                          </a:solidFill>
                          <a:latin typeface="맑은 고딕"/>
                          <a:ea typeface="맑은 고딕"/>
                        </a:rPr>
                        <a:t>진단</a:t>
                      </a:r>
                      <a:endParaRPr sz="1120" b="0" dirty="0">
                        <a:solidFill>
                          <a:srgbClr val="1E2227"/>
                        </a:solidFill>
                        <a:latin typeface="맑은 고딕"/>
                        <a:ea typeface="맑은 고딕"/>
                      </a:endParaRPr>
                    </a:p>
                  </a:txBody>
                  <a:tcPr marL="82296" marR="82296" marT="36576" marB="36576" anchor="ctr">
                    <a:solidFill>
                      <a:srgbClr val="F6F7F9"/>
                    </a:solidFill>
                  </a:tcPr>
                </a:tc>
                <a:tc>
                  <a:txBody>
                    <a:bodyPr/>
                    <a:lstStyle/>
                    <a:p>
                      <a:pPr marL="171450" indent="-171450" algn="l">
                        <a:lnSpc>
                          <a:spcPct val="114000"/>
                        </a:lnSpc>
                        <a:spcAft>
                          <a:spcPts val="200"/>
                        </a:spcAft>
                        <a:buFont typeface="Arial" panose="020B0604020202020204" pitchFamily="34" charset="0"/>
                        <a:buChar char="•"/>
                      </a:pPr>
                      <a:r>
                        <a:rPr lang="en-US" sz="1080" b="0" dirty="0" err="1">
                          <a:solidFill>
                            <a:srgbClr val="1E2227"/>
                          </a:solidFill>
                          <a:latin typeface="맑은 고딕"/>
                          <a:ea typeface="맑은 고딕"/>
                        </a:rPr>
                        <a:t>인용과</a:t>
                      </a:r>
                      <a:r>
                        <a:rPr lang="en-US" sz="1080" b="0" dirty="0">
                          <a:solidFill>
                            <a:srgbClr val="1E2227"/>
                          </a:solidFill>
                          <a:latin typeface="맑은 고딕"/>
                          <a:ea typeface="맑은 고딕"/>
                        </a:rPr>
                        <a:t> </a:t>
                      </a:r>
                      <a:r>
                        <a:rPr lang="en-US" sz="1080" b="0" dirty="0" err="1">
                          <a:solidFill>
                            <a:srgbClr val="1E2227"/>
                          </a:solidFill>
                          <a:latin typeface="맑은 고딕"/>
                          <a:ea typeface="맑은 고딕"/>
                        </a:rPr>
                        <a:t>정답</a:t>
                      </a:r>
                      <a:r>
                        <a:rPr lang="en-US" sz="1080" b="0" dirty="0">
                          <a:solidFill>
                            <a:srgbClr val="1E2227"/>
                          </a:solidFill>
                          <a:latin typeface="맑은 고딕"/>
                          <a:ea typeface="맑은 고딕"/>
                        </a:rPr>
                        <a:t> </a:t>
                      </a:r>
                      <a:r>
                        <a:rPr lang="en-US" sz="1080" b="0" dirty="0" err="1">
                          <a:solidFill>
                            <a:srgbClr val="1E2227"/>
                          </a:solidFill>
                          <a:latin typeface="맑은 고딕"/>
                          <a:ea typeface="맑은 고딕"/>
                        </a:rPr>
                        <a:t>내용이</a:t>
                      </a:r>
                      <a:r>
                        <a:rPr lang="en-US" sz="1080" b="0" dirty="0">
                          <a:solidFill>
                            <a:srgbClr val="1E2227"/>
                          </a:solidFill>
                          <a:latin typeface="맑은 고딕"/>
                          <a:ea typeface="맑은 고딕"/>
                        </a:rPr>
                        <a:t> </a:t>
                      </a:r>
                      <a:r>
                        <a:rPr lang="en-US" sz="1080" b="0" dirty="0" err="1">
                          <a:solidFill>
                            <a:srgbClr val="1E2227"/>
                          </a:solidFill>
                          <a:latin typeface="맑은 고딕"/>
                          <a:ea typeface="맑은 고딕"/>
                        </a:rPr>
                        <a:t>다른</a:t>
                      </a:r>
                      <a:r>
                        <a:rPr lang="en-US" sz="1080" b="0" dirty="0">
                          <a:solidFill>
                            <a:srgbClr val="1E2227"/>
                          </a:solidFill>
                          <a:latin typeface="맑은 고딕"/>
                          <a:ea typeface="맑은 고딕"/>
                        </a:rPr>
                        <a:t> </a:t>
                      </a:r>
                      <a:r>
                        <a:rPr lang="en-US" sz="1080" b="0" dirty="0" err="1">
                          <a:solidFill>
                            <a:srgbClr val="1E2227"/>
                          </a:solidFill>
                          <a:latin typeface="맑은 고딕"/>
                          <a:ea typeface="맑은 고딕"/>
                        </a:rPr>
                        <a:t>경우</a:t>
                      </a:r>
                      <a:r>
                        <a:rPr lang="en-US" sz="1080" b="0" dirty="0">
                          <a:solidFill>
                            <a:srgbClr val="1E2227"/>
                          </a:solidFill>
                          <a:latin typeface="맑은 고딕"/>
                          <a:ea typeface="맑은 고딕"/>
                        </a:rPr>
                        <a:t> </a:t>
                      </a:r>
                      <a:r>
                        <a:rPr lang="en-US" sz="1080" b="0" dirty="0" err="1">
                          <a:solidFill>
                            <a:srgbClr val="1E2227"/>
                          </a:solidFill>
                          <a:latin typeface="맑은 고딕"/>
                          <a:ea typeface="맑은 고딕"/>
                        </a:rPr>
                        <a:t>존재</a:t>
                      </a:r>
                      <a:endParaRPr lang="en-US" sz="1080" b="0" dirty="0">
                        <a:solidFill>
                          <a:srgbClr val="1E2227"/>
                        </a:solidFill>
                        <a:latin typeface="맑은 고딕"/>
                        <a:ea typeface="맑은 고딕"/>
                      </a:endParaRPr>
                    </a:p>
                    <a:p>
                      <a:pPr marL="171450" indent="-171450" algn="l">
                        <a:lnSpc>
                          <a:spcPct val="114000"/>
                        </a:lnSpc>
                        <a:spcAft>
                          <a:spcPts val="200"/>
                        </a:spcAft>
                        <a:buFont typeface="Arial" panose="020B0604020202020204" pitchFamily="34" charset="0"/>
                        <a:buChar char="•"/>
                      </a:pPr>
                      <a:r>
                        <a:rPr sz="1080" b="0" dirty="0" err="1">
                          <a:solidFill>
                            <a:srgbClr val="1E2227"/>
                          </a:solidFill>
                          <a:latin typeface="맑은 고딕"/>
                          <a:ea typeface="맑은 고딕"/>
                        </a:rPr>
                        <a:t>표준</a:t>
                      </a:r>
                      <a:r>
                        <a:rPr sz="1080" b="0" dirty="0">
                          <a:solidFill>
                            <a:srgbClr val="1E2227"/>
                          </a:solidFill>
                          <a:latin typeface="맑은 고딕"/>
                          <a:ea typeface="맑은 고딕"/>
                        </a:rPr>
                        <a:t> </a:t>
                      </a:r>
                      <a:r>
                        <a:rPr sz="1080" b="0" dirty="0" err="1">
                          <a:solidFill>
                            <a:srgbClr val="1E2227"/>
                          </a:solidFill>
                          <a:latin typeface="맑은 고딕"/>
                          <a:ea typeface="맑은 고딕"/>
                        </a:rPr>
                        <a:t>인용지표가</a:t>
                      </a:r>
                      <a:r>
                        <a:rPr sz="1080" b="0" dirty="0">
                          <a:solidFill>
                            <a:srgbClr val="1E2227"/>
                          </a:solidFill>
                          <a:latin typeface="맑은 고딕"/>
                          <a:ea typeface="맑은 고딕"/>
                        </a:rPr>
                        <a:t> </a:t>
                      </a:r>
                      <a:r>
                        <a:rPr sz="1080" b="0" dirty="0" err="1">
                          <a:solidFill>
                            <a:srgbClr val="1E2227"/>
                          </a:solidFill>
                          <a:latin typeface="맑은 고딕"/>
                          <a:ea typeface="맑은 고딕"/>
                        </a:rPr>
                        <a:t>틀린</a:t>
                      </a:r>
                      <a:r>
                        <a:rPr sz="1080" b="0" dirty="0">
                          <a:solidFill>
                            <a:srgbClr val="1E2227"/>
                          </a:solidFill>
                          <a:latin typeface="맑은 고딕"/>
                          <a:ea typeface="맑은 고딕"/>
                        </a:rPr>
                        <a:t> </a:t>
                      </a:r>
                      <a:r>
                        <a:rPr sz="1080" b="0" dirty="0" err="1">
                          <a:solidFill>
                            <a:srgbClr val="1E2227"/>
                          </a:solidFill>
                          <a:latin typeface="맑은 고딕"/>
                          <a:ea typeface="맑은 고딕"/>
                        </a:rPr>
                        <a:t>답도</a:t>
                      </a:r>
                      <a:r>
                        <a:rPr sz="1080" b="0" dirty="0">
                          <a:solidFill>
                            <a:srgbClr val="1E2227"/>
                          </a:solidFill>
                          <a:latin typeface="맑은 고딕"/>
                          <a:ea typeface="맑은 고딕"/>
                        </a:rPr>
                        <a:t> </a:t>
                      </a:r>
                      <a:r>
                        <a:rPr sz="1080" b="0" dirty="0" err="1">
                          <a:solidFill>
                            <a:srgbClr val="1E2227"/>
                          </a:solidFill>
                          <a:latin typeface="맑은 고딕"/>
                          <a:ea typeface="맑은 고딕"/>
                        </a:rPr>
                        <a:t>통과</a:t>
                      </a:r>
                      <a:r>
                        <a:rPr sz="1080" b="0" dirty="0">
                          <a:solidFill>
                            <a:srgbClr val="1E2227"/>
                          </a:solidFill>
                          <a:latin typeface="맑은 고딕"/>
                          <a:ea typeface="맑은 고딕"/>
                        </a:rPr>
                        <a:t>(</a:t>
                      </a:r>
                      <a:r>
                        <a:rPr sz="1080" b="0" dirty="0" err="1">
                          <a:solidFill>
                            <a:srgbClr val="1E2227"/>
                          </a:solidFill>
                          <a:latin typeface="맑은 고딕"/>
                          <a:ea typeface="맑은 고딕"/>
                        </a:rPr>
                        <a:t>맹점</a:t>
                      </a:r>
                      <a:r>
                        <a:rPr sz="1080" b="0" dirty="0">
                          <a:solidFill>
                            <a:srgbClr val="1E2227"/>
                          </a:solidFill>
                          <a:latin typeface="맑은 고딕"/>
                          <a:ea typeface="맑은 고딕"/>
                        </a:rPr>
                        <a:t>)</a:t>
                      </a:r>
                      <a:endParaRPr lang="en-US" sz="1080" b="0" dirty="0">
                        <a:solidFill>
                          <a:srgbClr val="1E2227"/>
                        </a:solidFill>
                        <a:latin typeface="맑은 고딕"/>
                        <a:ea typeface="맑은 고딕"/>
                      </a:endParaRPr>
                    </a:p>
                  </a:txBody>
                  <a:tcPr marL="82296" marR="82296" marT="36576" marB="36576" anchor="ctr">
                    <a:solidFill>
                      <a:srgbClr val="F6F7F9"/>
                    </a:solidFill>
                  </a:tcPr>
                </a:tc>
                <a:tc>
                  <a:txBody>
                    <a:bodyPr/>
                    <a:lstStyle/>
                    <a:p>
                      <a:pPr algn="l">
                        <a:lnSpc>
                          <a:spcPct val="114000"/>
                        </a:lnSpc>
                        <a:spcAft>
                          <a:spcPts val="200"/>
                        </a:spcAft>
                      </a:pPr>
                      <a:r>
                        <a:rPr sz="1040" b="1" dirty="0">
                          <a:solidFill>
                            <a:srgbClr val="A4482A"/>
                          </a:solidFill>
                          <a:latin typeface="맑은 고딕"/>
                          <a:ea typeface="맑은 고딕"/>
                        </a:rPr>
                        <a:t>•  </a:t>
                      </a:r>
                      <a:r>
                        <a:rPr sz="1050" b="1" dirty="0" err="1">
                          <a:solidFill>
                            <a:srgbClr val="A4482A"/>
                          </a:solidFill>
                          <a:latin typeface="맑은 고딕"/>
                          <a:ea typeface="맑은 고딕"/>
                        </a:rPr>
                        <a:t>기여도</a:t>
                      </a:r>
                      <a:r>
                        <a:rPr sz="1050" b="1" dirty="0">
                          <a:solidFill>
                            <a:srgbClr val="A4482A"/>
                          </a:solidFill>
                          <a:latin typeface="맑은 고딕"/>
                          <a:ea typeface="맑은 고딕"/>
                        </a:rPr>
                        <a:t> </a:t>
                      </a:r>
                      <a:r>
                        <a:rPr sz="1050" b="1" dirty="0" err="1">
                          <a:solidFill>
                            <a:srgbClr val="A4482A"/>
                          </a:solidFill>
                          <a:latin typeface="맑은 고딕"/>
                          <a:ea typeface="맑은 고딕"/>
                        </a:rPr>
                        <a:t>한계</a:t>
                      </a:r>
                      <a:r>
                        <a:rPr lang="ko-KR" altLang="en-US" sz="1050" b="0" dirty="0">
                          <a:solidFill>
                            <a:srgbClr val="1E2227"/>
                          </a:solidFill>
                          <a:latin typeface="맑은 고딕"/>
                          <a:ea typeface="맑은 고딕"/>
                        </a:rPr>
                        <a:t>  지표 맹점 진단만으로는 기여 폭이 좁음</a:t>
                      </a:r>
                      <a:endParaRPr sz="1019" b="0" dirty="0">
                        <a:solidFill>
                          <a:srgbClr val="1E2227"/>
                        </a:solidFill>
                        <a:latin typeface="맑은 고딕"/>
                        <a:ea typeface="맑은 고딕"/>
                      </a:endParaRPr>
                    </a:p>
                  </a:txBody>
                  <a:tcPr marL="82296" marR="82296" marT="36576" marB="36576" anchor="ctr">
                    <a:solidFill>
                      <a:srgbClr val="F6F7F9"/>
                    </a:solidFill>
                  </a:tcPr>
                </a:tc>
                <a:extLst>
                  <a:ext uri="{0D108BD9-81ED-4DB2-BD59-A6C34878D82A}">
                    <a16:rowId xmlns:a16="http://schemas.microsoft.com/office/drawing/2014/main" val="10002"/>
                  </a:ext>
                </a:extLst>
              </a:tr>
              <a:tr h="1097280">
                <a:tc>
                  <a:txBody>
                    <a:bodyPr/>
                    <a:lstStyle/>
                    <a:p>
                      <a:pPr algn="l">
                        <a:lnSpc>
                          <a:spcPct val="114000"/>
                        </a:lnSpc>
                        <a:spcAft>
                          <a:spcPts val="200"/>
                        </a:spcAft>
                      </a:pPr>
                      <a:r>
                        <a:rPr sz="1120" b="1" dirty="0">
                          <a:solidFill>
                            <a:srgbClr val="273A52"/>
                          </a:solidFill>
                          <a:latin typeface="맑은 고딕"/>
                          <a:ea typeface="맑은 고딕"/>
                        </a:rPr>
                        <a:t>V3 · </a:t>
                      </a:r>
                      <a:r>
                        <a:rPr sz="1120" b="1" dirty="0" err="1">
                          <a:solidFill>
                            <a:srgbClr val="273A52"/>
                          </a:solidFill>
                          <a:latin typeface="맑은 고딕"/>
                          <a:ea typeface="맑은 고딕"/>
                        </a:rPr>
                        <a:t>GoldCite</a:t>
                      </a:r>
                      <a:endParaRPr sz="1120" b="1" dirty="0">
                        <a:solidFill>
                          <a:srgbClr val="273A52"/>
                        </a:solidFill>
                        <a:latin typeface="맑은 고딕"/>
                        <a:ea typeface="맑은 고딕"/>
                      </a:endParaRPr>
                    </a:p>
                    <a:p>
                      <a:pPr algn="l">
                        <a:lnSpc>
                          <a:spcPct val="114000"/>
                        </a:lnSpc>
                        <a:spcAft>
                          <a:spcPts val="200"/>
                        </a:spcAft>
                      </a:pPr>
                      <a:r>
                        <a:rPr lang="ko-KR" altLang="en-US" sz="1040" b="0" dirty="0">
                          <a:solidFill>
                            <a:srgbClr val="6B7480"/>
                          </a:solidFill>
                          <a:latin typeface="맑은 고딕"/>
                          <a:ea typeface="맑은 고딕"/>
                        </a:rPr>
                        <a:t>지표 제안 </a:t>
                      </a:r>
                      <a:r>
                        <a:rPr lang="en-US" altLang="ko-KR" sz="1040" b="0" dirty="0">
                          <a:solidFill>
                            <a:srgbClr val="6B7480"/>
                          </a:solidFill>
                          <a:latin typeface="맑은 고딕"/>
                          <a:ea typeface="맑은 고딕"/>
                        </a:rPr>
                        <a:t>(</a:t>
                      </a:r>
                      <a:r>
                        <a:rPr lang="en" sz="1040" b="0" dirty="0">
                          <a:solidFill>
                            <a:srgbClr val="6B7480"/>
                          </a:solidFill>
                          <a:latin typeface="맑은 고딕"/>
                          <a:ea typeface="맑은 고딕"/>
                        </a:rPr>
                        <a:t>Metric)</a:t>
                      </a:r>
                      <a:endParaRPr sz="1040" b="0" dirty="0">
                        <a:solidFill>
                          <a:srgbClr val="6B7480"/>
                        </a:solidFill>
                        <a:latin typeface="맑은 고딕"/>
                        <a:ea typeface="맑은 고딕"/>
                      </a:endParaRPr>
                    </a:p>
                  </a:txBody>
                  <a:tcPr marL="82296" marR="82296" marT="36576" marB="36576" anchor="ctr">
                    <a:solidFill>
                      <a:srgbClr val="FFFFFF"/>
                    </a:solidFill>
                  </a:tcPr>
                </a:tc>
                <a:tc>
                  <a:txBody>
                    <a:bodyPr/>
                    <a:lstStyle/>
                    <a:p>
                      <a:pPr algn="l">
                        <a:lnSpc>
                          <a:spcPct val="114000"/>
                        </a:lnSpc>
                        <a:spcAft>
                          <a:spcPts val="200"/>
                        </a:spcAft>
                      </a:pPr>
                      <a:r>
                        <a:rPr sz="1120" b="0">
                          <a:solidFill>
                            <a:srgbClr val="1E2227"/>
                          </a:solidFill>
                          <a:latin typeface="맑은 고딕"/>
                          <a:ea typeface="맑은 고딕"/>
                        </a:rPr>
                        <a:t>올바른 시점 기준 문서만 인정하는 </a:t>
                      </a:r>
                      <a:r>
                        <a:rPr sz="1120" b="1">
                          <a:solidFill>
                            <a:srgbClr val="1E2227"/>
                          </a:solidFill>
                          <a:latin typeface="맑은 고딕"/>
                          <a:ea typeface="맑은 고딕"/>
                        </a:rPr>
                        <a:t>시점-유효 인용 지표</a:t>
                      </a:r>
                      <a:r>
                        <a:rPr sz="1120" b="0">
                          <a:solidFill>
                            <a:srgbClr val="1E2227"/>
                          </a:solidFill>
                          <a:latin typeface="맑은 고딕"/>
                          <a:ea typeface="맑은 고딕"/>
                        </a:rPr>
                        <a:t> + 오류 진단 프레임 설계</a:t>
                      </a:r>
                    </a:p>
                  </a:txBody>
                  <a:tcPr marL="82296" marR="82296" marT="36576" marB="36576" anchor="ctr">
                    <a:solidFill>
                      <a:srgbClr val="FFFFFF"/>
                    </a:solidFill>
                  </a:tcPr>
                </a:tc>
                <a:tc>
                  <a:txBody>
                    <a:bodyPr/>
                    <a:lstStyle/>
                    <a:p>
                      <a:pPr marL="0" indent="0" algn="ctr">
                        <a:lnSpc>
                          <a:spcPct val="114000"/>
                        </a:lnSpc>
                        <a:spcAft>
                          <a:spcPts val="200"/>
                        </a:spcAft>
                        <a:buFont typeface="Arial" panose="020B0604020202020204" pitchFamily="34" charset="0"/>
                        <a:buNone/>
                      </a:pPr>
                      <a:r>
                        <a:rPr lang="en-US" altLang="ko-KR" sz="1080" b="0" dirty="0">
                          <a:solidFill>
                            <a:srgbClr val="1E2227"/>
                          </a:solidFill>
                          <a:latin typeface="맑은 고딕"/>
                          <a:ea typeface="맑은 고딕"/>
                        </a:rPr>
                        <a:t>—</a:t>
                      </a:r>
                      <a:endParaRPr lang="ko-KR" altLang="en-US" sz="1080" b="0" dirty="0">
                        <a:solidFill>
                          <a:srgbClr val="1E2227"/>
                        </a:solidFill>
                        <a:latin typeface="맑은 고딕"/>
                        <a:ea typeface="맑은 고딕"/>
                      </a:endParaRPr>
                    </a:p>
                  </a:txBody>
                  <a:tcPr marL="82296" marR="82296" marT="36576" marB="36576" anchor="ctr">
                    <a:solidFill>
                      <a:srgbClr val="FFFFFF"/>
                    </a:solidFill>
                  </a:tcPr>
                </a:tc>
                <a:tc>
                  <a:txBody>
                    <a:bodyPr/>
                    <a:lstStyle/>
                    <a:p>
                      <a:pPr algn="l">
                        <a:lnSpc>
                          <a:spcPct val="114000"/>
                        </a:lnSpc>
                        <a:spcAft>
                          <a:spcPts val="200"/>
                        </a:spcAft>
                      </a:pPr>
                      <a:r>
                        <a:rPr sz="1050" b="1" dirty="0">
                          <a:solidFill>
                            <a:srgbClr val="A4482A"/>
                          </a:solidFill>
                          <a:latin typeface="맑은 고딕"/>
                          <a:ea typeface="맑은 고딕"/>
                        </a:rPr>
                        <a:t>•  </a:t>
                      </a:r>
                      <a:r>
                        <a:rPr sz="1050" b="1" dirty="0" err="1">
                          <a:solidFill>
                            <a:srgbClr val="A4482A"/>
                          </a:solidFill>
                          <a:latin typeface="맑은 고딕"/>
                          <a:ea typeface="맑은 고딕"/>
                        </a:rPr>
                        <a:t>선점</a:t>
                      </a:r>
                      <a:r>
                        <a:rPr sz="1050" b="0" dirty="0">
                          <a:solidFill>
                            <a:srgbClr val="1E2227"/>
                          </a:solidFill>
                          <a:latin typeface="맑은 고딕"/>
                          <a:ea typeface="맑은 고딕"/>
                        </a:rPr>
                        <a:t>  </a:t>
                      </a:r>
                      <a:r>
                        <a:rPr sz="1050" b="0" dirty="0" err="1">
                          <a:solidFill>
                            <a:srgbClr val="1E2227"/>
                          </a:solidFill>
                          <a:latin typeface="맑은 고딕"/>
                          <a:ea typeface="맑은 고딕"/>
                        </a:rPr>
                        <a:t>유사</a:t>
                      </a:r>
                      <a:r>
                        <a:rPr sz="1050" b="0" dirty="0">
                          <a:solidFill>
                            <a:srgbClr val="1E2227"/>
                          </a:solidFill>
                          <a:latin typeface="맑은 고딕"/>
                          <a:ea typeface="맑은 고딕"/>
                        </a:rPr>
                        <a:t> </a:t>
                      </a:r>
                      <a:r>
                        <a:rPr sz="1050" b="0" dirty="0" err="1">
                          <a:solidFill>
                            <a:srgbClr val="1E2227"/>
                          </a:solidFill>
                          <a:latin typeface="맑은 고딕"/>
                          <a:ea typeface="맑은 고딕"/>
                        </a:rPr>
                        <a:t>지표</a:t>
                      </a:r>
                      <a:r>
                        <a:rPr sz="1050" b="0" dirty="0">
                          <a:solidFill>
                            <a:srgbClr val="1E2227"/>
                          </a:solidFill>
                          <a:latin typeface="맑은 고딕"/>
                          <a:ea typeface="맑은 고딕"/>
                        </a:rPr>
                        <a:t>(</a:t>
                      </a:r>
                      <a:r>
                        <a:rPr sz="1050" b="0" dirty="0" err="1">
                          <a:solidFill>
                            <a:srgbClr val="1E2227"/>
                          </a:solidFill>
                          <a:latin typeface="맑은 고딕"/>
                          <a:ea typeface="맑은 고딕"/>
                        </a:rPr>
                        <a:t>GaRAGe</a:t>
                      </a:r>
                      <a:r>
                        <a:rPr sz="1050" b="0" dirty="0">
                          <a:solidFill>
                            <a:srgbClr val="1E2227"/>
                          </a:solidFill>
                          <a:latin typeface="맑은 고딕"/>
                          <a:ea typeface="맑은 고딕"/>
                        </a:rPr>
                        <a:t>, ACL'25) </a:t>
                      </a:r>
                      <a:r>
                        <a:rPr sz="1050" b="0" dirty="0" err="1">
                          <a:solidFill>
                            <a:srgbClr val="1E2227"/>
                          </a:solidFill>
                          <a:latin typeface="맑은 고딕"/>
                          <a:ea typeface="맑은 고딕"/>
                        </a:rPr>
                        <a:t>발표</a:t>
                      </a:r>
                      <a:endParaRPr sz="1050" b="0" dirty="0">
                        <a:solidFill>
                          <a:srgbClr val="1E2227"/>
                        </a:solidFill>
                        <a:latin typeface="맑은 고딕"/>
                        <a:ea typeface="맑은 고딕"/>
                      </a:endParaRPr>
                    </a:p>
                    <a:p>
                      <a:pPr algn="l">
                        <a:lnSpc>
                          <a:spcPct val="114000"/>
                        </a:lnSpc>
                        <a:spcAft>
                          <a:spcPts val="200"/>
                        </a:spcAft>
                      </a:pPr>
                      <a:r>
                        <a:rPr sz="1050" b="1" dirty="0">
                          <a:solidFill>
                            <a:srgbClr val="A4482A"/>
                          </a:solidFill>
                          <a:latin typeface="맑은 고딕"/>
                          <a:ea typeface="맑은 고딕"/>
                        </a:rPr>
                        <a:t>•  </a:t>
                      </a:r>
                      <a:r>
                        <a:rPr sz="1050" b="1" dirty="0" err="1">
                          <a:solidFill>
                            <a:srgbClr val="A4482A"/>
                          </a:solidFill>
                          <a:latin typeface="맑은 고딕"/>
                          <a:ea typeface="맑은 고딕"/>
                        </a:rPr>
                        <a:t>데이터</a:t>
                      </a:r>
                      <a:r>
                        <a:rPr sz="1050" b="1" dirty="0">
                          <a:solidFill>
                            <a:srgbClr val="A4482A"/>
                          </a:solidFill>
                          <a:latin typeface="맑은 고딕"/>
                          <a:ea typeface="맑은 고딕"/>
                        </a:rPr>
                        <a:t> </a:t>
                      </a:r>
                      <a:r>
                        <a:rPr sz="1050" b="1" dirty="0" err="1">
                          <a:solidFill>
                            <a:srgbClr val="A4482A"/>
                          </a:solidFill>
                          <a:latin typeface="맑은 고딕"/>
                          <a:ea typeface="맑은 고딕"/>
                        </a:rPr>
                        <a:t>희소</a:t>
                      </a:r>
                      <a:r>
                        <a:rPr sz="1050" b="0" dirty="0">
                          <a:solidFill>
                            <a:srgbClr val="1E2227"/>
                          </a:solidFill>
                          <a:latin typeface="맑은 고딕"/>
                          <a:ea typeface="맑은 고딕"/>
                        </a:rPr>
                        <a:t> </a:t>
                      </a:r>
                      <a:r>
                        <a:rPr lang="ko-KR" altLang="en-US" sz="1050" b="0" dirty="0">
                          <a:solidFill>
                            <a:srgbClr val="1E2227"/>
                          </a:solidFill>
                          <a:latin typeface="맑은 고딕"/>
                          <a:ea typeface="맑은 고딕"/>
                        </a:rPr>
                        <a:t> 시간충돌 사례 부족으로 효용성 입증 부족</a:t>
                      </a:r>
                      <a:endParaRPr sz="1050" b="0" dirty="0">
                        <a:solidFill>
                          <a:srgbClr val="1E2227"/>
                        </a:solidFill>
                        <a:latin typeface="맑은 고딕"/>
                        <a:ea typeface="맑은 고딕"/>
                      </a:endParaRPr>
                    </a:p>
                  </a:txBody>
                  <a:tcPr marL="82296" marR="82296"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11" name="TextBox 10">
            <a:extLst>
              <a:ext uri="{FF2B5EF4-FFF2-40B4-BE49-F238E27FC236}">
                <a16:creationId xmlns:a16="http://schemas.microsoft.com/office/drawing/2014/main" id="{FFEEC9F1-845D-CA7C-70D3-D668C28DB022}"/>
              </a:ext>
            </a:extLst>
          </p:cNvPr>
          <p:cNvSpPr txBox="1"/>
          <p:nvPr/>
        </p:nvSpPr>
        <p:spPr>
          <a:xfrm>
            <a:off x="548640" y="5872182"/>
            <a:ext cx="9698946" cy="400110"/>
          </a:xfrm>
          <a:prstGeom prst="rect">
            <a:avLst/>
          </a:prstGeom>
          <a:noFill/>
        </p:spPr>
        <p:txBody>
          <a:bodyPr wrap="square">
            <a:spAutoFit/>
          </a:bodyPr>
          <a:lstStyle/>
          <a:p>
            <a:pPr defTabSz="914400" latinLnBrk="1">
              <a:defRPr/>
            </a:pPr>
            <a:r>
              <a:rPr lang="ko-KR" altLang="ko-KR" sz="1000" b="0" dirty="0">
                <a:solidFill>
                  <a:schemeClr val="bg1">
                    <a:lumMod val="50000"/>
                  </a:schemeClr>
                </a:solidFill>
                <a:latin typeface="맑은 고딕"/>
                <a:ea typeface="맑은 고딕"/>
              </a:rPr>
              <a:t>※ </a:t>
            </a:r>
            <a:r>
              <a:rPr lang="ko-KR" altLang="ko-KR" sz="1000" dirty="0" err="1">
                <a:solidFill>
                  <a:schemeClr val="bg1">
                    <a:lumMod val="50000"/>
                  </a:schemeClr>
                </a:solidFill>
              </a:rPr>
              <a:t>Can</a:t>
            </a:r>
            <a:r>
              <a:rPr lang="ko-KR" altLang="ko-KR" sz="1000" dirty="0">
                <a:solidFill>
                  <a:schemeClr val="bg1">
                    <a:lumMod val="50000"/>
                  </a:schemeClr>
                </a:solidFill>
              </a:rPr>
              <a:t> </a:t>
            </a:r>
            <a:r>
              <a:rPr lang="ko-KR" altLang="ko-KR" sz="1000" dirty="0" err="1">
                <a:solidFill>
                  <a:schemeClr val="bg1">
                    <a:lumMod val="50000"/>
                  </a:schemeClr>
                </a:solidFill>
              </a:rPr>
              <a:t>LLMs</a:t>
            </a:r>
            <a:r>
              <a:rPr lang="ko-KR" altLang="ko-KR" sz="1000" dirty="0">
                <a:solidFill>
                  <a:schemeClr val="bg1">
                    <a:lumMod val="50000"/>
                  </a:schemeClr>
                </a:solidFill>
              </a:rPr>
              <a:t> Time </a:t>
            </a:r>
            <a:r>
              <a:rPr lang="ko-KR" altLang="ko-KR" sz="1000" dirty="0" err="1">
                <a:solidFill>
                  <a:schemeClr val="bg1">
                    <a:lumMod val="50000"/>
                  </a:schemeClr>
                </a:solidFill>
              </a:rPr>
              <a:t>Travel</a:t>
            </a:r>
            <a:r>
              <a:rPr lang="ko-KR" altLang="ko-KR" sz="1000" dirty="0">
                <a:solidFill>
                  <a:schemeClr val="bg1">
                    <a:lumMod val="50000"/>
                  </a:schemeClr>
                </a:solidFill>
              </a:rPr>
              <a:t>? </a:t>
            </a:r>
            <a:r>
              <a:rPr lang="ko-KR" altLang="ko-KR" sz="1000" dirty="0" err="1">
                <a:solidFill>
                  <a:schemeClr val="bg1">
                    <a:lumMod val="50000"/>
                  </a:schemeClr>
                </a:solidFill>
              </a:rPr>
              <a:t>Enhancing</a:t>
            </a:r>
            <a:r>
              <a:rPr lang="ko-KR" altLang="ko-KR" sz="1000" dirty="0">
                <a:solidFill>
                  <a:schemeClr val="bg1">
                    <a:lumMod val="50000"/>
                  </a:schemeClr>
                </a:solidFill>
              </a:rPr>
              <a:t> </a:t>
            </a:r>
            <a:r>
              <a:rPr lang="ko-KR" altLang="ko-KR" sz="1000" dirty="0" err="1">
                <a:solidFill>
                  <a:schemeClr val="bg1">
                    <a:lumMod val="50000"/>
                  </a:schemeClr>
                </a:solidFill>
              </a:rPr>
              <a:t>Temporal</a:t>
            </a:r>
            <a:r>
              <a:rPr lang="ko-KR" altLang="ko-KR" sz="1000" dirty="0">
                <a:solidFill>
                  <a:schemeClr val="bg1">
                    <a:lumMod val="50000"/>
                  </a:schemeClr>
                </a:solidFill>
              </a:rPr>
              <a:t> </a:t>
            </a:r>
            <a:r>
              <a:rPr lang="ko-KR" altLang="ko-KR" sz="1000" dirty="0" err="1">
                <a:solidFill>
                  <a:schemeClr val="bg1">
                    <a:lumMod val="50000"/>
                  </a:schemeClr>
                </a:solidFill>
              </a:rPr>
              <a:t>Consistency</a:t>
            </a:r>
            <a:r>
              <a:rPr lang="ko-KR" altLang="ko-KR" sz="1000" dirty="0">
                <a:solidFill>
                  <a:schemeClr val="bg1">
                    <a:lumMod val="50000"/>
                  </a:schemeClr>
                </a:solidFill>
              </a:rPr>
              <a:t> </a:t>
            </a:r>
            <a:r>
              <a:rPr lang="ko-KR" altLang="ko-KR" sz="1000" dirty="0" err="1">
                <a:solidFill>
                  <a:schemeClr val="bg1">
                    <a:lumMod val="50000"/>
                  </a:schemeClr>
                </a:solidFill>
              </a:rPr>
              <a:t>in</a:t>
            </a:r>
            <a:r>
              <a:rPr lang="ko-KR" altLang="ko-KR" sz="1000" dirty="0">
                <a:solidFill>
                  <a:schemeClr val="bg1">
                    <a:lumMod val="50000"/>
                  </a:schemeClr>
                </a:solidFill>
              </a:rPr>
              <a:t> </a:t>
            </a:r>
            <a:r>
              <a:rPr lang="ko-KR" altLang="ko-KR" sz="1000" dirty="0" err="1">
                <a:solidFill>
                  <a:schemeClr val="bg1">
                    <a:lumMod val="50000"/>
                  </a:schemeClr>
                </a:solidFill>
              </a:rPr>
              <a:t>Legal</a:t>
            </a:r>
            <a:r>
              <a:rPr lang="ko-KR" altLang="ko-KR" sz="1000" dirty="0">
                <a:solidFill>
                  <a:schemeClr val="bg1">
                    <a:lumMod val="50000"/>
                  </a:schemeClr>
                </a:solidFill>
              </a:rPr>
              <a:t> </a:t>
            </a:r>
            <a:r>
              <a:rPr lang="ko-KR" altLang="ko-KR" sz="1000" dirty="0" err="1">
                <a:solidFill>
                  <a:schemeClr val="bg1">
                    <a:lumMod val="50000"/>
                  </a:schemeClr>
                </a:solidFill>
              </a:rPr>
              <a:t>Agentic</a:t>
            </a:r>
            <a:r>
              <a:rPr lang="ko-KR" altLang="ko-KR" sz="1000" dirty="0">
                <a:solidFill>
                  <a:schemeClr val="bg1">
                    <a:lumMod val="50000"/>
                  </a:schemeClr>
                </a:solidFill>
              </a:rPr>
              <a:t> </a:t>
            </a:r>
            <a:r>
              <a:rPr lang="ko-KR" altLang="ko-KR" sz="1000" dirty="0" err="1">
                <a:solidFill>
                  <a:schemeClr val="bg1">
                    <a:lumMod val="50000"/>
                  </a:schemeClr>
                </a:solidFill>
              </a:rPr>
              <a:t>Search</a:t>
            </a:r>
            <a:r>
              <a:rPr lang="ko-KR" altLang="ko-KR" sz="1000" dirty="0">
                <a:solidFill>
                  <a:schemeClr val="bg1">
                    <a:lumMod val="50000"/>
                  </a:schemeClr>
                </a:solidFill>
              </a:rPr>
              <a:t> </a:t>
            </a:r>
            <a:r>
              <a:rPr lang="ko-KR" altLang="ko-KR" sz="1000" dirty="0" err="1">
                <a:solidFill>
                  <a:schemeClr val="bg1">
                    <a:lumMod val="50000"/>
                  </a:schemeClr>
                </a:solidFill>
              </a:rPr>
              <a:t>through</a:t>
            </a:r>
            <a:r>
              <a:rPr lang="en-US" altLang="ko-KR" sz="1000" dirty="0">
                <a:solidFill>
                  <a:schemeClr val="bg1">
                    <a:lumMod val="50000"/>
                  </a:schemeClr>
                </a:solidFill>
              </a:rPr>
              <a:t> </a:t>
            </a:r>
            <a:r>
              <a:rPr lang="ko-KR" altLang="ko-KR" sz="1000" dirty="0" err="1">
                <a:solidFill>
                  <a:schemeClr val="bg1">
                    <a:lumMod val="50000"/>
                  </a:schemeClr>
                </a:solidFill>
              </a:rPr>
              <a:t>Reinforcement</a:t>
            </a:r>
            <a:r>
              <a:rPr lang="ko-KR" altLang="ko-KR" sz="1000" dirty="0">
                <a:solidFill>
                  <a:schemeClr val="bg1">
                    <a:lumMod val="50000"/>
                  </a:schemeClr>
                </a:solidFill>
              </a:rPr>
              <a:t> </a:t>
            </a:r>
            <a:r>
              <a:rPr lang="ko-KR" altLang="ko-KR" sz="1000" dirty="0" err="1">
                <a:solidFill>
                  <a:schemeClr val="bg1">
                    <a:lumMod val="50000"/>
                  </a:schemeClr>
                </a:solidFill>
              </a:rPr>
              <a:t>Learning</a:t>
            </a:r>
            <a:r>
              <a:rPr kumimoji="1" lang="en-US" altLang="ko-KR" sz="1000" dirty="0">
                <a:solidFill>
                  <a:schemeClr val="bg1">
                    <a:lumMod val="50000"/>
                  </a:schemeClr>
                </a:solidFill>
              </a:rPr>
              <a:t> </a:t>
            </a:r>
            <a:r>
              <a:rPr lang="en-US" altLang="ko-KR" sz="1000" dirty="0">
                <a:solidFill>
                  <a:schemeClr val="bg1">
                    <a:lumMod val="50000"/>
                  </a:schemeClr>
                </a:solidFill>
                <a:latin typeface="맑은 고딕"/>
                <a:ea typeface="맑은 고딕"/>
              </a:rPr>
              <a:t>(LegalSearch-R1, </a:t>
            </a:r>
            <a:r>
              <a:rPr lang="ko-KR" altLang="en-US" sz="1000" dirty="0">
                <a:solidFill>
                  <a:schemeClr val="bg1">
                    <a:lumMod val="50000"/>
                  </a:schemeClr>
                </a:solidFill>
                <a:hlinkClick r:id="rId3">
                  <a:extLst>
                    <a:ext uri="{A12FA001-AC4F-418D-AE19-62706E023703}">
                      <ahyp:hlinkClr xmlns:ahyp="http://schemas.microsoft.com/office/drawing/2018/hyperlinkcolor" val="tx"/>
                    </a:ext>
                  </a:extLst>
                </a:hlinkClick>
              </a:rPr>
              <a:t>https://arxiv.org/pdf/2605.25920</a:t>
            </a:r>
            <a:r>
              <a:rPr lang="en-US" altLang="ko-KR" sz="1000" dirty="0">
                <a:solidFill>
                  <a:schemeClr val="bg1">
                    <a:lumMod val="50000"/>
                  </a:schemeClr>
                </a:solidFill>
              </a:rPr>
              <a:t>)</a:t>
            </a:r>
          </a:p>
          <a:p>
            <a:pPr defTabSz="914400" latinLnBrk="1">
              <a:defRPr/>
            </a:pPr>
            <a:r>
              <a:rPr lang="ko-KR" altLang="ko-KR" sz="1000" dirty="0">
                <a:solidFill>
                  <a:schemeClr val="bg1">
                    <a:lumMod val="50000"/>
                  </a:schemeClr>
                </a:solidFill>
                <a:latin typeface="맑은 고딕"/>
                <a:ea typeface="맑은 고딕"/>
              </a:rPr>
              <a:t>※ </a:t>
            </a:r>
            <a:r>
              <a:rPr lang="ko-KR" altLang="ko-KR" sz="1000" dirty="0" err="1">
                <a:solidFill>
                  <a:schemeClr val="bg1">
                    <a:lumMod val="50000"/>
                  </a:schemeClr>
                </a:solidFill>
              </a:rPr>
              <a:t>GaRAGe</a:t>
            </a:r>
            <a:r>
              <a:rPr lang="ko-KR" altLang="ko-KR" sz="1000" dirty="0">
                <a:solidFill>
                  <a:schemeClr val="bg1">
                    <a:lumMod val="50000"/>
                  </a:schemeClr>
                </a:solidFill>
              </a:rPr>
              <a:t>: </a:t>
            </a:r>
            <a:r>
              <a:rPr lang="ko-KR" altLang="ko-KR" sz="1000" dirty="0" err="1">
                <a:solidFill>
                  <a:schemeClr val="bg1">
                    <a:lumMod val="50000"/>
                  </a:schemeClr>
                </a:solidFill>
              </a:rPr>
              <a:t>A</a:t>
            </a:r>
            <a:r>
              <a:rPr lang="ko-KR" altLang="ko-KR" sz="1000" dirty="0">
                <a:solidFill>
                  <a:schemeClr val="bg1">
                    <a:lumMod val="50000"/>
                  </a:schemeClr>
                </a:solidFill>
              </a:rPr>
              <a:t> </a:t>
            </a:r>
            <a:r>
              <a:rPr lang="ko-KR" altLang="ko-KR" sz="1000" dirty="0" err="1">
                <a:solidFill>
                  <a:schemeClr val="bg1">
                    <a:lumMod val="50000"/>
                  </a:schemeClr>
                </a:solidFill>
              </a:rPr>
              <a:t>Benchmark</a:t>
            </a:r>
            <a:r>
              <a:rPr lang="ko-KR" altLang="ko-KR" sz="1000" dirty="0">
                <a:solidFill>
                  <a:schemeClr val="bg1">
                    <a:lumMod val="50000"/>
                  </a:schemeClr>
                </a:solidFill>
              </a:rPr>
              <a:t> </a:t>
            </a:r>
            <a:r>
              <a:rPr lang="ko-KR" altLang="ko-KR" sz="1000" dirty="0" err="1">
                <a:solidFill>
                  <a:schemeClr val="bg1">
                    <a:lumMod val="50000"/>
                  </a:schemeClr>
                </a:solidFill>
              </a:rPr>
              <a:t>with</a:t>
            </a:r>
            <a:r>
              <a:rPr lang="ko-KR" altLang="ko-KR" sz="1000" dirty="0">
                <a:solidFill>
                  <a:schemeClr val="bg1">
                    <a:lumMod val="50000"/>
                  </a:schemeClr>
                </a:solidFill>
              </a:rPr>
              <a:t> </a:t>
            </a:r>
            <a:r>
              <a:rPr lang="ko-KR" altLang="ko-KR" sz="1000" dirty="0" err="1">
                <a:solidFill>
                  <a:schemeClr val="bg1">
                    <a:lumMod val="50000"/>
                  </a:schemeClr>
                </a:solidFill>
              </a:rPr>
              <a:t>Grounding</a:t>
            </a:r>
            <a:r>
              <a:rPr lang="ko-KR" altLang="ko-KR" sz="1000" dirty="0">
                <a:solidFill>
                  <a:schemeClr val="bg1">
                    <a:lumMod val="50000"/>
                  </a:schemeClr>
                </a:solidFill>
              </a:rPr>
              <a:t> </a:t>
            </a:r>
            <a:r>
              <a:rPr lang="ko-KR" altLang="ko-KR" sz="1000" dirty="0" err="1">
                <a:solidFill>
                  <a:schemeClr val="bg1">
                    <a:lumMod val="50000"/>
                  </a:schemeClr>
                </a:solidFill>
              </a:rPr>
              <a:t>Annotations</a:t>
            </a:r>
            <a:r>
              <a:rPr lang="ko-KR" altLang="ko-KR" sz="1000" dirty="0">
                <a:solidFill>
                  <a:schemeClr val="bg1">
                    <a:lumMod val="50000"/>
                  </a:schemeClr>
                </a:solidFill>
              </a:rPr>
              <a:t> </a:t>
            </a:r>
            <a:r>
              <a:rPr lang="ko-KR" altLang="ko-KR" sz="1000" dirty="0" err="1">
                <a:solidFill>
                  <a:schemeClr val="bg1">
                    <a:lumMod val="50000"/>
                  </a:schemeClr>
                </a:solidFill>
              </a:rPr>
              <a:t>for</a:t>
            </a:r>
            <a:r>
              <a:rPr lang="ko-KR" altLang="ko-KR" sz="1000" dirty="0">
                <a:solidFill>
                  <a:schemeClr val="bg1">
                    <a:lumMod val="50000"/>
                  </a:schemeClr>
                </a:solidFill>
              </a:rPr>
              <a:t> RAG </a:t>
            </a:r>
            <a:r>
              <a:rPr lang="ko-KR" altLang="ko-KR" sz="1000" dirty="0" err="1">
                <a:solidFill>
                  <a:schemeClr val="bg1">
                    <a:lumMod val="50000"/>
                  </a:schemeClr>
                </a:solidFill>
              </a:rPr>
              <a:t>Evaluation</a:t>
            </a:r>
            <a:r>
              <a:rPr lang="en-US" altLang="ko-KR" sz="1000" dirty="0">
                <a:solidFill>
                  <a:schemeClr val="bg1">
                    <a:lumMod val="50000"/>
                  </a:schemeClr>
                </a:solidFill>
                <a:latin typeface="맑은 고딕"/>
                <a:ea typeface="맑은 고딕"/>
              </a:rPr>
              <a:t> (https://</a:t>
            </a:r>
            <a:r>
              <a:rPr lang="en-US" altLang="ko-KR" sz="1000" dirty="0" err="1">
                <a:solidFill>
                  <a:schemeClr val="bg1">
                    <a:lumMod val="50000"/>
                  </a:schemeClr>
                </a:solidFill>
                <a:latin typeface="맑은 고딕"/>
                <a:ea typeface="맑은 고딕"/>
              </a:rPr>
              <a:t>arxiv.org</a:t>
            </a:r>
            <a:r>
              <a:rPr lang="en-US" altLang="ko-KR" sz="1000" dirty="0">
                <a:solidFill>
                  <a:schemeClr val="bg1">
                    <a:lumMod val="50000"/>
                  </a:schemeClr>
                </a:solidFill>
                <a:latin typeface="맑은 고딕"/>
                <a:ea typeface="맑은 고딕"/>
              </a:rPr>
              <a:t>/pdf/2506.07671)</a:t>
            </a:r>
            <a:endParaRPr lang="ko-KR" altLang="ko-KR" sz="1000" b="0" dirty="0">
              <a:solidFill>
                <a:schemeClr val="bg1">
                  <a:lumMod val="50000"/>
                </a:schemeClr>
              </a:solidFill>
              <a:latin typeface="맑은 고딕"/>
              <a:ea typeface="맑은 고딕"/>
            </a:endParaRPr>
          </a:p>
        </p:txBody>
      </p:sp>
    </p:spTree>
    <p:extLst>
      <p:ext uri="{BB962C8B-B14F-4D97-AF65-F5344CB8AC3E}">
        <p14:creationId xmlns:p14="http://schemas.microsoft.com/office/powerpoint/2010/main" val="88244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0" dirty="0">
                <a:solidFill>
                  <a:srgbClr val="6B7480"/>
                </a:solidFill>
                <a:latin typeface="맑은 고딕"/>
                <a:ea typeface="맑은 고딕"/>
              </a:rPr>
              <a:t>연구 여정</a:t>
            </a:r>
            <a:r>
              <a:rPr lang="en-US" sz="1250" b="0" dirty="0">
                <a:solidFill>
                  <a:srgbClr val="B0B7C0"/>
                </a:solidFill>
                <a:latin typeface="맑은 고딕"/>
                <a:ea typeface="맑은 고딕"/>
              </a:rPr>
              <a:t>   ›   </a:t>
            </a:r>
            <a:r>
              <a:rPr lang="en-US" sz="1250" b="1" dirty="0">
                <a:solidFill>
                  <a:srgbClr val="273A52"/>
                </a:solidFill>
                <a:latin typeface="맑은 고딕"/>
                <a:ea typeface="맑은 고딕"/>
              </a:rPr>
              <a:t>② 전환의 계기</a:t>
            </a:r>
          </a:p>
        </p:txBody>
      </p:sp>
      <p:sp>
        <p:nvSpPr>
          <p:cNvPr id="3" name="TextBox 2"/>
          <p:cNvSpPr txBox="1"/>
          <p:nvPr/>
        </p:nvSpPr>
        <p:spPr>
          <a:xfrm>
            <a:off x="548640" y="585216"/>
            <a:ext cx="11091672" cy="396647"/>
          </a:xfrm>
          <a:prstGeom prst="rect">
            <a:avLst/>
          </a:prstGeom>
          <a:noFill/>
        </p:spPr>
        <p:txBody>
          <a:bodyPr wrap="square" lIns="0" tIns="0" rIns="0" bIns="0">
            <a:spAutoFit/>
          </a:bodyPr>
          <a:lstStyle/>
          <a:p>
            <a:pPr algn="l">
              <a:lnSpc>
                <a:spcPct val="122000"/>
              </a:lnSpc>
              <a:spcAft>
                <a:spcPts val="450"/>
              </a:spcAft>
            </a:pPr>
            <a:r>
              <a:rPr sz="2350" b="1" dirty="0">
                <a:solidFill>
                  <a:srgbClr val="273A52"/>
                </a:solidFill>
                <a:latin typeface="맑은 고딕"/>
                <a:ea typeface="맑은 고딕"/>
              </a:rPr>
              <a:t>선행 실험의 한계와 ThinkConflict의 출발점</a:t>
            </a: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274320"/>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4</a:t>
            </a:fld>
            <a:endParaRPr lang="en-US" altLang="ko-KR" sz="950">
              <a:solidFill>
                <a:srgbClr val="6B7480"/>
              </a:solidFill>
              <a:latin typeface="맑은 고딕"/>
              <a:ea typeface="맑은 고딕"/>
            </a:endParaRPr>
          </a:p>
        </p:txBody>
      </p:sp>
      <p:sp>
        <p:nvSpPr>
          <p:cNvPr id="7" name="TextBox 6"/>
          <p:cNvSpPr txBox="1"/>
          <p:nvPr/>
        </p:nvSpPr>
        <p:spPr>
          <a:xfrm>
            <a:off x="548640" y="1223834"/>
            <a:ext cx="11091672" cy="311752"/>
          </a:xfrm>
          <a:prstGeom prst="rect">
            <a:avLst/>
          </a:prstGeom>
          <a:noFill/>
        </p:spPr>
        <p:txBody>
          <a:bodyPr wrap="square" lIns="91440" tIns="45720" rIns="91440" bIns="45720" anchor="ctr" anchorCtr="0">
            <a:spAutoFit/>
          </a:bodyPr>
          <a:lstStyle/>
          <a:p>
            <a:pPr algn="l">
              <a:lnSpc>
                <a:spcPct val="122000"/>
              </a:lnSpc>
              <a:spcAft>
                <a:spcPts val="450"/>
              </a:spcAft>
            </a:pPr>
            <a:r>
              <a:rPr lang="ko-KR" sz="1300" b="1" dirty="0">
                <a:solidFill>
                  <a:srgbClr val="273A52"/>
                </a:solidFill>
                <a:latin typeface="맑은 고딕"/>
                <a:ea typeface="맑은 고딕"/>
              </a:rPr>
              <a:t>① 선행 실험이 남긴 결과</a:t>
            </a:r>
          </a:p>
        </p:txBody>
      </p:sp>
      <p:sp>
        <p:nvSpPr>
          <p:cNvPr id="8" name="Rectangle 7"/>
          <p:cNvSpPr/>
          <p:nvPr/>
        </p:nvSpPr>
        <p:spPr>
          <a:xfrm>
            <a:off x="548640" y="1544320"/>
            <a:ext cx="5458968" cy="33020"/>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577339"/>
            <a:ext cx="5458968" cy="245414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pPr>
            <a:r>
              <a:rPr sz="1200" b="1" dirty="0">
                <a:solidFill>
                  <a:srgbClr val="273A52"/>
                </a:solidFill>
                <a:latin typeface="맑은 고딕"/>
                <a:ea typeface="맑은 고딕"/>
              </a:rPr>
              <a:t>V1 · TV-RAG </a:t>
            </a:r>
            <a:r>
              <a:rPr sz="1200" b="1" dirty="0" err="1">
                <a:solidFill>
                  <a:srgbClr val="273A52"/>
                </a:solidFill>
                <a:latin typeface="맑은 고딕"/>
                <a:ea typeface="맑은 고딕"/>
              </a:rPr>
              <a:t>파일럿</a:t>
            </a:r>
            <a:r>
              <a:rPr sz="1200" b="1" dirty="0">
                <a:solidFill>
                  <a:srgbClr val="273A52"/>
                </a:solidFill>
                <a:latin typeface="맑은 고딕"/>
                <a:ea typeface="맑은 고딕"/>
              </a:rPr>
              <a:t> — "</a:t>
            </a:r>
            <a:r>
              <a:rPr sz="1200" b="1" dirty="0" err="1">
                <a:solidFill>
                  <a:srgbClr val="273A52"/>
                </a:solidFill>
                <a:latin typeface="맑은 고딕"/>
                <a:ea typeface="맑은 고딕"/>
              </a:rPr>
              <a:t>기존</a:t>
            </a:r>
            <a:r>
              <a:rPr sz="1200" b="1" dirty="0">
                <a:solidFill>
                  <a:srgbClr val="273A52"/>
                </a:solidFill>
                <a:latin typeface="맑은 고딕"/>
                <a:ea typeface="맑은 고딕"/>
              </a:rPr>
              <a:t> </a:t>
            </a:r>
            <a:r>
              <a:rPr sz="1200" b="1" dirty="0" err="1">
                <a:solidFill>
                  <a:srgbClr val="273A52"/>
                </a:solidFill>
                <a:latin typeface="맑은 고딕"/>
                <a:ea typeface="맑은 고딕"/>
              </a:rPr>
              <a:t>LLM이</a:t>
            </a:r>
            <a:r>
              <a:rPr sz="1200" b="1" dirty="0">
                <a:solidFill>
                  <a:srgbClr val="273A52"/>
                </a:solidFill>
                <a:latin typeface="맑은 고딕"/>
                <a:ea typeface="맑은 고딕"/>
              </a:rPr>
              <a:t> </a:t>
            </a:r>
            <a:r>
              <a:rPr sz="1200" b="1" dirty="0" err="1">
                <a:solidFill>
                  <a:srgbClr val="273A52"/>
                </a:solidFill>
                <a:latin typeface="맑은 고딕"/>
                <a:ea typeface="맑은 고딕"/>
              </a:rPr>
              <a:t>시간</a:t>
            </a:r>
            <a:r>
              <a:rPr sz="1200" b="1" dirty="0">
                <a:solidFill>
                  <a:srgbClr val="273A52"/>
                </a:solidFill>
                <a:latin typeface="맑은 고딕"/>
                <a:ea typeface="맑은 고딕"/>
              </a:rPr>
              <a:t> </a:t>
            </a:r>
            <a:r>
              <a:rPr sz="1200" b="1" dirty="0" err="1">
                <a:solidFill>
                  <a:srgbClr val="273A52"/>
                </a:solidFill>
                <a:latin typeface="맑은 고딕"/>
                <a:ea typeface="맑은 고딕"/>
              </a:rPr>
              <a:t>충돌에</a:t>
            </a:r>
            <a:r>
              <a:rPr sz="1200" b="1" dirty="0">
                <a:solidFill>
                  <a:srgbClr val="273A52"/>
                </a:solidFill>
                <a:latin typeface="맑은 고딕"/>
                <a:ea typeface="맑은 고딕"/>
              </a:rPr>
              <a:t> </a:t>
            </a:r>
            <a:r>
              <a:rPr sz="1200" b="1" dirty="0" err="1">
                <a:solidFill>
                  <a:srgbClr val="273A52"/>
                </a:solidFill>
                <a:latin typeface="맑은 고딕"/>
                <a:ea typeface="맑은 고딕"/>
              </a:rPr>
              <a:t>취약한가</a:t>
            </a:r>
            <a:r>
              <a:rPr sz="1200" b="1" dirty="0">
                <a:solidFill>
                  <a:srgbClr val="273A52"/>
                </a:solidFill>
                <a:latin typeface="맑은 고딕"/>
                <a:ea typeface="맑은 고딕"/>
              </a:rPr>
              <a:t>?"</a:t>
            </a:r>
          </a:p>
          <a:p>
            <a:pPr algn="l">
              <a:lnSpc>
                <a:spcPct val="126000"/>
              </a:lnSpc>
              <a:spcAft>
                <a:spcPts val="450"/>
              </a:spcAft>
            </a:pPr>
            <a:r>
              <a:rPr sz="1100" b="1" dirty="0" err="1">
                <a:solidFill>
                  <a:srgbClr val="273A52"/>
                </a:solidFill>
                <a:latin typeface="맑은 고딕"/>
                <a:ea typeface="맑은 고딕"/>
              </a:rPr>
              <a:t>실험</a:t>
            </a:r>
            <a:r>
              <a:rPr sz="1100" b="1" dirty="0">
                <a:solidFill>
                  <a:srgbClr val="273A52"/>
                </a:solidFill>
                <a:latin typeface="맑은 고딕"/>
                <a:ea typeface="맑은 고딕"/>
              </a:rPr>
              <a:t> </a:t>
            </a:r>
            <a:r>
              <a:rPr sz="1100" b="1" dirty="0" err="1">
                <a:solidFill>
                  <a:srgbClr val="273A52"/>
                </a:solidFill>
                <a:latin typeface="맑은 고딕"/>
                <a:ea typeface="맑은 고딕"/>
              </a:rPr>
              <a:t>환경</a:t>
            </a:r>
            <a:endParaRPr sz="1100" b="1" dirty="0">
              <a:solidFill>
                <a:srgbClr val="273A52"/>
              </a:solidFill>
              <a:latin typeface="맑은 고딕"/>
              <a:ea typeface="맑은 고딕"/>
            </a:endParaRPr>
          </a:p>
          <a:p>
            <a:pPr algn="l">
              <a:lnSpc>
                <a:spcPct val="126000"/>
              </a:lnSpc>
              <a:spcAft>
                <a:spcPts val="450"/>
              </a:spcAft>
            </a:pPr>
            <a:r>
              <a:rPr sz="1050" b="1" dirty="0">
                <a:solidFill>
                  <a:srgbClr val="273A52"/>
                </a:solidFill>
                <a:latin typeface="맑은 고딕"/>
                <a:ea typeface="맑은 고딕"/>
              </a:rPr>
              <a:t>•  </a:t>
            </a:r>
            <a:r>
              <a:rPr sz="1050" b="1" dirty="0" err="1">
                <a:solidFill>
                  <a:srgbClr val="273A52"/>
                </a:solidFill>
                <a:latin typeface="맑은 고딕"/>
                <a:ea typeface="맑은 고딕"/>
              </a:rPr>
              <a:t>모델</a:t>
            </a:r>
            <a:r>
              <a:rPr sz="1050" b="1" dirty="0">
                <a:solidFill>
                  <a:srgbClr val="273A52"/>
                </a:solidFill>
                <a:latin typeface="맑은 고딕"/>
                <a:ea typeface="맑은 고딕"/>
              </a:rPr>
              <a:t>  </a:t>
            </a:r>
            <a:r>
              <a:rPr sz="1050" b="0" dirty="0">
                <a:solidFill>
                  <a:srgbClr val="1E2227"/>
                </a:solidFill>
                <a:latin typeface="맑은 고딕"/>
                <a:ea typeface="맑은 고딕"/>
              </a:rPr>
              <a:t>GPT-4.1 · Llama-3.1-70B-Instruct-AWQ</a:t>
            </a:r>
          </a:p>
          <a:p>
            <a:pPr algn="l">
              <a:lnSpc>
                <a:spcPct val="126000"/>
              </a:lnSpc>
              <a:spcAft>
                <a:spcPts val="450"/>
              </a:spcAft>
            </a:pPr>
            <a:r>
              <a:rPr sz="1050" b="1" dirty="0">
                <a:solidFill>
                  <a:srgbClr val="273A52"/>
                </a:solidFill>
                <a:latin typeface="맑은 고딕"/>
                <a:ea typeface="맑은 고딕"/>
              </a:rPr>
              <a:t>•  </a:t>
            </a:r>
            <a:r>
              <a:rPr sz="1050" b="1" dirty="0" err="1">
                <a:solidFill>
                  <a:srgbClr val="273A52"/>
                </a:solidFill>
                <a:latin typeface="맑은 고딕"/>
                <a:ea typeface="맑은 고딕"/>
              </a:rPr>
              <a:t>데이터</a:t>
            </a:r>
            <a:r>
              <a:rPr sz="1050" b="1" dirty="0">
                <a:solidFill>
                  <a:srgbClr val="273A52"/>
                </a:solidFill>
                <a:latin typeface="맑은 고딕"/>
                <a:ea typeface="맑은 고딕"/>
              </a:rPr>
              <a:t>  </a:t>
            </a:r>
            <a:r>
              <a:rPr sz="1050" b="0" dirty="0">
                <a:solidFill>
                  <a:srgbClr val="1E2227"/>
                </a:solidFill>
                <a:latin typeface="맑은 고딕"/>
                <a:ea typeface="맑은 고딕"/>
              </a:rPr>
              <a:t>T</a:t>
            </a:r>
            <a:r>
              <a:rPr lang="en-US" sz="1050" dirty="0">
                <a:solidFill>
                  <a:srgbClr val="1E2227"/>
                </a:solidFill>
                <a:latin typeface="맑은 고딕"/>
                <a:ea typeface="맑은 고딕"/>
              </a:rPr>
              <a:t>C</a:t>
            </a:r>
            <a:r>
              <a:rPr sz="1050" b="0" dirty="0">
                <a:solidFill>
                  <a:srgbClr val="1E2227"/>
                </a:solidFill>
                <a:latin typeface="맑은 고딕"/>
                <a:ea typeface="맑은 고딕"/>
              </a:rPr>
              <a:t>-RAG (</a:t>
            </a:r>
            <a:r>
              <a:rPr sz="1050" b="0" dirty="0" err="1">
                <a:solidFill>
                  <a:srgbClr val="1E2227"/>
                </a:solidFill>
                <a:latin typeface="맑은 고딕"/>
                <a:ea typeface="맑은 고딕"/>
              </a:rPr>
              <a:t>HoH</a:t>
            </a:r>
            <a:r>
              <a:rPr sz="1050" b="0" dirty="0">
                <a:solidFill>
                  <a:srgbClr val="1E2227"/>
                </a:solidFill>
                <a:latin typeface="맑은 고딕"/>
                <a:ea typeface="맑은 고딕"/>
              </a:rPr>
              <a:t> </a:t>
            </a:r>
            <a:r>
              <a:rPr sz="1050" b="0" dirty="0" err="1">
                <a:solidFill>
                  <a:srgbClr val="1E2227"/>
                </a:solidFill>
                <a:latin typeface="맑은 고딕"/>
                <a:ea typeface="맑은 고딕"/>
              </a:rPr>
              <a:t>위키</a:t>
            </a:r>
            <a:r>
              <a:rPr sz="1050" b="0" dirty="0">
                <a:solidFill>
                  <a:srgbClr val="1E2227"/>
                </a:solidFill>
                <a:latin typeface="맑은 고딕"/>
                <a:ea typeface="맑은 고딕"/>
              </a:rPr>
              <a:t> </a:t>
            </a:r>
            <a:r>
              <a:rPr sz="1050" b="0" dirty="0" err="1">
                <a:solidFill>
                  <a:srgbClr val="1E2227"/>
                </a:solidFill>
                <a:latin typeface="맑은 고딕"/>
                <a:ea typeface="맑은 고딕"/>
              </a:rPr>
              <a:t>편집이력</a:t>
            </a:r>
            <a:r>
              <a:rPr sz="1050" b="0" dirty="0">
                <a:solidFill>
                  <a:srgbClr val="1E2227"/>
                </a:solidFill>
                <a:latin typeface="맑은 고딕"/>
                <a:ea typeface="맑은 고딕"/>
              </a:rPr>
              <a:t>) — </a:t>
            </a:r>
            <a:r>
              <a:rPr sz="1050" b="0" dirty="0" err="1">
                <a:solidFill>
                  <a:srgbClr val="1E2227"/>
                </a:solidFill>
                <a:latin typeface="맑은 고딕"/>
                <a:ea typeface="맑은 고딕"/>
              </a:rPr>
              <a:t>무충돌</a:t>
            </a:r>
            <a:r>
              <a:rPr sz="1050" b="0" dirty="0">
                <a:solidFill>
                  <a:srgbClr val="1E2227"/>
                </a:solidFill>
                <a:latin typeface="맑은 고딕"/>
                <a:ea typeface="맑은 고딕"/>
              </a:rPr>
              <a:t> 599 · </a:t>
            </a:r>
            <a:r>
              <a:rPr sz="1050" b="0" dirty="0" err="1">
                <a:solidFill>
                  <a:srgbClr val="1E2227"/>
                </a:solidFill>
                <a:latin typeface="맑은 고딕"/>
                <a:ea typeface="맑은 고딕"/>
              </a:rPr>
              <a:t>충돌</a:t>
            </a:r>
            <a:r>
              <a:rPr sz="1050" b="0" dirty="0">
                <a:solidFill>
                  <a:srgbClr val="1E2227"/>
                </a:solidFill>
                <a:latin typeface="맑은 고딕"/>
                <a:ea typeface="맑은 고딕"/>
              </a:rPr>
              <a:t> 1,247건</a:t>
            </a:r>
          </a:p>
          <a:p>
            <a:pPr algn="l">
              <a:lnSpc>
                <a:spcPct val="126000"/>
              </a:lnSpc>
              <a:spcAft>
                <a:spcPts val="450"/>
              </a:spcAft>
            </a:pPr>
            <a:r>
              <a:rPr sz="1050" b="1" dirty="0">
                <a:solidFill>
                  <a:srgbClr val="273A52"/>
                </a:solidFill>
                <a:latin typeface="맑은 고딕"/>
                <a:ea typeface="맑은 고딕"/>
              </a:rPr>
              <a:t>•  </a:t>
            </a:r>
            <a:r>
              <a:rPr sz="1050" b="1" dirty="0" err="1">
                <a:solidFill>
                  <a:srgbClr val="273A52"/>
                </a:solidFill>
                <a:latin typeface="맑은 고딕"/>
                <a:ea typeface="맑은 고딕"/>
              </a:rPr>
              <a:t>지표</a:t>
            </a:r>
            <a:r>
              <a:rPr sz="1050" b="1" dirty="0">
                <a:solidFill>
                  <a:srgbClr val="273A52"/>
                </a:solidFill>
                <a:latin typeface="맑은 고딕"/>
                <a:ea typeface="맑은 고딕"/>
              </a:rPr>
              <a:t>  </a:t>
            </a:r>
            <a:r>
              <a:rPr sz="1050" b="0" dirty="0" err="1">
                <a:solidFill>
                  <a:srgbClr val="1E2227"/>
                </a:solidFill>
                <a:latin typeface="맑은 고딕"/>
                <a:ea typeface="맑은 고딕"/>
              </a:rPr>
              <a:t>정답</a:t>
            </a:r>
            <a:r>
              <a:rPr sz="1050" b="0" dirty="0">
                <a:solidFill>
                  <a:srgbClr val="1E2227"/>
                </a:solidFill>
                <a:latin typeface="맑은 고딕"/>
                <a:ea typeface="맑은 고딕"/>
              </a:rPr>
              <a:t> F1(</a:t>
            </a:r>
            <a:r>
              <a:rPr sz="1050" b="0" dirty="0" err="1">
                <a:solidFill>
                  <a:srgbClr val="1E2227"/>
                </a:solidFill>
                <a:latin typeface="맑은 고딕"/>
                <a:ea typeface="맑은 고딕"/>
              </a:rPr>
              <a:t>토큰</a:t>
            </a:r>
            <a:r>
              <a:rPr sz="1050" b="0" dirty="0">
                <a:solidFill>
                  <a:srgbClr val="1E2227"/>
                </a:solidFill>
                <a:latin typeface="맑은 고딕"/>
                <a:ea typeface="맑은 고딕"/>
              </a:rPr>
              <a:t> </a:t>
            </a:r>
            <a:r>
              <a:rPr sz="1050" b="0" dirty="0" err="1">
                <a:solidFill>
                  <a:srgbClr val="1E2227"/>
                </a:solidFill>
                <a:latin typeface="맑은 고딕"/>
                <a:ea typeface="맑은 고딕"/>
              </a:rPr>
              <a:t>일치</a:t>
            </a:r>
            <a:r>
              <a:rPr sz="1050" b="0" dirty="0">
                <a:solidFill>
                  <a:srgbClr val="1E2227"/>
                </a:solidFill>
                <a:latin typeface="맑은 고딕"/>
                <a:ea typeface="맑은 고딕"/>
              </a:rPr>
              <a:t>) · </a:t>
            </a:r>
            <a:r>
              <a:rPr sz="1050" b="0" dirty="0" err="1">
                <a:solidFill>
                  <a:srgbClr val="1E2227"/>
                </a:solidFill>
                <a:latin typeface="맑은 고딕"/>
                <a:ea typeface="맑은 고딕"/>
              </a:rPr>
              <a:t>근거</a:t>
            </a:r>
            <a:r>
              <a:rPr sz="1050" b="0" dirty="0">
                <a:solidFill>
                  <a:srgbClr val="1E2227"/>
                </a:solidFill>
                <a:latin typeface="맑은 고딕"/>
                <a:ea typeface="맑은 고딕"/>
              </a:rPr>
              <a:t> </a:t>
            </a:r>
            <a:r>
              <a:rPr sz="1050" b="0" dirty="0" err="1">
                <a:solidFill>
                  <a:srgbClr val="1E2227"/>
                </a:solidFill>
                <a:latin typeface="맑은 고딕"/>
                <a:ea typeface="맑은 고딕"/>
              </a:rPr>
              <a:t>정확도</a:t>
            </a:r>
            <a:r>
              <a:rPr sz="1050" b="0" dirty="0">
                <a:solidFill>
                  <a:srgbClr val="1E2227"/>
                </a:solidFill>
                <a:latin typeface="맑은 고딕"/>
                <a:ea typeface="맑은 고딕"/>
              </a:rPr>
              <a:t>(</a:t>
            </a:r>
            <a:r>
              <a:rPr sz="1050" b="0" dirty="0" err="1">
                <a:solidFill>
                  <a:srgbClr val="1E2227"/>
                </a:solidFill>
                <a:latin typeface="맑은 고딕"/>
                <a:ea typeface="맑은 고딕"/>
              </a:rPr>
              <a:t>고른</a:t>
            </a:r>
            <a:r>
              <a:rPr sz="1050" b="0" dirty="0">
                <a:solidFill>
                  <a:srgbClr val="1E2227"/>
                </a:solidFill>
                <a:latin typeface="맑은 고딕"/>
                <a:ea typeface="맑은 고딕"/>
              </a:rPr>
              <a:t> </a:t>
            </a:r>
            <a:r>
              <a:rPr sz="1050" b="0" dirty="0" err="1">
                <a:solidFill>
                  <a:srgbClr val="1E2227"/>
                </a:solidFill>
                <a:latin typeface="맑은 고딕"/>
                <a:ea typeface="맑은 고딕"/>
              </a:rPr>
              <a:t>문서가</a:t>
            </a:r>
            <a:r>
              <a:rPr sz="1050" b="0" dirty="0">
                <a:solidFill>
                  <a:srgbClr val="1E2227"/>
                </a:solidFill>
                <a:latin typeface="맑은 고딕"/>
                <a:ea typeface="맑은 고딕"/>
              </a:rPr>
              <a:t> </a:t>
            </a:r>
            <a:r>
              <a:rPr sz="1050" b="0" dirty="0" err="1">
                <a:solidFill>
                  <a:srgbClr val="1E2227"/>
                </a:solidFill>
                <a:latin typeface="맑은 고딕"/>
                <a:ea typeface="맑은 고딕"/>
              </a:rPr>
              <a:t>정답</a:t>
            </a:r>
            <a:r>
              <a:rPr sz="1050" b="0" dirty="0">
                <a:solidFill>
                  <a:srgbClr val="1E2227"/>
                </a:solidFill>
                <a:latin typeface="맑은 고딕"/>
                <a:ea typeface="맑은 고딕"/>
              </a:rPr>
              <a:t> </a:t>
            </a:r>
            <a:r>
              <a:rPr sz="1050" b="0" dirty="0" err="1">
                <a:solidFill>
                  <a:srgbClr val="1E2227"/>
                </a:solidFill>
                <a:latin typeface="맑은 고딕"/>
                <a:ea typeface="맑은 고딕"/>
              </a:rPr>
              <a:t>시점</a:t>
            </a:r>
            <a:r>
              <a:rPr sz="1050" b="0" dirty="0">
                <a:solidFill>
                  <a:srgbClr val="1E2227"/>
                </a:solidFill>
                <a:latin typeface="맑은 고딕"/>
                <a:ea typeface="맑은 고딕"/>
              </a:rPr>
              <a:t> </a:t>
            </a:r>
            <a:r>
              <a:rPr sz="1050" b="0" dirty="0" err="1">
                <a:solidFill>
                  <a:srgbClr val="1E2227"/>
                </a:solidFill>
                <a:latin typeface="맑은 고딕"/>
                <a:ea typeface="맑은 고딕"/>
              </a:rPr>
              <a:t>문서인가</a:t>
            </a:r>
            <a:r>
              <a:rPr sz="1050" b="0" dirty="0">
                <a:solidFill>
                  <a:srgbClr val="1E2227"/>
                </a:solidFill>
                <a:latin typeface="맑은 고딕"/>
                <a:ea typeface="맑은 고딕"/>
              </a:rPr>
              <a:t>)</a:t>
            </a:r>
          </a:p>
          <a:p>
            <a:pPr algn="l">
              <a:lnSpc>
                <a:spcPct val="126000"/>
              </a:lnSpc>
              <a:spcAft>
                <a:spcPts val="450"/>
              </a:spcAft>
            </a:pPr>
            <a:r>
              <a:rPr sz="1100" b="1" dirty="0" err="1">
                <a:solidFill>
                  <a:srgbClr val="273A52"/>
                </a:solidFill>
                <a:latin typeface="맑은 고딕"/>
                <a:ea typeface="맑은 고딕"/>
              </a:rPr>
              <a:t>결과</a:t>
            </a:r>
            <a:endParaRPr sz="1100" b="1" dirty="0">
              <a:solidFill>
                <a:srgbClr val="273A52"/>
              </a:solidFill>
              <a:latin typeface="맑은 고딕"/>
              <a:ea typeface="맑은 고딕"/>
            </a:endParaRPr>
          </a:p>
          <a:p>
            <a:pPr algn="l">
              <a:lnSpc>
                <a:spcPct val="126000"/>
              </a:lnSpc>
              <a:spcAft>
                <a:spcPts val="450"/>
              </a:spcAft>
            </a:pPr>
            <a:r>
              <a:rPr sz="1050" b="0" dirty="0">
                <a:solidFill>
                  <a:srgbClr val="1E2227"/>
                </a:solidFill>
                <a:latin typeface="맑은 고딕"/>
                <a:ea typeface="맑은 고딕"/>
              </a:rPr>
              <a:t>•  </a:t>
            </a:r>
            <a:r>
              <a:rPr sz="1050" b="0" dirty="0" err="1">
                <a:solidFill>
                  <a:srgbClr val="1E2227"/>
                </a:solidFill>
                <a:latin typeface="맑은 고딕"/>
                <a:ea typeface="맑은 고딕"/>
              </a:rPr>
              <a:t>충돌</a:t>
            </a:r>
            <a:r>
              <a:rPr sz="1050" b="0" dirty="0">
                <a:solidFill>
                  <a:srgbClr val="1E2227"/>
                </a:solidFill>
                <a:latin typeface="맑은 고딕"/>
                <a:ea typeface="맑은 고딕"/>
              </a:rPr>
              <a:t> </a:t>
            </a:r>
            <a:r>
              <a:rPr sz="1050" b="0" dirty="0" err="1">
                <a:solidFill>
                  <a:srgbClr val="1E2227"/>
                </a:solidFill>
                <a:latin typeface="맑은 고딕"/>
                <a:ea typeface="맑은 고딕"/>
              </a:rPr>
              <a:t>문서</a:t>
            </a:r>
            <a:r>
              <a:rPr sz="1050" b="0" dirty="0">
                <a:solidFill>
                  <a:srgbClr val="1E2227"/>
                </a:solidFill>
                <a:latin typeface="맑은 고딕"/>
                <a:ea typeface="맑은 고딕"/>
              </a:rPr>
              <a:t> </a:t>
            </a:r>
            <a:r>
              <a:rPr sz="1050" b="0" dirty="0" err="1">
                <a:solidFill>
                  <a:srgbClr val="1E2227"/>
                </a:solidFill>
                <a:latin typeface="맑은 고딕"/>
                <a:ea typeface="맑은 고딕"/>
              </a:rPr>
              <a:t>개입</a:t>
            </a:r>
            <a:r>
              <a:rPr sz="1050" b="0" dirty="0">
                <a:solidFill>
                  <a:srgbClr val="1E2227"/>
                </a:solidFill>
                <a:latin typeface="맑은 고딕"/>
                <a:ea typeface="맑은 고딕"/>
              </a:rPr>
              <a:t> </a:t>
            </a:r>
            <a:r>
              <a:rPr sz="1050" b="0" dirty="0" err="1">
                <a:solidFill>
                  <a:srgbClr val="1E2227"/>
                </a:solidFill>
                <a:latin typeface="맑은 고딕"/>
                <a:ea typeface="맑은 고딕"/>
              </a:rPr>
              <a:t>시</a:t>
            </a:r>
            <a:r>
              <a:rPr sz="1050" b="0" dirty="0">
                <a:solidFill>
                  <a:srgbClr val="1E2227"/>
                </a:solidFill>
                <a:latin typeface="맑은 고딕"/>
                <a:ea typeface="맑은 고딕"/>
              </a:rPr>
              <a:t> </a:t>
            </a:r>
            <a:r>
              <a:rPr sz="1050" b="0" dirty="0" err="1">
                <a:solidFill>
                  <a:srgbClr val="1E2227"/>
                </a:solidFill>
                <a:latin typeface="맑은 고딕"/>
                <a:ea typeface="맑은 고딕"/>
              </a:rPr>
              <a:t>두</a:t>
            </a:r>
            <a:r>
              <a:rPr sz="1050" b="0" dirty="0">
                <a:solidFill>
                  <a:srgbClr val="1E2227"/>
                </a:solidFill>
                <a:latin typeface="맑은 고딕"/>
                <a:ea typeface="맑은 고딕"/>
              </a:rPr>
              <a:t> </a:t>
            </a:r>
            <a:r>
              <a:rPr sz="1050" b="0" dirty="0" err="1">
                <a:solidFill>
                  <a:srgbClr val="1E2227"/>
                </a:solidFill>
                <a:latin typeface="맑은 고딕"/>
                <a:ea typeface="맑은 고딕"/>
              </a:rPr>
              <a:t>모델</a:t>
            </a:r>
            <a:r>
              <a:rPr sz="1050" b="0" dirty="0">
                <a:solidFill>
                  <a:srgbClr val="1E2227"/>
                </a:solidFill>
                <a:latin typeface="맑은 고딕"/>
                <a:ea typeface="맑은 고딕"/>
              </a:rPr>
              <a:t> </a:t>
            </a:r>
            <a:r>
              <a:rPr sz="1050" b="0" dirty="0" err="1">
                <a:solidFill>
                  <a:srgbClr val="1E2227"/>
                </a:solidFill>
                <a:latin typeface="맑은 고딕"/>
                <a:ea typeface="맑은 고딕"/>
              </a:rPr>
              <a:t>급락</a:t>
            </a:r>
            <a:r>
              <a:rPr sz="1050" b="0" dirty="0">
                <a:solidFill>
                  <a:srgbClr val="1E2227"/>
                </a:solidFill>
                <a:latin typeface="맑은 고딕"/>
                <a:ea typeface="맑은 고딕"/>
              </a:rPr>
              <a:t> — </a:t>
            </a:r>
            <a:r>
              <a:rPr sz="1050" b="1" dirty="0" err="1">
                <a:solidFill>
                  <a:srgbClr val="1E2227"/>
                </a:solidFill>
                <a:latin typeface="맑은 고딕"/>
                <a:ea typeface="맑은 고딕"/>
              </a:rPr>
              <a:t>정답</a:t>
            </a:r>
            <a:r>
              <a:rPr sz="1050" b="1" dirty="0">
                <a:solidFill>
                  <a:srgbClr val="1E2227"/>
                </a:solidFill>
                <a:latin typeface="맑은 고딕"/>
                <a:ea typeface="맑은 고딕"/>
              </a:rPr>
              <a:t> F1 0.81→0.65 · </a:t>
            </a:r>
            <a:r>
              <a:rPr sz="1050" b="1" dirty="0" err="1">
                <a:solidFill>
                  <a:srgbClr val="1E2227"/>
                </a:solidFill>
                <a:latin typeface="맑은 고딕"/>
                <a:ea typeface="맑은 고딕"/>
              </a:rPr>
              <a:t>근거</a:t>
            </a:r>
            <a:r>
              <a:rPr sz="1050" b="1" dirty="0">
                <a:solidFill>
                  <a:srgbClr val="1E2227"/>
                </a:solidFill>
                <a:latin typeface="맑은 고딕"/>
                <a:ea typeface="맑은 고딕"/>
              </a:rPr>
              <a:t> </a:t>
            </a:r>
            <a:r>
              <a:rPr sz="1050" b="1" dirty="0" err="1">
                <a:solidFill>
                  <a:srgbClr val="1E2227"/>
                </a:solidFill>
                <a:latin typeface="맑은 고딕"/>
                <a:ea typeface="맑은 고딕"/>
              </a:rPr>
              <a:t>정확도</a:t>
            </a:r>
            <a:r>
              <a:rPr sz="1050" b="1" dirty="0">
                <a:solidFill>
                  <a:srgbClr val="1E2227"/>
                </a:solidFill>
                <a:latin typeface="맑은 고딕"/>
                <a:ea typeface="맑은 고딕"/>
              </a:rPr>
              <a:t> 0.74→0.57</a:t>
            </a:r>
          </a:p>
          <a:p>
            <a:pPr algn="l">
              <a:lnSpc>
                <a:spcPct val="126000"/>
              </a:lnSpc>
              <a:spcAft>
                <a:spcPts val="450"/>
              </a:spcAft>
            </a:pPr>
            <a:r>
              <a:rPr sz="1050" b="0" dirty="0">
                <a:solidFill>
                  <a:srgbClr val="1E2227"/>
                </a:solidFill>
                <a:latin typeface="맑은 고딕"/>
                <a:ea typeface="맑은 고딕"/>
              </a:rPr>
              <a:t>•  </a:t>
            </a:r>
            <a:r>
              <a:rPr sz="1050" b="1" dirty="0" err="1">
                <a:solidFill>
                  <a:srgbClr val="1E2227"/>
                </a:solidFill>
                <a:latin typeface="맑은 고딕"/>
                <a:ea typeface="맑은 고딕"/>
              </a:rPr>
              <a:t>근거</a:t>
            </a:r>
            <a:r>
              <a:rPr sz="1050" b="1" dirty="0">
                <a:solidFill>
                  <a:srgbClr val="1E2227"/>
                </a:solidFill>
                <a:latin typeface="맑은 고딕"/>
                <a:ea typeface="맑은 고딕"/>
              </a:rPr>
              <a:t> </a:t>
            </a:r>
            <a:r>
              <a:rPr sz="1050" b="1" dirty="0" err="1">
                <a:solidFill>
                  <a:srgbClr val="1E2227"/>
                </a:solidFill>
                <a:latin typeface="맑은 고딕"/>
                <a:ea typeface="맑은 고딕"/>
              </a:rPr>
              <a:t>정확도가</a:t>
            </a:r>
            <a:r>
              <a:rPr sz="1050" b="1" dirty="0">
                <a:solidFill>
                  <a:srgbClr val="1E2227"/>
                </a:solidFill>
                <a:latin typeface="맑은 고딕"/>
                <a:ea typeface="맑은 고딕"/>
              </a:rPr>
              <a:t> </a:t>
            </a:r>
            <a:r>
              <a:rPr sz="1050" b="1" dirty="0" err="1">
                <a:solidFill>
                  <a:srgbClr val="1E2227"/>
                </a:solidFill>
                <a:latin typeface="맑은 고딕"/>
                <a:ea typeface="맑은 고딕"/>
              </a:rPr>
              <a:t>정답률보다</a:t>
            </a:r>
            <a:r>
              <a:rPr sz="1050" b="1" dirty="0">
                <a:solidFill>
                  <a:srgbClr val="1E2227"/>
                </a:solidFill>
                <a:latin typeface="맑은 고딕"/>
                <a:ea typeface="맑은 고딕"/>
              </a:rPr>
              <a:t> </a:t>
            </a:r>
            <a:r>
              <a:rPr sz="1050" b="1" dirty="0" err="1">
                <a:solidFill>
                  <a:srgbClr val="1E2227"/>
                </a:solidFill>
                <a:latin typeface="맑은 고딕"/>
                <a:ea typeface="맑은 고딕"/>
              </a:rPr>
              <a:t>더</a:t>
            </a:r>
            <a:r>
              <a:rPr sz="1050" b="1" dirty="0">
                <a:solidFill>
                  <a:srgbClr val="1E2227"/>
                </a:solidFill>
                <a:latin typeface="맑은 고딕"/>
                <a:ea typeface="맑은 고딕"/>
              </a:rPr>
              <a:t> </a:t>
            </a:r>
            <a:r>
              <a:rPr sz="1050" b="1" dirty="0" err="1">
                <a:solidFill>
                  <a:srgbClr val="1E2227"/>
                </a:solidFill>
                <a:latin typeface="맑은 고딕"/>
                <a:ea typeface="맑은 고딕"/>
              </a:rPr>
              <a:t>하락</a:t>
            </a:r>
            <a:r>
              <a:rPr sz="1050" b="0" dirty="0">
                <a:solidFill>
                  <a:srgbClr val="1E2227"/>
                </a:solidFill>
                <a:latin typeface="맑은 고딕"/>
                <a:ea typeface="맑은 고딕"/>
              </a:rPr>
              <a:t> → </a:t>
            </a:r>
            <a:r>
              <a:rPr sz="1050" b="0" dirty="0" err="1">
                <a:solidFill>
                  <a:srgbClr val="1E2227"/>
                </a:solidFill>
                <a:latin typeface="맑은 고딕"/>
                <a:ea typeface="맑은 고딕"/>
              </a:rPr>
              <a:t>정답만</a:t>
            </a:r>
            <a:r>
              <a:rPr sz="1050" b="0" dirty="0">
                <a:solidFill>
                  <a:srgbClr val="1E2227"/>
                </a:solidFill>
                <a:latin typeface="맑은 고딕"/>
                <a:ea typeface="맑은 고딕"/>
              </a:rPr>
              <a:t> </a:t>
            </a:r>
            <a:r>
              <a:rPr sz="1050" b="0" dirty="0" err="1">
                <a:solidFill>
                  <a:srgbClr val="1E2227"/>
                </a:solidFill>
                <a:latin typeface="맑은 고딕"/>
                <a:ea typeface="맑은 고딕"/>
              </a:rPr>
              <a:t>보면</a:t>
            </a:r>
            <a:r>
              <a:rPr sz="1050" b="0" dirty="0">
                <a:solidFill>
                  <a:srgbClr val="1E2227"/>
                </a:solidFill>
                <a:latin typeface="맑은 고딕"/>
                <a:ea typeface="맑은 고딕"/>
              </a:rPr>
              <a:t> </a:t>
            </a:r>
            <a:r>
              <a:rPr sz="1050" b="0" dirty="0" err="1">
                <a:solidFill>
                  <a:srgbClr val="1E2227"/>
                </a:solidFill>
                <a:latin typeface="맑은 고딕"/>
                <a:ea typeface="맑은 고딕"/>
              </a:rPr>
              <a:t>근거·시점</a:t>
            </a:r>
            <a:r>
              <a:rPr sz="1050" b="0" dirty="0">
                <a:solidFill>
                  <a:srgbClr val="1E2227"/>
                </a:solidFill>
                <a:latin typeface="맑은 고딕"/>
                <a:ea typeface="맑은 고딕"/>
              </a:rPr>
              <a:t> </a:t>
            </a:r>
            <a:r>
              <a:rPr sz="1050" b="0" dirty="0" err="1">
                <a:solidFill>
                  <a:srgbClr val="1E2227"/>
                </a:solidFill>
                <a:latin typeface="맑은 고딕"/>
                <a:ea typeface="맑은 고딕"/>
              </a:rPr>
              <a:t>실패가</a:t>
            </a:r>
            <a:r>
              <a:rPr sz="1050" b="0" dirty="0">
                <a:solidFill>
                  <a:srgbClr val="1E2227"/>
                </a:solidFill>
                <a:latin typeface="맑은 고딕"/>
                <a:ea typeface="맑은 고딕"/>
              </a:rPr>
              <a:t> </a:t>
            </a:r>
            <a:r>
              <a:rPr sz="1050" b="0" dirty="0" err="1">
                <a:solidFill>
                  <a:srgbClr val="1E2227"/>
                </a:solidFill>
                <a:latin typeface="맑은 고딕"/>
                <a:ea typeface="맑은 고딕"/>
              </a:rPr>
              <a:t>안</a:t>
            </a:r>
            <a:r>
              <a:rPr sz="1050" b="0" dirty="0">
                <a:solidFill>
                  <a:srgbClr val="1E2227"/>
                </a:solidFill>
                <a:latin typeface="맑은 고딕"/>
                <a:ea typeface="맑은 고딕"/>
              </a:rPr>
              <a:t> </a:t>
            </a:r>
            <a:r>
              <a:rPr sz="1050" b="0" dirty="0" err="1">
                <a:solidFill>
                  <a:srgbClr val="1E2227"/>
                </a:solidFill>
                <a:latin typeface="맑은 고딕"/>
                <a:ea typeface="맑은 고딕"/>
              </a:rPr>
              <a:t>보임</a:t>
            </a:r>
            <a:endParaRPr sz="1050" b="0" dirty="0">
              <a:solidFill>
                <a:srgbClr val="1E2227"/>
              </a:solidFill>
              <a:latin typeface="맑은 고딕"/>
              <a:ea typeface="맑은 고딕"/>
            </a:endParaRPr>
          </a:p>
        </p:txBody>
      </p:sp>
      <p:sp>
        <p:nvSpPr>
          <p:cNvPr id="10" name="Rectangle 9"/>
          <p:cNvSpPr/>
          <p:nvPr/>
        </p:nvSpPr>
        <p:spPr>
          <a:xfrm>
            <a:off x="6181344" y="1544320"/>
            <a:ext cx="5458968" cy="33020"/>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81344" y="1577339"/>
            <a:ext cx="5458968" cy="245414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pPr>
            <a:r>
              <a:rPr sz="1200" b="1" dirty="0">
                <a:solidFill>
                  <a:srgbClr val="273A52"/>
                </a:solidFill>
                <a:latin typeface="맑은 고딕"/>
                <a:ea typeface="맑은 고딕"/>
              </a:rPr>
              <a:t>V2 · </a:t>
            </a:r>
            <a:r>
              <a:rPr sz="1200" b="1" dirty="0" err="1">
                <a:solidFill>
                  <a:srgbClr val="273A52"/>
                </a:solidFill>
                <a:latin typeface="맑은 고딕"/>
                <a:ea typeface="맑은 고딕"/>
              </a:rPr>
              <a:t>인용</a:t>
            </a:r>
            <a:r>
              <a:rPr sz="1200" b="1" dirty="0">
                <a:solidFill>
                  <a:srgbClr val="273A52"/>
                </a:solidFill>
                <a:latin typeface="맑은 고딕"/>
                <a:ea typeface="맑은 고딕"/>
              </a:rPr>
              <a:t> </a:t>
            </a:r>
            <a:r>
              <a:rPr sz="1200" b="1" dirty="0" err="1">
                <a:solidFill>
                  <a:srgbClr val="273A52"/>
                </a:solidFill>
                <a:latin typeface="맑은 고딕"/>
                <a:ea typeface="맑은 고딕"/>
              </a:rPr>
              <a:t>평가</a:t>
            </a:r>
            <a:r>
              <a:rPr sz="1200" b="1" dirty="0">
                <a:solidFill>
                  <a:srgbClr val="273A52"/>
                </a:solidFill>
                <a:latin typeface="맑은 고딕"/>
                <a:ea typeface="맑은 고딕"/>
              </a:rPr>
              <a:t> </a:t>
            </a:r>
            <a:r>
              <a:rPr sz="1200" b="1" dirty="0" err="1">
                <a:solidFill>
                  <a:srgbClr val="273A52"/>
                </a:solidFill>
                <a:latin typeface="맑은 고딕"/>
                <a:ea typeface="맑은 고딕"/>
              </a:rPr>
              <a:t>맹점</a:t>
            </a:r>
            <a:r>
              <a:rPr sz="1200" b="1" dirty="0">
                <a:solidFill>
                  <a:srgbClr val="273A52"/>
                </a:solidFill>
                <a:latin typeface="맑은 고딕"/>
                <a:ea typeface="맑은 고딕"/>
              </a:rPr>
              <a:t> — "</a:t>
            </a:r>
            <a:r>
              <a:rPr sz="1200" b="1" dirty="0" err="1">
                <a:solidFill>
                  <a:srgbClr val="273A52"/>
                </a:solidFill>
                <a:latin typeface="맑은 고딕"/>
                <a:ea typeface="맑은 고딕"/>
              </a:rPr>
              <a:t>표준</a:t>
            </a:r>
            <a:r>
              <a:rPr sz="1200" b="1" dirty="0">
                <a:solidFill>
                  <a:srgbClr val="273A52"/>
                </a:solidFill>
                <a:latin typeface="맑은 고딕"/>
                <a:ea typeface="맑은 고딕"/>
              </a:rPr>
              <a:t> </a:t>
            </a:r>
            <a:r>
              <a:rPr sz="1200" b="1" dirty="0" err="1">
                <a:solidFill>
                  <a:srgbClr val="273A52"/>
                </a:solidFill>
                <a:latin typeface="맑은 고딕"/>
                <a:ea typeface="맑은 고딕"/>
              </a:rPr>
              <a:t>지표가</a:t>
            </a:r>
            <a:r>
              <a:rPr sz="1200" b="1" dirty="0">
                <a:solidFill>
                  <a:srgbClr val="273A52"/>
                </a:solidFill>
                <a:latin typeface="맑은 고딕"/>
                <a:ea typeface="맑은 고딕"/>
              </a:rPr>
              <a:t> </a:t>
            </a:r>
            <a:r>
              <a:rPr sz="1200" b="1" dirty="0" err="1">
                <a:solidFill>
                  <a:srgbClr val="273A52"/>
                </a:solidFill>
                <a:latin typeface="맑은 고딕"/>
                <a:ea typeface="맑은 고딕"/>
              </a:rPr>
              <a:t>틀린</a:t>
            </a:r>
            <a:r>
              <a:rPr sz="1200" b="1" dirty="0">
                <a:solidFill>
                  <a:srgbClr val="273A52"/>
                </a:solidFill>
                <a:latin typeface="맑은 고딕"/>
                <a:ea typeface="맑은 고딕"/>
              </a:rPr>
              <a:t> </a:t>
            </a:r>
            <a:r>
              <a:rPr sz="1200" b="1" dirty="0" err="1">
                <a:solidFill>
                  <a:srgbClr val="273A52"/>
                </a:solidFill>
                <a:latin typeface="맑은 고딕"/>
                <a:ea typeface="맑은 고딕"/>
              </a:rPr>
              <a:t>답을</a:t>
            </a:r>
            <a:r>
              <a:rPr sz="1200" b="1" dirty="0">
                <a:solidFill>
                  <a:srgbClr val="273A52"/>
                </a:solidFill>
                <a:latin typeface="맑은 고딕"/>
                <a:ea typeface="맑은 고딕"/>
              </a:rPr>
              <a:t> </a:t>
            </a:r>
            <a:r>
              <a:rPr sz="1200" b="1" dirty="0" err="1">
                <a:solidFill>
                  <a:srgbClr val="273A52"/>
                </a:solidFill>
                <a:latin typeface="맑은 고딕"/>
                <a:ea typeface="맑은 고딕"/>
              </a:rPr>
              <a:t>걸러내나</a:t>
            </a:r>
            <a:r>
              <a:rPr sz="1200" b="1" dirty="0">
                <a:solidFill>
                  <a:srgbClr val="273A52"/>
                </a:solidFill>
                <a:latin typeface="맑은 고딕"/>
                <a:ea typeface="맑은 고딕"/>
              </a:rPr>
              <a:t>?"</a:t>
            </a:r>
          </a:p>
          <a:p>
            <a:pPr algn="l">
              <a:lnSpc>
                <a:spcPct val="126000"/>
              </a:lnSpc>
              <a:spcAft>
                <a:spcPts val="450"/>
              </a:spcAft>
            </a:pPr>
            <a:r>
              <a:rPr sz="1100" b="1" dirty="0" err="1">
                <a:solidFill>
                  <a:srgbClr val="273A52"/>
                </a:solidFill>
                <a:latin typeface="맑은 고딕"/>
                <a:ea typeface="맑은 고딕"/>
              </a:rPr>
              <a:t>실험</a:t>
            </a:r>
            <a:r>
              <a:rPr sz="1100" b="1" dirty="0">
                <a:solidFill>
                  <a:srgbClr val="273A52"/>
                </a:solidFill>
                <a:latin typeface="맑은 고딕"/>
                <a:ea typeface="맑은 고딕"/>
              </a:rPr>
              <a:t> </a:t>
            </a:r>
            <a:r>
              <a:rPr sz="1100" b="1" dirty="0" err="1">
                <a:solidFill>
                  <a:srgbClr val="273A52"/>
                </a:solidFill>
                <a:latin typeface="맑은 고딕"/>
                <a:ea typeface="맑은 고딕"/>
              </a:rPr>
              <a:t>환경</a:t>
            </a:r>
            <a:endParaRPr sz="1100" b="1" dirty="0">
              <a:solidFill>
                <a:srgbClr val="273A52"/>
              </a:solidFill>
              <a:latin typeface="맑은 고딕"/>
              <a:ea typeface="맑은 고딕"/>
            </a:endParaRPr>
          </a:p>
          <a:p>
            <a:pPr algn="l">
              <a:lnSpc>
                <a:spcPct val="126000"/>
              </a:lnSpc>
              <a:spcAft>
                <a:spcPts val="450"/>
              </a:spcAft>
            </a:pPr>
            <a:r>
              <a:rPr sz="1050" b="1" dirty="0">
                <a:solidFill>
                  <a:srgbClr val="273A52"/>
                </a:solidFill>
                <a:latin typeface="맑은 고딕"/>
                <a:ea typeface="맑은 고딕"/>
              </a:rPr>
              <a:t>•  </a:t>
            </a:r>
            <a:r>
              <a:rPr sz="1050" b="1" dirty="0" err="1">
                <a:solidFill>
                  <a:srgbClr val="273A52"/>
                </a:solidFill>
                <a:latin typeface="맑은 고딕"/>
                <a:ea typeface="맑은 고딕"/>
              </a:rPr>
              <a:t>모델</a:t>
            </a:r>
            <a:r>
              <a:rPr sz="1050" b="1" dirty="0">
                <a:solidFill>
                  <a:srgbClr val="273A52"/>
                </a:solidFill>
                <a:latin typeface="맑은 고딕"/>
                <a:ea typeface="맑은 고딕"/>
              </a:rPr>
              <a:t>  </a:t>
            </a:r>
            <a:r>
              <a:rPr sz="1050" b="0" dirty="0">
                <a:solidFill>
                  <a:srgbClr val="1E2227"/>
                </a:solidFill>
                <a:latin typeface="맑은 고딕"/>
                <a:ea typeface="맑은 고딕"/>
              </a:rPr>
              <a:t>GPT-5.5 · Gemini 3.1 Pro · Qwen3-32B · Qwen3-8B · Mistral-24B (5종)</a:t>
            </a:r>
          </a:p>
          <a:p>
            <a:pPr algn="l">
              <a:lnSpc>
                <a:spcPct val="126000"/>
              </a:lnSpc>
              <a:spcAft>
                <a:spcPts val="450"/>
              </a:spcAft>
            </a:pPr>
            <a:r>
              <a:rPr sz="1050" b="1" dirty="0">
                <a:solidFill>
                  <a:srgbClr val="273A52"/>
                </a:solidFill>
                <a:latin typeface="맑은 고딕"/>
                <a:ea typeface="맑은 고딕"/>
              </a:rPr>
              <a:t>•  </a:t>
            </a:r>
            <a:r>
              <a:rPr sz="1050" b="1" dirty="0" err="1">
                <a:solidFill>
                  <a:srgbClr val="273A52"/>
                </a:solidFill>
                <a:latin typeface="맑은 고딕"/>
                <a:ea typeface="맑은 고딕"/>
              </a:rPr>
              <a:t>데이터</a:t>
            </a:r>
            <a:r>
              <a:rPr sz="1050" b="1" dirty="0">
                <a:solidFill>
                  <a:srgbClr val="273A52"/>
                </a:solidFill>
                <a:latin typeface="맑은 고딕"/>
                <a:ea typeface="맑은 고딕"/>
              </a:rPr>
              <a:t>  </a:t>
            </a:r>
            <a:r>
              <a:rPr sz="1050" b="0" dirty="0" err="1">
                <a:solidFill>
                  <a:srgbClr val="1E2227"/>
                </a:solidFill>
                <a:latin typeface="맑은 고딕"/>
                <a:ea typeface="맑은 고딕"/>
              </a:rPr>
              <a:t>HoH</a:t>
            </a:r>
            <a:r>
              <a:rPr sz="1050" b="0" dirty="0">
                <a:solidFill>
                  <a:srgbClr val="1E2227"/>
                </a:solidFill>
                <a:latin typeface="맑은 고딕"/>
                <a:ea typeface="맑은 고딕"/>
              </a:rPr>
              <a:t> </a:t>
            </a:r>
            <a:r>
              <a:rPr sz="1050" b="0" dirty="0" err="1">
                <a:solidFill>
                  <a:srgbClr val="1E2227"/>
                </a:solidFill>
                <a:latin typeface="맑은 고딕"/>
                <a:ea typeface="맑은 고딕"/>
              </a:rPr>
              <a:t>통제</a:t>
            </a:r>
            <a:r>
              <a:rPr sz="1050" b="0" dirty="0">
                <a:solidFill>
                  <a:srgbClr val="1E2227"/>
                </a:solidFill>
                <a:latin typeface="맑은 고딕"/>
                <a:ea typeface="맑은 고딕"/>
              </a:rPr>
              <a:t> 219건 + </a:t>
            </a:r>
            <a:r>
              <a:rPr sz="1050" b="0" dirty="0" err="1">
                <a:solidFill>
                  <a:srgbClr val="1E2227"/>
                </a:solidFill>
                <a:latin typeface="맑은 고딕"/>
                <a:ea typeface="맑은 고딕"/>
              </a:rPr>
              <a:t>실제</a:t>
            </a:r>
            <a:r>
              <a:rPr sz="1050" b="0" dirty="0">
                <a:solidFill>
                  <a:srgbClr val="1E2227"/>
                </a:solidFill>
                <a:latin typeface="맑은 고딕"/>
                <a:ea typeface="맑은 고딕"/>
              </a:rPr>
              <a:t> </a:t>
            </a:r>
            <a:r>
              <a:rPr sz="1050" b="0" dirty="0" err="1">
                <a:solidFill>
                  <a:srgbClr val="1E2227"/>
                </a:solidFill>
                <a:latin typeface="맑은 고딕"/>
                <a:ea typeface="맑은 고딕"/>
              </a:rPr>
              <a:t>웹</a:t>
            </a:r>
            <a:r>
              <a:rPr sz="1050" b="0" dirty="0">
                <a:solidFill>
                  <a:srgbClr val="1E2227"/>
                </a:solidFill>
                <a:latin typeface="맑은 고딕"/>
                <a:ea typeface="맑은 고딕"/>
              </a:rPr>
              <a:t> </a:t>
            </a:r>
            <a:r>
              <a:rPr sz="1050" b="0" dirty="0" err="1">
                <a:solidFill>
                  <a:srgbClr val="1E2227"/>
                </a:solidFill>
                <a:latin typeface="맑은 고딕"/>
                <a:ea typeface="맑은 고딕"/>
              </a:rPr>
              <a:t>rag_conflicts</a:t>
            </a:r>
            <a:r>
              <a:rPr sz="1050" b="0" dirty="0">
                <a:solidFill>
                  <a:srgbClr val="1E2227"/>
                </a:solidFill>
                <a:latin typeface="맑은 고딕"/>
                <a:ea typeface="맑은 고딕"/>
              </a:rPr>
              <a:t> 51건</a:t>
            </a:r>
          </a:p>
          <a:p>
            <a:pPr algn="l">
              <a:lnSpc>
                <a:spcPct val="126000"/>
              </a:lnSpc>
              <a:spcAft>
                <a:spcPts val="450"/>
              </a:spcAft>
            </a:pPr>
            <a:r>
              <a:rPr sz="1050" b="1" dirty="0">
                <a:solidFill>
                  <a:srgbClr val="273A52"/>
                </a:solidFill>
                <a:latin typeface="맑은 고딕"/>
                <a:ea typeface="맑은 고딕"/>
              </a:rPr>
              <a:t>•  </a:t>
            </a:r>
            <a:r>
              <a:rPr sz="1050" b="1" dirty="0" err="1">
                <a:solidFill>
                  <a:srgbClr val="273A52"/>
                </a:solidFill>
                <a:latin typeface="맑은 고딕"/>
                <a:ea typeface="맑은 고딕"/>
              </a:rPr>
              <a:t>지표</a:t>
            </a:r>
            <a:r>
              <a:rPr sz="1050" b="1" dirty="0">
                <a:solidFill>
                  <a:srgbClr val="273A52"/>
                </a:solidFill>
                <a:latin typeface="맑은 고딕"/>
                <a:ea typeface="맑은 고딕"/>
              </a:rPr>
              <a:t>  </a:t>
            </a:r>
            <a:r>
              <a:rPr sz="1050" b="0" dirty="0" err="1">
                <a:solidFill>
                  <a:srgbClr val="1E2227"/>
                </a:solidFill>
                <a:latin typeface="맑은 고딕"/>
                <a:ea typeface="맑은 고딕"/>
              </a:rPr>
              <a:t>인용</a:t>
            </a:r>
            <a:r>
              <a:rPr sz="1050" b="0" dirty="0">
                <a:solidFill>
                  <a:srgbClr val="1E2227"/>
                </a:solidFill>
                <a:latin typeface="맑은 고딕"/>
                <a:ea typeface="맑은 고딕"/>
              </a:rPr>
              <a:t> </a:t>
            </a:r>
            <a:r>
              <a:rPr sz="1050" b="0" dirty="0" err="1">
                <a:solidFill>
                  <a:srgbClr val="1E2227"/>
                </a:solidFill>
                <a:latin typeface="맑은 고딕"/>
                <a:ea typeface="맑은 고딕"/>
              </a:rPr>
              <a:t>통과율</a:t>
            </a:r>
            <a:r>
              <a:rPr sz="1050" b="0" dirty="0">
                <a:solidFill>
                  <a:srgbClr val="1E2227"/>
                </a:solidFill>
                <a:latin typeface="맑은 고딕"/>
                <a:ea typeface="맑은 고딕"/>
              </a:rPr>
              <a:t> = </a:t>
            </a:r>
            <a:r>
              <a:rPr sz="1050" b="0" dirty="0" err="1">
                <a:solidFill>
                  <a:srgbClr val="1E2227"/>
                </a:solidFill>
                <a:latin typeface="맑은 고딕"/>
                <a:ea typeface="맑은 고딕"/>
              </a:rPr>
              <a:t>틀린</a:t>
            </a:r>
            <a:r>
              <a:rPr sz="1050" b="0" dirty="0">
                <a:solidFill>
                  <a:srgbClr val="1E2227"/>
                </a:solidFill>
                <a:latin typeface="맑은 고딕"/>
                <a:ea typeface="맑은 고딕"/>
              </a:rPr>
              <a:t> </a:t>
            </a:r>
            <a:r>
              <a:rPr sz="1050" b="0" dirty="0" err="1">
                <a:solidFill>
                  <a:srgbClr val="1E2227"/>
                </a:solidFill>
                <a:latin typeface="맑은 고딕"/>
                <a:ea typeface="맑은 고딕"/>
              </a:rPr>
              <a:t>답인데</a:t>
            </a:r>
            <a:r>
              <a:rPr sz="1050" b="0" dirty="0">
                <a:solidFill>
                  <a:srgbClr val="1E2227"/>
                </a:solidFill>
                <a:latin typeface="맑은 고딕"/>
                <a:ea typeface="맑은 고딕"/>
              </a:rPr>
              <a:t> </a:t>
            </a:r>
            <a:r>
              <a:rPr sz="1050" b="0" dirty="0" err="1">
                <a:solidFill>
                  <a:srgbClr val="1E2227"/>
                </a:solidFill>
                <a:latin typeface="맑은 고딕"/>
                <a:ea typeface="맑은 고딕"/>
              </a:rPr>
              <a:t>표준</a:t>
            </a:r>
            <a:r>
              <a:rPr sz="1050" b="0" dirty="0">
                <a:solidFill>
                  <a:srgbClr val="1E2227"/>
                </a:solidFill>
                <a:latin typeface="맑은 고딕"/>
                <a:ea typeface="맑은 고딕"/>
              </a:rPr>
              <a:t> </a:t>
            </a:r>
            <a:r>
              <a:rPr sz="1050" b="0" dirty="0" err="1">
                <a:solidFill>
                  <a:srgbClr val="1E2227"/>
                </a:solidFill>
                <a:latin typeface="맑은 고딕"/>
                <a:ea typeface="맑은 고딕"/>
              </a:rPr>
              <a:t>인용지표</a:t>
            </a:r>
            <a:r>
              <a:rPr sz="1050" b="0" dirty="0">
                <a:solidFill>
                  <a:srgbClr val="1E2227"/>
                </a:solidFill>
                <a:latin typeface="맑은 고딕"/>
                <a:ea typeface="맑은 고딕"/>
              </a:rPr>
              <a:t>(</a:t>
            </a:r>
            <a:r>
              <a:rPr sz="1050" b="0" dirty="0" err="1">
                <a:solidFill>
                  <a:srgbClr val="1E2227"/>
                </a:solidFill>
                <a:latin typeface="맑은 고딕"/>
                <a:ea typeface="맑은 고딕"/>
              </a:rPr>
              <a:t>CitePrec</a:t>
            </a:r>
            <a:r>
              <a:rPr sz="1050" b="0" dirty="0">
                <a:solidFill>
                  <a:srgbClr val="1E2227"/>
                </a:solidFill>
                <a:latin typeface="맑은 고딕"/>
                <a:ea typeface="맑은 고딕"/>
              </a:rPr>
              <a:t>)</a:t>
            </a:r>
            <a:r>
              <a:rPr sz="1050" b="0" dirty="0" err="1">
                <a:solidFill>
                  <a:srgbClr val="1E2227"/>
                </a:solidFill>
                <a:latin typeface="맑은 고딕"/>
                <a:ea typeface="맑은 고딕"/>
              </a:rPr>
              <a:t>가</a:t>
            </a:r>
            <a:r>
              <a:rPr sz="1050" b="0" dirty="0">
                <a:solidFill>
                  <a:srgbClr val="1E2227"/>
                </a:solidFill>
                <a:latin typeface="맑은 고딕"/>
                <a:ea typeface="맑은 고딕"/>
              </a:rPr>
              <a:t> </a:t>
            </a:r>
            <a:r>
              <a:rPr sz="1050" b="0" dirty="0" err="1">
                <a:solidFill>
                  <a:srgbClr val="1E2227"/>
                </a:solidFill>
                <a:latin typeface="맑은 고딕"/>
                <a:ea typeface="맑은 고딕"/>
              </a:rPr>
              <a:t>통과시킨</a:t>
            </a:r>
            <a:r>
              <a:rPr sz="1050" b="0" dirty="0">
                <a:solidFill>
                  <a:srgbClr val="1E2227"/>
                </a:solidFill>
                <a:latin typeface="맑은 고딕"/>
                <a:ea typeface="맑은 고딕"/>
              </a:rPr>
              <a:t> </a:t>
            </a:r>
            <a:r>
              <a:rPr sz="1050" b="0" dirty="0" err="1">
                <a:solidFill>
                  <a:srgbClr val="1E2227"/>
                </a:solidFill>
                <a:latin typeface="맑은 고딕"/>
                <a:ea typeface="맑은 고딕"/>
              </a:rPr>
              <a:t>비율</a:t>
            </a:r>
            <a:endParaRPr sz="1050" b="0" dirty="0">
              <a:solidFill>
                <a:srgbClr val="1E2227"/>
              </a:solidFill>
              <a:latin typeface="맑은 고딕"/>
              <a:ea typeface="맑은 고딕"/>
            </a:endParaRPr>
          </a:p>
          <a:p>
            <a:pPr algn="l">
              <a:lnSpc>
                <a:spcPct val="126000"/>
              </a:lnSpc>
              <a:spcAft>
                <a:spcPts val="450"/>
              </a:spcAft>
            </a:pPr>
            <a:r>
              <a:rPr sz="1100" b="1" dirty="0" err="1">
                <a:solidFill>
                  <a:srgbClr val="273A52"/>
                </a:solidFill>
                <a:latin typeface="맑은 고딕"/>
                <a:ea typeface="맑은 고딕"/>
              </a:rPr>
              <a:t>결과</a:t>
            </a:r>
            <a:endParaRPr sz="1100" b="1" dirty="0">
              <a:solidFill>
                <a:srgbClr val="273A52"/>
              </a:solidFill>
              <a:latin typeface="맑은 고딕"/>
              <a:ea typeface="맑은 고딕"/>
            </a:endParaRPr>
          </a:p>
          <a:p>
            <a:pPr algn="l">
              <a:lnSpc>
                <a:spcPct val="126000"/>
              </a:lnSpc>
              <a:spcAft>
                <a:spcPts val="450"/>
              </a:spcAft>
            </a:pPr>
            <a:r>
              <a:rPr sz="1050" b="0" dirty="0">
                <a:solidFill>
                  <a:srgbClr val="1E2227"/>
                </a:solidFill>
                <a:latin typeface="맑은 고딕"/>
                <a:ea typeface="맑은 고딕"/>
              </a:rPr>
              <a:t>•  </a:t>
            </a:r>
            <a:r>
              <a:rPr sz="1050" b="0" dirty="0" err="1">
                <a:solidFill>
                  <a:srgbClr val="1E2227"/>
                </a:solidFill>
                <a:latin typeface="맑은 고딕"/>
                <a:ea typeface="맑은 고딕"/>
              </a:rPr>
              <a:t>틀린</a:t>
            </a:r>
            <a:r>
              <a:rPr sz="1050" b="0" dirty="0">
                <a:solidFill>
                  <a:srgbClr val="1E2227"/>
                </a:solidFill>
                <a:latin typeface="맑은 고딕"/>
                <a:ea typeface="맑은 고딕"/>
              </a:rPr>
              <a:t> </a:t>
            </a:r>
            <a:r>
              <a:rPr sz="1050" b="0" dirty="0" err="1">
                <a:solidFill>
                  <a:srgbClr val="1E2227"/>
                </a:solidFill>
                <a:latin typeface="맑은 고딕"/>
                <a:ea typeface="맑은 고딕"/>
              </a:rPr>
              <a:t>답의</a:t>
            </a:r>
            <a:r>
              <a:rPr sz="1050" b="0" dirty="0">
                <a:solidFill>
                  <a:srgbClr val="1E2227"/>
                </a:solidFill>
                <a:latin typeface="맑은 고딕"/>
                <a:ea typeface="맑은 고딕"/>
              </a:rPr>
              <a:t> </a:t>
            </a:r>
            <a:r>
              <a:rPr sz="1050" b="1" dirty="0">
                <a:solidFill>
                  <a:srgbClr val="1E2227"/>
                </a:solidFill>
                <a:latin typeface="맑은 고딕"/>
                <a:ea typeface="맑은 고딕"/>
              </a:rPr>
              <a:t>81~100%를 </a:t>
            </a:r>
            <a:r>
              <a:rPr sz="1050" b="1" dirty="0" err="1">
                <a:solidFill>
                  <a:srgbClr val="1E2227"/>
                </a:solidFill>
                <a:latin typeface="맑은 고딕"/>
                <a:ea typeface="맑은 고딕"/>
              </a:rPr>
              <a:t>인용지표가</a:t>
            </a:r>
            <a:r>
              <a:rPr sz="1050" b="1" dirty="0">
                <a:solidFill>
                  <a:srgbClr val="1E2227"/>
                </a:solidFill>
                <a:latin typeface="맑은 고딕"/>
                <a:ea typeface="맑은 고딕"/>
              </a:rPr>
              <a:t> '</a:t>
            </a:r>
            <a:r>
              <a:rPr sz="1050" b="1" dirty="0" err="1">
                <a:solidFill>
                  <a:srgbClr val="1E2227"/>
                </a:solidFill>
                <a:latin typeface="맑은 고딕"/>
                <a:ea typeface="맑은 고딕"/>
              </a:rPr>
              <a:t>정상</a:t>
            </a:r>
            <a:r>
              <a:rPr sz="1050" b="1" dirty="0">
                <a:solidFill>
                  <a:srgbClr val="1E2227"/>
                </a:solidFill>
                <a:latin typeface="맑은 고딕"/>
                <a:ea typeface="맑은 고딕"/>
              </a:rPr>
              <a:t> </a:t>
            </a:r>
            <a:r>
              <a:rPr sz="1050" b="1" dirty="0" err="1">
                <a:solidFill>
                  <a:srgbClr val="1E2227"/>
                </a:solidFill>
                <a:latin typeface="맑은 고딕"/>
                <a:ea typeface="맑은 고딕"/>
              </a:rPr>
              <a:t>인용'으로</a:t>
            </a:r>
            <a:r>
              <a:rPr sz="1050" b="1" dirty="0">
                <a:solidFill>
                  <a:srgbClr val="1E2227"/>
                </a:solidFill>
                <a:latin typeface="맑은 고딕"/>
                <a:ea typeface="맑은 고딕"/>
              </a:rPr>
              <a:t> </a:t>
            </a:r>
            <a:r>
              <a:rPr sz="1050" b="1" dirty="0" err="1">
                <a:solidFill>
                  <a:srgbClr val="1E2227"/>
                </a:solidFill>
                <a:latin typeface="맑은 고딕"/>
                <a:ea typeface="맑은 고딕"/>
              </a:rPr>
              <a:t>통과</a:t>
            </a:r>
            <a:r>
              <a:rPr sz="1050" b="0" dirty="0">
                <a:solidFill>
                  <a:srgbClr val="1E2227"/>
                </a:solidFill>
                <a:latin typeface="맑은 고딕"/>
                <a:ea typeface="맑은 고딕"/>
              </a:rPr>
              <a:t> (</a:t>
            </a:r>
            <a:r>
              <a:rPr sz="1050" b="0" dirty="0" err="1">
                <a:solidFill>
                  <a:srgbClr val="1E2227"/>
                </a:solidFill>
                <a:latin typeface="맑은 고딕"/>
                <a:ea typeface="맑은 고딕"/>
              </a:rPr>
              <a:t>GPT조차</a:t>
            </a:r>
            <a:r>
              <a:rPr sz="1050" b="0" dirty="0">
                <a:solidFill>
                  <a:srgbClr val="1E2227"/>
                </a:solidFill>
                <a:latin typeface="맑은 고딕"/>
                <a:ea typeface="맑은 고딕"/>
              </a:rPr>
              <a:t> 100%)</a:t>
            </a:r>
          </a:p>
          <a:p>
            <a:pPr algn="l">
              <a:lnSpc>
                <a:spcPct val="126000"/>
              </a:lnSpc>
              <a:spcAft>
                <a:spcPts val="450"/>
              </a:spcAft>
            </a:pPr>
            <a:r>
              <a:rPr sz="1050" b="0" dirty="0">
                <a:solidFill>
                  <a:srgbClr val="1E2227"/>
                </a:solidFill>
                <a:latin typeface="맑은 고딕"/>
                <a:ea typeface="맑은 고딕"/>
              </a:rPr>
              <a:t>•  </a:t>
            </a:r>
            <a:r>
              <a:rPr sz="1050" b="1" dirty="0">
                <a:solidFill>
                  <a:srgbClr val="1E2227"/>
                </a:solidFill>
                <a:latin typeface="맑은 고딕"/>
                <a:ea typeface="맑은 고딕"/>
              </a:rPr>
              <a:t>faithful-wrong 59~76%</a:t>
            </a:r>
            <a:r>
              <a:rPr sz="1050" b="0" dirty="0">
                <a:solidFill>
                  <a:srgbClr val="1E2227"/>
                </a:solidFill>
                <a:latin typeface="맑은 고딕"/>
                <a:ea typeface="맑은 고딕"/>
              </a:rPr>
              <a:t>: </a:t>
            </a:r>
            <a:r>
              <a:rPr sz="1050" b="0" dirty="0" err="1">
                <a:solidFill>
                  <a:srgbClr val="1E2227"/>
                </a:solidFill>
                <a:latin typeface="맑은 고딕"/>
                <a:ea typeface="맑은 고딕"/>
              </a:rPr>
              <a:t>문서</a:t>
            </a:r>
            <a:r>
              <a:rPr sz="1050" b="0" dirty="0">
                <a:solidFill>
                  <a:srgbClr val="1E2227"/>
                </a:solidFill>
                <a:latin typeface="맑은 고딕"/>
                <a:ea typeface="맑은 고딕"/>
              </a:rPr>
              <a:t> </a:t>
            </a:r>
            <a:r>
              <a:rPr sz="1050" b="0" dirty="0" err="1">
                <a:solidFill>
                  <a:srgbClr val="1E2227"/>
                </a:solidFill>
                <a:latin typeface="맑은 고딕"/>
                <a:ea typeface="맑은 고딕"/>
              </a:rPr>
              <a:t>빼면</a:t>
            </a:r>
            <a:r>
              <a:rPr sz="1050" b="0" dirty="0">
                <a:solidFill>
                  <a:srgbClr val="1E2227"/>
                </a:solidFill>
                <a:latin typeface="맑은 고딕"/>
                <a:ea typeface="맑은 고딕"/>
              </a:rPr>
              <a:t> </a:t>
            </a:r>
            <a:r>
              <a:rPr sz="1050" b="0" dirty="0" err="1">
                <a:solidFill>
                  <a:srgbClr val="1E2227"/>
                </a:solidFill>
                <a:latin typeface="맑은 고딕"/>
                <a:ea typeface="맑은 고딕"/>
              </a:rPr>
              <a:t>답</a:t>
            </a:r>
            <a:r>
              <a:rPr sz="1050" b="0" dirty="0">
                <a:solidFill>
                  <a:srgbClr val="1E2227"/>
                </a:solidFill>
                <a:latin typeface="맑은 고딕"/>
                <a:ea typeface="맑은 고딕"/>
              </a:rPr>
              <a:t> </a:t>
            </a:r>
            <a:r>
              <a:rPr sz="1050" b="0" dirty="0" err="1">
                <a:solidFill>
                  <a:srgbClr val="1E2227"/>
                </a:solidFill>
                <a:latin typeface="맑은 고딕"/>
                <a:ea typeface="맑은 고딕"/>
              </a:rPr>
              <a:t>바뀜</a:t>
            </a:r>
            <a:r>
              <a:rPr sz="1050" b="0" dirty="0">
                <a:solidFill>
                  <a:srgbClr val="1E2227"/>
                </a:solidFill>
                <a:latin typeface="맑은 고딕"/>
                <a:ea typeface="맑은 고딕"/>
              </a:rPr>
              <a:t> = </a:t>
            </a:r>
            <a:r>
              <a:rPr sz="1050" b="0" dirty="0" err="1">
                <a:solidFill>
                  <a:srgbClr val="1E2227"/>
                </a:solidFill>
                <a:latin typeface="맑은 고딕"/>
                <a:ea typeface="맑은 고딕"/>
              </a:rPr>
              <a:t>진짜</a:t>
            </a:r>
            <a:r>
              <a:rPr sz="1050" b="0" dirty="0">
                <a:solidFill>
                  <a:srgbClr val="1E2227"/>
                </a:solidFill>
                <a:latin typeface="맑은 고딕"/>
                <a:ea typeface="맑은 고딕"/>
              </a:rPr>
              <a:t> </a:t>
            </a:r>
            <a:r>
              <a:rPr sz="1050" b="0" dirty="0" err="1">
                <a:solidFill>
                  <a:srgbClr val="1E2227"/>
                </a:solidFill>
                <a:latin typeface="맑은 고딕"/>
                <a:ea typeface="맑은 고딕"/>
              </a:rPr>
              <a:t>그</a:t>
            </a:r>
            <a:r>
              <a:rPr sz="1050" b="0" dirty="0">
                <a:solidFill>
                  <a:srgbClr val="1E2227"/>
                </a:solidFill>
                <a:latin typeface="맑은 고딕"/>
                <a:ea typeface="맑은 고딕"/>
              </a:rPr>
              <a:t> </a:t>
            </a:r>
            <a:r>
              <a:rPr sz="1050" b="0" dirty="0" err="1">
                <a:solidFill>
                  <a:srgbClr val="1E2227"/>
                </a:solidFill>
                <a:latin typeface="맑은 고딕"/>
                <a:ea typeface="맑은 고딕"/>
              </a:rPr>
              <a:t>문서</a:t>
            </a:r>
            <a:r>
              <a:rPr sz="1050" b="0" dirty="0">
                <a:solidFill>
                  <a:srgbClr val="1E2227"/>
                </a:solidFill>
                <a:latin typeface="맑은 고딕"/>
                <a:ea typeface="맑은 고딕"/>
              </a:rPr>
              <a:t> </a:t>
            </a:r>
            <a:r>
              <a:rPr sz="1050" b="0" dirty="0" err="1">
                <a:solidFill>
                  <a:srgbClr val="1E2227"/>
                </a:solidFill>
                <a:latin typeface="맑은 고딕"/>
                <a:ea typeface="맑은 고딕"/>
              </a:rPr>
              <a:t>보고</a:t>
            </a:r>
            <a:r>
              <a:rPr sz="1050" b="0" dirty="0">
                <a:solidFill>
                  <a:srgbClr val="1E2227"/>
                </a:solidFill>
                <a:latin typeface="맑은 고딕"/>
                <a:ea typeface="맑은 고딕"/>
              </a:rPr>
              <a:t> </a:t>
            </a:r>
            <a:r>
              <a:rPr sz="1050" b="0" dirty="0" err="1">
                <a:solidFill>
                  <a:srgbClr val="1E2227"/>
                </a:solidFill>
                <a:latin typeface="맑은 고딕"/>
                <a:ea typeface="맑은 고딕"/>
              </a:rPr>
              <a:t>틀림</a:t>
            </a:r>
            <a:endParaRPr sz="1050" b="0" dirty="0">
              <a:solidFill>
                <a:srgbClr val="1E2227"/>
              </a:solidFill>
              <a:latin typeface="맑은 고딕"/>
              <a:ea typeface="맑은 고딕"/>
            </a:endParaRPr>
          </a:p>
        </p:txBody>
      </p:sp>
      <p:sp>
        <p:nvSpPr>
          <p:cNvPr id="12" name="TextBox 11"/>
          <p:cNvSpPr txBox="1"/>
          <p:nvPr/>
        </p:nvSpPr>
        <p:spPr>
          <a:xfrm>
            <a:off x="548640" y="4223066"/>
            <a:ext cx="11091672" cy="311752"/>
          </a:xfrm>
          <a:prstGeom prst="rect">
            <a:avLst/>
          </a:prstGeom>
          <a:noFill/>
        </p:spPr>
        <p:txBody>
          <a:bodyPr wrap="square" lIns="91440" tIns="45720" rIns="91440" bIns="45720" anchor="ctr" anchorCtr="0">
            <a:spAutoFit/>
          </a:bodyPr>
          <a:lstStyle/>
          <a:p>
            <a:pPr algn="l">
              <a:lnSpc>
                <a:spcPct val="122000"/>
              </a:lnSpc>
              <a:spcAft>
                <a:spcPts val="450"/>
              </a:spcAft>
            </a:pPr>
            <a:r>
              <a:rPr lang="ko-KR" sz="1300" b="1" dirty="0">
                <a:solidFill>
                  <a:srgbClr val="273A52"/>
                </a:solidFill>
                <a:latin typeface="맑은 고딕"/>
                <a:ea typeface="맑은 고딕"/>
              </a:rPr>
              <a:t>②  두 실험의 공통 발견     </a:t>
            </a:r>
            <a:r>
              <a:rPr lang="ko-KR" sz="1200" b="0" dirty="0">
                <a:solidFill>
                  <a:srgbClr val="6B7480"/>
                </a:solidFill>
                <a:latin typeface="맑은 고딕"/>
                <a:ea typeface="맑은 고딕"/>
              </a:rPr>
              <a:t>정답(EM)은 맞혔지만 근거</a:t>
            </a:r>
            <a:r>
              <a:rPr lang="ko-KR" altLang="en-US" sz="1200" b="0" dirty="0">
                <a:solidFill>
                  <a:srgbClr val="6B7480"/>
                </a:solidFill>
                <a:latin typeface="맑은 고딕"/>
                <a:ea typeface="맑은 고딕"/>
              </a:rPr>
              <a:t>를</a:t>
            </a:r>
            <a:r>
              <a:rPr lang="ko-KR" sz="1200" b="0" dirty="0">
                <a:solidFill>
                  <a:srgbClr val="6B7480"/>
                </a:solidFill>
                <a:latin typeface="맑은 고딕"/>
                <a:ea typeface="맑은 고딕"/>
              </a:rPr>
              <a:t> 제대로 짚지 못해, </a:t>
            </a:r>
            <a:r>
              <a:rPr lang="ko-KR" sz="1300" b="1" dirty="0">
                <a:solidFill>
                  <a:srgbClr val="273A52"/>
                </a:solidFill>
                <a:latin typeface="맑은 고딕"/>
                <a:ea typeface="맑은 고딕"/>
              </a:rPr>
              <a:t>답과 근거가 따로 놀았다</a:t>
            </a:r>
            <a:r>
              <a:rPr lang="ko-KR" sz="1200" b="0" dirty="0">
                <a:solidFill>
                  <a:srgbClr val="6B7480"/>
                </a:solidFill>
                <a:latin typeface="맑은 고딕"/>
                <a:ea typeface="맑은 고딕"/>
              </a:rPr>
              <a:t>  → '어디서·왜 틀렸나'를 진단해야</a:t>
            </a:r>
            <a:endParaRPr sz="1300" b="1" dirty="0">
              <a:solidFill>
                <a:srgbClr val="1E2227"/>
              </a:solidFill>
              <a:latin typeface="맑은 고딕"/>
              <a:ea typeface="맑은 고딕"/>
            </a:endParaRPr>
          </a:p>
        </p:txBody>
      </p:sp>
      <p:sp>
        <p:nvSpPr>
          <p:cNvPr id="13" name="TextBox 12"/>
          <p:cNvSpPr txBox="1"/>
          <p:nvPr/>
        </p:nvSpPr>
        <p:spPr>
          <a:xfrm>
            <a:off x="548640" y="4764992"/>
            <a:ext cx="11091672" cy="311752"/>
          </a:xfrm>
          <a:prstGeom prst="rect">
            <a:avLst/>
          </a:prstGeom>
          <a:noFill/>
        </p:spPr>
        <p:txBody>
          <a:bodyPr wrap="square" lIns="91440" tIns="45720" rIns="91440" bIns="45720" anchor="ctr" anchorCtr="0">
            <a:spAutoFit/>
          </a:bodyPr>
          <a:lstStyle/>
          <a:p>
            <a:pPr algn="l">
              <a:lnSpc>
                <a:spcPct val="122000"/>
              </a:lnSpc>
              <a:spcAft>
                <a:spcPts val="450"/>
              </a:spcAft>
            </a:pPr>
            <a:r>
              <a:rPr lang="ko-KR" sz="1300" b="1" dirty="0">
                <a:solidFill>
                  <a:srgbClr val="273A52"/>
                </a:solidFill>
                <a:latin typeface="맑은 고딕"/>
                <a:ea typeface="맑은 고딕"/>
              </a:rPr>
              <a:t>③ 그래서 ThinkConflict로 전환</a:t>
            </a:r>
            <a:r>
              <a:rPr lang="ko-KR" sz="1200" b="0" dirty="0">
                <a:solidFill>
                  <a:srgbClr val="6B7480"/>
                </a:solidFill>
                <a:latin typeface="맑은 고딕"/>
                <a:ea typeface="맑은 고딕"/>
              </a:rPr>
              <a:t>   — 관측 대상 · 충돌 범위 · 기여 수준을 전환</a:t>
            </a:r>
          </a:p>
        </p:txBody>
      </p:sp>
      <p:sp>
        <p:nvSpPr>
          <p:cNvPr id="14" name="Rectangle 13"/>
          <p:cNvSpPr/>
          <p:nvPr/>
        </p:nvSpPr>
        <p:spPr>
          <a:xfrm>
            <a:off x="548640" y="5110480"/>
            <a:ext cx="3584448" cy="33020"/>
          </a:xfrm>
          <a:prstGeom prst="rect">
            <a:avLst/>
          </a:prstGeom>
          <a:solidFill>
            <a:srgbClr val="1E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5143500"/>
            <a:ext cx="3584448" cy="106426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pPr>
            <a:r>
              <a:rPr sz="1200" b="1" dirty="0" err="1">
                <a:solidFill>
                  <a:srgbClr val="273A52"/>
                </a:solidFill>
                <a:latin typeface="맑은 고딕"/>
                <a:ea typeface="맑은 고딕"/>
              </a:rPr>
              <a:t>관측</a:t>
            </a:r>
            <a:r>
              <a:rPr sz="1200" b="1" dirty="0">
                <a:solidFill>
                  <a:srgbClr val="273A52"/>
                </a:solidFill>
                <a:latin typeface="맑은 고딕"/>
                <a:ea typeface="맑은 고딕"/>
              </a:rPr>
              <a:t> </a:t>
            </a:r>
            <a:r>
              <a:rPr sz="1200" b="1" dirty="0" err="1">
                <a:solidFill>
                  <a:srgbClr val="273A52"/>
                </a:solidFill>
                <a:latin typeface="맑은 고딕"/>
                <a:ea typeface="맑은 고딕"/>
              </a:rPr>
              <a:t>대상</a:t>
            </a:r>
            <a:endParaRPr sz="1200" b="1" dirty="0">
              <a:solidFill>
                <a:srgbClr val="273A52"/>
              </a:solidFill>
              <a:latin typeface="맑은 고딕"/>
              <a:ea typeface="맑은 고딕"/>
            </a:endParaRPr>
          </a:p>
          <a:p>
            <a:pPr algn="l">
              <a:lnSpc>
                <a:spcPct val="130000"/>
              </a:lnSpc>
              <a:spcAft>
                <a:spcPts val="300"/>
              </a:spcAft>
            </a:pPr>
            <a:r>
              <a:rPr sz="1100" b="0" dirty="0" err="1">
                <a:solidFill>
                  <a:srgbClr val="1E2227"/>
                </a:solidFill>
                <a:latin typeface="맑은 고딕"/>
                <a:ea typeface="맑은 고딕"/>
              </a:rPr>
              <a:t>표면적인</a:t>
            </a:r>
            <a:r>
              <a:rPr sz="1100" b="0" dirty="0">
                <a:solidFill>
                  <a:srgbClr val="1E2227"/>
                </a:solidFill>
                <a:latin typeface="맑은 고딕"/>
                <a:ea typeface="맑은 고딕"/>
              </a:rPr>
              <a:t> </a:t>
            </a:r>
            <a:r>
              <a:rPr sz="1100" b="0" dirty="0" err="1">
                <a:solidFill>
                  <a:srgbClr val="1E2227"/>
                </a:solidFill>
                <a:latin typeface="맑은 고딕"/>
                <a:ea typeface="맑은 고딕"/>
              </a:rPr>
              <a:t>인용</a:t>
            </a:r>
            <a:r>
              <a:rPr sz="1100" b="0" dirty="0">
                <a:solidFill>
                  <a:srgbClr val="1E2227"/>
                </a:solidFill>
                <a:latin typeface="맑은 고딕"/>
                <a:ea typeface="맑은 고딕"/>
              </a:rPr>
              <a:t> </a:t>
            </a:r>
            <a:r>
              <a:rPr sz="1100" b="0" dirty="0" err="1">
                <a:solidFill>
                  <a:srgbClr val="1E2227"/>
                </a:solidFill>
                <a:latin typeface="맑은 고딕"/>
                <a:ea typeface="맑은 고딕"/>
              </a:rPr>
              <a:t>지표만</a:t>
            </a:r>
            <a:r>
              <a:rPr sz="1100" b="0" dirty="0">
                <a:solidFill>
                  <a:srgbClr val="1E2227"/>
                </a:solidFill>
                <a:latin typeface="맑은 고딕"/>
                <a:ea typeface="맑은 고딕"/>
              </a:rPr>
              <a:t> </a:t>
            </a:r>
            <a:r>
              <a:rPr sz="1100" b="0" dirty="0" err="1">
                <a:solidFill>
                  <a:srgbClr val="1E2227"/>
                </a:solidFill>
                <a:latin typeface="맑은 고딕"/>
                <a:ea typeface="맑은 고딕"/>
              </a:rPr>
              <a:t>보던</a:t>
            </a:r>
            <a:r>
              <a:rPr sz="1100" b="0" dirty="0">
                <a:solidFill>
                  <a:srgbClr val="1E2227"/>
                </a:solidFill>
                <a:latin typeface="맑은 고딕"/>
                <a:ea typeface="맑은 고딕"/>
              </a:rPr>
              <a:t> </a:t>
            </a:r>
            <a:r>
              <a:rPr sz="1100" b="0" dirty="0" err="1">
                <a:solidFill>
                  <a:srgbClr val="1E2227"/>
                </a:solidFill>
                <a:latin typeface="맑은 고딕"/>
                <a:ea typeface="맑은 고딕"/>
              </a:rPr>
              <a:t>관점에서</a:t>
            </a:r>
            <a:r>
              <a:rPr sz="1100" b="0" dirty="0">
                <a:solidFill>
                  <a:srgbClr val="1E2227"/>
                </a:solidFill>
                <a:latin typeface="맑은 고딕"/>
                <a:ea typeface="맑은 고딕"/>
              </a:rPr>
              <a:t>, </a:t>
            </a:r>
            <a:r>
              <a:rPr sz="1100" b="1" dirty="0" err="1">
                <a:solidFill>
                  <a:srgbClr val="1E7A6F"/>
                </a:solidFill>
                <a:latin typeface="맑은 고딕"/>
                <a:ea typeface="맑은 고딕"/>
              </a:rPr>
              <a:t>추론</a:t>
            </a:r>
            <a:r>
              <a:rPr sz="1100" b="1" dirty="0">
                <a:solidFill>
                  <a:srgbClr val="1E7A6F"/>
                </a:solidFill>
                <a:latin typeface="맑은 고딕"/>
                <a:ea typeface="맑은 고딕"/>
              </a:rPr>
              <a:t> </a:t>
            </a:r>
            <a:r>
              <a:rPr sz="1100" b="1" dirty="0" err="1">
                <a:solidFill>
                  <a:srgbClr val="1E7A6F"/>
                </a:solidFill>
                <a:latin typeface="맑은 고딕"/>
                <a:ea typeface="맑은 고딕"/>
              </a:rPr>
              <a:t>궤적과</a:t>
            </a:r>
            <a:r>
              <a:rPr sz="1100" b="1" dirty="0">
                <a:solidFill>
                  <a:srgbClr val="1E7A6F"/>
                </a:solidFill>
                <a:latin typeface="맑은 고딕"/>
                <a:ea typeface="맑은 고딕"/>
              </a:rPr>
              <a:t> </a:t>
            </a:r>
            <a:r>
              <a:rPr sz="1100" b="1" dirty="0" err="1">
                <a:solidFill>
                  <a:srgbClr val="1E7A6F"/>
                </a:solidFill>
                <a:latin typeface="맑은 고딕"/>
                <a:ea typeface="맑은 고딕"/>
              </a:rPr>
              <a:t>답변을</a:t>
            </a:r>
            <a:r>
              <a:rPr sz="1100" b="1" dirty="0">
                <a:solidFill>
                  <a:srgbClr val="1E7A6F"/>
                </a:solidFill>
                <a:latin typeface="맑은 고딕"/>
                <a:ea typeface="맑은 고딕"/>
              </a:rPr>
              <a:t> </a:t>
            </a:r>
            <a:r>
              <a:rPr sz="1100" b="1" dirty="0" err="1">
                <a:solidFill>
                  <a:srgbClr val="1E7A6F"/>
                </a:solidFill>
                <a:latin typeface="맑은 고딕"/>
                <a:ea typeface="맑은 고딕"/>
              </a:rPr>
              <a:t>함께</a:t>
            </a:r>
            <a:r>
              <a:rPr sz="1100" b="1" dirty="0">
                <a:solidFill>
                  <a:srgbClr val="1E7A6F"/>
                </a:solidFill>
                <a:latin typeface="맑은 고딕"/>
                <a:ea typeface="맑은 고딕"/>
              </a:rPr>
              <a:t> </a:t>
            </a:r>
            <a:r>
              <a:rPr sz="1100" b="1" dirty="0" err="1">
                <a:solidFill>
                  <a:srgbClr val="1E7A6F"/>
                </a:solidFill>
                <a:latin typeface="맑은 고딕"/>
                <a:ea typeface="맑은 고딕"/>
              </a:rPr>
              <a:t>대조</a:t>
            </a:r>
            <a:r>
              <a:rPr sz="1100" b="0" dirty="0" err="1">
                <a:solidFill>
                  <a:srgbClr val="1E2227"/>
                </a:solidFill>
                <a:latin typeface="맑은 고딕"/>
                <a:ea typeface="맑은 고딕"/>
              </a:rPr>
              <a:t>하는</a:t>
            </a:r>
            <a:r>
              <a:rPr sz="1100" b="0" dirty="0">
                <a:solidFill>
                  <a:srgbClr val="1E2227"/>
                </a:solidFill>
                <a:latin typeface="맑은 고딕"/>
                <a:ea typeface="맑은 고딕"/>
              </a:rPr>
              <a:t> </a:t>
            </a:r>
            <a:r>
              <a:rPr sz="1100" b="0" dirty="0" err="1">
                <a:solidFill>
                  <a:srgbClr val="1E2227"/>
                </a:solidFill>
                <a:latin typeface="맑은 고딕"/>
                <a:ea typeface="맑은 고딕"/>
              </a:rPr>
              <a:t>쪽으로</a:t>
            </a:r>
            <a:r>
              <a:rPr sz="1100" b="0" dirty="0">
                <a:solidFill>
                  <a:srgbClr val="1E2227"/>
                </a:solidFill>
                <a:latin typeface="맑은 고딕"/>
                <a:ea typeface="맑은 고딕"/>
              </a:rPr>
              <a:t> </a:t>
            </a:r>
            <a:r>
              <a:rPr sz="1100" b="0" dirty="0" err="1">
                <a:solidFill>
                  <a:srgbClr val="1E2227"/>
                </a:solidFill>
                <a:latin typeface="맑은 고딕"/>
                <a:ea typeface="맑은 고딕"/>
              </a:rPr>
              <a:t>넓혔습니다</a:t>
            </a:r>
            <a:r>
              <a:rPr sz="1100" b="0" dirty="0">
                <a:solidFill>
                  <a:srgbClr val="1E2227"/>
                </a:solidFill>
                <a:latin typeface="맑은 고딕"/>
                <a:ea typeface="맑은 고딕"/>
              </a:rPr>
              <a:t>.</a:t>
            </a:r>
          </a:p>
        </p:txBody>
      </p:sp>
      <p:sp>
        <p:nvSpPr>
          <p:cNvPr id="16" name="Rectangle 15"/>
          <p:cNvSpPr/>
          <p:nvPr/>
        </p:nvSpPr>
        <p:spPr>
          <a:xfrm>
            <a:off x="4297680" y="5110480"/>
            <a:ext cx="3584448" cy="33020"/>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97680" y="5143500"/>
            <a:ext cx="3584448" cy="106426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pPr>
            <a:r>
              <a:rPr sz="1200" b="1" dirty="0" err="1">
                <a:solidFill>
                  <a:srgbClr val="273A52"/>
                </a:solidFill>
                <a:latin typeface="맑은 고딕"/>
                <a:ea typeface="맑은 고딕"/>
              </a:rPr>
              <a:t>충돌</a:t>
            </a:r>
            <a:r>
              <a:rPr sz="1200" b="1" dirty="0">
                <a:solidFill>
                  <a:srgbClr val="273A52"/>
                </a:solidFill>
                <a:latin typeface="맑은 고딕"/>
                <a:ea typeface="맑은 고딕"/>
              </a:rPr>
              <a:t> </a:t>
            </a:r>
            <a:r>
              <a:rPr sz="1200" b="1" dirty="0" err="1">
                <a:solidFill>
                  <a:srgbClr val="273A52"/>
                </a:solidFill>
                <a:latin typeface="맑은 고딕"/>
                <a:ea typeface="맑은 고딕"/>
              </a:rPr>
              <a:t>범위</a:t>
            </a:r>
            <a:endParaRPr sz="1200" b="1" dirty="0">
              <a:solidFill>
                <a:srgbClr val="273A52"/>
              </a:solidFill>
              <a:latin typeface="맑은 고딕"/>
              <a:ea typeface="맑은 고딕"/>
            </a:endParaRPr>
          </a:p>
          <a:p>
            <a:pPr algn="l">
              <a:lnSpc>
                <a:spcPct val="130000"/>
              </a:lnSpc>
              <a:spcAft>
                <a:spcPts val="300"/>
              </a:spcAft>
            </a:pPr>
            <a:r>
              <a:rPr sz="1100" b="0" dirty="0" err="1">
                <a:solidFill>
                  <a:srgbClr val="1E2227"/>
                </a:solidFill>
                <a:latin typeface="맑은 고딕"/>
                <a:ea typeface="맑은 고딕"/>
              </a:rPr>
              <a:t>시간</a:t>
            </a:r>
            <a:r>
              <a:rPr sz="1100" b="0" dirty="0">
                <a:solidFill>
                  <a:srgbClr val="1E2227"/>
                </a:solidFill>
                <a:latin typeface="맑은 고딕"/>
                <a:ea typeface="맑은 고딕"/>
              </a:rPr>
              <a:t> </a:t>
            </a:r>
            <a:r>
              <a:rPr sz="1100" b="0" dirty="0" err="1">
                <a:solidFill>
                  <a:srgbClr val="1E2227"/>
                </a:solidFill>
                <a:latin typeface="맑은 고딕"/>
                <a:ea typeface="맑은 고딕"/>
              </a:rPr>
              <a:t>충돌만</a:t>
            </a:r>
            <a:r>
              <a:rPr sz="1100" b="0" dirty="0">
                <a:solidFill>
                  <a:srgbClr val="1E2227"/>
                </a:solidFill>
                <a:latin typeface="맑은 고딕"/>
                <a:ea typeface="맑은 고딕"/>
              </a:rPr>
              <a:t> </a:t>
            </a:r>
            <a:r>
              <a:rPr sz="1100" b="0" dirty="0" err="1">
                <a:solidFill>
                  <a:srgbClr val="1E2227"/>
                </a:solidFill>
                <a:latin typeface="맑은 고딕"/>
                <a:ea typeface="맑은 고딕"/>
              </a:rPr>
              <a:t>다루던</a:t>
            </a:r>
            <a:r>
              <a:rPr sz="1100" b="0" dirty="0">
                <a:solidFill>
                  <a:srgbClr val="1E2227"/>
                </a:solidFill>
                <a:latin typeface="맑은 고딕"/>
                <a:ea typeface="맑은 고딕"/>
              </a:rPr>
              <a:t> </a:t>
            </a:r>
            <a:r>
              <a:rPr sz="1100" b="0" dirty="0" err="1">
                <a:solidFill>
                  <a:srgbClr val="1E2227"/>
                </a:solidFill>
                <a:latin typeface="맑은 고딕"/>
                <a:ea typeface="맑은 고딕"/>
              </a:rPr>
              <a:t>범위에서</a:t>
            </a:r>
            <a:r>
              <a:rPr sz="1100" b="0" dirty="0">
                <a:solidFill>
                  <a:srgbClr val="1E2227"/>
                </a:solidFill>
                <a:latin typeface="맑은 고딕"/>
                <a:ea typeface="맑은 고딕"/>
              </a:rPr>
              <a:t>, </a:t>
            </a:r>
            <a:r>
              <a:rPr sz="1100" b="1" dirty="0" err="1">
                <a:solidFill>
                  <a:srgbClr val="1E7A6F"/>
                </a:solidFill>
                <a:latin typeface="맑은 고딕"/>
                <a:ea typeface="맑은 고딕"/>
              </a:rPr>
              <a:t>일반</a:t>
            </a:r>
            <a:r>
              <a:rPr sz="1100" b="1" dirty="0">
                <a:solidFill>
                  <a:srgbClr val="1E7A6F"/>
                </a:solidFill>
                <a:latin typeface="맑은 고딕"/>
                <a:ea typeface="맑은 고딕"/>
              </a:rPr>
              <a:t> </a:t>
            </a:r>
            <a:r>
              <a:rPr sz="1100" b="1" dirty="0" err="1">
                <a:solidFill>
                  <a:srgbClr val="1E7A6F"/>
                </a:solidFill>
                <a:latin typeface="맑은 고딕"/>
                <a:ea typeface="맑은 고딕"/>
              </a:rPr>
              <a:t>지식</a:t>
            </a:r>
            <a:r>
              <a:rPr sz="1100" b="1" dirty="0">
                <a:solidFill>
                  <a:srgbClr val="1E7A6F"/>
                </a:solidFill>
                <a:latin typeface="맑은 고딕"/>
                <a:ea typeface="맑은 고딕"/>
              </a:rPr>
              <a:t> </a:t>
            </a:r>
            <a:r>
              <a:rPr sz="1100" b="1" dirty="0" err="1">
                <a:solidFill>
                  <a:srgbClr val="1E7A6F"/>
                </a:solidFill>
                <a:latin typeface="맑은 고딕"/>
                <a:ea typeface="맑은 고딕"/>
              </a:rPr>
              <a:t>충돌</a:t>
            </a:r>
            <a:r>
              <a:rPr sz="1100" b="1" dirty="0">
                <a:solidFill>
                  <a:srgbClr val="1E7A6F"/>
                </a:solidFill>
                <a:latin typeface="맑은 고딕"/>
                <a:ea typeface="맑은 고딕"/>
              </a:rPr>
              <a:t> </a:t>
            </a:r>
            <a:r>
              <a:rPr sz="1100" b="1" dirty="0" err="1">
                <a:solidFill>
                  <a:srgbClr val="1E7A6F"/>
                </a:solidFill>
                <a:latin typeface="맑은 고딕"/>
                <a:ea typeface="맑은 고딕"/>
              </a:rPr>
              <a:t>전체</a:t>
            </a:r>
            <a:r>
              <a:rPr sz="1100" b="0" dirty="0" err="1">
                <a:solidFill>
                  <a:srgbClr val="1E2227"/>
                </a:solidFill>
                <a:latin typeface="맑은 고딕"/>
                <a:ea typeface="맑은 고딕"/>
              </a:rPr>
              <a:t>로</a:t>
            </a:r>
            <a:r>
              <a:rPr sz="1100" b="0" dirty="0">
                <a:solidFill>
                  <a:srgbClr val="1E2227"/>
                </a:solidFill>
                <a:latin typeface="맑은 고딕"/>
                <a:ea typeface="맑은 고딕"/>
              </a:rPr>
              <a:t> </a:t>
            </a:r>
            <a:r>
              <a:rPr sz="1100" b="0" dirty="0" err="1">
                <a:solidFill>
                  <a:srgbClr val="1E2227"/>
                </a:solidFill>
                <a:latin typeface="맑은 고딕"/>
                <a:ea typeface="맑은 고딕"/>
              </a:rPr>
              <a:t>넓혔습니다</a:t>
            </a:r>
            <a:r>
              <a:rPr sz="1100" b="0" dirty="0">
                <a:solidFill>
                  <a:srgbClr val="1E2227"/>
                </a:solidFill>
                <a:latin typeface="맑은 고딕"/>
                <a:ea typeface="맑은 고딕"/>
              </a:rPr>
              <a:t>.</a:t>
            </a:r>
          </a:p>
        </p:txBody>
      </p:sp>
      <p:sp>
        <p:nvSpPr>
          <p:cNvPr id="18" name="Rectangle 17"/>
          <p:cNvSpPr/>
          <p:nvPr/>
        </p:nvSpPr>
        <p:spPr>
          <a:xfrm>
            <a:off x="8046720" y="5110480"/>
            <a:ext cx="3584448" cy="33020"/>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46720" y="5143500"/>
            <a:ext cx="3584448" cy="106426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pPr>
            <a:r>
              <a:rPr sz="1200" b="1" dirty="0" err="1">
                <a:solidFill>
                  <a:srgbClr val="273A52"/>
                </a:solidFill>
                <a:latin typeface="맑은 고딕"/>
                <a:ea typeface="맑은 고딕"/>
              </a:rPr>
              <a:t>기여</a:t>
            </a:r>
            <a:r>
              <a:rPr sz="1200" b="1" dirty="0">
                <a:solidFill>
                  <a:srgbClr val="273A52"/>
                </a:solidFill>
                <a:latin typeface="맑은 고딕"/>
                <a:ea typeface="맑은 고딕"/>
              </a:rPr>
              <a:t> </a:t>
            </a:r>
            <a:r>
              <a:rPr sz="1200" b="1" dirty="0" err="1">
                <a:solidFill>
                  <a:srgbClr val="273A52"/>
                </a:solidFill>
                <a:latin typeface="맑은 고딕"/>
                <a:ea typeface="맑은 고딕"/>
              </a:rPr>
              <a:t>수준</a:t>
            </a:r>
            <a:endParaRPr sz="1200" b="1" dirty="0">
              <a:solidFill>
                <a:srgbClr val="273A52"/>
              </a:solidFill>
              <a:latin typeface="맑은 고딕"/>
              <a:ea typeface="맑은 고딕"/>
            </a:endParaRPr>
          </a:p>
          <a:p>
            <a:pPr algn="l">
              <a:lnSpc>
                <a:spcPct val="130000"/>
              </a:lnSpc>
              <a:spcAft>
                <a:spcPts val="300"/>
              </a:spcAft>
            </a:pPr>
            <a:r>
              <a:rPr sz="1100" b="0" dirty="0" err="1">
                <a:solidFill>
                  <a:srgbClr val="1E2227"/>
                </a:solidFill>
                <a:latin typeface="맑은 고딕"/>
                <a:ea typeface="맑은 고딕"/>
              </a:rPr>
              <a:t>현상을</a:t>
            </a:r>
            <a:r>
              <a:rPr sz="1100" b="0" dirty="0">
                <a:solidFill>
                  <a:srgbClr val="1E2227"/>
                </a:solidFill>
                <a:latin typeface="맑은 고딕"/>
                <a:ea typeface="맑은 고딕"/>
              </a:rPr>
              <a:t> </a:t>
            </a:r>
            <a:r>
              <a:rPr sz="1100" b="0" dirty="0" err="1">
                <a:solidFill>
                  <a:srgbClr val="1E2227"/>
                </a:solidFill>
                <a:latin typeface="맑은 고딕"/>
                <a:ea typeface="맑은 고딕"/>
              </a:rPr>
              <a:t>측정·보고하던</a:t>
            </a:r>
            <a:r>
              <a:rPr sz="1100" b="0" dirty="0">
                <a:solidFill>
                  <a:srgbClr val="1E2227"/>
                </a:solidFill>
                <a:latin typeface="맑은 고딕"/>
                <a:ea typeface="맑은 고딕"/>
              </a:rPr>
              <a:t> </a:t>
            </a:r>
            <a:r>
              <a:rPr sz="1100" b="0" dirty="0" err="1">
                <a:solidFill>
                  <a:srgbClr val="1E2227"/>
                </a:solidFill>
                <a:latin typeface="맑은 고딕"/>
                <a:ea typeface="맑은 고딕"/>
              </a:rPr>
              <a:t>수준에서</a:t>
            </a:r>
            <a:r>
              <a:rPr sz="1100" b="0" dirty="0">
                <a:solidFill>
                  <a:srgbClr val="1E2227"/>
                </a:solidFill>
                <a:latin typeface="맑은 고딕"/>
                <a:ea typeface="맑은 고딕"/>
              </a:rPr>
              <a:t>, </a:t>
            </a:r>
            <a:r>
              <a:rPr sz="1100" b="1" dirty="0" err="1">
                <a:solidFill>
                  <a:srgbClr val="1E7A6F"/>
                </a:solidFill>
                <a:latin typeface="맑은 고딕"/>
                <a:ea typeface="맑은 고딕"/>
              </a:rPr>
              <a:t>어디서·왜</a:t>
            </a:r>
            <a:r>
              <a:rPr sz="1100" b="1" dirty="0">
                <a:solidFill>
                  <a:srgbClr val="1E7A6F"/>
                </a:solidFill>
                <a:latin typeface="맑은 고딕"/>
                <a:ea typeface="맑은 고딕"/>
              </a:rPr>
              <a:t> </a:t>
            </a:r>
            <a:r>
              <a:rPr sz="1100" b="1" dirty="0" err="1">
                <a:solidFill>
                  <a:srgbClr val="1E7A6F"/>
                </a:solidFill>
                <a:latin typeface="맑은 고딕"/>
                <a:ea typeface="맑은 고딕"/>
              </a:rPr>
              <a:t>틀렸는지</a:t>
            </a:r>
            <a:r>
              <a:rPr sz="1100" b="1" dirty="0">
                <a:solidFill>
                  <a:srgbClr val="1E7A6F"/>
                </a:solidFill>
                <a:latin typeface="맑은 고딕"/>
                <a:ea typeface="맑은 고딕"/>
              </a:rPr>
              <a:t> </a:t>
            </a:r>
            <a:r>
              <a:rPr sz="1100" b="1" dirty="0" err="1">
                <a:solidFill>
                  <a:srgbClr val="1E7A6F"/>
                </a:solidFill>
                <a:latin typeface="맑은 고딕"/>
                <a:ea typeface="맑은 고딕"/>
              </a:rPr>
              <a:t>밝히는</a:t>
            </a:r>
            <a:r>
              <a:rPr sz="1100" b="1" dirty="0">
                <a:solidFill>
                  <a:srgbClr val="1E7A6F"/>
                </a:solidFill>
                <a:latin typeface="맑은 고딕"/>
                <a:ea typeface="맑은 고딕"/>
              </a:rPr>
              <a:t> </a:t>
            </a:r>
            <a:r>
              <a:rPr sz="1100" b="1" dirty="0" err="1">
                <a:solidFill>
                  <a:srgbClr val="1E7A6F"/>
                </a:solidFill>
                <a:latin typeface="맑은 고딕"/>
                <a:ea typeface="맑은 고딕"/>
              </a:rPr>
              <a:t>수준</a:t>
            </a:r>
            <a:r>
              <a:rPr sz="1100" b="0" dirty="0" err="1">
                <a:solidFill>
                  <a:srgbClr val="1E2227"/>
                </a:solidFill>
                <a:latin typeface="맑은 고딕"/>
                <a:ea typeface="맑은 고딕"/>
              </a:rPr>
              <a:t>으로</a:t>
            </a:r>
            <a:r>
              <a:rPr sz="1100" b="0" dirty="0">
                <a:solidFill>
                  <a:srgbClr val="1E2227"/>
                </a:solidFill>
                <a:latin typeface="맑은 고딕"/>
                <a:ea typeface="맑은 고딕"/>
              </a:rPr>
              <a:t> </a:t>
            </a:r>
            <a:r>
              <a:rPr sz="1100" b="0" dirty="0" err="1">
                <a:solidFill>
                  <a:srgbClr val="1E2227"/>
                </a:solidFill>
                <a:latin typeface="맑은 고딕"/>
                <a:ea typeface="맑은 고딕"/>
              </a:rPr>
              <a:t>나아갔습니다</a:t>
            </a:r>
            <a:r>
              <a:rPr sz="1100" b="0" dirty="0">
                <a:solidFill>
                  <a:srgbClr val="1E2227"/>
                </a:solidFill>
                <a:latin typeface="맑은 고딕"/>
                <a:ea typeface="맑은 고딕"/>
              </a:rPr>
              <a:t>.</a:t>
            </a:r>
          </a:p>
        </p:txBody>
      </p:sp>
    </p:spTree>
    <p:extLst>
      <p:ext uri="{BB962C8B-B14F-4D97-AF65-F5344CB8AC3E}">
        <p14:creationId xmlns:p14="http://schemas.microsoft.com/office/powerpoint/2010/main" val="706440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0" dirty="0">
                <a:solidFill>
                  <a:srgbClr val="6B7480"/>
                </a:solidFill>
                <a:latin typeface="맑은 고딕"/>
                <a:ea typeface="맑은 고딕"/>
              </a:rPr>
              <a:t>§1 서론</a:t>
            </a:r>
            <a:r>
              <a:rPr lang="en-US" sz="1250" b="0" dirty="0">
                <a:solidFill>
                  <a:srgbClr val="B0B7C0"/>
                </a:solidFill>
                <a:latin typeface="맑은 고딕"/>
                <a:ea typeface="맑은 고딕"/>
              </a:rPr>
              <a:t>   ›   </a:t>
            </a:r>
            <a:r>
              <a:rPr lang="en-US" sz="1250" b="1" dirty="0">
                <a:solidFill>
                  <a:srgbClr val="273A52"/>
                </a:solidFill>
                <a:latin typeface="맑은 고딕"/>
                <a:ea typeface="맑은 고딕"/>
              </a:rPr>
              <a:t>§1.1 연구 동기</a:t>
            </a:r>
          </a:p>
        </p:txBody>
      </p:sp>
      <p:sp>
        <p:nvSpPr>
          <p:cNvPr id="3" name="TextBox 2"/>
          <p:cNvSpPr txBox="1"/>
          <p:nvPr/>
        </p:nvSpPr>
        <p:spPr>
          <a:xfrm>
            <a:off x="548640" y="585216"/>
            <a:ext cx="11091672" cy="396647"/>
          </a:xfrm>
          <a:prstGeom prst="rect">
            <a:avLst/>
          </a:prstGeom>
          <a:noFill/>
        </p:spPr>
        <p:txBody>
          <a:bodyPr wrap="square" lIns="0" tIns="0" rIns="0" bIns="0">
            <a:spAutoFit/>
          </a:bodyPr>
          <a:lstStyle/>
          <a:p>
            <a:pPr algn="l">
              <a:lnSpc>
                <a:spcPct val="122000"/>
              </a:lnSpc>
              <a:spcAft>
                <a:spcPts val="450"/>
              </a:spcAft>
            </a:pPr>
            <a:r>
              <a:rPr sz="2350" b="1" dirty="0" err="1">
                <a:solidFill>
                  <a:srgbClr val="273A52"/>
                </a:solidFill>
                <a:latin typeface="맑은 고딕"/>
                <a:ea typeface="맑은 고딕"/>
              </a:rPr>
              <a:t>배경과</a:t>
            </a:r>
            <a:r>
              <a:rPr sz="2350" b="1" dirty="0">
                <a:solidFill>
                  <a:srgbClr val="273A52"/>
                </a:solidFill>
                <a:latin typeface="맑은 고딕"/>
                <a:ea typeface="맑은 고딕"/>
              </a:rPr>
              <a:t> </a:t>
            </a:r>
            <a:r>
              <a:rPr sz="2350" b="1" dirty="0" err="1">
                <a:solidFill>
                  <a:srgbClr val="273A52"/>
                </a:solidFill>
                <a:latin typeface="맑은 고딕"/>
                <a:ea typeface="맑은 고딕"/>
              </a:rPr>
              <a:t>문제</a:t>
            </a:r>
            <a:r>
              <a:rPr sz="2350" b="1" dirty="0">
                <a:solidFill>
                  <a:srgbClr val="273A52"/>
                </a:solidFill>
                <a:latin typeface="맑은 고딕"/>
                <a:ea typeface="맑은 고딕"/>
              </a:rPr>
              <a:t>: </a:t>
            </a:r>
            <a:r>
              <a:rPr sz="2350" b="1" dirty="0" err="1">
                <a:solidFill>
                  <a:srgbClr val="273A52"/>
                </a:solidFill>
                <a:latin typeface="맑은 고딕"/>
                <a:ea typeface="맑은 고딕"/>
              </a:rPr>
              <a:t>충돌</a:t>
            </a:r>
            <a:r>
              <a:rPr sz="2350" b="1" dirty="0">
                <a:solidFill>
                  <a:srgbClr val="273A52"/>
                </a:solidFill>
                <a:latin typeface="맑은 고딕"/>
                <a:ea typeface="맑은 고딕"/>
              </a:rPr>
              <a:t> </a:t>
            </a:r>
            <a:r>
              <a:rPr lang="ko-KR" altLang="en-US" sz="2350" b="1" dirty="0">
                <a:solidFill>
                  <a:srgbClr val="273A52"/>
                </a:solidFill>
                <a:latin typeface="맑은 고딕"/>
                <a:ea typeface="맑은 고딕"/>
              </a:rPr>
              <a:t>환경에서</a:t>
            </a:r>
            <a:r>
              <a:rPr sz="2350" b="1" dirty="0">
                <a:solidFill>
                  <a:srgbClr val="273A52"/>
                </a:solidFill>
                <a:latin typeface="맑은 고딕"/>
                <a:ea typeface="맑은 고딕"/>
              </a:rPr>
              <a:t> </a:t>
            </a:r>
            <a:r>
              <a:rPr sz="2350" b="1" dirty="0" err="1">
                <a:solidFill>
                  <a:srgbClr val="273A52"/>
                </a:solidFill>
                <a:latin typeface="맑은 고딕"/>
                <a:ea typeface="맑은 고딕"/>
              </a:rPr>
              <a:t>실패를</a:t>
            </a:r>
            <a:r>
              <a:rPr sz="2350" b="1" dirty="0">
                <a:solidFill>
                  <a:srgbClr val="273A52"/>
                </a:solidFill>
                <a:latin typeface="맑은 고딕"/>
                <a:ea typeface="맑은 고딕"/>
              </a:rPr>
              <a:t> '</a:t>
            </a:r>
            <a:r>
              <a:rPr sz="2350" b="1" dirty="0" err="1">
                <a:solidFill>
                  <a:srgbClr val="273A52"/>
                </a:solidFill>
                <a:latin typeface="맑은 고딕"/>
                <a:ea typeface="맑은 고딕"/>
              </a:rPr>
              <a:t>단계별'로</a:t>
            </a:r>
            <a:r>
              <a:rPr sz="2350" b="1" dirty="0">
                <a:solidFill>
                  <a:srgbClr val="273A52"/>
                </a:solidFill>
                <a:latin typeface="맑은 고딕"/>
                <a:ea typeface="맑은 고딕"/>
              </a:rPr>
              <a:t> </a:t>
            </a:r>
            <a:r>
              <a:rPr sz="2350" b="1" dirty="0" err="1">
                <a:solidFill>
                  <a:srgbClr val="273A52"/>
                </a:solidFill>
                <a:latin typeface="맑은 고딕"/>
                <a:ea typeface="맑은 고딕"/>
              </a:rPr>
              <a:t>진단할</a:t>
            </a:r>
            <a:r>
              <a:rPr sz="2350" b="1" dirty="0">
                <a:solidFill>
                  <a:srgbClr val="273A52"/>
                </a:solidFill>
                <a:latin typeface="맑은 고딕"/>
                <a:ea typeface="맑은 고딕"/>
              </a:rPr>
              <a:t> </a:t>
            </a:r>
            <a:r>
              <a:rPr sz="2350" b="1" dirty="0" err="1">
                <a:solidFill>
                  <a:srgbClr val="273A52"/>
                </a:solidFill>
                <a:latin typeface="맑은 고딕"/>
                <a:ea typeface="맑은 고딕"/>
              </a:rPr>
              <a:t>지표가</a:t>
            </a:r>
            <a:r>
              <a:rPr sz="2350" b="1" dirty="0">
                <a:solidFill>
                  <a:srgbClr val="273A52"/>
                </a:solidFill>
                <a:latin typeface="맑은 고딕"/>
                <a:ea typeface="맑은 고딕"/>
              </a:rPr>
              <a:t> </a:t>
            </a:r>
            <a:r>
              <a:rPr sz="2350" b="1" dirty="0" err="1">
                <a:solidFill>
                  <a:srgbClr val="273A52"/>
                </a:solidFill>
                <a:latin typeface="맑은 고딕"/>
                <a:ea typeface="맑은 고딕"/>
              </a:rPr>
              <a:t>없다</a:t>
            </a:r>
            <a:endParaRPr sz="2350" b="1" dirty="0">
              <a:solidFill>
                <a:srgbClr val="273A52"/>
              </a:solidFill>
              <a:latin typeface="맑은 고딕"/>
              <a:ea typeface="맑은 고딕"/>
            </a:endParaRP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274320"/>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5</a:t>
            </a:fld>
            <a:endParaRPr lang="en-US" altLang="ko-KR" sz="950">
              <a:solidFill>
                <a:srgbClr val="6B7480"/>
              </a:solidFill>
              <a:latin typeface="맑은 고딕"/>
              <a:ea typeface="맑은 고딕"/>
            </a:endParaRPr>
          </a:p>
        </p:txBody>
      </p:sp>
      <p:sp>
        <p:nvSpPr>
          <p:cNvPr id="7" name="Rectangle 6"/>
          <p:cNvSpPr/>
          <p:nvPr/>
        </p:nvSpPr>
        <p:spPr>
          <a:xfrm>
            <a:off x="548640" y="1270000"/>
            <a:ext cx="11091672" cy="1024128"/>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45720" rIns="180000" bIns="45720" rtlCol="0" anchor="ctr" anchorCtr="0"/>
          <a:lstStyle/>
          <a:p>
            <a:pPr algn="l">
              <a:lnSpc>
                <a:spcPct val="120000"/>
              </a:lnSpc>
              <a:spcAft>
                <a:spcPts val="500"/>
              </a:spcAft>
            </a:pPr>
            <a:r>
              <a:rPr sz="1150" b="1" dirty="0" err="1">
                <a:solidFill>
                  <a:srgbClr val="C9D3E0"/>
                </a:solidFill>
                <a:latin typeface="맑은 고딕"/>
                <a:ea typeface="맑은 고딕"/>
              </a:rPr>
              <a:t>문제</a:t>
            </a:r>
            <a:r>
              <a:rPr sz="1150" b="1" dirty="0">
                <a:solidFill>
                  <a:srgbClr val="C9D3E0"/>
                </a:solidFill>
                <a:latin typeface="맑은 고딕"/>
                <a:ea typeface="맑은 고딕"/>
              </a:rPr>
              <a:t> </a:t>
            </a:r>
            <a:r>
              <a:rPr sz="1150" b="1" dirty="0" err="1">
                <a:solidFill>
                  <a:srgbClr val="C9D3E0"/>
                </a:solidFill>
                <a:latin typeface="맑은 고딕"/>
                <a:ea typeface="맑은 고딕"/>
              </a:rPr>
              <a:t>제기</a:t>
            </a:r>
            <a:r>
              <a:rPr sz="1150" b="1" dirty="0">
                <a:solidFill>
                  <a:srgbClr val="C9D3E0"/>
                </a:solidFill>
                <a:latin typeface="맑은 고딕"/>
                <a:ea typeface="맑은 고딕"/>
              </a:rPr>
              <a:t>     </a:t>
            </a:r>
            <a:r>
              <a:rPr sz="1250" b="0" dirty="0">
                <a:solidFill>
                  <a:srgbClr val="FFFFFF"/>
                </a:solidFill>
                <a:latin typeface="맑은 고딕"/>
                <a:ea typeface="맑은 고딕"/>
              </a:rPr>
              <a:t>RAG </a:t>
            </a:r>
            <a:r>
              <a:rPr sz="1250" b="0" dirty="0" err="1">
                <a:solidFill>
                  <a:srgbClr val="FFFFFF"/>
                </a:solidFill>
                <a:latin typeface="맑은 고딕"/>
                <a:ea typeface="맑은 고딕"/>
              </a:rPr>
              <a:t>문서</a:t>
            </a:r>
            <a:r>
              <a:rPr sz="1250" b="0" dirty="0">
                <a:solidFill>
                  <a:srgbClr val="FFFFFF"/>
                </a:solidFill>
                <a:latin typeface="맑은 고딕"/>
                <a:ea typeface="맑은 고딕"/>
              </a:rPr>
              <a:t> </a:t>
            </a:r>
            <a:r>
              <a:rPr sz="1250" b="0" dirty="0" err="1">
                <a:solidFill>
                  <a:srgbClr val="FFFFFF"/>
                </a:solidFill>
                <a:latin typeface="맑은 고딕"/>
                <a:ea typeface="맑은 고딕"/>
              </a:rPr>
              <a:t>충돌은</a:t>
            </a:r>
            <a:r>
              <a:rPr sz="1250" b="0" dirty="0">
                <a:solidFill>
                  <a:srgbClr val="FFFFFF"/>
                </a:solidFill>
                <a:latin typeface="맑은 고딕"/>
                <a:ea typeface="맑은 고딕"/>
              </a:rPr>
              <a:t> </a:t>
            </a:r>
            <a:r>
              <a:rPr sz="1250" b="0" dirty="0" err="1">
                <a:solidFill>
                  <a:srgbClr val="FFFFFF"/>
                </a:solidFill>
                <a:latin typeface="맑은 고딕"/>
                <a:ea typeface="맑은 고딕"/>
              </a:rPr>
              <a:t>흔한데</a:t>
            </a:r>
            <a:r>
              <a:rPr sz="1250" b="0" dirty="0">
                <a:solidFill>
                  <a:srgbClr val="FFFFFF"/>
                </a:solidFill>
                <a:latin typeface="맑은 고딕"/>
                <a:ea typeface="맑은 고딕"/>
              </a:rPr>
              <a:t>, </a:t>
            </a:r>
            <a:r>
              <a:rPr sz="1250" b="0" dirty="0" err="1">
                <a:solidFill>
                  <a:srgbClr val="FFFFFF"/>
                </a:solidFill>
                <a:latin typeface="맑은 고딕"/>
                <a:ea typeface="맑은 고딕"/>
              </a:rPr>
              <a:t>충돌</a:t>
            </a:r>
            <a:r>
              <a:rPr sz="1250" b="0" dirty="0">
                <a:solidFill>
                  <a:srgbClr val="FFFFFF"/>
                </a:solidFill>
                <a:latin typeface="맑은 고딕"/>
                <a:ea typeface="맑은 고딕"/>
              </a:rPr>
              <a:t> </a:t>
            </a:r>
            <a:r>
              <a:rPr sz="1250" b="0" dirty="0" err="1">
                <a:solidFill>
                  <a:srgbClr val="FFFFFF"/>
                </a:solidFill>
                <a:latin typeface="맑은 고딕"/>
                <a:ea typeface="맑은 고딕"/>
              </a:rPr>
              <a:t>하에서</a:t>
            </a:r>
            <a:r>
              <a:rPr sz="1250" b="0" dirty="0">
                <a:solidFill>
                  <a:srgbClr val="FFFFFF"/>
                </a:solidFill>
                <a:latin typeface="맑은 고딕"/>
                <a:ea typeface="맑은 고딕"/>
              </a:rPr>
              <a:t> </a:t>
            </a:r>
            <a:r>
              <a:rPr sz="1250" b="0" dirty="0" err="1">
                <a:solidFill>
                  <a:srgbClr val="FFFFFF"/>
                </a:solidFill>
                <a:latin typeface="맑은 고딕"/>
                <a:ea typeface="맑은 고딕"/>
              </a:rPr>
              <a:t>모델이</a:t>
            </a:r>
            <a:r>
              <a:rPr sz="1250" b="0" dirty="0">
                <a:solidFill>
                  <a:srgbClr val="FFFFFF"/>
                </a:solidFill>
                <a:latin typeface="맑은 고딕"/>
                <a:ea typeface="맑은 고딕"/>
              </a:rPr>
              <a:t> </a:t>
            </a:r>
            <a:r>
              <a:rPr sz="1250" b="1" dirty="0">
                <a:solidFill>
                  <a:srgbClr val="FFFFFF"/>
                </a:solidFill>
                <a:latin typeface="맑은 고딕"/>
                <a:ea typeface="맑은 고딕"/>
              </a:rPr>
              <a:t>'</a:t>
            </a:r>
            <a:r>
              <a:rPr sz="1250" b="1" dirty="0" err="1">
                <a:solidFill>
                  <a:srgbClr val="FFFFFF"/>
                </a:solidFill>
                <a:latin typeface="맑은 고딕"/>
                <a:ea typeface="맑은 고딕"/>
              </a:rPr>
              <a:t>왜·어디서</a:t>
            </a:r>
            <a:r>
              <a:rPr sz="1250" b="1" dirty="0">
                <a:solidFill>
                  <a:srgbClr val="FFFFFF"/>
                </a:solidFill>
                <a:latin typeface="맑은 고딕"/>
                <a:ea typeface="맑은 고딕"/>
              </a:rPr>
              <a:t> </a:t>
            </a:r>
            <a:r>
              <a:rPr sz="1250" b="1" dirty="0" err="1">
                <a:solidFill>
                  <a:srgbClr val="FFFFFF"/>
                </a:solidFill>
                <a:latin typeface="맑은 고딕"/>
                <a:ea typeface="맑은 고딕"/>
              </a:rPr>
              <a:t>맞고</a:t>
            </a:r>
            <a:r>
              <a:rPr sz="1250" b="1" dirty="0">
                <a:solidFill>
                  <a:srgbClr val="FFFFFF"/>
                </a:solidFill>
                <a:latin typeface="맑은 고딕"/>
                <a:ea typeface="맑은 고딕"/>
              </a:rPr>
              <a:t> </a:t>
            </a:r>
            <a:r>
              <a:rPr sz="1250" b="1" dirty="0" err="1">
                <a:solidFill>
                  <a:srgbClr val="FFFFFF"/>
                </a:solidFill>
                <a:latin typeface="맑은 고딕"/>
                <a:ea typeface="맑은 고딕"/>
              </a:rPr>
              <a:t>틀렸는지'를</a:t>
            </a:r>
            <a:r>
              <a:rPr sz="1250" b="1" dirty="0">
                <a:solidFill>
                  <a:srgbClr val="FFFFFF"/>
                </a:solidFill>
                <a:latin typeface="맑은 고딕"/>
                <a:ea typeface="맑은 고딕"/>
              </a:rPr>
              <a:t> </a:t>
            </a:r>
            <a:r>
              <a:rPr sz="1250" b="1" dirty="0" err="1">
                <a:solidFill>
                  <a:srgbClr val="FFFFFF"/>
                </a:solidFill>
                <a:latin typeface="맑은 고딕"/>
                <a:ea typeface="맑은 고딕"/>
              </a:rPr>
              <a:t>재는</a:t>
            </a:r>
            <a:r>
              <a:rPr sz="1250" b="1" dirty="0">
                <a:solidFill>
                  <a:srgbClr val="FFFFFF"/>
                </a:solidFill>
                <a:latin typeface="맑은 고딕"/>
                <a:ea typeface="맑은 고딕"/>
              </a:rPr>
              <a:t> </a:t>
            </a:r>
            <a:r>
              <a:rPr sz="1250" b="1" dirty="0" err="1">
                <a:solidFill>
                  <a:srgbClr val="FFFFFF"/>
                </a:solidFill>
                <a:latin typeface="맑은 고딕"/>
                <a:ea typeface="맑은 고딕"/>
              </a:rPr>
              <a:t>진단</a:t>
            </a:r>
            <a:r>
              <a:rPr sz="1250" b="1" dirty="0">
                <a:solidFill>
                  <a:srgbClr val="FFFFFF"/>
                </a:solidFill>
                <a:latin typeface="맑은 고딕"/>
                <a:ea typeface="맑은 고딕"/>
              </a:rPr>
              <a:t> </a:t>
            </a:r>
            <a:r>
              <a:rPr sz="1250" b="1" dirty="0" err="1">
                <a:solidFill>
                  <a:srgbClr val="FFFFFF"/>
                </a:solidFill>
                <a:latin typeface="맑은 고딕"/>
                <a:ea typeface="맑은 고딕"/>
              </a:rPr>
              <a:t>지표가</a:t>
            </a:r>
            <a:r>
              <a:rPr sz="1250" b="1" dirty="0">
                <a:solidFill>
                  <a:srgbClr val="FFFFFF"/>
                </a:solidFill>
                <a:latin typeface="맑은 고딕"/>
                <a:ea typeface="맑은 고딕"/>
              </a:rPr>
              <a:t> </a:t>
            </a:r>
            <a:r>
              <a:rPr sz="1250" b="1" dirty="0" err="1">
                <a:solidFill>
                  <a:srgbClr val="FFFFFF"/>
                </a:solidFill>
                <a:latin typeface="맑은 고딕"/>
                <a:ea typeface="맑은 고딕"/>
              </a:rPr>
              <a:t>없다</a:t>
            </a:r>
            <a:endParaRPr sz="1250" b="1" dirty="0">
              <a:solidFill>
                <a:srgbClr val="FFFFFF"/>
              </a:solidFill>
              <a:latin typeface="맑은 고딕"/>
              <a:ea typeface="맑은 고딕"/>
            </a:endParaRPr>
          </a:p>
          <a:p>
            <a:pPr algn="l">
              <a:lnSpc>
                <a:spcPct val="120000"/>
              </a:lnSpc>
              <a:spcAft>
                <a:spcPts val="0"/>
              </a:spcAft>
            </a:pPr>
            <a:r>
              <a:rPr lang="en-US" sz="1100" b="0" dirty="0">
                <a:solidFill>
                  <a:srgbClr val="C9D3E0"/>
                </a:solidFill>
                <a:latin typeface="맑은 고딕"/>
                <a:ea typeface="맑은 고딕"/>
              </a:rPr>
              <a:t>		</a:t>
            </a:r>
            <a:r>
              <a:rPr sz="1100" b="0" dirty="0" err="1">
                <a:solidFill>
                  <a:srgbClr val="C9D3E0"/>
                </a:solidFill>
                <a:latin typeface="맑은 고딕"/>
                <a:ea typeface="맑은 고딕"/>
              </a:rPr>
              <a:t>같은</a:t>
            </a:r>
            <a:r>
              <a:rPr sz="1100" b="0" dirty="0">
                <a:solidFill>
                  <a:srgbClr val="C9D3E0"/>
                </a:solidFill>
                <a:latin typeface="맑은 고딕"/>
                <a:ea typeface="맑은 고딕"/>
              </a:rPr>
              <a:t> </a:t>
            </a:r>
            <a:r>
              <a:rPr sz="1100" b="0" dirty="0" err="1">
                <a:solidFill>
                  <a:srgbClr val="C9D3E0"/>
                </a:solidFill>
                <a:latin typeface="맑은 고딕"/>
                <a:ea typeface="맑은 고딕"/>
              </a:rPr>
              <a:t>정답도</a:t>
            </a:r>
            <a:r>
              <a:rPr sz="1100" b="0" dirty="0">
                <a:solidFill>
                  <a:srgbClr val="C9D3E0"/>
                </a:solidFill>
                <a:latin typeface="맑은 고딕"/>
                <a:ea typeface="맑은 고딕"/>
              </a:rPr>
              <a:t> </a:t>
            </a:r>
            <a:r>
              <a:rPr sz="1250" b="1" dirty="0" err="1">
                <a:solidFill>
                  <a:srgbClr val="FFFFFF"/>
                </a:solidFill>
                <a:latin typeface="맑은 고딕"/>
                <a:ea typeface="맑은 고딕"/>
              </a:rPr>
              <a:t>대조</a:t>
            </a:r>
            <a:r>
              <a:rPr sz="1250" b="1" dirty="0">
                <a:solidFill>
                  <a:srgbClr val="FFFFFF"/>
                </a:solidFill>
                <a:latin typeface="맑은 고딕"/>
                <a:ea typeface="맑은 고딕"/>
              </a:rPr>
              <a:t> </a:t>
            </a:r>
            <a:r>
              <a:rPr sz="1250" b="1" dirty="0" err="1">
                <a:solidFill>
                  <a:srgbClr val="FFFFFF"/>
                </a:solidFill>
                <a:latin typeface="맑은 고딕"/>
                <a:ea typeface="맑은 고딕"/>
              </a:rPr>
              <a:t>추론</a:t>
            </a:r>
            <a:r>
              <a:rPr sz="1250" b="1" dirty="0">
                <a:solidFill>
                  <a:srgbClr val="FFFFFF"/>
                </a:solidFill>
                <a:latin typeface="맑은 고딕"/>
                <a:ea typeface="맑은 고딕"/>
              </a:rPr>
              <a:t> vs </a:t>
            </a:r>
            <a:r>
              <a:rPr sz="1250" b="1" dirty="0" err="1">
                <a:solidFill>
                  <a:srgbClr val="FFFFFF"/>
                </a:solidFill>
                <a:latin typeface="맑은 고딕"/>
                <a:ea typeface="맑은 고딕"/>
              </a:rPr>
              <a:t>우연</a:t>
            </a:r>
            <a:r>
              <a:rPr sz="1100" b="0" dirty="0" err="1">
                <a:solidFill>
                  <a:srgbClr val="C9D3E0"/>
                </a:solidFill>
                <a:latin typeface="맑은 고딕"/>
                <a:ea typeface="맑은 고딕"/>
              </a:rPr>
              <a:t>이</a:t>
            </a:r>
            <a:r>
              <a:rPr sz="1100" b="0" dirty="0">
                <a:solidFill>
                  <a:srgbClr val="C9D3E0"/>
                </a:solidFill>
                <a:latin typeface="맑은 고딕"/>
                <a:ea typeface="맑은 고딕"/>
              </a:rPr>
              <a:t> </a:t>
            </a:r>
            <a:r>
              <a:rPr sz="1100" b="0" dirty="0" err="1">
                <a:solidFill>
                  <a:srgbClr val="C9D3E0"/>
                </a:solidFill>
                <a:latin typeface="맑은 고딕"/>
                <a:ea typeface="맑은 고딕"/>
              </a:rPr>
              <a:t>섞이고</a:t>
            </a:r>
            <a:r>
              <a:rPr sz="1100" b="0" dirty="0">
                <a:solidFill>
                  <a:srgbClr val="C9D3E0"/>
                </a:solidFill>
                <a:latin typeface="맑은 고딕"/>
                <a:ea typeface="맑은 고딕"/>
              </a:rPr>
              <a:t>, </a:t>
            </a:r>
            <a:r>
              <a:rPr sz="1100" b="0" dirty="0" err="1">
                <a:solidFill>
                  <a:srgbClr val="C9D3E0"/>
                </a:solidFill>
                <a:latin typeface="맑은 고딕"/>
                <a:ea typeface="맑은 고딕"/>
              </a:rPr>
              <a:t>같은</a:t>
            </a:r>
            <a:r>
              <a:rPr sz="1100" b="0" dirty="0">
                <a:solidFill>
                  <a:srgbClr val="C9D3E0"/>
                </a:solidFill>
                <a:latin typeface="맑은 고딕"/>
                <a:ea typeface="맑은 고딕"/>
              </a:rPr>
              <a:t> </a:t>
            </a:r>
            <a:r>
              <a:rPr sz="1100" b="0" dirty="0" err="1">
                <a:solidFill>
                  <a:srgbClr val="C9D3E0"/>
                </a:solidFill>
                <a:latin typeface="맑은 고딕"/>
                <a:ea typeface="맑은 고딕"/>
              </a:rPr>
              <a:t>오답도</a:t>
            </a:r>
            <a:r>
              <a:rPr sz="1100" b="0" dirty="0">
                <a:solidFill>
                  <a:srgbClr val="C9D3E0"/>
                </a:solidFill>
                <a:latin typeface="맑은 고딕"/>
                <a:ea typeface="맑은 고딕"/>
              </a:rPr>
              <a:t> </a:t>
            </a:r>
            <a:r>
              <a:rPr sz="1250" b="1" dirty="0" err="1">
                <a:solidFill>
                  <a:srgbClr val="FFFFFF"/>
                </a:solidFill>
                <a:latin typeface="맑은 고딕"/>
                <a:ea typeface="맑은 고딕"/>
              </a:rPr>
              <a:t>못</a:t>
            </a:r>
            <a:r>
              <a:rPr sz="1250" b="1" dirty="0">
                <a:solidFill>
                  <a:srgbClr val="FFFFFF"/>
                </a:solidFill>
                <a:latin typeface="맑은 고딕"/>
                <a:ea typeface="맑은 고딕"/>
              </a:rPr>
              <a:t> </a:t>
            </a:r>
            <a:r>
              <a:rPr sz="1250" b="1" dirty="0" err="1">
                <a:solidFill>
                  <a:srgbClr val="FFFFFF"/>
                </a:solidFill>
                <a:latin typeface="맑은 고딕"/>
                <a:ea typeface="맑은 고딕"/>
              </a:rPr>
              <a:t>봄</a:t>
            </a:r>
            <a:r>
              <a:rPr sz="1250" b="1" dirty="0">
                <a:solidFill>
                  <a:srgbClr val="FFFFFF"/>
                </a:solidFill>
                <a:latin typeface="맑은 고딕"/>
                <a:ea typeface="맑은 고딕"/>
              </a:rPr>
              <a:t> · </a:t>
            </a:r>
            <a:r>
              <a:rPr sz="1250" b="1" dirty="0" err="1">
                <a:solidFill>
                  <a:srgbClr val="FFFFFF"/>
                </a:solidFill>
                <a:latin typeface="맑은 고딕"/>
                <a:ea typeface="맑은 고딕"/>
              </a:rPr>
              <a:t>오판</a:t>
            </a:r>
            <a:r>
              <a:rPr sz="1250" b="1" dirty="0">
                <a:solidFill>
                  <a:srgbClr val="FFFFFF"/>
                </a:solidFill>
                <a:latin typeface="맑은 고딕"/>
                <a:ea typeface="맑은 고딕"/>
              </a:rPr>
              <a:t> · </a:t>
            </a:r>
            <a:r>
              <a:rPr sz="1250" b="1" dirty="0" err="1">
                <a:solidFill>
                  <a:srgbClr val="FFFFFF"/>
                </a:solidFill>
                <a:latin typeface="맑은 고딕"/>
                <a:ea typeface="맑은 고딕"/>
              </a:rPr>
              <a:t>표출</a:t>
            </a:r>
            <a:r>
              <a:rPr sz="1250" b="1" dirty="0">
                <a:solidFill>
                  <a:srgbClr val="FFFFFF"/>
                </a:solidFill>
                <a:latin typeface="맑은 고딕"/>
                <a:ea typeface="맑은 고딕"/>
              </a:rPr>
              <a:t> </a:t>
            </a:r>
            <a:r>
              <a:rPr sz="1250" b="1" dirty="0" err="1">
                <a:solidFill>
                  <a:srgbClr val="FFFFFF"/>
                </a:solidFill>
                <a:latin typeface="맑은 고딕"/>
                <a:ea typeface="맑은 고딕"/>
              </a:rPr>
              <a:t>실패</a:t>
            </a:r>
            <a:r>
              <a:rPr sz="1100" b="0" dirty="0" err="1">
                <a:solidFill>
                  <a:srgbClr val="C9D3E0"/>
                </a:solidFill>
                <a:latin typeface="맑은 고딕"/>
                <a:ea typeface="맑은 고딕"/>
              </a:rPr>
              <a:t>가</a:t>
            </a:r>
            <a:r>
              <a:rPr sz="1100" b="0" dirty="0">
                <a:solidFill>
                  <a:srgbClr val="C9D3E0"/>
                </a:solidFill>
                <a:latin typeface="맑은 고딕"/>
                <a:ea typeface="맑은 고딕"/>
              </a:rPr>
              <a:t> </a:t>
            </a:r>
            <a:r>
              <a:rPr sz="1100" b="0" dirty="0" err="1">
                <a:solidFill>
                  <a:srgbClr val="C9D3E0"/>
                </a:solidFill>
                <a:latin typeface="맑은 고딕"/>
                <a:ea typeface="맑은 고딕"/>
              </a:rPr>
              <a:t>한</a:t>
            </a:r>
            <a:r>
              <a:rPr sz="1100" b="0" dirty="0">
                <a:solidFill>
                  <a:srgbClr val="C9D3E0"/>
                </a:solidFill>
                <a:latin typeface="맑은 고딕"/>
                <a:ea typeface="맑은 고딕"/>
              </a:rPr>
              <a:t> </a:t>
            </a:r>
            <a:r>
              <a:rPr sz="1100" b="0" dirty="0" err="1">
                <a:solidFill>
                  <a:srgbClr val="C9D3E0"/>
                </a:solidFill>
                <a:latin typeface="맑은 고딕"/>
                <a:ea typeface="맑은 고딕"/>
              </a:rPr>
              <a:t>숫자에</a:t>
            </a:r>
            <a:r>
              <a:rPr sz="1100" b="0" dirty="0">
                <a:solidFill>
                  <a:srgbClr val="C9D3E0"/>
                </a:solidFill>
                <a:latin typeface="맑은 고딕"/>
                <a:ea typeface="맑은 고딕"/>
              </a:rPr>
              <a:t> </a:t>
            </a:r>
            <a:r>
              <a:rPr sz="1100" b="0" dirty="0" err="1">
                <a:solidFill>
                  <a:srgbClr val="C9D3E0"/>
                </a:solidFill>
                <a:latin typeface="맑은 고딕"/>
                <a:ea typeface="맑은 고딕"/>
              </a:rPr>
              <a:t>뭉개지는데</a:t>
            </a:r>
            <a:r>
              <a:rPr sz="1100" b="0" dirty="0">
                <a:solidFill>
                  <a:srgbClr val="C9D3E0"/>
                </a:solidFill>
                <a:latin typeface="맑은 고딕"/>
                <a:ea typeface="맑은 고딕"/>
              </a:rPr>
              <a:t>, </a:t>
            </a:r>
            <a:r>
              <a:rPr sz="1100" b="0" dirty="0" err="1">
                <a:solidFill>
                  <a:srgbClr val="C9D3E0"/>
                </a:solidFill>
                <a:latin typeface="맑은 고딕"/>
                <a:ea typeface="맑은 고딕"/>
              </a:rPr>
              <a:t>이를</a:t>
            </a:r>
            <a:r>
              <a:rPr sz="1100" b="0" dirty="0">
                <a:solidFill>
                  <a:srgbClr val="C9D3E0"/>
                </a:solidFill>
                <a:latin typeface="맑은 고딕"/>
                <a:ea typeface="맑은 고딕"/>
              </a:rPr>
              <a:t> </a:t>
            </a:r>
            <a:r>
              <a:rPr sz="1100" b="0" dirty="0" err="1">
                <a:solidFill>
                  <a:srgbClr val="C9D3E0"/>
                </a:solidFill>
                <a:latin typeface="맑은 고딕"/>
                <a:ea typeface="맑은 고딕"/>
              </a:rPr>
              <a:t>갈라</a:t>
            </a:r>
            <a:r>
              <a:rPr sz="1100" b="0" dirty="0">
                <a:solidFill>
                  <a:srgbClr val="C9D3E0"/>
                </a:solidFill>
                <a:latin typeface="맑은 고딕"/>
                <a:ea typeface="맑은 고딕"/>
              </a:rPr>
              <a:t> </a:t>
            </a:r>
            <a:r>
              <a:rPr sz="1100" b="0" dirty="0" err="1">
                <a:solidFill>
                  <a:srgbClr val="C9D3E0"/>
                </a:solidFill>
                <a:latin typeface="맑은 고딕"/>
                <a:ea typeface="맑은 고딕"/>
              </a:rPr>
              <a:t>볼</a:t>
            </a:r>
            <a:r>
              <a:rPr sz="1100" b="0" dirty="0">
                <a:solidFill>
                  <a:srgbClr val="C9D3E0"/>
                </a:solidFill>
                <a:latin typeface="맑은 고딕"/>
                <a:ea typeface="맑은 고딕"/>
              </a:rPr>
              <a:t> </a:t>
            </a:r>
            <a:r>
              <a:rPr sz="1100" b="0" dirty="0" err="1">
                <a:solidFill>
                  <a:srgbClr val="C9D3E0"/>
                </a:solidFill>
                <a:latin typeface="맑은 고딕"/>
                <a:ea typeface="맑은 고딕"/>
              </a:rPr>
              <a:t>도구가</a:t>
            </a:r>
            <a:r>
              <a:rPr sz="1100" b="0" dirty="0">
                <a:solidFill>
                  <a:srgbClr val="C9D3E0"/>
                </a:solidFill>
                <a:latin typeface="맑은 고딕"/>
                <a:ea typeface="맑은 고딕"/>
              </a:rPr>
              <a:t> </a:t>
            </a:r>
            <a:r>
              <a:rPr sz="1100" b="0" dirty="0" err="1">
                <a:solidFill>
                  <a:srgbClr val="C9D3E0"/>
                </a:solidFill>
                <a:latin typeface="맑은 고딕"/>
                <a:ea typeface="맑은 고딕"/>
              </a:rPr>
              <a:t>없다</a:t>
            </a:r>
            <a:endParaRPr sz="1100" b="0" dirty="0">
              <a:solidFill>
                <a:srgbClr val="C9D3E0"/>
              </a:solidFill>
              <a:latin typeface="맑은 고딕"/>
              <a:ea typeface="맑은 고딕"/>
            </a:endParaRPr>
          </a:p>
        </p:txBody>
      </p:sp>
      <p:sp>
        <p:nvSpPr>
          <p:cNvPr id="8" name="TextBox 7"/>
          <p:cNvSpPr txBox="1"/>
          <p:nvPr/>
        </p:nvSpPr>
        <p:spPr>
          <a:xfrm>
            <a:off x="548640" y="2430842"/>
            <a:ext cx="11091672" cy="308739"/>
          </a:xfrm>
          <a:prstGeom prst="rect">
            <a:avLst/>
          </a:prstGeom>
          <a:noFill/>
        </p:spPr>
        <p:txBody>
          <a:bodyPr wrap="square" lIns="91440" tIns="45720" rIns="91440" bIns="45720" anchor="ctr" anchorCtr="0">
            <a:spAutoFit/>
          </a:bodyPr>
          <a:lstStyle/>
          <a:p>
            <a:pPr algn="l">
              <a:lnSpc>
                <a:spcPct val="120000"/>
              </a:lnSpc>
              <a:spcAft>
                <a:spcPts val="450"/>
              </a:spcAft>
            </a:pPr>
            <a:r>
              <a:rPr lang="ko-KR" sz="1300" b="1" dirty="0">
                <a:solidFill>
                  <a:srgbClr val="273A52"/>
                </a:solidFill>
                <a:latin typeface="맑은 고딕"/>
                <a:ea typeface="맑은 고딕"/>
              </a:rPr>
              <a:t>근거 ① 충돌은 흔하고 실재한다</a:t>
            </a:r>
          </a:p>
        </p:txBody>
      </p:sp>
      <p:sp>
        <p:nvSpPr>
          <p:cNvPr id="9" name="Rectangle 8"/>
          <p:cNvSpPr/>
          <p:nvPr/>
        </p:nvSpPr>
        <p:spPr>
          <a:xfrm>
            <a:off x="548640" y="2787904"/>
            <a:ext cx="3584448" cy="33020"/>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820924"/>
            <a:ext cx="3584448" cy="164699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22000"/>
              </a:lnSpc>
              <a:spcAft>
                <a:spcPts val="500"/>
              </a:spcAft>
            </a:pPr>
            <a:r>
              <a:rPr sz="2700" b="1" dirty="0">
                <a:solidFill>
                  <a:srgbClr val="273A52"/>
                </a:solidFill>
                <a:latin typeface="맑은 고딕"/>
                <a:ea typeface="맑은 고딕"/>
              </a:rPr>
              <a:t>40%</a:t>
            </a:r>
            <a:r>
              <a:rPr sz="1100" b="0" dirty="0">
                <a:solidFill>
                  <a:srgbClr val="6B7480"/>
                </a:solidFill>
                <a:latin typeface="맑은 고딕"/>
                <a:ea typeface="맑은 고딕"/>
              </a:rPr>
              <a:t>  (182/458)</a:t>
            </a:r>
          </a:p>
          <a:p>
            <a:pPr algn="l">
              <a:lnSpc>
                <a:spcPct val="130000"/>
              </a:lnSpc>
              <a:spcAft>
                <a:spcPts val="600"/>
              </a:spcAft>
            </a:pPr>
            <a:r>
              <a:rPr sz="1100" b="0" dirty="0">
                <a:solidFill>
                  <a:srgbClr val="1E2227"/>
                </a:solidFill>
                <a:latin typeface="맑은 고딕"/>
                <a:ea typeface="맑은 고딕"/>
              </a:rPr>
              <a:t>실제 구글 검색 결과에서 문서가 명시적으로 상충한 비율</a:t>
            </a:r>
          </a:p>
          <a:p>
            <a:pPr algn="l">
              <a:lnSpc>
                <a:spcPct val="130000"/>
              </a:lnSpc>
              <a:spcAft>
                <a:spcPts val="600"/>
              </a:spcAft>
            </a:pPr>
            <a:r>
              <a:rPr lang="ko-KR" sz="1000" b="0" dirty="0">
                <a:solidFill>
                  <a:srgbClr val="6B7480"/>
                </a:solidFill>
                <a:latin typeface="맑은 고딕"/>
                <a:ea typeface="맑은 고딕"/>
              </a:rPr>
              <a:t>(충돌 유형: 상보 정보·상충 의견·시효·오정보)</a:t>
            </a:r>
          </a:p>
          <a:p>
            <a:pPr algn="l">
              <a:lnSpc>
                <a:spcPct val="110000"/>
              </a:lnSpc>
              <a:spcAft>
                <a:spcPts val="0"/>
              </a:spcAft>
            </a:pPr>
            <a:r>
              <a:rPr sz="980" b="1" dirty="0">
                <a:solidFill>
                  <a:srgbClr val="1E7A6F"/>
                </a:solidFill>
                <a:latin typeface="맑은 고딕"/>
                <a:ea typeface="맑은 고딕"/>
              </a:rPr>
              <a:t>DRAGged · Cattan et al. (2025)</a:t>
            </a:r>
          </a:p>
        </p:txBody>
      </p:sp>
      <p:sp>
        <p:nvSpPr>
          <p:cNvPr id="11" name="Rectangle 10"/>
          <p:cNvSpPr/>
          <p:nvPr/>
        </p:nvSpPr>
        <p:spPr>
          <a:xfrm>
            <a:off x="4297680" y="2787904"/>
            <a:ext cx="3584448" cy="33020"/>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2820924"/>
            <a:ext cx="3584448" cy="164699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22000"/>
              </a:lnSpc>
              <a:spcAft>
                <a:spcPts val="500"/>
              </a:spcAft>
            </a:pPr>
            <a:r>
              <a:rPr sz="2700" b="1" dirty="0">
                <a:solidFill>
                  <a:srgbClr val="273A52"/>
                </a:solidFill>
                <a:latin typeface="맑은 고딕"/>
                <a:ea typeface="맑은 고딕"/>
              </a:rPr>
              <a:t>25%</a:t>
            </a:r>
            <a:r>
              <a:rPr sz="1100" b="0" dirty="0">
                <a:solidFill>
                  <a:srgbClr val="6B7480"/>
                </a:solidFill>
                <a:latin typeface="맑은 고딕"/>
                <a:ea typeface="맑은 고딕"/>
              </a:rPr>
              <a:t>  (381/1,617)</a:t>
            </a:r>
          </a:p>
          <a:p>
            <a:pPr algn="l">
              <a:lnSpc>
                <a:spcPct val="130000"/>
              </a:lnSpc>
              <a:spcAft>
                <a:spcPts val="600"/>
              </a:spcAft>
            </a:pPr>
            <a:r>
              <a:rPr sz="1100" b="0" dirty="0">
                <a:solidFill>
                  <a:srgbClr val="1E2227"/>
                </a:solidFill>
                <a:latin typeface="맑은 고딕"/>
                <a:ea typeface="맑은 고딕"/>
              </a:rPr>
              <a:t>모호하지 않은 오픈 도메인 질문조차 구글 검색으로 가져온 문맥이 서로 충돌한 비율</a:t>
            </a:r>
          </a:p>
          <a:p>
            <a:pPr algn="l">
              <a:lnSpc>
                <a:spcPct val="130000"/>
              </a:lnSpc>
              <a:spcAft>
                <a:spcPts val="600"/>
              </a:spcAft>
            </a:pPr>
            <a:r>
              <a:rPr lang="ko-KR" sz="1000" b="0" dirty="0">
                <a:solidFill>
                  <a:srgbClr val="6B7480"/>
                </a:solidFill>
                <a:latin typeface="맑은 고딕"/>
                <a:ea typeface="맑은 고딕"/>
              </a:rPr>
              <a:t>(주로 오정보·시효성 등 웹문서 간 사실 불일치)</a:t>
            </a:r>
          </a:p>
          <a:p>
            <a:pPr algn="l">
              <a:lnSpc>
                <a:spcPct val="110000"/>
              </a:lnSpc>
              <a:spcAft>
                <a:spcPts val="0"/>
              </a:spcAft>
            </a:pPr>
            <a:r>
              <a:rPr sz="980" b="1" dirty="0">
                <a:solidFill>
                  <a:srgbClr val="1E7A6F"/>
                </a:solidFill>
                <a:latin typeface="맑은 고딕"/>
                <a:ea typeface="맑은 고딕"/>
              </a:rPr>
              <a:t>QACC · Liu et al. (Findings of NAACL 2025)</a:t>
            </a:r>
          </a:p>
        </p:txBody>
      </p:sp>
      <p:sp>
        <p:nvSpPr>
          <p:cNvPr id="13" name="Rectangle 12"/>
          <p:cNvSpPr/>
          <p:nvPr/>
        </p:nvSpPr>
        <p:spPr>
          <a:xfrm>
            <a:off x="8046720" y="2787904"/>
            <a:ext cx="3584448" cy="33020"/>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6720" y="2820924"/>
            <a:ext cx="3584448" cy="164699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22000"/>
              </a:lnSpc>
              <a:spcAft>
                <a:spcPts val="500"/>
              </a:spcAft>
            </a:pPr>
            <a:r>
              <a:rPr sz="2700" b="1" dirty="0">
                <a:solidFill>
                  <a:srgbClr val="273A52"/>
                </a:solidFill>
                <a:latin typeface="맑은 고딕"/>
                <a:ea typeface="맑은 고딕"/>
              </a:rPr>
              <a:t>50%</a:t>
            </a:r>
            <a:r>
              <a:rPr sz="1100" b="0" dirty="0">
                <a:solidFill>
                  <a:srgbClr val="6B7480"/>
                </a:solidFill>
                <a:latin typeface="맑은 고딕"/>
                <a:ea typeface="맑은 고딕"/>
              </a:rPr>
              <a:t>  (130/261 태그)</a:t>
            </a:r>
          </a:p>
          <a:p>
            <a:pPr algn="l">
              <a:lnSpc>
                <a:spcPct val="130000"/>
              </a:lnSpc>
              <a:spcAft>
                <a:spcPts val="600"/>
              </a:spcAft>
            </a:pPr>
            <a:r>
              <a:rPr sz="1100" b="0" dirty="0">
                <a:solidFill>
                  <a:srgbClr val="1E2227"/>
                </a:solidFill>
                <a:latin typeface="맑은 고딕"/>
                <a:ea typeface="맑은 고딕"/>
              </a:rPr>
              <a:t>편집자가 지목한 모순 태그가 인간 검증에서 진짜로 확인된 비율</a:t>
            </a:r>
          </a:p>
          <a:p>
            <a:pPr algn="l">
              <a:lnSpc>
                <a:spcPct val="130000"/>
              </a:lnSpc>
              <a:spcAft>
                <a:spcPts val="600"/>
              </a:spcAft>
            </a:pPr>
            <a:r>
              <a:rPr lang="ko-KR" sz="1000" b="0" dirty="0">
                <a:solidFill>
                  <a:srgbClr val="6B7480"/>
                </a:solidFill>
                <a:latin typeface="맑은 고딕"/>
                <a:ea typeface="맑은 고딕"/>
              </a:rPr>
              <a:t>(고품질 코퍼스인 위키백과에도 명시적·암묵적 모순 실재)</a:t>
            </a:r>
          </a:p>
          <a:p>
            <a:pPr algn="l">
              <a:lnSpc>
                <a:spcPct val="110000"/>
              </a:lnSpc>
              <a:spcAft>
                <a:spcPts val="0"/>
              </a:spcAft>
            </a:pPr>
            <a:r>
              <a:rPr sz="980" b="1" dirty="0">
                <a:solidFill>
                  <a:srgbClr val="1E7A6F"/>
                </a:solidFill>
                <a:latin typeface="맑은 고딕"/>
                <a:ea typeface="맑은 고딕"/>
              </a:rPr>
              <a:t>WikiContradict · Hou et al. (NeurIPS 2024)</a:t>
            </a:r>
          </a:p>
        </p:txBody>
      </p:sp>
      <p:sp>
        <p:nvSpPr>
          <p:cNvPr id="15" name="TextBox 14"/>
          <p:cNvSpPr txBox="1"/>
          <p:nvPr/>
        </p:nvSpPr>
        <p:spPr>
          <a:xfrm>
            <a:off x="548640" y="4699714"/>
            <a:ext cx="11091672" cy="308739"/>
          </a:xfrm>
          <a:prstGeom prst="rect">
            <a:avLst/>
          </a:prstGeom>
          <a:noFill/>
        </p:spPr>
        <p:txBody>
          <a:bodyPr wrap="square" lIns="91440" tIns="45720" rIns="91440" bIns="45720" anchor="ctr" anchorCtr="0">
            <a:spAutoFit/>
          </a:bodyPr>
          <a:lstStyle/>
          <a:p>
            <a:pPr algn="l">
              <a:lnSpc>
                <a:spcPct val="120000"/>
              </a:lnSpc>
              <a:spcAft>
                <a:spcPts val="450"/>
              </a:spcAft>
            </a:pPr>
            <a:r>
              <a:rPr lang="ko-KR" sz="1300" b="1" dirty="0">
                <a:solidFill>
                  <a:srgbClr val="273A52"/>
                </a:solidFill>
                <a:latin typeface="맑은 고딕"/>
                <a:ea typeface="맑은 고딕"/>
              </a:rPr>
              <a:t>근거 ② 기존 지표는 이 '왜·어디서'를 재도록 만들어지지 않았다</a:t>
            </a:r>
          </a:p>
        </p:txBody>
      </p:sp>
      <p:sp>
        <p:nvSpPr>
          <p:cNvPr id="16" name="TextBox 15"/>
          <p:cNvSpPr txBox="1"/>
          <p:nvPr/>
        </p:nvSpPr>
        <p:spPr>
          <a:xfrm>
            <a:off x="548640" y="5028898"/>
            <a:ext cx="11091672" cy="283796"/>
          </a:xfrm>
          <a:prstGeom prst="rect">
            <a:avLst/>
          </a:prstGeom>
          <a:noFill/>
        </p:spPr>
        <p:txBody>
          <a:bodyPr wrap="square" lIns="91440" tIns="45720" rIns="91440" bIns="45720" anchor="ctr" anchorCtr="0">
            <a:spAutoFit/>
          </a:bodyPr>
          <a:lstStyle/>
          <a:p>
            <a:pPr marL="171450" indent="-171450" algn="l">
              <a:lnSpc>
                <a:spcPct val="120000"/>
              </a:lnSpc>
              <a:spcAft>
                <a:spcPts val="450"/>
              </a:spcAft>
              <a:buFont typeface="Arial" panose="020B0604020202020204" pitchFamily="34" charset="0"/>
              <a:buChar char="•"/>
            </a:pPr>
            <a:r>
              <a:rPr sz="1150" b="1" dirty="0">
                <a:solidFill>
                  <a:srgbClr val="1E2227"/>
                </a:solidFill>
                <a:latin typeface="맑은 고딕"/>
                <a:ea typeface="맑은 고딕"/>
              </a:rPr>
              <a:t>정답률(EM, 완전 일치) · 정확도</a:t>
            </a:r>
            <a:r>
              <a:rPr sz="1150" b="0" dirty="0">
                <a:solidFill>
                  <a:srgbClr val="6B7480"/>
                </a:solidFill>
                <a:latin typeface="맑은 고딕"/>
                <a:ea typeface="맑은 고딕"/>
              </a:rPr>
              <a:t>  —  </a:t>
            </a:r>
            <a:r>
              <a:rPr sz="1150" b="0" dirty="0">
                <a:solidFill>
                  <a:srgbClr val="1E2227"/>
                </a:solidFill>
                <a:latin typeface="맑은 고딕"/>
                <a:ea typeface="맑은 고딕"/>
              </a:rPr>
              <a:t>‘얼마나 맞혔나’를 재는 지표로, 애초에 이유·단계를 측정하도록 설계되지 않았다.</a:t>
            </a:r>
          </a:p>
        </p:txBody>
      </p:sp>
      <p:sp>
        <p:nvSpPr>
          <p:cNvPr id="17" name="TextBox 16"/>
          <p:cNvSpPr txBox="1"/>
          <p:nvPr/>
        </p:nvSpPr>
        <p:spPr>
          <a:xfrm>
            <a:off x="548640" y="5375655"/>
            <a:ext cx="11091672" cy="496098"/>
          </a:xfrm>
          <a:prstGeom prst="rect">
            <a:avLst/>
          </a:prstGeom>
          <a:noFill/>
        </p:spPr>
        <p:txBody>
          <a:bodyPr wrap="square" lIns="91440" tIns="45720" rIns="91440" bIns="45720" anchor="ctr" anchorCtr="0">
            <a:spAutoFit/>
          </a:bodyPr>
          <a:lstStyle/>
          <a:p>
            <a:pPr marL="171450" indent="-171450" algn="l">
              <a:lnSpc>
                <a:spcPct val="120000"/>
              </a:lnSpc>
              <a:spcAft>
                <a:spcPts val="450"/>
              </a:spcAft>
              <a:buFont typeface="Arial" panose="020B0604020202020204" pitchFamily="34" charset="0"/>
              <a:buChar char="•"/>
            </a:pPr>
            <a:r>
              <a:rPr sz="1150" b="1" dirty="0">
                <a:solidFill>
                  <a:srgbClr val="1E2227"/>
                </a:solidFill>
                <a:latin typeface="맑은 고딕"/>
                <a:ea typeface="맑은 고딕"/>
              </a:rPr>
              <a:t>근거 인용 지표 (ALCE; Gao et al., 2023)</a:t>
            </a:r>
            <a:r>
              <a:rPr sz="1150" b="0" dirty="0">
                <a:solidFill>
                  <a:srgbClr val="6B7480"/>
                </a:solidFill>
                <a:latin typeface="맑은 고딕"/>
                <a:ea typeface="맑은 고딕"/>
              </a:rPr>
              <a:t>  —  </a:t>
            </a:r>
            <a:r>
              <a:rPr sz="1150" b="0" dirty="0">
                <a:solidFill>
                  <a:srgbClr val="1E2227"/>
                </a:solidFill>
                <a:latin typeface="맑은 고딕"/>
                <a:ea typeface="맑은 고딕"/>
              </a:rPr>
              <a:t>모델의 답이 인용한 근거와 맞는지(인용 정밀도·재현율)만 잴 뿐, 그 답이 정답인지와 실패가 어느 단계에서 왔는지는 보지 못한다.</a:t>
            </a:r>
          </a:p>
        </p:txBody>
      </p:sp>
      <p:sp>
        <p:nvSpPr>
          <p:cNvPr id="18" name="TextBox 17"/>
          <p:cNvSpPr txBox="1"/>
          <p:nvPr/>
        </p:nvSpPr>
        <p:spPr>
          <a:xfrm>
            <a:off x="548640" y="5909222"/>
            <a:ext cx="11091672" cy="286489"/>
          </a:xfrm>
          <a:prstGeom prst="rect">
            <a:avLst/>
          </a:prstGeom>
          <a:noFill/>
        </p:spPr>
        <p:txBody>
          <a:bodyPr wrap="square" lIns="91440" tIns="45720" rIns="91440" bIns="45720" anchor="ctr" anchorCtr="0">
            <a:spAutoFit/>
          </a:bodyPr>
          <a:lstStyle/>
          <a:p>
            <a:pPr algn="l">
              <a:lnSpc>
                <a:spcPct val="122000"/>
              </a:lnSpc>
              <a:spcAft>
                <a:spcPts val="450"/>
              </a:spcAft>
            </a:pPr>
            <a:r>
              <a:rPr sz="1150" b="0" dirty="0">
                <a:solidFill>
                  <a:srgbClr val="1E2227"/>
                </a:solidFill>
                <a:latin typeface="맑은 고딕"/>
                <a:ea typeface="맑은 고딕"/>
              </a:rPr>
              <a:t>→ 결국 </a:t>
            </a:r>
            <a:r>
              <a:rPr sz="1150" b="1" dirty="0" err="1">
                <a:solidFill>
                  <a:srgbClr val="273A52"/>
                </a:solidFill>
                <a:latin typeface="맑은 고딕"/>
                <a:ea typeface="맑은 고딕"/>
              </a:rPr>
              <a:t>충돌</a:t>
            </a:r>
            <a:r>
              <a:rPr sz="1150" b="1" dirty="0">
                <a:solidFill>
                  <a:srgbClr val="273A52"/>
                </a:solidFill>
                <a:latin typeface="맑은 고딕"/>
                <a:ea typeface="맑은 고딕"/>
              </a:rPr>
              <a:t> </a:t>
            </a:r>
            <a:r>
              <a:rPr lang="ko-KR" altLang="en-US" sz="1150" b="1" dirty="0">
                <a:solidFill>
                  <a:srgbClr val="273A52"/>
                </a:solidFill>
                <a:latin typeface="맑은 고딕"/>
                <a:ea typeface="맑은 고딕"/>
              </a:rPr>
              <a:t>환경에서</a:t>
            </a:r>
            <a:r>
              <a:rPr sz="1150" b="1" dirty="0">
                <a:solidFill>
                  <a:srgbClr val="273A52"/>
                </a:solidFill>
                <a:latin typeface="맑은 고딕"/>
                <a:ea typeface="맑은 고딕"/>
              </a:rPr>
              <a:t> 실패의 원인을 단계별로 갈라 진단하는 지표 자체가 없다</a:t>
            </a:r>
            <a:r>
              <a:rPr sz="1150" b="0" dirty="0">
                <a:solidFill>
                  <a:srgbClr val="1E2227"/>
                </a:solidFill>
                <a:latin typeface="맑은 고딕"/>
                <a:ea typeface="맑은 고딕"/>
              </a:rPr>
              <a:t>. 본 연구가 바로 그 </a:t>
            </a:r>
            <a:r>
              <a:rPr sz="1150" b="0" dirty="0" err="1">
                <a:solidFill>
                  <a:srgbClr val="1E2227"/>
                </a:solidFill>
                <a:latin typeface="맑은 고딕"/>
                <a:ea typeface="맑은 고딕"/>
              </a:rPr>
              <a:t>도구를</a:t>
            </a:r>
            <a:r>
              <a:rPr sz="1150" b="0" dirty="0">
                <a:solidFill>
                  <a:srgbClr val="1E2227"/>
                </a:solidFill>
                <a:latin typeface="맑은 고딕"/>
                <a:ea typeface="맑은 고딕"/>
              </a:rPr>
              <a:t> </a:t>
            </a:r>
            <a:r>
              <a:rPr sz="1150" b="0" dirty="0" err="1">
                <a:solidFill>
                  <a:srgbClr val="1E2227"/>
                </a:solidFill>
                <a:latin typeface="맑은 고딕"/>
                <a:ea typeface="맑은 고딕"/>
              </a:rPr>
              <a:t>만든다</a:t>
            </a:r>
            <a:r>
              <a:rPr lang="en-US" altLang="ko-KR" sz="1150" b="0" dirty="0">
                <a:solidFill>
                  <a:srgbClr val="1E2227"/>
                </a:solidFill>
                <a:latin typeface="맑은 고딕"/>
                <a:ea typeface="맑은 고딕"/>
              </a:rPr>
              <a:t>.</a:t>
            </a:r>
            <a:endParaRPr sz="1150" b="0" dirty="0">
              <a:solidFill>
                <a:srgbClr val="1E2227"/>
              </a:solidFill>
              <a:latin typeface="맑은 고딕"/>
              <a:ea typeface="맑은 고딕"/>
            </a:endParaRPr>
          </a:p>
        </p:txBody>
      </p:sp>
    </p:spTree>
    <p:extLst>
      <p:ext uri="{BB962C8B-B14F-4D97-AF65-F5344CB8AC3E}">
        <p14:creationId xmlns:p14="http://schemas.microsoft.com/office/powerpoint/2010/main" val="4155028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0" dirty="0">
                <a:solidFill>
                  <a:srgbClr val="6B7480"/>
                </a:solidFill>
                <a:latin typeface="맑은 고딕"/>
                <a:ea typeface="맑은 고딕"/>
              </a:rPr>
              <a:t>§1 서론</a:t>
            </a:r>
            <a:r>
              <a:rPr lang="en-US" sz="1250" b="0" dirty="0">
                <a:solidFill>
                  <a:srgbClr val="B0B7C0"/>
                </a:solidFill>
                <a:latin typeface="맑은 고딕"/>
                <a:ea typeface="맑은 고딕"/>
              </a:rPr>
              <a:t>   ›   </a:t>
            </a:r>
            <a:r>
              <a:rPr lang="en-US" sz="1250" b="1" dirty="0">
                <a:solidFill>
                  <a:srgbClr val="273A52"/>
                </a:solidFill>
                <a:latin typeface="맑은 고딕"/>
                <a:ea typeface="맑은 고딕"/>
              </a:rPr>
              <a:t>§1.1 연구 동기</a:t>
            </a:r>
          </a:p>
        </p:txBody>
      </p:sp>
      <p:sp>
        <p:nvSpPr>
          <p:cNvPr id="3" name="TextBox 2"/>
          <p:cNvSpPr txBox="1"/>
          <p:nvPr/>
        </p:nvSpPr>
        <p:spPr>
          <a:xfrm>
            <a:off x="548640" y="585216"/>
            <a:ext cx="11091672" cy="396647"/>
          </a:xfrm>
          <a:prstGeom prst="rect">
            <a:avLst/>
          </a:prstGeom>
          <a:noFill/>
        </p:spPr>
        <p:txBody>
          <a:bodyPr wrap="square" lIns="0" tIns="0" rIns="0" bIns="0">
            <a:spAutoFit/>
          </a:bodyPr>
          <a:lstStyle/>
          <a:p>
            <a:pPr algn="l">
              <a:lnSpc>
                <a:spcPct val="122000"/>
              </a:lnSpc>
              <a:spcAft>
                <a:spcPts val="450"/>
              </a:spcAft>
            </a:pPr>
            <a:r>
              <a:rPr sz="2350" b="1" dirty="0">
                <a:solidFill>
                  <a:srgbClr val="273A52"/>
                </a:solidFill>
                <a:latin typeface="맑은 고딕"/>
                <a:ea typeface="맑은 고딕"/>
              </a:rPr>
              <a:t>추론 트레이스: 모델의 사고 과정을 여는 진단 창구</a:t>
            </a: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274320"/>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6</a:t>
            </a:fld>
            <a:endParaRPr lang="en-US" altLang="ko-KR" sz="950">
              <a:solidFill>
                <a:srgbClr val="6B7480"/>
              </a:solidFill>
              <a:latin typeface="맑은 고딕"/>
              <a:ea typeface="맑은 고딕"/>
            </a:endParaRPr>
          </a:p>
        </p:txBody>
      </p:sp>
      <p:sp>
        <p:nvSpPr>
          <p:cNvPr id="7" name="Rectangle 6"/>
          <p:cNvSpPr/>
          <p:nvPr/>
        </p:nvSpPr>
        <p:spPr>
          <a:xfrm>
            <a:off x="548640" y="1270000"/>
            <a:ext cx="11091672" cy="658368"/>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45720" rIns="180000" bIns="45720" rtlCol="0" anchor="ctr" anchorCtr="0"/>
          <a:lstStyle/>
          <a:p>
            <a:pPr algn="l">
              <a:lnSpc>
                <a:spcPct val="120000"/>
              </a:lnSpc>
              <a:spcAft>
                <a:spcPts val="0"/>
              </a:spcAft>
            </a:pPr>
            <a:r>
              <a:rPr sz="1150" b="1" dirty="0" err="1">
                <a:solidFill>
                  <a:srgbClr val="C9D3E0"/>
                </a:solidFill>
                <a:latin typeface="맑은 고딕"/>
                <a:ea typeface="맑은 고딕"/>
              </a:rPr>
              <a:t>본</a:t>
            </a:r>
            <a:r>
              <a:rPr sz="1150" b="1" dirty="0">
                <a:solidFill>
                  <a:srgbClr val="C9D3E0"/>
                </a:solidFill>
                <a:latin typeface="맑은 고딕"/>
                <a:ea typeface="맑은 고딕"/>
              </a:rPr>
              <a:t> </a:t>
            </a:r>
            <a:r>
              <a:rPr sz="1150" b="1" dirty="0" err="1">
                <a:solidFill>
                  <a:srgbClr val="C9D3E0"/>
                </a:solidFill>
                <a:latin typeface="맑은 고딕"/>
                <a:ea typeface="맑은 고딕"/>
              </a:rPr>
              <a:t>연구의</a:t>
            </a:r>
            <a:r>
              <a:rPr sz="1150" b="1" dirty="0">
                <a:solidFill>
                  <a:srgbClr val="C9D3E0"/>
                </a:solidFill>
                <a:latin typeface="맑은 고딕"/>
                <a:ea typeface="맑은 고딕"/>
              </a:rPr>
              <a:t> </a:t>
            </a:r>
            <a:r>
              <a:rPr sz="1150" b="1" dirty="0" err="1">
                <a:solidFill>
                  <a:srgbClr val="C9D3E0"/>
                </a:solidFill>
                <a:latin typeface="맑은 고딕"/>
                <a:ea typeface="맑은 고딕"/>
              </a:rPr>
              <a:t>자리</a:t>
            </a:r>
            <a:r>
              <a:rPr sz="1150" b="1" dirty="0">
                <a:solidFill>
                  <a:srgbClr val="C9D3E0"/>
                </a:solidFill>
                <a:latin typeface="맑은 고딕"/>
                <a:ea typeface="맑은 고딕"/>
              </a:rPr>
              <a:t>     </a:t>
            </a:r>
            <a:r>
              <a:rPr sz="1250" b="1" dirty="0" err="1">
                <a:solidFill>
                  <a:srgbClr val="FFFFFF"/>
                </a:solidFill>
                <a:latin typeface="맑은 고딕"/>
                <a:ea typeface="맑은 고딕"/>
              </a:rPr>
              <a:t>추론</a:t>
            </a:r>
            <a:r>
              <a:rPr sz="1250" b="1" dirty="0">
                <a:solidFill>
                  <a:srgbClr val="FFFFFF"/>
                </a:solidFill>
                <a:latin typeface="맑은 고딕"/>
                <a:ea typeface="맑은 고딕"/>
              </a:rPr>
              <a:t> </a:t>
            </a:r>
            <a:r>
              <a:rPr sz="1250" b="1" dirty="0" err="1">
                <a:solidFill>
                  <a:srgbClr val="FFFFFF"/>
                </a:solidFill>
                <a:latin typeface="맑은 고딕"/>
                <a:ea typeface="맑은 고딕"/>
              </a:rPr>
              <a:t>모델의</a:t>
            </a:r>
            <a:r>
              <a:rPr sz="1250" b="1" dirty="0">
                <a:solidFill>
                  <a:srgbClr val="FFFFFF"/>
                </a:solidFill>
                <a:latin typeface="맑은 고딕"/>
                <a:ea typeface="맑은 고딕"/>
              </a:rPr>
              <a:t> </a:t>
            </a:r>
            <a:r>
              <a:rPr sz="1250" b="1" dirty="0" err="1">
                <a:solidFill>
                  <a:srgbClr val="FFFFFF"/>
                </a:solidFill>
                <a:latin typeface="맑은 고딕"/>
                <a:ea typeface="맑은 고딕"/>
              </a:rPr>
              <a:t>트레이스로</a:t>
            </a:r>
            <a:r>
              <a:rPr sz="1250" b="1" dirty="0">
                <a:solidFill>
                  <a:srgbClr val="FFFFFF"/>
                </a:solidFill>
                <a:latin typeface="맑은 고딕"/>
                <a:ea typeface="맑은 고딕"/>
              </a:rPr>
              <a:t> </a:t>
            </a:r>
            <a:r>
              <a:rPr sz="1250" b="1" dirty="0" err="1">
                <a:solidFill>
                  <a:srgbClr val="FFFFFF"/>
                </a:solidFill>
                <a:latin typeface="맑은 고딕"/>
                <a:ea typeface="맑은 고딕"/>
              </a:rPr>
              <a:t>충돌</a:t>
            </a:r>
            <a:r>
              <a:rPr sz="1250" b="1" dirty="0">
                <a:solidFill>
                  <a:srgbClr val="FFFFFF"/>
                </a:solidFill>
                <a:latin typeface="맑은 고딕"/>
                <a:ea typeface="맑은 고딕"/>
              </a:rPr>
              <a:t> </a:t>
            </a:r>
            <a:r>
              <a:rPr sz="1250" b="1" dirty="0" err="1">
                <a:solidFill>
                  <a:srgbClr val="FFFFFF"/>
                </a:solidFill>
                <a:latin typeface="맑은 고딕"/>
                <a:ea typeface="맑은 고딕"/>
              </a:rPr>
              <a:t>하</a:t>
            </a:r>
            <a:r>
              <a:rPr sz="1250" b="1" dirty="0">
                <a:solidFill>
                  <a:srgbClr val="FFFFFF"/>
                </a:solidFill>
                <a:latin typeface="맑은 고딕"/>
                <a:ea typeface="맑은 고딕"/>
              </a:rPr>
              <a:t> </a:t>
            </a:r>
            <a:r>
              <a:rPr sz="1250" b="1" dirty="0" err="1">
                <a:solidFill>
                  <a:srgbClr val="FFFFFF"/>
                </a:solidFill>
                <a:latin typeface="맑은 고딕"/>
                <a:ea typeface="맑은 고딕"/>
              </a:rPr>
              <a:t>실패를</a:t>
            </a:r>
            <a:r>
              <a:rPr sz="1250" b="1" dirty="0">
                <a:solidFill>
                  <a:srgbClr val="FFFFFF"/>
                </a:solidFill>
                <a:latin typeface="맑은 고딕"/>
                <a:ea typeface="맑은 고딕"/>
              </a:rPr>
              <a:t> '</a:t>
            </a:r>
            <a:r>
              <a:rPr sz="1250" b="1" dirty="0" err="1">
                <a:solidFill>
                  <a:srgbClr val="FFFFFF"/>
                </a:solidFill>
                <a:latin typeface="맑은 고딕"/>
                <a:ea typeface="맑은 고딕"/>
              </a:rPr>
              <a:t>탐지·해소·표출</a:t>
            </a:r>
            <a:r>
              <a:rPr sz="1250" b="1" dirty="0">
                <a:solidFill>
                  <a:srgbClr val="FFFFFF"/>
                </a:solidFill>
                <a:latin typeface="맑은 고딕"/>
                <a:ea typeface="맑은 고딕"/>
              </a:rPr>
              <a:t>' </a:t>
            </a:r>
            <a:r>
              <a:rPr sz="1250" b="1" dirty="0" err="1">
                <a:solidFill>
                  <a:srgbClr val="FFFFFF"/>
                </a:solidFill>
                <a:latin typeface="맑은 고딕"/>
                <a:ea typeface="맑은 고딕"/>
              </a:rPr>
              <a:t>단계별로</a:t>
            </a:r>
            <a:r>
              <a:rPr sz="1250" b="1" dirty="0">
                <a:solidFill>
                  <a:srgbClr val="FFFFFF"/>
                </a:solidFill>
                <a:latin typeface="맑은 고딕"/>
                <a:ea typeface="맑은 고딕"/>
              </a:rPr>
              <a:t> </a:t>
            </a:r>
            <a:r>
              <a:rPr sz="1250" b="1" dirty="0" err="1">
                <a:solidFill>
                  <a:srgbClr val="FFFFFF"/>
                </a:solidFill>
                <a:latin typeface="맑은 고딕"/>
                <a:ea typeface="맑은 고딕"/>
              </a:rPr>
              <a:t>진단</a:t>
            </a:r>
            <a:r>
              <a:rPr sz="1250" b="0" dirty="0" err="1">
                <a:solidFill>
                  <a:srgbClr val="FFFFFF"/>
                </a:solidFill>
                <a:latin typeface="맑은 고딕"/>
                <a:ea typeface="맑은 고딕"/>
              </a:rPr>
              <a:t>한다</a:t>
            </a:r>
            <a:endParaRPr sz="1250" b="0" dirty="0">
              <a:solidFill>
                <a:srgbClr val="FFFFFF"/>
              </a:solidFill>
              <a:latin typeface="맑은 고딕"/>
              <a:ea typeface="맑은 고딕"/>
            </a:endParaRPr>
          </a:p>
        </p:txBody>
      </p:sp>
      <p:sp>
        <p:nvSpPr>
          <p:cNvPr id="8" name="TextBox 7"/>
          <p:cNvSpPr txBox="1"/>
          <p:nvPr/>
        </p:nvSpPr>
        <p:spPr>
          <a:xfrm>
            <a:off x="548640" y="1973642"/>
            <a:ext cx="11091672" cy="311752"/>
          </a:xfrm>
          <a:prstGeom prst="rect">
            <a:avLst/>
          </a:prstGeom>
          <a:noFill/>
        </p:spPr>
        <p:txBody>
          <a:bodyPr wrap="square" lIns="91440" tIns="45720" rIns="91440" bIns="45720" anchor="ctr" anchorCtr="0">
            <a:spAutoFit/>
          </a:bodyPr>
          <a:lstStyle/>
          <a:p>
            <a:pPr algn="l">
              <a:lnSpc>
                <a:spcPct val="122000"/>
              </a:lnSpc>
              <a:spcAft>
                <a:spcPts val="450"/>
              </a:spcAft>
            </a:pPr>
            <a:r>
              <a:rPr lang="ko-KR" sz="1200" b="0" dirty="0">
                <a:solidFill>
                  <a:srgbClr val="6B7480"/>
                </a:solidFill>
                <a:latin typeface="맑은 고딕"/>
                <a:ea typeface="맑은 고딕"/>
              </a:rPr>
              <a:t>왜 이제 가능한가 — 최근 연구가 </a:t>
            </a:r>
            <a:r>
              <a:rPr lang="ko-KR" sz="1300" b="1" dirty="0">
                <a:solidFill>
                  <a:srgbClr val="273A52"/>
                </a:solidFill>
                <a:latin typeface="맑은 고딕"/>
                <a:ea typeface="맑은 고딕"/>
              </a:rPr>
              <a:t>'프롬프트 CoT 분석'에서 '추론 모델 </a:t>
            </a:r>
            <a:r>
              <a:rPr lang="ko-KR" sz="1300" b="1" dirty="0" err="1">
                <a:solidFill>
                  <a:srgbClr val="273A52"/>
                </a:solidFill>
                <a:latin typeface="맑은 고딕"/>
                <a:ea typeface="맑은 고딕"/>
              </a:rPr>
              <a:t>트레이스</a:t>
            </a:r>
            <a:r>
              <a:rPr lang="ko-KR" sz="1300" b="1" dirty="0">
                <a:solidFill>
                  <a:srgbClr val="273A52"/>
                </a:solidFill>
                <a:latin typeface="맑은 고딕"/>
                <a:ea typeface="맑은 고딕"/>
              </a:rPr>
              <a:t> 분석'으로</a:t>
            </a:r>
            <a:r>
              <a:rPr lang="ko-KR" sz="1200" b="0" dirty="0">
                <a:solidFill>
                  <a:srgbClr val="6B7480"/>
                </a:solidFill>
                <a:latin typeface="맑은 고딕"/>
                <a:ea typeface="맑은 고딕"/>
              </a:rPr>
              <a:t> 넘어오며 진단 방법론이 성숙했기 때문</a:t>
            </a:r>
          </a:p>
        </p:txBody>
      </p:sp>
      <p:sp>
        <p:nvSpPr>
          <p:cNvPr id="9" name="Rectangle 8"/>
          <p:cNvSpPr/>
          <p:nvPr/>
        </p:nvSpPr>
        <p:spPr>
          <a:xfrm>
            <a:off x="548640" y="2367280"/>
            <a:ext cx="5029200" cy="33020"/>
          </a:xfrm>
          <a:prstGeom prst="rect">
            <a:avLst/>
          </a:prstGeom>
          <a:solidFill>
            <a:srgbClr val="A44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400300"/>
            <a:ext cx="5029200" cy="14351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pPr>
            <a:r>
              <a:rPr lang="ko-KR" altLang="en-US" sz="1250" b="1" dirty="0">
                <a:solidFill>
                  <a:srgbClr val="273A52"/>
                </a:solidFill>
                <a:latin typeface="맑은 고딕"/>
                <a:ea typeface="맑은 고딕"/>
              </a:rPr>
              <a:t>① CoT 분석 계열 — 프롬프트 CoT</a:t>
            </a:r>
          </a:p>
          <a:p>
            <a:pPr algn="l">
              <a:lnSpc>
                <a:spcPct val="140000"/>
              </a:lnSpc>
              <a:spcAft>
                <a:spcPts val="450"/>
              </a:spcAft>
            </a:pPr>
            <a:r>
              <a:rPr lang="ko-KR" altLang="en-US" sz="1120" b="0" dirty="0">
                <a:solidFill>
                  <a:srgbClr val="1E2227"/>
                </a:solidFill>
                <a:latin typeface="맑은 고딕"/>
                <a:ea typeface="맑은 고딕"/>
              </a:rPr>
              <a:t>프롬프트로 강제한 CoT는 정답을 </a:t>
            </a:r>
            <a:r>
              <a:rPr lang="ko-KR" altLang="en-US" sz="1120" b="1" dirty="0">
                <a:solidFill>
                  <a:srgbClr val="1E2227"/>
                </a:solidFill>
                <a:latin typeface="맑은 고딕"/>
                <a:ea typeface="맑은 고딕"/>
              </a:rPr>
              <a:t>사후에 정당화</a:t>
            </a:r>
            <a:r>
              <a:rPr lang="ko-KR" altLang="en-US" sz="1120" b="0" dirty="0">
                <a:solidFill>
                  <a:srgbClr val="1E2227"/>
                </a:solidFill>
                <a:latin typeface="맑은 고딕"/>
                <a:ea typeface="맑은 고딕"/>
              </a:rPr>
              <a:t>하기 쉬워, 내부 계산에 대한 '충실성'은 잴 수 없다</a:t>
            </a:r>
          </a:p>
          <a:p>
            <a:pPr algn="l">
              <a:lnSpc>
                <a:spcPct val="140000"/>
              </a:lnSpc>
              <a:spcAft>
                <a:spcPts val="450"/>
              </a:spcAft>
            </a:pPr>
            <a:r>
              <a:rPr lang="ko-KR" altLang="en-US" sz="1120" b="0" dirty="0">
                <a:solidFill>
                  <a:srgbClr val="1E2227"/>
                </a:solidFill>
                <a:latin typeface="맑은 고딕"/>
                <a:ea typeface="맑은 고딕"/>
              </a:rPr>
              <a:t>→ 이런 CoT 설명에서 잴 수 있는 건 </a:t>
            </a:r>
            <a:r>
              <a:rPr lang="ko-KR" altLang="en-US" sz="1120" b="1" dirty="0">
                <a:solidFill>
                  <a:srgbClr val="1E2227"/>
                </a:solidFill>
                <a:latin typeface="맑은 고딕"/>
                <a:ea typeface="맑은 고딕"/>
              </a:rPr>
              <a:t>출력 수준 '자기일관성'뿐</a:t>
            </a:r>
            <a:r>
              <a:rPr lang="ko-KR" altLang="en-US" sz="1120" b="0" dirty="0">
                <a:solidFill>
                  <a:srgbClr val="1E2227"/>
                </a:solidFill>
                <a:latin typeface="맑은 고딕"/>
                <a:ea typeface="맑은 고딕"/>
              </a:rPr>
              <a:t>임을 정립</a:t>
            </a:r>
          </a:p>
          <a:p>
            <a:pPr algn="l">
              <a:lnSpc>
                <a:spcPct val="140000"/>
              </a:lnSpc>
              <a:spcAft>
                <a:spcPts val="450"/>
              </a:spcAft>
            </a:pPr>
            <a:r>
              <a:rPr lang="en-US" altLang="ko-KR" sz="1040" b="0" dirty="0">
                <a:solidFill>
                  <a:srgbClr val="6B7480"/>
                </a:solidFill>
                <a:latin typeface="맑은 고딕"/>
                <a:ea typeface="맑은 고딕"/>
              </a:rPr>
              <a:t>Turpin (NeurIPS 2023) · Lanham (2023) · Parcalabescu &amp; Frank (ACL 2024)</a:t>
            </a:r>
          </a:p>
        </p:txBody>
      </p:sp>
      <p:sp>
        <p:nvSpPr>
          <p:cNvPr id="11" name="Right Arrow 10"/>
          <p:cNvSpPr/>
          <p:nvPr/>
        </p:nvSpPr>
        <p:spPr>
          <a:xfrm>
            <a:off x="5941967" y="2951480"/>
            <a:ext cx="329184" cy="329184"/>
          </a:xfrm>
          <a:prstGeom prst="rightArrow">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576312" y="2367280"/>
            <a:ext cx="5056632" cy="33020"/>
          </a:xfrm>
          <a:prstGeom prst="rect">
            <a:avLst/>
          </a:prstGeom>
          <a:solidFill>
            <a:srgbClr val="1E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576312" y="2400300"/>
            <a:ext cx="5056632" cy="14351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pPr>
            <a:r>
              <a:rPr sz="1250" b="1" dirty="0">
                <a:solidFill>
                  <a:srgbClr val="273A52"/>
                </a:solidFill>
                <a:latin typeface="맑은 고딕"/>
                <a:ea typeface="맑은 고딕"/>
              </a:rPr>
              <a:t>② </a:t>
            </a:r>
            <a:r>
              <a:rPr lang="ko-KR" altLang="en-US" sz="1250" b="1" dirty="0" err="1">
                <a:solidFill>
                  <a:srgbClr val="273A52"/>
                </a:solidFill>
                <a:latin typeface="맑은 고딕"/>
                <a:ea typeface="맑은 고딕"/>
              </a:rPr>
              <a:t>트레이스</a:t>
            </a:r>
            <a:r>
              <a:rPr sz="1250" b="1" dirty="0">
                <a:solidFill>
                  <a:srgbClr val="273A52"/>
                </a:solidFill>
                <a:latin typeface="맑은 고딕"/>
                <a:ea typeface="맑은 고딕"/>
              </a:rPr>
              <a:t> </a:t>
            </a:r>
            <a:r>
              <a:rPr sz="1250" b="1" dirty="0" err="1">
                <a:solidFill>
                  <a:srgbClr val="273A52"/>
                </a:solidFill>
                <a:latin typeface="맑은 고딕"/>
                <a:ea typeface="맑은 고딕"/>
              </a:rPr>
              <a:t>분석</a:t>
            </a:r>
            <a:r>
              <a:rPr sz="1250" b="1" dirty="0">
                <a:solidFill>
                  <a:srgbClr val="273A52"/>
                </a:solidFill>
                <a:latin typeface="맑은 고딕"/>
                <a:ea typeface="맑은 고딕"/>
              </a:rPr>
              <a:t> </a:t>
            </a:r>
            <a:r>
              <a:rPr sz="1250" b="1" dirty="0" err="1">
                <a:solidFill>
                  <a:srgbClr val="273A52"/>
                </a:solidFill>
                <a:latin typeface="맑은 고딕"/>
                <a:ea typeface="맑은 고딕"/>
              </a:rPr>
              <a:t>계열</a:t>
            </a:r>
            <a:r>
              <a:rPr sz="1250" b="1" dirty="0">
                <a:solidFill>
                  <a:srgbClr val="273A52"/>
                </a:solidFill>
                <a:latin typeface="맑은 고딕"/>
                <a:ea typeface="맑은 고딕"/>
              </a:rPr>
              <a:t> — </a:t>
            </a:r>
            <a:r>
              <a:rPr sz="1250" b="1" dirty="0" err="1">
                <a:solidFill>
                  <a:srgbClr val="273A52"/>
                </a:solidFill>
                <a:latin typeface="맑은 고딕"/>
                <a:ea typeface="맑은 고딕"/>
              </a:rPr>
              <a:t>추론</a:t>
            </a:r>
            <a:r>
              <a:rPr sz="1250" b="1" dirty="0">
                <a:solidFill>
                  <a:srgbClr val="273A52"/>
                </a:solidFill>
                <a:latin typeface="맑은 고딕"/>
                <a:ea typeface="맑은 고딕"/>
              </a:rPr>
              <a:t> </a:t>
            </a:r>
            <a:r>
              <a:rPr sz="1250" b="1" dirty="0" err="1">
                <a:solidFill>
                  <a:srgbClr val="273A52"/>
                </a:solidFill>
                <a:latin typeface="맑은 고딕"/>
                <a:ea typeface="맑은 고딕"/>
              </a:rPr>
              <a:t>모델</a:t>
            </a:r>
            <a:r>
              <a:rPr sz="1250" b="1" dirty="0">
                <a:solidFill>
                  <a:srgbClr val="273A52"/>
                </a:solidFill>
                <a:latin typeface="맑은 고딕"/>
                <a:ea typeface="맑은 고딕"/>
              </a:rPr>
              <a:t> &lt;think&gt;</a:t>
            </a:r>
          </a:p>
          <a:p>
            <a:pPr algn="l">
              <a:lnSpc>
                <a:spcPct val="140000"/>
              </a:lnSpc>
              <a:spcAft>
                <a:spcPts val="450"/>
              </a:spcAft>
            </a:pPr>
            <a:r>
              <a:rPr sz="1120" b="0" dirty="0" err="1">
                <a:solidFill>
                  <a:srgbClr val="1E2227"/>
                </a:solidFill>
                <a:latin typeface="맑은 고딕"/>
                <a:ea typeface="맑은 고딕"/>
              </a:rPr>
              <a:t>추론</a:t>
            </a:r>
            <a:r>
              <a:rPr sz="1120" b="0" dirty="0">
                <a:solidFill>
                  <a:srgbClr val="1E2227"/>
                </a:solidFill>
                <a:latin typeface="맑은 고딕"/>
                <a:ea typeface="맑은 고딕"/>
              </a:rPr>
              <a:t> </a:t>
            </a:r>
            <a:r>
              <a:rPr sz="1120" b="0" dirty="0" err="1">
                <a:solidFill>
                  <a:srgbClr val="1E2227"/>
                </a:solidFill>
                <a:latin typeface="맑은 고딕"/>
                <a:ea typeface="맑은 고딕"/>
              </a:rPr>
              <a:t>모델이</a:t>
            </a:r>
            <a:r>
              <a:rPr sz="1120" b="0" dirty="0">
                <a:solidFill>
                  <a:srgbClr val="1E2227"/>
                </a:solidFill>
                <a:latin typeface="맑은 고딕"/>
                <a:ea typeface="맑은 고딕"/>
              </a:rPr>
              <a:t> </a:t>
            </a:r>
            <a:r>
              <a:rPr sz="1120" b="0" dirty="0" err="1">
                <a:solidFill>
                  <a:srgbClr val="1E2227"/>
                </a:solidFill>
                <a:latin typeface="맑은 고딕"/>
                <a:ea typeface="맑은 고딕"/>
              </a:rPr>
              <a:t>추론</a:t>
            </a:r>
            <a:r>
              <a:rPr sz="1120" b="0" dirty="0">
                <a:solidFill>
                  <a:srgbClr val="1E2227"/>
                </a:solidFill>
                <a:latin typeface="맑은 고딕"/>
                <a:ea typeface="맑은 고딕"/>
              </a:rPr>
              <a:t> </a:t>
            </a:r>
            <a:r>
              <a:rPr sz="1120" b="0" dirty="0" err="1">
                <a:solidFill>
                  <a:srgbClr val="1E2227"/>
                </a:solidFill>
                <a:latin typeface="맑은 고딕"/>
                <a:ea typeface="맑은 고딕"/>
              </a:rPr>
              <a:t>과정을</a:t>
            </a:r>
            <a:r>
              <a:rPr sz="1120" b="0" dirty="0">
                <a:solidFill>
                  <a:srgbClr val="1E2227"/>
                </a:solidFill>
                <a:latin typeface="맑은 고딕"/>
                <a:ea typeface="맑은 고딕"/>
              </a:rPr>
              <a:t> </a:t>
            </a:r>
            <a:r>
              <a:rPr sz="1120" b="1" dirty="0" err="1">
                <a:solidFill>
                  <a:srgbClr val="1E2227"/>
                </a:solidFill>
                <a:latin typeface="맑은 고딕"/>
                <a:ea typeface="맑은 고딕"/>
              </a:rPr>
              <a:t>자발적으로</a:t>
            </a:r>
            <a:r>
              <a:rPr sz="1120" b="1" dirty="0">
                <a:solidFill>
                  <a:srgbClr val="1E2227"/>
                </a:solidFill>
                <a:latin typeface="맑은 고딕"/>
                <a:ea typeface="맑은 고딕"/>
              </a:rPr>
              <a:t> </a:t>
            </a:r>
            <a:r>
              <a:rPr sz="1120" b="1" dirty="0" err="1">
                <a:solidFill>
                  <a:srgbClr val="1E2227"/>
                </a:solidFill>
                <a:latin typeface="맑은 고딕"/>
                <a:ea typeface="맑은 고딕"/>
              </a:rPr>
              <a:t>외부화</a:t>
            </a:r>
            <a:r>
              <a:rPr sz="1120" b="0" dirty="0">
                <a:solidFill>
                  <a:srgbClr val="1E2227"/>
                </a:solidFill>
                <a:latin typeface="맑은 고딕"/>
                <a:ea typeface="맑은 고딕"/>
              </a:rPr>
              <a:t> → </a:t>
            </a:r>
            <a:r>
              <a:rPr lang="ko-KR" altLang="en-US" sz="1120" b="0" dirty="0" err="1">
                <a:solidFill>
                  <a:srgbClr val="1E2227"/>
                </a:solidFill>
                <a:latin typeface="맑은 고딕"/>
                <a:ea typeface="맑은 고딕"/>
              </a:rPr>
              <a:t>트레이스</a:t>
            </a:r>
            <a:r>
              <a:rPr sz="1120" b="0" dirty="0" err="1">
                <a:solidFill>
                  <a:srgbClr val="1E2227"/>
                </a:solidFill>
                <a:latin typeface="맑은 고딕"/>
                <a:ea typeface="맑은 고딕"/>
              </a:rPr>
              <a:t>를</a:t>
            </a:r>
            <a:r>
              <a:rPr sz="1120" b="0" dirty="0">
                <a:solidFill>
                  <a:srgbClr val="1E2227"/>
                </a:solidFill>
                <a:latin typeface="맑은 고딕"/>
                <a:ea typeface="맑은 고딕"/>
              </a:rPr>
              <a:t> </a:t>
            </a:r>
            <a:r>
              <a:rPr sz="1120" b="1" dirty="0" err="1">
                <a:solidFill>
                  <a:srgbClr val="1E2227"/>
                </a:solidFill>
                <a:latin typeface="맑은 고딕"/>
                <a:ea typeface="맑은 고딕"/>
              </a:rPr>
              <a:t>직접</a:t>
            </a:r>
            <a:r>
              <a:rPr sz="1120" b="1" dirty="0">
                <a:solidFill>
                  <a:srgbClr val="1E2227"/>
                </a:solidFill>
                <a:latin typeface="맑은 고딕"/>
                <a:ea typeface="맑은 고딕"/>
              </a:rPr>
              <a:t> </a:t>
            </a:r>
            <a:r>
              <a:rPr sz="1120" b="1" dirty="0" err="1">
                <a:solidFill>
                  <a:srgbClr val="1E2227"/>
                </a:solidFill>
                <a:latin typeface="맑은 고딕"/>
                <a:ea typeface="맑은 고딕"/>
              </a:rPr>
              <a:t>읽고</a:t>
            </a:r>
            <a:r>
              <a:rPr sz="1120" b="1" dirty="0">
                <a:solidFill>
                  <a:srgbClr val="1E2227"/>
                </a:solidFill>
                <a:latin typeface="맑은 고딕"/>
                <a:ea typeface="맑은 고딕"/>
              </a:rPr>
              <a:t> </a:t>
            </a:r>
            <a:r>
              <a:rPr sz="1120" b="1" dirty="0" err="1">
                <a:solidFill>
                  <a:srgbClr val="1E2227"/>
                </a:solidFill>
                <a:latin typeface="맑은 고딕"/>
                <a:ea typeface="맑은 고딕"/>
              </a:rPr>
              <a:t>개입</a:t>
            </a:r>
            <a:r>
              <a:rPr sz="1120" b="0" dirty="0">
                <a:solidFill>
                  <a:srgbClr val="1E2227"/>
                </a:solidFill>
                <a:latin typeface="맑은 고딕"/>
                <a:ea typeface="맑은 고딕"/>
              </a:rPr>
              <a:t>(</a:t>
            </a:r>
            <a:r>
              <a:rPr sz="1120" b="0" dirty="0" err="1">
                <a:solidFill>
                  <a:srgbClr val="1E2227"/>
                </a:solidFill>
                <a:latin typeface="맑은 고딕"/>
                <a:ea typeface="맑은 고딕"/>
              </a:rPr>
              <a:t>재샘플링·절단</a:t>
            </a:r>
            <a:r>
              <a:rPr sz="1120" b="0" dirty="0">
                <a:solidFill>
                  <a:srgbClr val="1E2227"/>
                </a:solidFill>
                <a:latin typeface="맑은 고딕"/>
                <a:ea typeface="맑은 고딕"/>
              </a:rPr>
              <a:t>)</a:t>
            </a:r>
            <a:r>
              <a:rPr sz="1120" b="0" dirty="0" err="1">
                <a:solidFill>
                  <a:srgbClr val="1E2227"/>
                </a:solidFill>
                <a:latin typeface="맑은 고딕"/>
                <a:ea typeface="맑은 고딕"/>
              </a:rPr>
              <a:t>하는</a:t>
            </a:r>
            <a:r>
              <a:rPr sz="1120" b="0" dirty="0">
                <a:solidFill>
                  <a:srgbClr val="1E2227"/>
                </a:solidFill>
                <a:latin typeface="맑은 고딕"/>
                <a:ea typeface="맑은 고딕"/>
              </a:rPr>
              <a:t> </a:t>
            </a:r>
            <a:r>
              <a:rPr sz="1120" b="0" dirty="0" err="1">
                <a:solidFill>
                  <a:srgbClr val="1E2227"/>
                </a:solidFill>
                <a:latin typeface="맑은 고딕"/>
                <a:ea typeface="맑은 고딕"/>
              </a:rPr>
              <a:t>방법론</a:t>
            </a:r>
            <a:r>
              <a:rPr sz="1120" b="0" dirty="0">
                <a:solidFill>
                  <a:srgbClr val="1E2227"/>
                </a:solidFill>
                <a:latin typeface="맑은 고딕"/>
                <a:ea typeface="맑은 고딕"/>
              </a:rPr>
              <a:t> </a:t>
            </a:r>
            <a:r>
              <a:rPr sz="1120" b="0" dirty="0" err="1">
                <a:solidFill>
                  <a:srgbClr val="1E2227"/>
                </a:solidFill>
                <a:latin typeface="맑은 고딕"/>
                <a:ea typeface="맑은 고딕"/>
              </a:rPr>
              <a:t>성숙</a:t>
            </a:r>
            <a:endParaRPr sz="1120" b="0" dirty="0">
              <a:solidFill>
                <a:srgbClr val="1E2227"/>
              </a:solidFill>
              <a:latin typeface="맑은 고딕"/>
              <a:ea typeface="맑은 고딕"/>
            </a:endParaRPr>
          </a:p>
          <a:p>
            <a:pPr algn="l">
              <a:lnSpc>
                <a:spcPct val="140000"/>
              </a:lnSpc>
              <a:spcAft>
                <a:spcPts val="450"/>
              </a:spcAft>
            </a:pPr>
            <a:r>
              <a:rPr sz="1120" b="0" dirty="0">
                <a:solidFill>
                  <a:srgbClr val="1E2227"/>
                </a:solidFill>
                <a:latin typeface="맑은 고딕"/>
                <a:ea typeface="맑은 고딕"/>
              </a:rPr>
              <a:t>→ </a:t>
            </a:r>
            <a:r>
              <a:rPr lang="ko-KR" altLang="en-US" sz="1120" b="0" dirty="0" err="1">
                <a:solidFill>
                  <a:srgbClr val="1E2227"/>
                </a:solidFill>
                <a:latin typeface="맑은 고딕"/>
                <a:ea typeface="맑은 고딕"/>
              </a:rPr>
              <a:t>트레이스</a:t>
            </a:r>
            <a:r>
              <a:rPr sz="1120" b="0" dirty="0" err="1">
                <a:solidFill>
                  <a:srgbClr val="1E2227"/>
                </a:solidFill>
                <a:latin typeface="맑은 고딕"/>
                <a:ea typeface="맑은 고딕"/>
              </a:rPr>
              <a:t>가</a:t>
            </a:r>
            <a:r>
              <a:rPr sz="1120" b="0" dirty="0">
                <a:solidFill>
                  <a:srgbClr val="1E2227"/>
                </a:solidFill>
                <a:latin typeface="맑은 고딕"/>
                <a:ea typeface="맑은 고딕"/>
              </a:rPr>
              <a:t> </a:t>
            </a:r>
            <a:r>
              <a:rPr sz="1120" b="1" dirty="0" err="1">
                <a:solidFill>
                  <a:srgbClr val="1E2227"/>
                </a:solidFill>
                <a:latin typeface="맑은 고딕"/>
                <a:ea typeface="맑은 고딕"/>
              </a:rPr>
              <a:t>불완전하지만</a:t>
            </a:r>
            <a:r>
              <a:rPr sz="1120" b="1" dirty="0">
                <a:solidFill>
                  <a:srgbClr val="1E2227"/>
                </a:solidFill>
                <a:latin typeface="맑은 고딕"/>
                <a:ea typeface="맑은 고딕"/>
              </a:rPr>
              <a:t> </a:t>
            </a:r>
            <a:r>
              <a:rPr sz="1120" b="1" dirty="0" err="1">
                <a:solidFill>
                  <a:srgbClr val="1E2227"/>
                </a:solidFill>
                <a:latin typeface="맑은 고딕"/>
                <a:ea typeface="맑은 고딕"/>
              </a:rPr>
              <a:t>유용한</a:t>
            </a:r>
            <a:r>
              <a:rPr sz="1120" b="1" dirty="0">
                <a:solidFill>
                  <a:srgbClr val="1E2227"/>
                </a:solidFill>
                <a:latin typeface="맑은 고딕"/>
                <a:ea typeface="맑은 고딕"/>
              </a:rPr>
              <a:t> </a:t>
            </a:r>
            <a:r>
              <a:rPr sz="1120" b="1" dirty="0" err="1">
                <a:solidFill>
                  <a:srgbClr val="1E2227"/>
                </a:solidFill>
                <a:latin typeface="맑은 고딕"/>
                <a:ea typeface="맑은 고딕"/>
              </a:rPr>
              <a:t>관측</a:t>
            </a:r>
            <a:r>
              <a:rPr sz="1120" b="1" dirty="0">
                <a:solidFill>
                  <a:srgbClr val="1E2227"/>
                </a:solidFill>
                <a:latin typeface="맑은 고딕"/>
                <a:ea typeface="맑은 고딕"/>
              </a:rPr>
              <a:t> </a:t>
            </a:r>
            <a:r>
              <a:rPr sz="1120" b="1" dirty="0" err="1">
                <a:solidFill>
                  <a:srgbClr val="1E2227"/>
                </a:solidFill>
                <a:latin typeface="맑은 고딕"/>
                <a:ea typeface="맑은 고딕"/>
              </a:rPr>
              <a:t>신호</a:t>
            </a:r>
            <a:r>
              <a:rPr sz="1120" b="0" dirty="0" err="1">
                <a:solidFill>
                  <a:srgbClr val="1E2227"/>
                </a:solidFill>
                <a:latin typeface="맑은 고딕"/>
                <a:ea typeface="맑은 고딕"/>
              </a:rPr>
              <a:t>로</a:t>
            </a:r>
            <a:r>
              <a:rPr sz="1120" b="0" dirty="0">
                <a:solidFill>
                  <a:srgbClr val="1E2227"/>
                </a:solidFill>
                <a:latin typeface="맑은 고딕"/>
                <a:ea typeface="맑은 고딕"/>
              </a:rPr>
              <a:t> </a:t>
            </a:r>
            <a:r>
              <a:rPr sz="1120" b="0" dirty="0" err="1">
                <a:solidFill>
                  <a:srgbClr val="1E2227"/>
                </a:solidFill>
                <a:latin typeface="맑은 고딕"/>
                <a:ea typeface="맑은 고딕"/>
              </a:rPr>
              <a:t>자리잡음</a:t>
            </a:r>
            <a:r>
              <a:rPr sz="1120" b="0" dirty="0">
                <a:solidFill>
                  <a:srgbClr val="1E2227"/>
                </a:solidFill>
                <a:latin typeface="맑은 고딕"/>
                <a:ea typeface="맑은 고딕"/>
              </a:rPr>
              <a:t> (</a:t>
            </a:r>
            <a:r>
              <a:rPr sz="1120" b="0" dirty="0" err="1">
                <a:solidFill>
                  <a:srgbClr val="1E2227"/>
                </a:solidFill>
                <a:latin typeface="맑은 고딕"/>
                <a:ea typeface="맑은 고딕"/>
              </a:rPr>
              <a:t>Korbak</a:t>
            </a:r>
            <a:r>
              <a:rPr sz="1120" b="0" dirty="0">
                <a:solidFill>
                  <a:srgbClr val="1E2227"/>
                </a:solidFill>
                <a:latin typeface="맑은 고딕"/>
                <a:ea typeface="맑은 고딕"/>
              </a:rPr>
              <a:t> 2025)</a:t>
            </a:r>
          </a:p>
          <a:p>
            <a:pPr algn="l">
              <a:lnSpc>
                <a:spcPct val="140000"/>
              </a:lnSpc>
              <a:spcAft>
                <a:spcPts val="450"/>
              </a:spcAft>
            </a:pPr>
            <a:r>
              <a:rPr sz="1040" b="0" dirty="0">
                <a:solidFill>
                  <a:srgbClr val="6B7480"/>
                </a:solidFill>
                <a:latin typeface="맑은 고딕"/>
                <a:ea typeface="맑은 고딕"/>
              </a:rPr>
              <a:t>Bogdan (2025) · Macar (2025) </a:t>
            </a:r>
            <a:r>
              <a:rPr sz="1040" b="0" dirty="0" err="1">
                <a:solidFill>
                  <a:srgbClr val="6B7480"/>
                </a:solidFill>
                <a:latin typeface="맑은 고딕"/>
                <a:ea typeface="맑은 고딕"/>
              </a:rPr>
              <a:t>개입</a:t>
            </a:r>
            <a:r>
              <a:rPr sz="1040" b="0" dirty="0">
                <a:solidFill>
                  <a:srgbClr val="6B7480"/>
                </a:solidFill>
                <a:latin typeface="맑은 고딕"/>
                <a:ea typeface="맑은 고딕"/>
              </a:rPr>
              <a:t> · </a:t>
            </a:r>
            <a:r>
              <a:rPr sz="1040" b="0" dirty="0" err="1">
                <a:solidFill>
                  <a:srgbClr val="6B7480"/>
                </a:solidFill>
                <a:latin typeface="맑은 고딕"/>
                <a:ea typeface="맑은 고딕"/>
              </a:rPr>
              <a:t>Korbak</a:t>
            </a:r>
            <a:r>
              <a:rPr sz="1040" b="0" dirty="0">
                <a:solidFill>
                  <a:srgbClr val="6B7480"/>
                </a:solidFill>
                <a:latin typeface="맑은 고딕"/>
                <a:ea typeface="맑은 고딕"/>
              </a:rPr>
              <a:t> (2025) </a:t>
            </a:r>
            <a:r>
              <a:rPr sz="1040" b="0" dirty="0" err="1">
                <a:solidFill>
                  <a:srgbClr val="6B7480"/>
                </a:solidFill>
                <a:latin typeface="맑은 고딕"/>
                <a:ea typeface="맑은 고딕"/>
              </a:rPr>
              <a:t>모니터링</a:t>
            </a:r>
            <a:endParaRPr sz="1040" b="0" dirty="0">
              <a:solidFill>
                <a:srgbClr val="6B7480"/>
              </a:solidFill>
              <a:latin typeface="맑은 고딕"/>
              <a:ea typeface="맑은 고딕"/>
            </a:endParaRPr>
          </a:p>
        </p:txBody>
      </p:sp>
      <p:sp>
        <p:nvSpPr>
          <p:cNvPr id="15" name="Rectangle 14"/>
          <p:cNvSpPr/>
          <p:nvPr/>
        </p:nvSpPr>
        <p:spPr>
          <a:xfrm>
            <a:off x="548640" y="4105811"/>
            <a:ext cx="11091672" cy="2324100"/>
          </a:xfrm>
          <a:prstGeom prst="rect">
            <a:avLst/>
          </a:prstGeom>
          <a:no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pPr>
            <a:r>
              <a:rPr sz="1250" b="1" dirty="0" err="1">
                <a:solidFill>
                  <a:srgbClr val="273A52"/>
                </a:solidFill>
                <a:latin typeface="맑은 고딕"/>
                <a:ea typeface="맑은 고딕"/>
              </a:rPr>
              <a:t>주장</a:t>
            </a:r>
            <a:r>
              <a:rPr sz="1250" b="1" dirty="0">
                <a:solidFill>
                  <a:srgbClr val="273A52"/>
                </a:solidFill>
                <a:latin typeface="맑은 고딕"/>
                <a:ea typeface="맑은 고딕"/>
              </a:rPr>
              <a:t> </a:t>
            </a:r>
            <a:r>
              <a:rPr sz="1250" b="1" dirty="0" err="1">
                <a:solidFill>
                  <a:srgbClr val="273A52"/>
                </a:solidFill>
                <a:latin typeface="맑은 고딕"/>
                <a:ea typeface="맑은 고딕"/>
              </a:rPr>
              <a:t>범위</a:t>
            </a:r>
            <a:r>
              <a:rPr sz="1250" b="1" dirty="0">
                <a:solidFill>
                  <a:srgbClr val="273A52"/>
                </a:solidFill>
                <a:latin typeface="맑은 고딕"/>
                <a:ea typeface="맑은 고딕"/>
              </a:rPr>
              <a:t> — </a:t>
            </a:r>
            <a:r>
              <a:rPr sz="1250" b="1" dirty="0" err="1">
                <a:solidFill>
                  <a:srgbClr val="273A52"/>
                </a:solidFill>
                <a:latin typeface="맑은 고딕"/>
                <a:ea typeface="맑은 고딕"/>
              </a:rPr>
              <a:t>트레이스가</a:t>
            </a:r>
            <a:r>
              <a:rPr sz="1250" b="1" dirty="0">
                <a:solidFill>
                  <a:srgbClr val="273A52"/>
                </a:solidFill>
                <a:latin typeface="맑은 고딕"/>
                <a:ea typeface="맑은 고딕"/>
              </a:rPr>
              <a:t> </a:t>
            </a:r>
            <a:r>
              <a:rPr sz="1250" b="1" dirty="0" err="1">
                <a:solidFill>
                  <a:srgbClr val="273A52"/>
                </a:solidFill>
                <a:latin typeface="맑은 고딕"/>
                <a:ea typeface="맑은 고딕"/>
              </a:rPr>
              <a:t>완벽한</a:t>
            </a:r>
            <a:r>
              <a:rPr sz="1250" b="1" dirty="0">
                <a:solidFill>
                  <a:srgbClr val="273A52"/>
                </a:solidFill>
                <a:latin typeface="맑은 고딕"/>
                <a:ea typeface="맑은 고딕"/>
              </a:rPr>
              <a:t> </a:t>
            </a:r>
            <a:r>
              <a:rPr sz="1250" b="1" dirty="0" err="1">
                <a:solidFill>
                  <a:srgbClr val="273A52"/>
                </a:solidFill>
                <a:latin typeface="맑은 고딕"/>
                <a:ea typeface="맑은 고딕"/>
              </a:rPr>
              <a:t>거울은</a:t>
            </a:r>
            <a:r>
              <a:rPr sz="1250" b="1" dirty="0">
                <a:solidFill>
                  <a:srgbClr val="273A52"/>
                </a:solidFill>
                <a:latin typeface="맑은 고딕"/>
                <a:ea typeface="맑은 고딕"/>
              </a:rPr>
              <a:t> </a:t>
            </a:r>
            <a:r>
              <a:rPr sz="1250" b="1" dirty="0" err="1">
                <a:solidFill>
                  <a:srgbClr val="273A52"/>
                </a:solidFill>
                <a:latin typeface="맑은 고딕"/>
                <a:ea typeface="맑은 고딕"/>
              </a:rPr>
              <a:t>아니어도</a:t>
            </a:r>
            <a:r>
              <a:rPr sz="1250" b="1" dirty="0">
                <a:solidFill>
                  <a:srgbClr val="273A52"/>
                </a:solidFill>
                <a:latin typeface="맑은 고딕"/>
                <a:ea typeface="맑은 고딕"/>
              </a:rPr>
              <a:t> </a:t>
            </a:r>
            <a:r>
              <a:rPr sz="1250" b="1" dirty="0" err="1">
                <a:solidFill>
                  <a:srgbClr val="273A52"/>
                </a:solidFill>
                <a:latin typeface="맑은 고딕"/>
                <a:ea typeface="맑은 고딕"/>
              </a:rPr>
              <a:t>진단</a:t>
            </a:r>
            <a:r>
              <a:rPr sz="1250" b="1" dirty="0">
                <a:solidFill>
                  <a:srgbClr val="273A52"/>
                </a:solidFill>
                <a:latin typeface="맑은 고딕"/>
                <a:ea typeface="맑은 고딕"/>
              </a:rPr>
              <a:t> </a:t>
            </a:r>
            <a:r>
              <a:rPr sz="1250" b="1" dirty="0" err="1">
                <a:solidFill>
                  <a:srgbClr val="273A52"/>
                </a:solidFill>
                <a:latin typeface="맑은 고딕"/>
                <a:ea typeface="맑은 고딕"/>
              </a:rPr>
              <a:t>기준으로</a:t>
            </a:r>
            <a:r>
              <a:rPr sz="1250" b="1" dirty="0">
                <a:solidFill>
                  <a:srgbClr val="273A52"/>
                </a:solidFill>
                <a:latin typeface="맑은 고딕"/>
                <a:ea typeface="맑은 고딕"/>
              </a:rPr>
              <a:t> </a:t>
            </a:r>
            <a:r>
              <a:rPr sz="1250" b="1" dirty="0" err="1">
                <a:solidFill>
                  <a:srgbClr val="273A52"/>
                </a:solidFill>
                <a:latin typeface="맑은 고딕"/>
                <a:ea typeface="맑은 고딕"/>
              </a:rPr>
              <a:t>삼는</a:t>
            </a:r>
            <a:r>
              <a:rPr sz="1250" b="1" dirty="0">
                <a:solidFill>
                  <a:srgbClr val="273A52"/>
                </a:solidFill>
                <a:latin typeface="맑은 고딕"/>
                <a:ea typeface="맑은 고딕"/>
              </a:rPr>
              <a:t> </a:t>
            </a:r>
            <a:r>
              <a:rPr sz="1250" b="1" dirty="0" err="1">
                <a:solidFill>
                  <a:srgbClr val="273A52"/>
                </a:solidFill>
                <a:latin typeface="맑은 고딕"/>
                <a:ea typeface="맑은 고딕"/>
              </a:rPr>
              <a:t>근거</a:t>
            </a:r>
            <a:endParaRPr sz="1250" b="1" dirty="0">
              <a:solidFill>
                <a:srgbClr val="273A52"/>
              </a:solidFill>
              <a:latin typeface="맑은 고딕"/>
              <a:ea typeface="맑은 고딕"/>
            </a:endParaRPr>
          </a:p>
          <a:p>
            <a:pPr algn="l">
              <a:lnSpc>
                <a:spcPct val="126000"/>
              </a:lnSpc>
              <a:spcAft>
                <a:spcPts val="450"/>
              </a:spcAft>
            </a:pPr>
            <a:r>
              <a:rPr sz="1100" b="1" dirty="0">
                <a:solidFill>
                  <a:srgbClr val="273A52"/>
                </a:solidFill>
                <a:latin typeface="맑은 고딕"/>
                <a:ea typeface="맑은 고딕"/>
              </a:rPr>
              <a:t>·  </a:t>
            </a:r>
            <a:r>
              <a:rPr sz="1100" b="1" dirty="0">
                <a:solidFill>
                  <a:srgbClr val="1E2227"/>
                </a:solidFill>
                <a:latin typeface="맑은 고딕"/>
                <a:ea typeface="맑은 고딕"/>
              </a:rPr>
              <a:t>Bogdan &amp; Macar (2025)</a:t>
            </a:r>
            <a:r>
              <a:rPr sz="1100" b="0" dirty="0">
                <a:solidFill>
                  <a:srgbClr val="1E2227"/>
                </a:solidFill>
                <a:latin typeface="맑은 고딕"/>
                <a:ea typeface="맑은 고딕"/>
              </a:rPr>
              <a:t> : </a:t>
            </a:r>
            <a:r>
              <a:rPr sz="1100" b="0" dirty="0">
                <a:solidFill>
                  <a:srgbClr val="6B7480"/>
                </a:solidFill>
                <a:latin typeface="맑은 고딕"/>
                <a:ea typeface="맑은 고딕"/>
              </a:rPr>
              <a:t>추론 중간의 문장 하나를 다른 문장으로 바꿔 넣고, 그 뒤를 여러 번 다시 생성해 답이 달라지는지 확인(=</a:t>
            </a:r>
            <a:r>
              <a:rPr sz="1100" b="0" dirty="0" err="1">
                <a:solidFill>
                  <a:srgbClr val="6B7480"/>
                </a:solidFill>
                <a:latin typeface="맑은 고딕"/>
                <a:ea typeface="맑은 고딕"/>
              </a:rPr>
              <a:t>재샘플링</a:t>
            </a:r>
            <a:r>
              <a:rPr sz="1100" b="0" dirty="0">
                <a:solidFill>
                  <a:srgbClr val="6B7480"/>
                </a:solidFill>
                <a:latin typeface="맑은 고딕"/>
                <a:ea typeface="맑은 고딕"/>
              </a:rPr>
              <a:t>)</a:t>
            </a:r>
            <a:br>
              <a:rPr lang="en-US" sz="1100" dirty="0">
                <a:solidFill>
                  <a:srgbClr val="1E2227"/>
                </a:solidFill>
                <a:latin typeface="맑은 고딕"/>
                <a:ea typeface="맑은 고딕"/>
              </a:rPr>
            </a:br>
            <a:r>
              <a:rPr sz="1100" dirty="0">
                <a:solidFill>
                  <a:srgbClr val="1E2227"/>
                </a:solidFill>
                <a:latin typeface="맑은 고딕"/>
                <a:ea typeface="맑은 고딕"/>
              </a:rPr>
              <a:t>→ 특정 문장이 최종 답을 실제로 좌우함 = 트레이스는 장식이 아니라 답을 만드는 실질 과정</a:t>
            </a:r>
          </a:p>
          <a:p>
            <a:pPr algn="l">
              <a:lnSpc>
                <a:spcPct val="126000"/>
              </a:lnSpc>
              <a:spcAft>
                <a:spcPts val="450"/>
              </a:spcAft>
            </a:pPr>
            <a:r>
              <a:rPr sz="1100" b="1" dirty="0">
                <a:solidFill>
                  <a:srgbClr val="273A52"/>
                </a:solidFill>
                <a:latin typeface="맑은 고딕"/>
                <a:ea typeface="맑은 고딕"/>
              </a:rPr>
              <a:t>·  </a:t>
            </a:r>
            <a:r>
              <a:rPr sz="1100" b="1" dirty="0">
                <a:solidFill>
                  <a:srgbClr val="1E2227"/>
                </a:solidFill>
                <a:latin typeface="맑은 고딕"/>
                <a:ea typeface="맑은 고딕"/>
              </a:rPr>
              <a:t>Korbak et al. (2025)</a:t>
            </a:r>
            <a:r>
              <a:rPr sz="1100" b="0" dirty="0">
                <a:solidFill>
                  <a:srgbClr val="1E2227"/>
                </a:solidFill>
                <a:latin typeface="맑은 고딕"/>
                <a:ea typeface="맑은 고딕"/>
              </a:rPr>
              <a:t> : </a:t>
            </a:r>
            <a:r>
              <a:rPr sz="1100" b="0" dirty="0">
                <a:solidFill>
                  <a:srgbClr val="6B7480"/>
                </a:solidFill>
                <a:latin typeface="맑은 고딕"/>
                <a:ea typeface="맑은 고딕"/>
              </a:rPr>
              <a:t>추론 과정을 사람이 읽으며 감시할 때 잡아낼 수 있는 오작동·위험 신호 사례를 </a:t>
            </a:r>
            <a:r>
              <a:rPr sz="1100" b="0" dirty="0" err="1">
                <a:solidFill>
                  <a:srgbClr val="6B7480"/>
                </a:solidFill>
                <a:latin typeface="맑은 고딕"/>
                <a:ea typeface="맑은 고딕"/>
              </a:rPr>
              <a:t>검토</a:t>
            </a:r>
            <a:r>
              <a:rPr sz="1100" b="0" dirty="0">
                <a:solidFill>
                  <a:srgbClr val="1E2227"/>
                </a:solidFill>
                <a:latin typeface="맑은 고딕"/>
                <a:ea typeface="맑은 고딕"/>
              </a:rPr>
              <a:t> </a:t>
            </a:r>
            <a:br>
              <a:rPr lang="en-US" sz="1100" dirty="0">
                <a:solidFill>
                  <a:srgbClr val="1E2227"/>
                </a:solidFill>
                <a:latin typeface="맑은 고딕"/>
                <a:ea typeface="맑은 고딕"/>
              </a:rPr>
            </a:br>
            <a:r>
              <a:rPr sz="1100" b="0" dirty="0">
                <a:solidFill>
                  <a:srgbClr val="1E2227"/>
                </a:solidFill>
                <a:latin typeface="맑은 고딕"/>
                <a:ea typeface="맑은 고딕"/>
              </a:rPr>
              <a:t>→ 완벽한 감시법은 아니어도 다른 방법으론 못 잡는 문제를 드러냄 = 불완전해도 유용한 신호</a:t>
            </a:r>
          </a:p>
          <a:p>
            <a:pPr algn="l">
              <a:lnSpc>
                <a:spcPct val="126000"/>
              </a:lnSpc>
              <a:spcAft>
                <a:spcPts val="450"/>
              </a:spcAft>
            </a:pPr>
            <a:r>
              <a:rPr sz="1100" b="1" dirty="0">
                <a:solidFill>
                  <a:srgbClr val="273A52"/>
                </a:solidFill>
                <a:latin typeface="맑은 고딕"/>
                <a:ea typeface="맑은 고딕"/>
              </a:rPr>
              <a:t>·  </a:t>
            </a:r>
            <a:r>
              <a:rPr sz="1100" b="1" dirty="0">
                <a:solidFill>
                  <a:srgbClr val="1E2227"/>
                </a:solidFill>
                <a:latin typeface="맑은 고딕"/>
                <a:ea typeface="맑은 고딕"/>
              </a:rPr>
              <a:t>Parcalabescu &amp; Frank (2024)</a:t>
            </a:r>
            <a:r>
              <a:rPr sz="1100" b="0" dirty="0">
                <a:solidFill>
                  <a:srgbClr val="1E2227"/>
                </a:solidFill>
                <a:latin typeface="맑은 고딕"/>
                <a:ea typeface="맑은 고딕"/>
              </a:rPr>
              <a:t> : </a:t>
            </a:r>
            <a:r>
              <a:rPr sz="1100" b="0" dirty="0">
                <a:solidFill>
                  <a:srgbClr val="6B7480"/>
                </a:solidFill>
                <a:latin typeface="맑은 고딕"/>
                <a:ea typeface="맑은 고딕"/>
              </a:rPr>
              <a:t>기존 '충실성 테스트'들이 실제로 무엇을 측정하는지 비교 분석</a:t>
            </a:r>
            <a:br>
              <a:rPr lang="en-US" sz="1100" dirty="0">
                <a:solidFill>
                  <a:srgbClr val="1E2227"/>
                </a:solidFill>
                <a:latin typeface="맑은 고딕"/>
                <a:ea typeface="맑은 고딕"/>
              </a:rPr>
            </a:br>
            <a:r>
              <a:rPr sz="1100" b="0" dirty="0">
                <a:solidFill>
                  <a:srgbClr val="1E2227"/>
                </a:solidFill>
                <a:latin typeface="맑은 고딕"/>
                <a:ea typeface="맑은 고딕"/>
              </a:rPr>
              <a:t>→ 기존 테스트가 재는 것은 내부 사고가 아니라 출력 간 일치(자기일관성) = 내부 충실성을 주장하지 않고 관찰 가능한 자기일관성만 측정</a:t>
            </a:r>
          </a:p>
          <a:p>
            <a:pPr algn="l">
              <a:lnSpc>
                <a:spcPct val="126000"/>
              </a:lnSpc>
              <a:spcAft>
                <a:spcPts val="450"/>
              </a:spcAft>
            </a:pPr>
            <a:r>
              <a:rPr sz="1100" b="0" dirty="0">
                <a:solidFill>
                  <a:srgbClr val="1E2227"/>
                </a:solidFill>
                <a:latin typeface="맑은 고딕"/>
                <a:ea typeface="맑은 고딕"/>
              </a:rPr>
              <a:t>⇒ 본 연구도 트레이스를 완벽한 거울로 전제하지 않되, 이 근거에 기대어 </a:t>
            </a:r>
            <a:r>
              <a:rPr sz="1100" b="1" dirty="0">
                <a:solidFill>
                  <a:srgbClr val="1E2227"/>
                </a:solidFill>
                <a:latin typeface="맑은 고딕"/>
                <a:ea typeface="맑은 고딕"/>
              </a:rPr>
              <a:t>트레이스를 진단 기준으로 삼는다</a:t>
            </a:r>
            <a:r>
              <a:rPr sz="1100" b="0" dirty="0">
                <a:solidFill>
                  <a:srgbClr val="1E2227"/>
                </a:solidFill>
                <a:latin typeface="맑은 고딕"/>
                <a:ea typeface="맑은 고딕"/>
              </a:rPr>
              <a:t>. </a:t>
            </a:r>
            <a:r>
              <a:rPr lang="ko-KR" altLang="en-US" sz="1100" b="0" dirty="0">
                <a:solidFill>
                  <a:srgbClr val="1E2227"/>
                </a:solidFill>
                <a:latin typeface="맑은 고딕"/>
                <a:ea typeface="맑은 고딕"/>
              </a:rPr>
              <a:t>주장은 </a:t>
            </a:r>
            <a:r>
              <a:rPr lang="ko-KR" altLang="en-US" sz="1100" b="1" dirty="0" err="1">
                <a:solidFill>
                  <a:srgbClr val="1E2227"/>
                </a:solidFill>
                <a:latin typeface="맑은 고딕"/>
                <a:ea typeface="맑은 고딕"/>
              </a:rPr>
              <a:t>자기일관성</a:t>
            </a:r>
            <a:r>
              <a:rPr lang="en-US" altLang="ko-KR" sz="1100" b="1" dirty="0">
                <a:solidFill>
                  <a:srgbClr val="1E2227"/>
                </a:solidFill>
                <a:latin typeface="맑은 고딕"/>
                <a:ea typeface="맑은 고딕"/>
              </a:rPr>
              <a:t>(</a:t>
            </a:r>
            <a:r>
              <a:rPr lang="en-US" sz="1100" b="1" dirty="0">
                <a:solidFill>
                  <a:srgbClr val="1E2227"/>
                </a:solidFill>
                <a:latin typeface="맑은 고딕"/>
                <a:ea typeface="맑은 고딕"/>
              </a:rPr>
              <a:t>L-a)</a:t>
            </a:r>
            <a:r>
              <a:rPr lang="ko-KR" altLang="en-US" sz="1100" b="1" dirty="0">
                <a:solidFill>
                  <a:srgbClr val="1E2227"/>
                </a:solidFill>
                <a:latin typeface="맑은 고딕"/>
                <a:ea typeface="맑은 고딕"/>
              </a:rPr>
              <a:t>과 인과적 사용</a:t>
            </a:r>
            <a:r>
              <a:rPr lang="en-US" altLang="ko-KR" sz="1100" b="1" dirty="0">
                <a:solidFill>
                  <a:srgbClr val="1E2227"/>
                </a:solidFill>
                <a:latin typeface="맑은 고딕"/>
                <a:ea typeface="맑은 고딕"/>
              </a:rPr>
              <a:t>(</a:t>
            </a:r>
            <a:r>
              <a:rPr lang="en-US" sz="1100" b="1" dirty="0">
                <a:solidFill>
                  <a:srgbClr val="1E2227"/>
                </a:solidFill>
                <a:latin typeface="맑은 고딕"/>
                <a:ea typeface="맑은 고딕"/>
              </a:rPr>
              <a:t>L-b)</a:t>
            </a:r>
            <a:r>
              <a:rPr lang="ko-KR" altLang="en-US" sz="1100" b="0" dirty="0" err="1">
                <a:solidFill>
                  <a:srgbClr val="1E2227"/>
                </a:solidFill>
                <a:latin typeface="맑은 고딕"/>
                <a:ea typeface="맑은 고딕"/>
              </a:rPr>
              <a:t>에</a:t>
            </a:r>
            <a:r>
              <a:rPr lang="ko-KR" altLang="en-US" sz="1100" b="0" dirty="0">
                <a:solidFill>
                  <a:srgbClr val="1E2227"/>
                </a:solidFill>
                <a:latin typeface="맑은 고딕"/>
                <a:ea typeface="맑은 고딕"/>
              </a:rPr>
              <a:t> 한정하고</a:t>
            </a:r>
            <a:r>
              <a:rPr lang="en-US" altLang="ko-KR" sz="1100" b="0" dirty="0">
                <a:solidFill>
                  <a:srgbClr val="1E2227"/>
                </a:solidFill>
                <a:latin typeface="맑은 고딕"/>
                <a:ea typeface="맑은 고딕"/>
              </a:rPr>
              <a:t>, </a:t>
            </a:r>
            <a:r>
              <a:rPr lang="ko-KR" altLang="en-US" sz="1100" b="1" dirty="0">
                <a:solidFill>
                  <a:srgbClr val="1E2227"/>
                </a:solidFill>
                <a:latin typeface="맑은 고딕"/>
                <a:ea typeface="맑은 고딕"/>
              </a:rPr>
              <a:t>내부 </a:t>
            </a:r>
            <a:r>
              <a:rPr lang="ko-KR" altLang="en-US" sz="1100" b="1" dirty="0" err="1">
                <a:solidFill>
                  <a:srgbClr val="1E2227"/>
                </a:solidFill>
                <a:latin typeface="맑은 고딕"/>
                <a:ea typeface="맑은 고딕"/>
              </a:rPr>
              <a:t>충실성</a:t>
            </a:r>
            <a:r>
              <a:rPr lang="en-US" altLang="ko-KR" sz="1100" b="1" dirty="0">
                <a:solidFill>
                  <a:srgbClr val="1E2227"/>
                </a:solidFill>
                <a:latin typeface="맑은 고딕"/>
                <a:ea typeface="맑은 고딕"/>
              </a:rPr>
              <a:t>(</a:t>
            </a:r>
            <a:r>
              <a:rPr lang="en-US" sz="1100" b="1" dirty="0">
                <a:solidFill>
                  <a:srgbClr val="1E2227"/>
                </a:solidFill>
                <a:latin typeface="맑은 고딕"/>
                <a:ea typeface="맑은 고딕"/>
              </a:rPr>
              <a:t>L-c)</a:t>
            </a:r>
            <a:r>
              <a:rPr lang="ko-KR" altLang="en-US" sz="1100" b="1" dirty="0">
                <a:solidFill>
                  <a:srgbClr val="1E2227"/>
                </a:solidFill>
                <a:latin typeface="맑은 고딕"/>
                <a:ea typeface="맑은 고딕"/>
              </a:rPr>
              <a:t>은 범위 밖</a:t>
            </a:r>
            <a:r>
              <a:rPr lang="en-US" altLang="ko-KR" sz="1100" b="1" dirty="0">
                <a:solidFill>
                  <a:srgbClr val="1E2227"/>
                </a:solidFill>
                <a:latin typeface="맑은 고딕"/>
                <a:ea typeface="맑은 고딕"/>
              </a:rPr>
              <a:t>(</a:t>
            </a:r>
            <a:r>
              <a:rPr lang="ko-KR" altLang="en-US" sz="1100" b="1" dirty="0">
                <a:solidFill>
                  <a:srgbClr val="1E2227"/>
                </a:solidFill>
                <a:latin typeface="맑은 고딕"/>
                <a:ea typeface="맑은 고딕"/>
              </a:rPr>
              <a:t>향후 연구</a:t>
            </a:r>
            <a:r>
              <a:rPr lang="en-US" altLang="ko-KR" sz="1100" b="1" dirty="0">
                <a:solidFill>
                  <a:srgbClr val="1E2227"/>
                </a:solidFill>
                <a:latin typeface="맑은 고딕"/>
                <a:ea typeface="맑은 고딕"/>
              </a:rPr>
              <a:t>)</a:t>
            </a:r>
            <a:r>
              <a:rPr lang="ko-KR" altLang="en-US" sz="1100" b="0" dirty="0" err="1">
                <a:solidFill>
                  <a:srgbClr val="1E2227"/>
                </a:solidFill>
                <a:latin typeface="맑은 고딕"/>
                <a:ea typeface="맑은 고딕"/>
              </a:rPr>
              <a:t>으로</a:t>
            </a:r>
            <a:r>
              <a:rPr lang="ko-KR" altLang="en-US" sz="1100" b="0" dirty="0">
                <a:solidFill>
                  <a:srgbClr val="1E2227"/>
                </a:solidFill>
                <a:latin typeface="맑은 고딕"/>
                <a:ea typeface="맑은 고딕"/>
              </a:rPr>
              <a:t> 둔다</a:t>
            </a:r>
          </a:p>
        </p:txBody>
      </p:sp>
    </p:spTree>
    <p:extLst>
      <p:ext uri="{BB962C8B-B14F-4D97-AF65-F5344CB8AC3E}">
        <p14:creationId xmlns:p14="http://schemas.microsoft.com/office/powerpoint/2010/main" val="1060863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0" dirty="0">
                <a:solidFill>
                  <a:srgbClr val="6B7480"/>
                </a:solidFill>
                <a:latin typeface="맑은 고딕"/>
                <a:ea typeface="맑은 고딕"/>
              </a:rPr>
              <a:t>§1 서론</a:t>
            </a:r>
            <a:r>
              <a:rPr lang="en-US" sz="1250" b="0" dirty="0">
                <a:solidFill>
                  <a:srgbClr val="B0B7C0"/>
                </a:solidFill>
                <a:latin typeface="맑은 고딕"/>
                <a:ea typeface="맑은 고딕"/>
              </a:rPr>
              <a:t>   ›   </a:t>
            </a:r>
            <a:r>
              <a:rPr lang="en-US" sz="1250" b="1" dirty="0">
                <a:solidFill>
                  <a:srgbClr val="273A52"/>
                </a:solidFill>
                <a:latin typeface="맑은 고딕"/>
                <a:ea typeface="맑은 고딕"/>
              </a:rPr>
              <a:t>§1.1 연구 동기</a:t>
            </a:r>
          </a:p>
        </p:txBody>
      </p:sp>
      <p:sp>
        <p:nvSpPr>
          <p:cNvPr id="3" name="TextBox 2"/>
          <p:cNvSpPr txBox="1"/>
          <p:nvPr/>
        </p:nvSpPr>
        <p:spPr>
          <a:xfrm>
            <a:off x="548640" y="585216"/>
            <a:ext cx="11091672" cy="502920"/>
          </a:xfrm>
          <a:prstGeom prst="rect">
            <a:avLst/>
          </a:prstGeom>
          <a:noFill/>
        </p:spPr>
        <p:txBody>
          <a:bodyPr wrap="square" lIns="0" tIns="0" rIns="0" bIns="0">
            <a:spAutoFit/>
          </a:bodyPr>
          <a:lstStyle/>
          <a:p>
            <a:pPr algn="l">
              <a:lnSpc>
                <a:spcPct val="122000"/>
              </a:lnSpc>
              <a:spcAft>
                <a:spcPts val="450"/>
              </a:spcAft>
            </a:pPr>
            <a:r>
              <a:rPr sz="2350" b="1">
                <a:solidFill>
                  <a:srgbClr val="273A52"/>
                </a:solidFill>
                <a:latin typeface="맑은 고딕"/>
                <a:ea typeface="맑은 고딕"/>
              </a:rPr>
              <a:t>연구 기여</a:t>
            </a: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274320"/>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7</a:t>
            </a:fld>
            <a:endParaRPr lang="en-US" altLang="ko-KR" sz="950">
              <a:solidFill>
                <a:srgbClr val="6B7480"/>
              </a:solidFill>
              <a:latin typeface="맑은 고딕"/>
              <a:ea typeface="맑은 고딕"/>
            </a:endParaRPr>
          </a:p>
        </p:txBody>
      </p:sp>
      <p:sp>
        <p:nvSpPr>
          <p:cNvPr id="7" name="Rectangle 6"/>
          <p:cNvSpPr/>
          <p:nvPr/>
        </p:nvSpPr>
        <p:spPr>
          <a:xfrm>
            <a:off x="548640" y="1270000"/>
            <a:ext cx="11091672" cy="666800"/>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45720" rIns="91440" bIns="45720" rtlCol="0" anchor="ctr" anchorCtr="0"/>
          <a:lstStyle/>
          <a:p>
            <a:pPr algn="l">
              <a:lnSpc>
                <a:spcPct val="122000"/>
              </a:lnSpc>
              <a:spcAft>
                <a:spcPts val="450"/>
              </a:spcAft>
            </a:pPr>
            <a:r>
              <a:rPr sz="1150" b="1" dirty="0" err="1">
                <a:solidFill>
                  <a:srgbClr val="C9D3E0"/>
                </a:solidFill>
                <a:latin typeface="맑은 고딕"/>
                <a:ea typeface="맑은 고딕"/>
              </a:rPr>
              <a:t>핵심</a:t>
            </a:r>
            <a:r>
              <a:rPr sz="1150" b="1" dirty="0">
                <a:solidFill>
                  <a:srgbClr val="C9D3E0"/>
                </a:solidFill>
                <a:latin typeface="맑은 고딕"/>
                <a:ea typeface="맑은 고딕"/>
              </a:rPr>
              <a:t> </a:t>
            </a:r>
            <a:r>
              <a:rPr sz="1150" b="1" dirty="0" err="1">
                <a:solidFill>
                  <a:srgbClr val="C9D3E0"/>
                </a:solidFill>
                <a:latin typeface="맑은 고딕"/>
                <a:ea typeface="맑은 고딕"/>
              </a:rPr>
              <a:t>질문</a:t>
            </a:r>
            <a:r>
              <a:rPr sz="1150" b="1" dirty="0">
                <a:solidFill>
                  <a:srgbClr val="C9D3E0"/>
                </a:solidFill>
                <a:latin typeface="맑은 고딕"/>
                <a:ea typeface="맑은 고딕"/>
              </a:rPr>
              <a:t>   </a:t>
            </a:r>
            <a:r>
              <a:rPr sz="1250" b="1" dirty="0">
                <a:solidFill>
                  <a:srgbClr val="FFFFFF"/>
                </a:solidFill>
                <a:latin typeface="맑은 고딕"/>
                <a:ea typeface="맑은 고딕"/>
              </a:rPr>
              <a:t>"RAG </a:t>
            </a:r>
            <a:r>
              <a:rPr sz="1250" b="1" dirty="0" err="1">
                <a:solidFill>
                  <a:srgbClr val="FFFFFF"/>
                </a:solidFill>
                <a:latin typeface="맑은 고딕"/>
                <a:ea typeface="맑은 고딕"/>
              </a:rPr>
              <a:t>충돌에서</a:t>
            </a:r>
            <a:r>
              <a:rPr sz="1250" b="1" dirty="0">
                <a:solidFill>
                  <a:srgbClr val="FFFFFF"/>
                </a:solidFill>
                <a:latin typeface="맑은 고딕"/>
                <a:ea typeface="맑은 고딕"/>
              </a:rPr>
              <a:t> </a:t>
            </a:r>
            <a:r>
              <a:rPr sz="1250" b="1" dirty="0" err="1">
                <a:solidFill>
                  <a:srgbClr val="FFFFFF"/>
                </a:solidFill>
                <a:latin typeface="맑은 고딕"/>
                <a:ea typeface="맑은 고딕"/>
              </a:rPr>
              <a:t>완화</a:t>
            </a:r>
            <a:r>
              <a:rPr sz="1250" b="1" dirty="0">
                <a:solidFill>
                  <a:srgbClr val="FFFFFF"/>
                </a:solidFill>
                <a:latin typeface="맑은 고딕"/>
                <a:ea typeface="맑은 고딕"/>
              </a:rPr>
              <a:t> </a:t>
            </a:r>
            <a:r>
              <a:rPr sz="1250" b="1" dirty="0" err="1">
                <a:solidFill>
                  <a:srgbClr val="FFFFFF"/>
                </a:solidFill>
                <a:latin typeface="맑은 고딕"/>
                <a:ea typeface="맑은 고딕"/>
              </a:rPr>
              <a:t>기법이</a:t>
            </a:r>
            <a:r>
              <a:rPr sz="1250" b="1" dirty="0">
                <a:solidFill>
                  <a:srgbClr val="FFFFFF"/>
                </a:solidFill>
                <a:latin typeface="맑은 고딕"/>
                <a:ea typeface="맑은 고딕"/>
              </a:rPr>
              <a:t> </a:t>
            </a:r>
            <a:r>
              <a:rPr sz="1250" b="1" dirty="0" err="1">
                <a:solidFill>
                  <a:srgbClr val="FFFFFF"/>
                </a:solidFill>
                <a:latin typeface="맑은 고딕"/>
                <a:ea typeface="맑은 고딕"/>
              </a:rPr>
              <a:t>올린</a:t>
            </a:r>
            <a:r>
              <a:rPr sz="1250" b="1" dirty="0">
                <a:solidFill>
                  <a:srgbClr val="FFFFFF"/>
                </a:solidFill>
                <a:latin typeface="맑은 고딕"/>
                <a:ea typeface="맑은 고딕"/>
              </a:rPr>
              <a:t> </a:t>
            </a:r>
            <a:r>
              <a:rPr sz="1250" b="1" dirty="0" err="1">
                <a:solidFill>
                  <a:srgbClr val="FFFFFF"/>
                </a:solidFill>
                <a:latin typeface="맑은 고딕"/>
                <a:ea typeface="맑은 고딕"/>
              </a:rPr>
              <a:t>정답률은</a:t>
            </a:r>
            <a:r>
              <a:rPr sz="1250" b="1" dirty="0">
                <a:solidFill>
                  <a:srgbClr val="FFFFFF"/>
                </a:solidFill>
                <a:latin typeface="맑은 고딕"/>
                <a:ea typeface="맑은 고딕"/>
              </a:rPr>
              <a:t>, </a:t>
            </a:r>
            <a:r>
              <a:rPr sz="1250" b="1" dirty="0" err="1">
                <a:solidFill>
                  <a:srgbClr val="FFFFFF"/>
                </a:solidFill>
                <a:latin typeface="맑은 고딕"/>
                <a:ea typeface="맑은 고딕"/>
              </a:rPr>
              <a:t>진짜</a:t>
            </a:r>
            <a:r>
              <a:rPr sz="1250" b="1" dirty="0">
                <a:solidFill>
                  <a:srgbClr val="FFFFFF"/>
                </a:solidFill>
                <a:latin typeface="맑은 고딕"/>
                <a:ea typeface="맑은 고딕"/>
              </a:rPr>
              <a:t> </a:t>
            </a:r>
            <a:r>
              <a:rPr sz="1250" b="1" dirty="0" err="1">
                <a:solidFill>
                  <a:srgbClr val="FFFFFF"/>
                </a:solidFill>
                <a:latin typeface="맑은 고딕"/>
                <a:ea typeface="맑은 고딕"/>
              </a:rPr>
              <a:t>대조</a:t>
            </a:r>
            <a:r>
              <a:rPr sz="1250" b="1" dirty="0">
                <a:solidFill>
                  <a:srgbClr val="FFFFFF"/>
                </a:solidFill>
                <a:latin typeface="맑은 고딕"/>
                <a:ea typeface="맑은 고딕"/>
              </a:rPr>
              <a:t> </a:t>
            </a:r>
            <a:r>
              <a:rPr sz="1250" b="1" dirty="0" err="1">
                <a:solidFill>
                  <a:srgbClr val="FFFFFF"/>
                </a:solidFill>
                <a:latin typeface="맑은 고딕"/>
                <a:ea typeface="맑은 고딕"/>
              </a:rPr>
              <a:t>추론에서</a:t>
            </a:r>
            <a:r>
              <a:rPr sz="1250" b="1" dirty="0">
                <a:solidFill>
                  <a:srgbClr val="FFFFFF"/>
                </a:solidFill>
                <a:latin typeface="맑은 고딕"/>
                <a:ea typeface="맑은 고딕"/>
              </a:rPr>
              <a:t> </a:t>
            </a:r>
            <a:r>
              <a:rPr sz="1250" b="1" dirty="0" err="1">
                <a:solidFill>
                  <a:srgbClr val="FFFFFF"/>
                </a:solidFill>
                <a:latin typeface="맑은 고딕"/>
                <a:ea typeface="맑은 고딕"/>
              </a:rPr>
              <a:t>온</a:t>
            </a:r>
            <a:r>
              <a:rPr sz="1250" b="1" dirty="0">
                <a:solidFill>
                  <a:srgbClr val="FFFFFF"/>
                </a:solidFill>
                <a:latin typeface="맑은 고딕"/>
                <a:ea typeface="맑은 고딕"/>
              </a:rPr>
              <a:t> </a:t>
            </a:r>
            <a:r>
              <a:rPr sz="1250" b="1" dirty="0" err="1">
                <a:solidFill>
                  <a:srgbClr val="FFFFFF"/>
                </a:solidFill>
                <a:latin typeface="맑은 고딕"/>
                <a:ea typeface="맑은 고딕"/>
              </a:rPr>
              <a:t>것인가</a:t>
            </a:r>
            <a:r>
              <a:rPr sz="1250" b="1" dirty="0">
                <a:solidFill>
                  <a:srgbClr val="FFFFFF"/>
                </a:solidFill>
                <a:latin typeface="맑은 고딕"/>
                <a:ea typeface="맑은 고딕"/>
              </a:rPr>
              <a:t>?"</a:t>
            </a:r>
          </a:p>
        </p:txBody>
      </p:sp>
      <p:sp>
        <p:nvSpPr>
          <p:cNvPr id="8" name="Rectangle 7"/>
          <p:cNvSpPr/>
          <p:nvPr/>
        </p:nvSpPr>
        <p:spPr>
          <a:xfrm>
            <a:off x="548640" y="2257008"/>
            <a:ext cx="3584448" cy="33020"/>
          </a:xfrm>
          <a:prstGeom prst="rect">
            <a:avLst/>
          </a:prstGeom>
          <a:solidFill>
            <a:srgbClr val="1E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2290028"/>
            <a:ext cx="3584448" cy="271018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pPr>
            <a:r>
              <a:rPr sz="1300" b="1" dirty="0" err="1">
                <a:solidFill>
                  <a:srgbClr val="273A52"/>
                </a:solidFill>
                <a:latin typeface="맑은 고딕"/>
                <a:ea typeface="맑은 고딕"/>
              </a:rPr>
              <a:t>기여</a:t>
            </a:r>
            <a:r>
              <a:rPr sz="1300" b="1" dirty="0">
                <a:solidFill>
                  <a:srgbClr val="273A52"/>
                </a:solidFill>
                <a:latin typeface="맑은 고딕"/>
                <a:ea typeface="맑은 고딕"/>
              </a:rPr>
              <a:t> 1 · </a:t>
            </a:r>
            <a:r>
              <a:rPr sz="1300" b="1" dirty="0" err="1">
                <a:solidFill>
                  <a:srgbClr val="273A52"/>
                </a:solidFill>
                <a:latin typeface="맑은 고딕"/>
                <a:ea typeface="맑은 고딕"/>
              </a:rPr>
              <a:t>완화</a:t>
            </a:r>
            <a:r>
              <a:rPr sz="1300" b="1" dirty="0">
                <a:solidFill>
                  <a:srgbClr val="273A52"/>
                </a:solidFill>
                <a:latin typeface="맑은 고딕"/>
                <a:ea typeface="맑은 고딕"/>
              </a:rPr>
              <a:t> </a:t>
            </a:r>
            <a:r>
              <a:rPr sz="1300" b="1" dirty="0" err="1">
                <a:solidFill>
                  <a:srgbClr val="273A52"/>
                </a:solidFill>
                <a:latin typeface="맑은 고딕"/>
                <a:ea typeface="맑은 고딕"/>
              </a:rPr>
              <a:t>이득</a:t>
            </a:r>
            <a:r>
              <a:rPr sz="1300" b="1" dirty="0">
                <a:solidFill>
                  <a:srgbClr val="273A52"/>
                </a:solidFill>
                <a:latin typeface="맑은 고딕"/>
                <a:ea typeface="맑은 고딕"/>
              </a:rPr>
              <a:t> </a:t>
            </a:r>
            <a:r>
              <a:rPr sz="1300" b="1" dirty="0" err="1">
                <a:solidFill>
                  <a:srgbClr val="273A52"/>
                </a:solidFill>
                <a:latin typeface="맑은 고딕"/>
                <a:ea typeface="맑은 고딕"/>
              </a:rPr>
              <a:t>분해</a:t>
            </a:r>
            <a:r>
              <a:rPr sz="1300" b="1" dirty="0">
                <a:solidFill>
                  <a:srgbClr val="273A52"/>
                </a:solidFill>
                <a:latin typeface="맑은 고딕"/>
                <a:ea typeface="맑은 고딕"/>
              </a:rPr>
              <a:t>  (</a:t>
            </a:r>
            <a:r>
              <a:rPr sz="1300" b="1" dirty="0" err="1">
                <a:solidFill>
                  <a:srgbClr val="273A52"/>
                </a:solidFill>
                <a:latin typeface="맑은 고딕"/>
                <a:ea typeface="맑은 고딕"/>
              </a:rPr>
              <a:t>핵심</a:t>
            </a:r>
            <a:r>
              <a:rPr sz="1300" b="1" dirty="0">
                <a:solidFill>
                  <a:srgbClr val="273A52"/>
                </a:solidFill>
                <a:latin typeface="맑은 고딕"/>
                <a:ea typeface="맑은 고딕"/>
              </a:rPr>
              <a:t> </a:t>
            </a:r>
            <a:r>
              <a:rPr sz="1300" b="1" dirty="0" err="1">
                <a:solidFill>
                  <a:srgbClr val="273A52"/>
                </a:solidFill>
                <a:latin typeface="맑은 고딕"/>
                <a:ea typeface="맑은 고딕"/>
              </a:rPr>
              <a:t>발견</a:t>
            </a:r>
            <a:r>
              <a:rPr sz="1300" b="1" dirty="0">
                <a:solidFill>
                  <a:srgbClr val="273A52"/>
                </a:solidFill>
                <a:latin typeface="맑은 고딕"/>
                <a:ea typeface="맑은 고딕"/>
              </a:rPr>
              <a:t>)</a:t>
            </a:r>
          </a:p>
          <a:p>
            <a:pPr algn="l">
              <a:lnSpc>
                <a:spcPct val="130000"/>
              </a:lnSpc>
              <a:spcAft>
                <a:spcPts val="450"/>
              </a:spcAft>
            </a:pPr>
            <a:r>
              <a:rPr sz="1120" b="0" dirty="0" err="1">
                <a:solidFill>
                  <a:srgbClr val="1E2227"/>
                </a:solidFill>
                <a:latin typeface="맑은 고딕"/>
                <a:ea typeface="맑은 고딕"/>
              </a:rPr>
              <a:t>완화</a:t>
            </a:r>
            <a:r>
              <a:rPr sz="1120" b="0" dirty="0">
                <a:solidFill>
                  <a:srgbClr val="1E2227"/>
                </a:solidFill>
                <a:latin typeface="맑은 고딕"/>
                <a:ea typeface="맑은 고딕"/>
              </a:rPr>
              <a:t> </a:t>
            </a:r>
            <a:r>
              <a:rPr sz="1120" b="0" dirty="0" err="1">
                <a:solidFill>
                  <a:srgbClr val="1E2227"/>
                </a:solidFill>
                <a:latin typeface="맑은 고딕"/>
                <a:ea typeface="맑은 고딕"/>
              </a:rPr>
              <a:t>기법이</a:t>
            </a:r>
            <a:r>
              <a:rPr sz="1120" b="0" dirty="0">
                <a:solidFill>
                  <a:srgbClr val="1E2227"/>
                </a:solidFill>
                <a:latin typeface="맑은 고딕"/>
                <a:ea typeface="맑은 고딕"/>
              </a:rPr>
              <a:t> </a:t>
            </a:r>
            <a:r>
              <a:rPr sz="1120" b="0" dirty="0" err="1">
                <a:solidFill>
                  <a:srgbClr val="1E2227"/>
                </a:solidFill>
                <a:latin typeface="맑은 고딕"/>
                <a:ea typeface="맑은 고딕"/>
              </a:rPr>
              <a:t>정답률을</a:t>
            </a:r>
            <a:r>
              <a:rPr sz="1120" b="0" dirty="0">
                <a:solidFill>
                  <a:srgbClr val="1E2227"/>
                </a:solidFill>
                <a:latin typeface="맑은 고딕"/>
                <a:ea typeface="맑은 고딕"/>
              </a:rPr>
              <a:t> </a:t>
            </a:r>
            <a:r>
              <a:rPr sz="1120" b="0" dirty="0" err="1">
                <a:solidFill>
                  <a:srgbClr val="1E2227"/>
                </a:solidFill>
                <a:latin typeface="맑은 고딕"/>
                <a:ea typeface="맑은 고딕"/>
              </a:rPr>
              <a:t>올렸을</a:t>
            </a:r>
            <a:r>
              <a:rPr sz="1120" b="0" dirty="0">
                <a:solidFill>
                  <a:srgbClr val="1E2227"/>
                </a:solidFill>
                <a:latin typeface="맑은 고딕"/>
                <a:ea typeface="맑은 고딕"/>
              </a:rPr>
              <a:t> </a:t>
            </a:r>
            <a:r>
              <a:rPr sz="1120" b="0" dirty="0" err="1">
                <a:solidFill>
                  <a:srgbClr val="1E2227"/>
                </a:solidFill>
                <a:latin typeface="맑은 고딕"/>
                <a:ea typeface="맑은 고딕"/>
              </a:rPr>
              <a:t>때</a:t>
            </a:r>
            <a:r>
              <a:rPr sz="1120" b="0" dirty="0">
                <a:solidFill>
                  <a:srgbClr val="1E2227"/>
                </a:solidFill>
                <a:latin typeface="맑은 고딕"/>
                <a:ea typeface="맑은 고딕"/>
              </a:rPr>
              <a:t>, </a:t>
            </a:r>
            <a:r>
              <a:rPr sz="1120" b="0" dirty="0" err="1">
                <a:solidFill>
                  <a:srgbClr val="1E2227"/>
                </a:solidFill>
                <a:latin typeface="맑은 고딕"/>
                <a:ea typeface="맑은 고딕"/>
              </a:rPr>
              <a:t>늘어난</a:t>
            </a:r>
            <a:r>
              <a:rPr sz="1120" b="0" dirty="0">
                <a:solidFill>
                  <a:srgbClr val="1E2227"/>
                </a:solidFill>
                <a:latin typeface="맑은 고딕"/>
                <a:ea typeface="맑은 고딕"/>
              </a:rPr>
              <a:t> </a:t>
            </a:r>
            <a:r>
              <a:rPr sz="1120" b="0" dirty="0" err="1">
                <a:solidFill>
                  <a:srgbClr val="1E2227"/>
                </a:solidFill>
                <a:latin typeface="맑은 고딕"/>
                <a:ea typeface="맑은 고딕"/>
              </a:rPr>
              <a:t>정답이</a:t>
            </a:r>
            <a:r>
              <a:rPr sz="1120" b="0" dirty="0">
                <a:solidFill>
                  <a:srgbClr val="1E2227"/>
                </a:solidFill>
                <a:latin typeface="맑은 고딕"/>
                <a:ea typeface="맑은 고딕"/>
              </a:rPr>
              <a:t> </a:t>
            </a:r>
            <a:r>
              <a:rPr sz="1120" b="1" dirty="0" err="1">
                <a:solidFill>
                  <a:srgbClr val="1E2227"/>
                </a:solidFill>
                <a:latin typeface="맑은 고딕"/>
                <a:ea typeface="맑은 고딕"/>
              </a:rPr>
              <a:t>진짜</a:t>
            </a:r>
            <a:r>
              <a:rPr sz="1120" b="1" dirty="0">
                <a:solidFill>
                  <a:srgbClr val="1E2227"/>
                </a:solidFill>
                <a:latin typeface="맑은 고딕"/>
                <a:ea typeface="맑은 고딕"/>
              </a:rPr>
              <a:t> </a:t>
            </a:r>
            <a:r>
              <a:rPr sz="1120" b="1" dirty="0" err="1">
                <a:solidFill>
                  <a:srgbClr val="1E2227"/>
                </a:solidFill>
                <a:latin typeface="맑은 고딕"/>
                <a:ea typeface="맑은 고딕"/>
              </a:rPr>
              <a:t>추론에서</a:t>
            </a:r>
            <a:r>
              <a:rPr sz="1120" b="1" dirty="0">
                <a:solidFill>
                  <a:srgbClr val="1E2227"/>
                </a:solidFill>
                <a:latin typeface="맑은 고딕"/>
                <a:ea typeface="맑은 고딕"/>
              </a:rPr>
              <a:t> </a:t>
            </a:r>
            <a:r>
              <a:rPr sz="1120" b="1" dirty="0" err="1">
                <a:solidFill>
                  <a:srgbClr val="1E2227"/>
                </a:solidFill>
                <a:latin typeface="맑은 고딕"/>
                <a:ea typeface="맑은 고딕"/>
              </a:rPr>
              <a:t>왔는지</a:t>
            </a:r>
            <a:r>
              <a:rPr sz="1120" b="1" dirty="0">
                <a:solidFill>
                  <a:srgbClr val="1E2227"/>
                </a:solidFill>
                <a:latin typeface="맑은 고딕"/>
                <a:ea typeface="맑은 고딕"/>
              </a:rPr>
              <a:t> </a:t>
            </a:r>
            <a:r>
              <a:rPr sz="1120" b="1" dirty="0" err="1">
                <a:solidFill>
                  <a:srgbClr val="1E2227"/>
                </a:solidFill>
                <a:latin typeface="맑은 고딕"/>
                <a:ea typeface="맑은 고딕"/>
              </a:rPr>
              <a:t>요행에서</a:t>
            </a:r>
            <a:r>
              <a:rPr sz="1120" b="1" dirty="0">
                <a:solidFill>
                  <a:srgbClr val="1E2227"/>
                </a:solidFill>
                <a:latin typeface="맑은 고딕"/>
                <a:ea typeface="맑은 고딕"/>
              </a:rPr>
              <a:t> </a:t>
            </a:r>
            <a:r>
              <a:rPr sz="1120" b="1" dirty="0" err="1">
                <a:solidFill>
                  <a:srgbClr val="1E2227"/>
                </a:solidFill>
                <a:latin typeface="맑은 고딕"/>
                <a:ea typeface="맑은 고딕"/>
              </a:rPr>
              <a:t>왔는지</a:t>
            </a:r>
            <a:r>
              <a:rPr sz="1120" b="0" dirty="0">
                <a:solidFill>
                  <a:srgbClr val="1E2227"/>
                </a:solidFill>
                <a:latin typeface="맑은 고딕"/>
                <a:ea typeface="맑은 고딕"/>
              </a:rPr>
              <a:t> </a:t>
            </a:r>
            <a:r>
              <a:rPr sz="1120" b="0" dirty="0" err="1">
                <a:solidFill>
                  <a:srgbClr val="1E2227"/>
                </a:solidFill>
                <a:latin typeface="맑은 고딕"/>
                <a:ea typeface="맑은 고딕"/>
              </a:rPr>
              <a:t>문항마다</a:t>
            </a:r>
            <a:r>
              <a:rPr sz="1120" b="0" dirty="0">
                <a:solidFill>
                  <a:srgbClr val="1E2227"/>
                </a:solidFill>
                <a:latin typeface="맑은 고딕"/>
                <a:ea typeface="맑은 고딕"/>
              </a:rPr>
              <a:t> </a:t>
            </a:r>
            <a:r>
              <a:rPr sz="1120" b="0" dirty="0" err="1">
                <a:solidFill>
                  <a:srgbClr val="1E2227"/>
                </a:solidFill>
                <a:latin typeface="맑은 고딕"/>
                <a:ea typeface="맑은 고딕"/>
              </a:rPr>
              <a:t>따져봄</a:t>
            </a:r>
            <a:endParaRPr sz="1120" b="0" dirty="0">
              <a:solidFill>
                <a:srgbClr val="1E2227"/>
              </a:solidFill>
              <a:latin typeface="맑은 고딕"/>
              <a:ea typeface="맑은 고딕"/>
            </a:endParaRPr>
          </a:p>
          <a:p>
            <a:pPr marL="171450" indent="-171450" algn="l">
              <a:lnSpc>
                <a:spcPct val="130000"/>
              </a:lnSpc>
              <a:spcAft>
                <a:spcPts val="450"/>
              </a:spcAft>
              <a:buFont typeface="Arial" panose="020B0604020202020204" pitchFamily="34" charset="0"/>
              <a:buChar char="•"/>
            </a:pPr>
            <a:r>
              <a:rPr sz="1120" b="1" dirty="0" err="1">
                <a:solidFill>
                  <a:srgbClr val="1E2227"/>
                </a:solidFill>
                <a:latin typeface="맑은 고딕"/>
                <a:ea typeface="맑은 고딕"/>
              </a:rPr>
              <a:t>진짜</a:t>
            </a:r>
            <a:r>
              <a:rPr sz="1120" b="1" dirty="0">
                <a:solidFill>
                  <a:srgbClr val="1E2227"/>
                </a:solidFill>
                <a:latin typeface="맑은 고딕"/>
                <a:ea typeface="맑은 고딕"/>
              </a:rPr>
              <a:t> </a:t>
            </a:r>
            <a:r>
              <a:rPr sz="1120" b="1" dirty="0" err="1">
                <a:solidFill>
                  <a:srgbClr val="1E2227"/>
                </a:solidFill>
                <a:latin typeface="맑은 고딕"/>
                <a:ea typeface="맑은 고딕"/>
              </a:rPr>
              <a:t>이득</a:t>
            </a:r>
            <a:r>
              <a:rPr sz="1120" b="1" dirty="0">
                <a:solidFill>
                  <a:srgbClr val="1E2227"/>
                </a:solidFill>
                <a:latin typeface="맑은 고딕"/>
                <a:ea typeface="맑은 고딕"/>
              </a:rPr>
              <a:t> </a:t>
            </a:r>
            <a:r>
              <a:rPr sz="1120" b="1" dirty="0" err="1">
                <a:solidFill>
                  <a:srgbClr val="1E2227"/>
                </a:solidFill>
                <a:latin typeface="맑은 고딕"/>
                <a:ea typeface="맑은 고딕"/>
              </a:rPr>
              <a:t>비율</a:t>
            </a:r>
            <a:r>
              <a:rPr sz="1120" b="1" dirty="0">
                <a:solidFill>
                  <a:srgbClr val="1E2227"/>
                </a:solidFill>
                <a:latin typeface="맑은 고딕"/>
                <a:ea typeface="맑은 고딕"/>
              </a:rPr>
              <a:t>(LGR)</a:t>
            </a:r>
            <a:r>
              <a:rPr sz="1120" b="0" dirty="0">
                <a:solidFill>
                  <a:srgbClr val="1E2227"/>
                </a:solidFill>
                <a:latin typeface="맑은 고딕"/>
                <a:ea typeface="맑은 고딕"/>
              </a:rPr>
              <a:t> — </a:t>
            </a:r>
            <a:r>
              <a:rPr sz="1120" b="0" dirty="0" err="1">
                <a:solidFill>
                  <a:srgbClr val="1E2227"/>
                </a:solidFill>
                <a:latin typeface="맑은 고딕"/>
                <a:ea typeface="맑은 고딕"/>
              </a:rPr>
              <a:t>늘어난</a:t>
            </a:r>
            <a:r>
              <a:rPr sz="1120" b="0" dirty="0">
                <a:solidFill>
                  <a:srgbClr val="1E2227"/>
                </a:solidFill>
                <a:latin typeface="맑은 고딕"/>
                <a:ea typeface="맑은 고딕"/>
              </a:rPr>
              <a:t> </a:t>
            </a:r>
            <a:r>
              <a:rPr sz="1120" b="0" dirty="0" err="1">
                <a:solidFill>
                  <a:srgbClr val="1E2227"/>
                </a:solidFill>
                <a:latin typeface="맑은 고딕"/>
                <a:ea typeface="맑은 고딕"/>
              </a:rPr>
              <a:t>정답</a:t>
            </a:r>
            <a:r>
              <a:rPr sz="1120" b="0" dirty="0">
                <a:solidFill>
                  <a:srgbClr val="1E2227"/>
                </a:solidFill>
                <a:latin typeface="맑은 고딕"/>
                <a:ea typeface="맑은 고딕"/>
              </a:rPr>
              <a:t> </a:t>
            </a:r>
            <a:r>
              <a:rPr sz="1120" b="0" dirty="0" err="1">
                <a:solidFill>
                  <a:srgbClr val="1E2227"/>
                </a:solidFill>
                <a:latin typeface="맑은 고딕"/>
                <a:ea typeface="맑은 고딕"/>
              </a:rPr>
              <a:t>중</a:t>
            </a:r>
            <a:r>
              <a:rPr sz="1120" b="0" dirty="0">
                <a:solidFill>
                  <a:srgbClr val="1E2227"/>
                </a:solidFill>
                <a:latin typeface="맑은 고딕"/>
                <a:ea typeface="맑은 고딕"/>
              </a:rPr>
              <a:t> </a:t>
            </a:r>
            <a:r>
              <a:rPr sz="1120" b="0" dirty="0" err="1">
                <a:solidFill>
                  <a:srgbClr val="1E2227"/>
                </a:solidFill>
                <a:latin typeface="맑은 고딕"/>
                <a:ea typeface="맑은 고딕"/>
              </a:rPr>
              <a:t>제대로</a:t>
            </a:r>
            <a:r>
              <a:rPr sz="1120" b="0" dirty="0">
                <a:solidFill>
                  <a:srgbClr val="1E2227"/>
                </a:solidFill>
                <a:latin typeface="맑은 고딕"/>
                <a:ea typeface="맑은 고딕"/>
              </a:rPr>
              <a:t> </a:t>
            </a:r>
            <a:r>
              <a:rPr sz="1120" b="0" dirty="0" err="1">
                <a:solidFill>
                  <a:srgbClr val="1E2227"/>
                </a:solidFill>
                <a:latin typeface="맑은 고딕"/>
                <a:ea typeface="맑은 고딕"/>
              </a:rPr>
              <a:t>추론해</a:t>
            </a:r>
            <a:r>
              <a:rPr sz="1120" b="0" dirty="0">
                <a:solidFill>
                  <a:srgbClr val="1E2227"/>
                </a:solidFill>
                <a:latin typeface="맑은 고딕"/>
                <a:ea typeface="맑은 고딕"/>
              </a:rPr>
              <a:t> </a:t>
            </a:r>
            <a:r>
              <a:rPr sz="1120" b="0" dirty="0" err="1">
                <a:solidFill>
                  <a:srgbClr val="1E2227"/>
                </a:solidFill>
                <a:latin typeface="맑은 고딕"/>
                <a:ea typeface="맑은 고딕"/>
              </a:rPr>
              <a:t>맞힌</a:t>
            </a:r>
            <a:r>
              <a:rPr sz="1120" b="0" dirty="0">
                <a:solidFill>
                  <a:srgbClr val="1E2227"/>
                </a:solidFill>
                <a:latin typeface="맑은 고딕"/>
                <a:ea typeface="맑은 고딕"/>
              </a:rPr>
              <a:t> </a:t>
            </a:r>
            <a:r>
              <a:rPr sz="1120" b="0" dirty="0" err="1">
                <a:solidFill>
                  <a:srgbClr val="1E2227"/>
                </a:solidFill>
                <a:latin typeface="맑은 고딕"/>
                <a:ea typeface="맑은 고딕"/>
              </a:rPr>
              <a:t>비율</a:t>
            </a:r>
            <a:endParaRPr sz="1120" b="0" dirty="0">
              <a:solidFill>
                <a:srgbClr val="1E2227"/>
              </a:solidFill>
              <a:latin typeface="맑은 고딕"/>
              <a:ea typeface="맑은 고딕"/>
            </a:endParaRPr>
          </a:p>
          <a:p>
            <a:pPr marL="171450" indent="-171450" algn="l">
              <a:lnSpc>
                <a:spcPct val="130000"/>
              </a:lnSpc>
              <a:spcAft>
                <a:spcPts val="450"/>
              </a:spcAft>
              <a:buFont typeface="Arial" panose="020B0604020202020204" pitchFamily="34" charset="0"/>
              <a:buChar char="•"/>
            </a:pPr>
            <a:r>
              <a:rPr sz="1120" b="1" dirty="0" err="1">
                <a:solidFill>
                  <a:srgbClr val="1E2227"/>
                </a:solidFill>
                <a:latin typeface="맑은 고딕"/>
                <a:ea typeface="맑은 고딕"/>
              </a:rPr>
              <a:t>숨은</a:t>
            </a:r>
            <a:r>
              <a:rPr sz="1120" b="1" dirty="0">
                <a:solidFill>
                  <a:srgbClr val="1E2227"/>
                </a:solidFill>
                <a:latin typeface="맑은 고딕"/>
                <a:ea typeface="맑은 고딕"/>
              </a:rPr>
              <a:t> </a:t>
            </a:r>
            <a:r>
              <a:rPr sz="1120" b="1" dirty="0" err="1">
                <a:solidFill>
                  <a:srgbClr val="1E2227"/>
                </a:solidFill>
                <a:latin typeface="맑은 고딕"/>
                <a:ea typeface="맑은 고딕"/>
              </a:rPr>
              <a:t>퇴행</a:t>
            </a:r>
            <a:r>
              <a:rPr sz="1120" b="1" dirty="0">
                <a:solidFill>
                  <a:srgbClr val="1E2227"/>
                </a:solidFill>
                <a:latin typeface="맑은 고딕"/>
                <a:ea typeface="맑은 고딕"/>
              </a:rPr>
              <a:t>(HR)</a:t>
            </a:r>
            <a:r>
              <a:rPr sz="1120" b="0" dirty="0">
                <a:solidFill>
                  <a:srgbClr val="1E2227"/>
                </a:solidFill>
                <a:latin typeface="맑은 고딕"/>
                <a:ea typeface="맑은 고딕"/>
              </a:rPr>
              <a:t> — </a:t>
            </a:r>
            <a:r>
              <a:rPr sz="1120" b="0" dirty="0" err="1">
                <a:solidFill>
                  <a:srgbClr val="1E2227"/>
                </a:solidFill>
                <a:latin typeface="맑은 고딕"/>
                <a:ea typeface="맑은 고딕"/>
              </a:rPr>
              <a:t>정답률은</a:t>
            </a:r>
            <a:r>
              <a:rPr sz="1120" b="0" dirty="0">
                <a:solidFill>
                  <a:srgbClr val="1E2227"/>
                </a:solidFill>
                <a:latin typeface="맑은 고딕"/>
                <a:ea typeface="맑은 고딕"/>
              </a:rPr>
              <a:t> </a:t>
            </a:r>
            <a:r>
              <a:rPr sz="1120" b="0" dirty="0" err="1">
                <a:solidFill>
                  <a:srgbClr val="1E2227"/>
                </a:solidFill>
                <a:latin typeface="맑은 고딕"/>
                <a:ea typeface="맑은 고딕"/>
              </a:rPr>
              <a:t>올랐지만</a:t>
            </a:r>
            <a:r>
              <a:rPr sz="1120" b="0" dirty="0">
                <a:solidFill>
                  <a:srgbClr val="1E2227"/>
                </a:solidFill>
                <a:latin typeface="맑은 고딕"/>
                <a:ea typeface="맑은 고딕"/>
              </a:rPr>
              <a:t> </a:t>
            </a:r>
            <a:r>
              <a:rPr sz="1120" b="0" dirty="0" err="1">
                <a:solidFill>
                  <a:srgbClr val="1E2227"/>
                </a:solidFill>
                <a:latin typeface="맑은 고딕"/>
                <a:ea typeface="맑은 고딕"/>
              </a:rPr>
              <a:t>뒤에서</a:t>
            </a:r>
            <a:r>
              <a:rPr sz="1120" b="0" dirty="0">
                <a:solidFill>
                  <a:srgbClr val="1E2227"/>
                </a:solidFill>
                <a:latin typeface="맑은 고딕"/>
                <a:ea typeface="맑은 고딕"/>
              </a:rPr>
              <a:t> </a:t>
            </a:r>
            <a:r>
              <a:rPr sz="1120" b="0" dirty="0" err="1">
                <a:solidFill>
                  <a:srgbClr val="1E2227"/>
                </a:solidFill>
                <a:latin typeface="맑은 고딕"/>
                <a:ea typeface="맑은 고딕"/>
              </a:rPr>
              <a:t>조용히</a:t>
            </a:r>
            <a:r>
              <a:rPr sz="1120" b="0" dirty="0">
                <a:solidFill>
                  <a:srgbClr val="1E2227"/>
                </a:solidFill>
                <a:latin typeface="맑은 고딕"/>
                <a:ea typeface="맑은 고딕"/>
              </a:rPr>
              <a:t> </a:t>
            </a:r>
            <a:r>
              <a:rPr sz="1120" b="0" dirty="0" err="1">
                <a:solidFill>
                  <a:srgbClr val="1E2227"/>
                </a:solidFill>
                <a:latin typeface="맑은 고딕"/>
                <a:ea typeface="맑은 고딕"/>
              </a:rPr>
              <a:t>망가진</a:t>
            </a:r>
            <a:r>
              <a:rPr sz="1120" b="0" dirty="0">
                <a:solidFill>
                  <a:srgbClr val="1E2227"/>
                </a:solidFill>
                <a:latin typeface="맑은 고딕"/>
                <a:ea typeface="맑은 고딕"/>
              </a:rPr>
              <a:t> </a:t>
            </a:r>
            <a:r>
              <a:rPr sz="1120" b="0" dirty="0" err="1">
                <a:solidFill>
                  <a:srgbClr val="1E2227"/>
                </a:solidFill>
                <a:latin typeface="맑은 고딕"/>
                <a:ea typeface="맑은 고딕"/>
              </a:rPr>
              <a:t>문항</a:t>
            </a:r>
            <a:endParaRPr sz="1120" b="0" dirty="0">
              <a:solidFill>
                <a:srgbClr val="1E2227"/>
              </a:solidFill>
              <a:latin typeface="맑은 고딕"/>
              <a:ea typeface="맑은 고딕"/>
            </a:endParaRPr>
          </a:p>
          <a:p>
            <a:pPr marL="171450" indent="-171450" algn="l">
              <a:lnSpc>
                <a:spcPct val="130000"/>
              </a:lnSpc>
              <a:spcAft>
                <a:spcPts val="450"/>
              </a:spcAft>
              <a:buFont typeface="Arial" panose="020B0604020202020204" pitchFamily="34" charset="0"/>
              <a:buChar char="•"/>
            </a:pPr>
            <a:r>
              <a:rPr sz="1120" b="1" dirty="0" err="1">
                <a:solidFill>
                  <a:srgbClr val="1E2227"/>
                </a:solidFill>
                <a:latin typeface="맑은 고딕"/>
                <a:ea typeface="맑은 고딕"/>
              </a:rPr>
              <a:t>경로별</a:t>
            </a:r>
            <a:r>
              <a:rPr sz="1120" b="1" dirty="0">
                <a:solidFill>
                  <a:srgbClr val="1E2227"/>
                </a:solidFill>
                <a:latin typeface="맑은 고딕"/>
                <a:ea typeface="맑은 고딕"/>
              </a:rPr>
              <a:t> </a:t>
            </a:r>
            <a:r>
              <a:rPr sz="1120" b="1" dirty="0" err="1">
                <a:solidFill>
                  <a:srgbClr val="1E2227"/>
                </a:solidFill>
                <a:latin typeface="맑은 고딕"/>
                <a:ea typeface="맑은 고딕"/>
              </a:rPr>
              <a:t>취약성</a:t>
            </a:r>
            <a:r>
              <a:rPr sz="1120" b="0" dirty="0">
                <a:solidFill>
                  <a:srgbClr val="1E2227"/>
                </a:solidFill>
                <a:latin typeface="맑은 고딕"/>
                <a:ea typeface="맑은 고딕"/>
              </a:rPr>
              <a:t> — </a:t>
            </a:r>
            <a:r>
              <a:rPr sz="1120" b="0" dirty="0" err="1">
                <a:solidFill>
                  <a:srgbClr val="1E2227"/>
                </a:solidFill>
                <a:latin typeface="맑은 고딕"/>
                <a:ea typeface="맑은 고딕"/>
              </a:rPr>
              <a:t>얻은</a:t>
            </a:r>
            <a:r>
              <a:rPr sz="1120" b="0" dirty="0">
                <a:solidFill>
                  <a:srgbClr val="1E2227"/>
                </a:solidFill>
                <a:latin typeface="맑은 고딕"/>
                <a:ea typeface="맑은 고딕"/>
              </a:rPr>
              <a:t> </a:t>
            </a:r>
            <a:r>
              <a:rPr sz="1120" b="0" dirty="0" err="1">
                <a:solidFill>
                  <a:srgbClr val="1E2227"/>
                </a:solidFill>
                <a:latin typeface="맑은 고딕"/>
                <a:ea typeface="맑은 고딕"/>
              </a:rPr>
              <a:t>정답이</a:t>
            </a:r>
            <a:r>
              <a:rPr sz="1120" b="0" dirty="0">
                <a:solidFill>
                  <a:srgbClr val="1E2227"/>
                </a:solidFill>
                <a:latin typeface="맑은 고딕"/>
                <a:ea typeface="맑은 고딕"/>
              </a:rPr>
              <a:t> </a:t>
            </a:r>
            <a:r>
              <a:rPr sz="1120" b="0" dirty="0" err="1">
                <a:solidFill>
                  <a:srgbClr val="1E2227"/>
                </a:solidFill>
                <a:latin typeface="맑은 고딕"/>
                <a:ea typeface="맑은 고딕"/>
              </a:rPr>
              <a:t>추론에 살짝</a:t>
            </a:r>
            <a:r>
              <a:rPr sz="1120" b="0" dirty="0">
                <a:solidFill>
                  <a:srgbClr val="1E2227"/>
                </a:solidFill>
                <a:latin typeface="맑은 고딕"/>
                <a:ea typeface="맑은 고딕"/>
              </a:rPr>
              <a:t> </a:t>
            </a:r>
            <a:r>
              <a:rPr sz="1120" b="0" dirty="0" err="1">
                <a:solidFill>
                  <a:srgbClr val="1E2227"/>
                </a:solidFill>
                <a:latin typeface="맑은 고딕"/>
                <a:ea typeface="맑은 고딕"/>
              </a:rPr>
              <a:t>개입하면</a:t>
            </a:r>
            <a:r>
              <a:rPr sz="1120" b="0" dirty="0">
                <a:solidFill>
                  <a:srgbClr val="1E2227"/>
                </a:solidFill>
                <a:latin typeface="맑은 고딕"/>
                <a:ea typeface="맑은 고딕"/>
              </a:rPr>
              <a:t> </a:t>
            </a:r>
            <a:r>
              <a:rPr sz="1120" b="0" dirty="0" err="1">
                <a:solidFill>
                  <a:srgbClr val="1E2227"/>
                </a:solidFill>
                <a:latin typeface="맑은 고딕"/>
                <a:ea typeface="맑은 고딕"/>
              </a:rPr>
              <a:t>뒤집히는지</a:t>
            </a:r>
            <a:endParaRPr sz="1120" b="0" dirty="0">
              <a:solidFill>
                <a:srgbClr val="1E2227"/>
              </a:solidFill>
              <a:latin typeface="맑은 고딕"/>
              <a:ea typeface="맑은 고딕"/>
            </a:endParaRPr>
          </a:p>
        </p:txBody>
      </p:sp>
      <p:sp>
        <p:nvSpPr>
          <p:cNvPr id="10" name="Rectangle 9"/>
          <p:cNvSpPr/>
          <p:nvPr/>
        </p:nvSpPr>
        <p:spPr>
          <a:xfrm>
            <a:off x="4297680" y="2257008"/>
            <a:ext cx="3584448" cy="33020"/>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97680" y="2290028"/>
            <a:ext cx="3584448" cy="271018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pPr>
            <a:r>
              <a:rPr sz="1300" b="1" dirty="0">
                <a:solidFill>
                  <a:srgbClr val="273A52"/>
                </a:solidFill>
                <a:latin typeface="맑은 고딕"/>
                <a:ea typeface="맑은 고딕"/>
              </a:rPr>
              <a:t>기여 2 · 진단 프레임워크  (도구)</a:t>
            </a:r>
          </a:p>
          <a:p>
            <a:pPr algn="l">
              <a:lnSpc>
                <a:spcPct val="130000"/>
              </a:lnSpc>
              <a:spcAft>
                <a:spcPts val="450"/>
              </a:spcAft>
            </a:pPr>
            <a:r>
              <a:rPr sz="1120" b="0" dirty="0">
                <a:solidFill>
                  <a:srgbClr val="1E2227"/>
                </a:solidFill>
                <a:latin typeface="맑은 고딕"/>
                <a:ea typeface="맑은 고딕"/>
              </a:rPr>
              <a:t>정답과 오답이 </a:t>
            </a:r>
            <a:r>
              <a:rPr sz="1120" b="1" dirty="0">
                <a:solidFill>
                  <a:srgbClr val="1E2227"/>
                </a:solidFill>
                <a:latin typeface="맑은 고딕"/>
                <a:ea typeface="맑은 고딕"/>
              </a:rPr>
              <a:t>각각 어떤 경로로 만들어졌는지</a:t>
            </a:r>
            <a:r>
              <a:rPr sz="1120" b="0" dirty="0">
                <a:solidFill>
                  <a:srgbClr val="1E2227"/>
                </a:solidFill>
                <a:latin typeface="맑은 고딕"/>
                <a:ea typeface="맑은 고딕"/>
              </a:rPr>
              <a:t> 단계별로 쪼개 보는 진단 </a:t>
            </a:r>
            <a:r>
              <a:rPr sz="1120" b="0" dirty="0" err="1">
                <a:solidFill>
                  <a:srgbClr val="1E2227"/>
                </a:solidFill>
                <a:latin typeface="맑은 고딕"/>
                <a:ea typeface="맑은 고딕"/>
              </a:rPr>
              <a:t>틀</a:t>
            </a:r>
            <a:r>
              <a:rPr sz="1120" b="0" dirty="0">
                <a:solidFill>
                  <a:srgbClr val="1E2227"/>
                </a:solidFill>
                <a:latin typeface="맑은 고딕"/>
                <a:ea typeface="맑은 고딕"/>
              </a:rPr>
              <a:t> </a:t>
            </a:r>
            <a:endParaRPr lang="en-US" sz="1120" b="0" dirty="0">
              <a:solidFill>
                <a:srgbClr val="1E2227"/>
              </a:solidFill>
              <a:latin typeface="맑은 고딕"/>
              <a:ea typeface="맑은 고딕"/>
            </a:endParaRPr>
          </a:p>
          <a:p>
            <a:pPr marL="171450" indent="-171450" algn="l">
              <a:lnSpc>
                <a:spcPct val="130000"/>
              </a:lnSpc>
              <a:spcAft>
                <a:spcPts val="450"/>
              </a:spcAft>
              <a:buFont typeface="Arial" panose="020B0604020202020204" pitchFamily="34" charset="0"/>
              <a:buChar char="•"/>
            </a:pPr>
            <a:r>
              <a:rPr lang="ko-KR" altLang="en-US" sz="1120" b="0" dirty="0" err="1">
                <a:solidFill>
                  <a:srgbClr val="1E2227"/>
                </a:solidFill>
                <a:latin typeface="맑은 고딕"/>
                <a:ea typeface="맑은 고딕"/>
              </a:rPr>
              <a:t>추론→답변</a:t>
            </a:r>
            <a:r>
              <a:rPr lang="ko-KR" altLang="en-US" sz="1120" b="0" dirty="0">
                <a:solidFill>
                  <a:srgbClr val="1E2227"/>
                </a:solidFill>
                <a:latin typeface="맑은 고딕"/>
                <a:ea typeface="맑은 고딕"/>
              </a:rPr>
              <a:t> 과정을 </a:t>
            </a:r>
            <a:r>
              <a:rPr lang="ko-KR" altLang="en-US" sz="1120" b="1" dirty="0">
                <a:solidFill>
                  <a:srgbClr val="1E2227"/>
                </a:solidFill>
                <a:latin typeface="맑은 고딕"/>
                <a:ea typeface="맑은 고딕"/>
              </a:rPr>
              <a:t>탐지</a:t>
            </a:r>
            <a:r>
              <a:rPr lang="en-US" altLang="ko-KR" sz="1120" b="1" dirty="0">
                <a:solidFill>
                  <a:srgbClr val="1E2227"/>
                </a:solidFill>
                <a:latin typeface="맑은 고딕"/>
                <a:ea typeface="맑은 고딕"/>
              </a:rPr>
              <a:t>·</a:t>
            </a:r>
            <a:r>
              <a:rPr lang="ko-KR" altLang="en-US" sz="1120" b="1" dirty="0">
                <a:solidFill>
                  <a:srgbClr val="1E2227"/>
                </a:solidFill>
                <a:latin typeface="맑은 고딕"/>
                <a:ea typeface="맑은 고딕"/>
              </a:rPr>
              <a:t>해소</a:t>
            </a:r>
            <a:r>
              <a:rPr lang="en-US" altLang="ko-KR" sz="1120" b="1" dirty="0">
                <a:solidFill>
                  <a:srgbClr val="1E2227"/>
                </a:solidFill>
                <a:latin typeface="맑은 고딕"/>
                <a:ea typeface="맑은 고딕"/>
              </a:rPr>
              <a:t>·</a:t>
            </a:r>
            <a:r>
              <a:rPr lang="ko-KR" altLang="en-US" sz="1120" b="1" dirty="0">
                <a:solidFill>
                  <a:srgbClr val="1E2227"/>
                </a:solidFill>
                <a:latin typeface="맑은 고딕"/>
                <a:ea typeface="맑은 고딕"/>
              </a:rPr>
              <a:t>표출 </a:t>
            </a:r>
            <a:r>
              <a:rPr lang="en-US" altLang="ko-KR" sz="1120" b="1" dirty="0">
                <a:solidFill>
                  <a:srgbClr val="1E2227"/>
                </a:solidFill>
                <a:latin typeface="맑은 고딕"/>
                <a:ea typeface="맑은 고딕"/>
              </a:rPr>
              <a:t>3</a:t>
            </a:r>
            <a:r>
              <a:rPr lang="ko-KR" altLang="en-US" sz="1120" b="1" dirty="0">
                <a:solidFill>
                  <a:srgbClr val="1E2227"/>
                </a:solidFill>
                <a:latin typeface="맑은 고딕"/>
                <a:ea typeface="맑은 고딕"/>
              </a:rPr>
              <a:t>단계</a:t>
            </a:r>
            <a:r>
              <a:rPr lang="ko-KR" altLang="en-US" sz="1120" b="0" dirty="0">
                <a:solidFill>
                  <a:srgbClr val="1E2227"/>
                </a:solidFill>
                <a:latin typeface="맑은 고딕"/>
                <a:ea typeface="맑은 고딕"/>
              </a:rPr>
              <a:t>로 나눠 </a:t>
            </a:r>
            <a:r>
              <a:rPr lang="ko-KR" altLang="en-US" sz="1120" b="0" dirty="0" err="1">
                <a:solidFill>
                  <a:srgbClr val="1E2227"/>
                </a:solidFill>
                <a:latin typeface="맑은 고딕"/>
                <a:ea typeface="맑은 고딕"/>
              </a:rPr>
              <a:t>라벨링</a:t>
            </a:r>
            <a:endParaRPr lang="ko-KR" altLang="en-US" sz="1120" b="0" dirty="0">
              <a:solidFill>
                <a:srgbClr val="1E2227"/>
              </a:solidFill>
              <a:latin typeface="맑은 고딕"/>
              <a:ea typeface="맑은 고딕"/>
            </a:endParaRPr>
          </a:p>
          <a:p>
            <a:pPr marL="171450" indent="-171450" algn="l">
              <a:lnSpc>
                <a:spcPct val="130000"/>
              </a:lnSpc>
              <a:spcAft>
                <a:spcPts val="450"/>
              </a:spcAft>
              <a:buFont typeface="Arial" panose="020B0604020202020204" pitchFamily="34" charset="0"/>
              <a:buChar char="•"/>
            </a:pPr>
            <a:r>
              <a:rPr sz="1120" b="0" dirty="0" err="1">
                <a:solidFill>
                  <a:srgbClr val="1E2227"/>
                </a:solidFill>
                <a:latin typeface="맑은 고딕"/>
                <a:ea typeface="맑은 고딕"/>
              </a:rPr>
              <a:t>맞힌</a:t>
            </a:r>
            <a:r>
              <a:rPr sz="1120" b="0" dirty="0">
                <a:solidFill>
                  <a:srgbClr val="1E2227"/>
                </a:solidFill>
                <a:latin typeface="맑은 고딕"/>
                <a:ea typeface="맑은 고딕"/>
              </a:rPr>
              <a:t> 정답을 </a:t>
            </a:r>
            <a:r>
              <a:rPr sz="1120" b="1" dirty="0">
                <a:solidFill>
                  <a:srgbClr val="1E2227"/>
                </a:solidFill>
                <a:latin typeface="맑은 고딕"/>
                <a:ea typeface="맑은 고딕"/>
              </a:rPr>
              <a:t>4가지 경로 중 하나로 겹치지 않게 분류</a:t>
            </a:r>
            <a:r>
              <a:rPr sz="1120" b="0" dirty="0">
                <a:solidFill>
                  <a:srgbClr val="1E2227"/>
                </a:solidFill>
                <a:latin typeface="맑은 고딕"/>
                <a:ea typeface="맑은 고딕"/>
              </a:rPr>
              <a:t> — 정상 · 도약(Shortcut) · 불협(Discordant Hit) · 맹목(Blind-Hit)</a:t>
            </a:r>
          </a:p>
        </p:txBody>
      </p:sp>
      <p:sp>
        <p:nvSpPr>
          <p:cNvPr id="12" name="Rectangle 11"/>
          <p:cNvSpPr/>
          <p:nvPr/>
        </p:nvSpPr>
        <p:spPr>
          <a:xfrm>
            <a:off x="8046720" y="2257008"/>
            <a:ext cx="3584448" cy="33020"/>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46720" y="2290028"/>
            <a:ext cx="3584448" cy="271018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pPr>
            <a:r>
              <a:rPr sz="1300" b="1" dirty="0">
                <a:solidFill>
                  <a:srgbClr val="273A52"/>
                </a:solidFill>
                <a:latin typeface="맑은 고딕"/>
                <a:ea typeface="맑은 고딕"/>
              </a:rPr>
              <a:t>기여 3 · 검증 — 충돌 고유성·인과성</a:t>
            </a:r>
          </a:p>
          <a:p>
            <a:pPr algn="l">
              <a:lnSpc>
                <a:spcPct val="130000"/>
              </a:lnSpc>
              <a:spcAft>
                <a:spcPts val="450"/>
              </a:spcAft>
            </a:pPr>
            <a:r>
              <a:rPr sz="1120" b="0" dirty="0">
                <a:solidFill>
                  <a:srgbClr val="1E2227"/>
                </a:solidFill>
                <a:latin typeface="맑은 고딕"/>
                <a:ea typeface="맑은 고딕"/>
              </a:rPr>
              <a:t>관측된 실패·이득이 </a:t>
            </a:r>
            <a:r>
              <a:rPr sz="1120" b="1" dirty="0">
                <a:solidFill>
                  <a:srgbClr val="1E2227"/>
                </a:solidFill>
                <a:latin typeface="맑은 고딕"/>
                <a:ea typeface="맑은 고딕"/>
              </a:rPr>
              <a:t>난이도가 아닌 충돌 고유의 것</a:t>
            </a:r>
            <a:r>
              <a:rPr sz="1120" b="0" dirty="0">
                <a:solidFill>
                  <a:srgbClr val="1E2227"/>
                </a:solidFill>
                <a:latin typeface="맑은 고딕"/>
                <a:ea typeface="맑은 고딕"/>
              </a:rPr>
              <a:t>이고, </a:t>
            </a:r>
            <a:r>
              <a:rPr sz="1120" b="1" dirty="0">
                <a:solidFill>
                  <a:srgbClr val="1E2227"/>
                </a:solidFill>
                <a:latin typeface="맑은 고딕"/>
                <a:ea typeface="맑은 고딕"/>
              </a:rPr>
              <a:t>평가에 쓰는 추론이 답을 실제로 구동</a:t>
            </a:r>
            <a:r>
              <a:rPr sz="1120" b="0" dirty="0">
                <a:solidFill>
                  <a:srgbClr val="1E2227"/>
                </a:solidFill>
                <a:latin typeface="맑은 고딕"/>
                <a:ea typeface="맑은 고딕"/>
              </a:rPr>
              <a:t>함을 대조군·개입 실험으로 확인</a:t>
            </a:r>
          </a:p>
          <a:p>
            <a:pPr marL="171450" indent="-171450" algn="l">
              <a:lnSpc>
                <a:spcPct val="130000"/>
              </a:lnSpc>
              <a:spcAft>
                <a:spcPts val="450"/>
              </a:spcAft>
              <a:buFont typeface="Arial" panose="020B0604020202020204" pitchFamily="34" charset="0"/>
              <a:buChar char="•"/>
            </a:pPr>
            <a:r>
              <a:rPr sz="1120" b="1" dirty="0" err="1">
                <a:solidFill>
                  <a:srgbClr val="1E2227"/>
                </a:solidFill>
                <a:latin typeface="맑은 고딕"/>
                <a:ea typeface="맑은 고딕"/>
              </a:rPr>
              <a:t>충돌</a:t>
            </a:r>
            <a:r>
              <a:rPr sz="1120" b="1" dirty="0">
                <a:solidFill>
                  <a:srgbClr val="1E2227"/>
                </a:solidFill>
                <a:latin typeface="맑은 고딕"/>
                <a:ea typeface="맑은 고딕"/>
              </a:rPr>
              <a:t> 때문인지 확인</a:t>
            </a:r>
            <a:r>
              <a:rPr sz="1120" b="0" dirty="0">
                <a:solidFill>
                  <a:srgbClr val="1E2227"/>
                </a:solidFill>
                <a:latin typeface="맑은 고딕"/>
                <a:ea typeface="맑은 고딕"/>
              </a:rPr>
              <a:t> — 충돌 없는 대조군과 비교해, 그냥 문제가 어려워서가 아님을 가려냄</a:t>
            </a:r>
          </a:p>
          <a:p>
            <a:pPr marL="171450" indent="-171450" algn="l">
              <a:lnSpc>
                <a:spcPct val="130000"/>
              </a:lnSpc>
              <a:spcAft>
                <a:spcPts val="450"/>
              </a:spcAft>
              <a:buFont typeface="Arial" panose="020B0604020202020204" pitchFamily="34" charset="0"/>
              <a:buChar char="•"/>
            </a:pPr>
            <a:r>
              <a:rPr sz="1120" b="1" dirty="0" err="1">
                <a:solidFill>
                  <a:srgbClr val="1E2227"/>
                </a:solidFill>
                <a:latin typeface="맑은 고딕"/>
                <a:ea typeface="맑은 고딕"/>
              </a:rPr>
              <a:t>추론이</a:t>
            </a:r>
            <a:r>
              <a:rPr sz="1120" b="1" dirty="0">
                <a:solidFill>
                  <a:srgbClr val="1E2227"/>
                </a:solidFill>
                <a:latin typeface="맑은 고딕"/>
                <a:ea typeface="맑은 고딕"/>
              </a:rPr>
              <a:t> 답을 실제로 구동하는지(인과적 사용·L-b) 확인</a:t>
            </a:r>
            <a:r>
              <a:rPr sz="1120" b="0" dirty="0">
                <a:solidFill>
                  <a:srgbClr val="1E2227"/>
                </a:solidFill>
                <a:latin typeface="맑은 고딕"/>
                <a:ea typeface="맑은 고딕"/>
              </a:rPr>
              <a:t> — 추론 과정 도중을 잘라보거나 다시 생성해, 추론이 답을 실제로 좌우하는지 검증</a:t>
            </a:r>
          </a:p>
        </p:txBody>
      </p:sp>
      <p:sp>
        <p:nvSpPr>
          <p:cNvPr id="14" name="TextBox 13"/>
          <p:cNvSpPr txBox="1"/>
          <p:nvPr/>
        </p:nvSpPr>
        <p:spPr>
          <a:xfrm>
            <a:off x="548640" y="5309428"/>
            <a:ext cx="11091672" cy="816827"/>
          </a:xfrm>
          <a:prstGeom prst="rect">
            <a:avLst/>
          </a:prstGeom>
          <a:noFill/>
        </p:spPr>
        <p:txBody>
          <a:bodyPr wrap="square" lIns="91440" tIns="45720" rIns="91440" bIns="45720" anchor="ctr" anchorCtr="0">
            <a:spAutoFit/>
          </a:bodyPr>
          <a:lstStyle/>
          <a:p>
            <a:pPr algn="l">
              <a:spcAft>
                <a:spcPts val="300"/>
              </a:spcAft>
            </a:pPr>
            <a:r>
              <a:rPr lang="ko-KR" sz="1300" b="1" dirty="0">
                <a:solidFill>
                  <a:srgbClr val="273A52"/>
                </a:solidFill>
                <a:latin typeface="맑은 고딕"/>
                <a:ea typeface="맑은 고딕"/>
              </a:rPr>
              <a:t>종합</a:t>
            </a:r>
            <a:r>
              <a:rPr lang="ko-KR" sz="1200" b="0" dirty="0">
                <a:solidFill>
                  <a:srgbClr val="6B7480"/>
                </a:solidFill>
                <a:latin typeface="맑은 고딕"/>
                <a:ea typeface="맑은 고딕"/>
              </a:rPr>
              <a:t>  —  현상의 관찰을 넘어</a:t>
            </a:r>
          </a:p>
          <a:p>
            <a:pPr algn="l">
              <a:lnSpc>
                <a:spcPct val="140000"/>
              </a:lnSpc>
              <a:spcAft>
                <a:spcPts val="450"/>
              </a:spcAft>
            </a:pPr>
            <a:r>
              <a:rPr lang="ko-KR" sz="1200" b="0" dirty="0">
                <a:solidFill>
                  <a:srgbClr val="6B7480"/>
                </a:solidFill>
                <a:latin typeface="맑은 고딕"/>
                <a:ea typeface="맑은 고딕"/>
              </a:rPr>
              <a:t>완화가 올린 정답률이 진짜인지 </a:t>
            </a:r>
            <a:r>
              <a:rPr lang="ko-KR" sz="1200" b="1" dirty="0">
                <a:solidFill>
                  <a:srgbClr val="273A52"/>
                </a:solidFill>
                <a:latin typeface="맑은 고딕"/>
                <a:ea typeface="맑은 고딕"/>
              </a:rPr>
              <a:t>문항·경로 단위로 따져 검증</a:t>
            </a:r>
            <a:r>
              <a:rPr lang="ko-KR" sz="1200" b="0" dirty="0">
                <a:solidFill>
                  <a:srgbClr val="6B7480"/>
                </a:solidFill>
                <a:latin typeface="맑은 고딕"/>
                <a:ea typeface="맑은 고딕"/>
              </a:rPr>
              <a:t>하고(기여 1), 그 검증을 가능하게 하는 </a:t>
            </a:r>
            <a:r>
              <a:rPr lang="ko-KR" sz="1200" b="1" dirty="0">
                <a:solidFill>
                  <a:srgbClr val="273A52"/>
                </a:solidFill>
                <a:latin typeface="맑은 고딕"/>
                <a:ea typeface="맑은 고딕"/>
              </a:rPr>
              <a:t>3단계 진단 프레임워크를 정립</a:t>
            </a:r>
            <a:r>
              <a:rPr lang="ko-KR" sz="1200" b="0" dirty="0">
                <a:solidFill>
                  <a:srgbClr val="6B7480"/>
                </a:solidFill>
                <a:latin typeface="맑은 고딕"/>
                <a:ea typeface="맑은 고딕"/>
              </a:rPr>
              <a:t>하며(기여 2), 관측이 </a:t>
            </a:r>
            <a:r>
              <a:rPr lang="ko-KR" sz="1200" b="1" dirty="0">
                <a:solidFill>
                  <a:srgbClr val="273A52"/>
                </a:solidFill>
                <a:latin typeface="맑은 고딕"/>
                <a:ea typeface="맑은 고딕"/>
              </a:rPr>
              <a:t>난이도가 아닌 충돌 고유의 실패인지·추론이 답을 인과적으로 구동하는지 검증</a:t>
            </a:r>
            <a:r>
              <a:rPr lang="ko-KR" sz="1200" b="0" dirty="0">
                <a:solidFill>
                  <a:srgbClr val="6B7480"/>
                </a:solidFill>
                <a:latin typeface="맑은 고딕"/>
                <a:ea typeface="맑은 고딕"/>
              </a:rPr>
              <a:t>한다(기여 3).</a:t>
            </a:r>
          </a:p>
        </p:txBody>
      </p:sp>
    </p:spTree>
    <p:extLst>
      <p:ext uri="{BB962C8B-B14F-4D97-AF65-F5344CB8AC3E}">
        <p14:creationId xmlns:p14="http://schemas.microsoft.com/office/powerpoint/2010/main" val="3125599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0" dirty="0">
                <a:solidFill>
                  <a:srgbClr val="6B7480"/>
                </a:solidFill>
                <a:latin typeface="맑은 고딕"/>
                <a:ea typeface="맑은 고딕"/>
              </a:rPr>
              <a:t>§1 서론</a:t>
            </a:r>
            <a:r>
              <a:rPr lang="en-US" sz="1250" b="0" dirty="0">
                <a:solidFill>
                  <a:srgbClr val="B0B7C0"/>
                </a:solidFill>
                <a:latin typeface="맑은 고딕"/>
                <a:ea typeface="맑은 고딕"/>
              </a:rPr>
              <a:t>   ›   </a:t>
            </a:r>
            <a:r>
              <a:rPr lang="en-US" sz="1250" b="1" dirty="0">
                <a:solidFill>
                  <a:srgbClr val="273A52"/>
                </a:solidFill>
                <a:latin typeface="맑은 고딕"/>
                <a:ea typeface="맑은 고딕"/>
              </a:rPr>
              <a:t>§1.2 연구 질문</a:t>
            </a:r>
          </a:p>
        </p:txBody>
      </p:sp>
      <p:sp>
        <p:nvSpPr>
          <p:cNvPr id="3" name="TextBox 2"/>
          <p:cNvSpPr txBox="1"/>
          <p:nvPr/>
        </p:nvSpPr>
        <p:spPr>
          <a:xfrm>
            <a:off x="548640" y="585216"/>
            <a:ext cx="11091672" cy="396647"/>
          </a:xfrm>
          <a:prstGeom prst="rect">
            <a:avLst/>
          </a:prstGeom>
          <a:noFill/>
        </p:spPr>
        <p:txBody>
          <a:bodyPr wrap="square" lIns="0" tIns="0" rIns="0" bIns="0">
            <a:spAutoFit/>
          </a:bodyPr>
          <a:lstStyle/>
          <a:p>
            <a:pPr algn="l">
              <a:lnSpc>
                <a:spcPct val="122000"/>
              </a:lnSpc>
              <a:spcAft>
                <a:spcPts val="450"/>
              </a:spcAft>
            </a:pPr>
            <a:r>
              <a:rPr sz="2350" b="1" dirty="0">
                <a:solidFill>
                  <a:srgbClr val="273A52"/>
                </a:solidFill>
                <a:latin typeface="맑은 고딕"/>
                <a:ea typeface="맑은 고딕"/>
              </a:rPr>
              <a:t>연구 질문과 핵심 개념</a:t>
            </a: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274320"/>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8</a:t>
            </a:fld>
            <a:endParaRPr lang="en-US" altLang="ko-KR" sz="950">
              <a:solidFill>
                <a:srgbClr val="6B7480"/>
              </a:solidFill>
              <a:latin typeface="맑은 고딕"/>
              <a:ea typeface="맑은 고딕"/>
            </a:endParaRPr>
          </a:p>
        </p:txBody>
      </p:sp>
      <p:sp>
        <p:nvSpPr>
          <p:cNvPr id="7" name="Rectangle 6"/>
          <p:cNvSpPr/>
          <p:nvPr/>
        </p:nvSpPr>
        <p:spPr>
          <a:xfrm>
            <a:off x="548603" y="1783687"/>
            <a:ext cx="660400" cy="304800"/>
          </a:xfrm>
          <a:prstGeom prst="rect">
            <a:avLst/>
          </a:prstGeom>
          <a:solidFill>
            <a:srgbClr val="273A52"/>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none" lIns="91440" tIns="45720" rIns="91440" bIns="45720" rtlCol="0" anchor="t" anchorCtr="0">
            <a:noAutofit/>
          </a:bodyPr>
          <a:lstStyle/>
          <a:p>
            <a:pPr algn="ctr"/>
            <a:r>
              <a:rPr lang="ko-KR" sz="1000" b="1" dirty="0">
                <a:solidFill>
                  <a:srgbClr val="FFFFFF"/>
                </a:solidFill>
                <a:latin typeface="맑은 고딕"/>
                <a:ea typeface="맑은 고딕"/>
              </a:rPr>
              <a:t>실험 1</a:t>
            </a:r>
          </a:p>
        </p:txBody>
      </p:sp>
      <p:sp>
        <p:nvSpPr>
          <p:cNvPr id="8" name="Rectangle 7"/>
          <p:cNvSpPr/>
          <p:nvPr/>
        </p:nvSpPr>
        <p:spPr>
          <a:xfrm>
            <a:off x="1290320" y="1745675"/>
            <a:ext cx="5880100" cy="1683325"/>
          </a:xfrm>
          <a:prstGeom prst="rect">
            <a:avLst/>
          </a:prstGeom>
          <a:no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noAutofit/>
          </a:bodyPr>
          <a:lstStyle/>
          <a:p>
            <a:pPr algn="l">
              <a:lnSpc>
                <a:spcPct val="120000"/>
              </a:lnSpc>
              <a:spcBef>
                <a:spcPts val="200"/>
              </a:spcBef>
              <a:spcAft>
                <a:spcPts val="100"/>
              </a:spcAft>
            </a:pPr>
            <a:r>
              <a:rPr lang="ko-KR" sz="1200" b="1" dirty="0">
                <a:solidFill>
                  <a:srgbClr val="273A52"/>
                </a:solidFill>
                <a:latin typeface="맑은 고딕"/>
                <a:ea typeface="맑은 고딕"/>
              </a:rPr>
              <a:t>RQ1 · 진단 및 불일치 위치</a:t>
            </a:r>
          </a:p>
          <a:p>
            <a:pPr marL="171450" indent="-171450" algn="l">
              <a:lnSpc>
                <a:spcPct val="124000"/>
              </a:lnSpc>
              <a:spcAft>
                <a:spcPts val="150"/>
              </a:spcAft>
              <a:buFont typeface="Arial" panose="020B0604020202020204" pitchFamily="34" charset="0"/>
              <a:buChar char="•"/>
            </a:pPr>
            <a:r>
              <a:rPr lang="ko-KR" sz="1100" b="0" dirty="0">
                <a:solidFill>
                  <a:srgbClr val="1E2227"/>
                </a:solidFill>
                <a:latin typeface="맑은 고딕"/>
                <a:ea typeface="맑은 고딕"/>
              </a:rPr>
              <a:t>충돌 문맥에서 </a:t>
            </a:r>
            <a:r>
              <a:rPr lang="ko-KR" sz="1100" b="1" dirty="0">
                <a:solidFill>
                  <a:srgbClr val="1E2227"/>
                </a:solidFill>
                <a:latin typeface="맑은 고딕"/>
                <a:ea typeface="맑은 고딕"/>
              </a:rPr>
              <a:t>추론 결론과 최종 답변은 일치(L-a)</a:t>
            </a:r>
            <a:r>
              <a:rPr lang="ko-KR" sz="1100" b="0" dirty="0">
                <a:solidFill>
                  <a:srgbClr val="1E2227"/>
                </a:solidFill>
                <a:latin typeface="맑은 고딕"/>
                <a:ea typeface="맑은 고딕"/>
              </a:rPr>
              <a:t>하는가? </a:t>
            </a:r>
            <a:endParaRPr lang="en-US" altLang="ko-KR" sz="1100" b="0" dirty="0">
              <a:solidFill>
                <a:srgbClr val="1E2227"/>
              </a:solidFill>
              <a:latin typeface="맑은 고딕"/>
              <a:ea typeface="맑은 고딕"/>
            </a:endParaRPr>
          </a:p>
          <a:p>
            <a:pPr marL="171450" indent="-171450" algn="l">
              <a:lnSpc>
                <a:spcPct val="124000"/>
              </a:lnSpc>
              <a:spcAft>
                <a:spcPts val="150"/>
              </a:spcAft>
              <a:buFont typeface="Arial" panose="020B0604020202020204" pitchFamily="34" charset="0"/>
              <a:buChar char="•"/>
            </a:pPr>
            <a:r>
              <a:rPr lang="ko-KR" sz="1100" b="0" dirty="0">
                <a:solidFill>
                  <a:srgbClr val="1E2227"/>
                </a:solidFill>
                <a:latin typeface="맑은 고딕"/>
                <a:ea typeface="맑은 고딕"/>
              </a:rPr>
              <a:t>불일치는 </a:t>
            </a:r>
            <a:r>
              <a:rPr lang="ko-KR" sz="1100" b="1" dirty="0">
                <a:solidFill>
                  <a:srgbClr val="1E2227"/>
                </a:solidFill>
                <a:latin typeface="맑은 고딕"/>
                <a:ea typeface="맑은 고딕"/>
              </a:rPr>
              <a:t>어느 단계(탐지 → 해소 → 표출)</a:t>
            </a:r>
            <a:r>
              <a:rPr lang="ko-KR" sz="1100" b="0" dirty="0">
                <a:solidFill>
                  <a:srgbClr val="1E2227"/>
                </a:solidFill>
                <a:latin typeface="맑은 고딕"/>
                <a:ea typeface="맑은 고딕"/>
              </a:rPr>
              <a:t>에서 생기나?</a:t>
            </a:r>
            <a:endParaRPr lang="en-US" altLang="ko-KR" sz="1100" b="0" dirty="0">
              <a:solidFill>
                <a:srgbClr val="1E2227"/>
              </a:solidFill>
              <a:latin typeface="맑은 고딕"/>
              <a:ea typeface="맑은 고딕"/>
            </a:endParaRPr>
          </a:p>
          <a:p>
            <a:pPr algn="l">
              <a:lnSpc>
                <a:spcPct val="124000"/>
              </a:lnSpc>
              <a:spcAft>
                <a:spcPts val="150"/>
              </a:spcAft>
            </a:pPr>
            <a:endParaRPr lang="ko-KR" sz="1100" b="0" dirty="0">
              <a:solidFill>
                <a:srgbClr val="1E2227"/>
              </a:solidFill>
              <a:latin typeface="맑은 고딕"/>
              <a:ea typeface="맑은 고딕"/>
            </a:endParaRPr>
          </a:p>
          <a:p>
            <a:pPr algn="l">
              <a:lnSpc>
                <a:spcPct val="120000"/>
              </a:lnSpc>
              <a:spcBef>
                <a:spcPts val="200"/>
              </a:spcBef>
              <a:spcAft>
                <a:spcPts val="100"/>
              </a:spcAft>
            </a:pPr>
            <a:r>
              <a:rPr lang="ko-KR" sz="1200" b="1" dirty="0">
                <a:solidFill>
                  <a:srgbClr val="273A52"/>
                </a:solidFill>
                <a:latin typeface="맑은 고딕"/>
                <a:ea typeface="맑은 고딕"/>
              </a:rPr>
              <a:t>RQ2 · 완화 기법 해부</a:t>
            </a:r>
          </a:p>
          <a:p>
            <a:pPr marL="171450" indent="-171450" algn="l">
              <a:lnSpc>
                <a:spcPct val="124000"/>
              </a:lnSpc>
              <a:spcAft>
                <a:spcPts val="0"/>
              </a:spcAft>
              <a:buFont typeface="Arial" panose="020B0604020202020204" pitchFamily="34" charset="0"/>
              <a:buChar char="•"/>
            </a:pPr>
            <a:r>
              <a:rPr lang="ko-KR" sz="1100" b="0" dirty="0">
                <a:solidFill>
                  <a:srgbClr val="1E2227"/>
                </a:solidFill>
                <a:latin typeface="맑은 고딕"/>
                <a:ea typeface="맑은 고딕"/>
              </a:rPr>
              <a:t>완화 기법으로 늘어난 정답, </a:t>
            </a:r>
            <a:r>
              <a:rPr lang="ko-KR" sz="1100" b="1" dirty="0">
                <a:solidFill>
                  <a:srgbClr val="1E2227"/>
                </a:solidFill>
                <a:latin typeface="맑은 고딕"/>
                <a:ea typeface="맑은 고딕"/>
              </a:rPr>
              <a:t>진짜 제대로 추론해서 맞힌 건가</a:t>
            </a:r>
            <a:r>
              <a:rPr lang="ko-KR" sz="1100" b="0" dirty="0">
                <a:solidFill>
                  <a:srgbClr val="1E2227"/>
                </a:solidFill>
                <a:latin typeface="맑은 고딕"/>
                <a:ea typeface="맑은 고딕"/>
              </a:rPr>
              <a:t> — 아니면 </a:t>
            </a:r>
            <a:r>
              <a:rPr lang="ko-KR" sz="1100" b="1" dirty="0">
                <a:solidFill>
                  <a:srgbClr val="1E2227"/>
                </a:solidFill>
                <a:latin typeface="맑은 고딕"/>
                <a:ea typeface="맑은 고딕"/>
              </a:rPr>
              <a:t>우연히</a:t>
            </a:r>
            <a:r>
              <a:rPr lang="ko-KR" sz="1100" b="0" dirty="0">
                <a:solidFill>
                  <a:srgbClr val="1E2227"/>
                </a:solidFill>
                <a:latin typeface="맑은 고딕"/>
                <a:ea typeface="맑은 고딕"/>
              </a:rPr>
              <a:t>(우회 경로: 도약·불협·맹목 적중) 맞은 건가?</a:t>
            </a:r>
          </a:p>
        </p:txBody>
      </p:sp>
      <p:sp>
        <p:nvSpPr>
          <p:cNvPr id="11" name="Rectangle 10"/>
          <p:cNvSpPr/>
          <p:nvPr/>
        </p:nvSpPr>
        <p:spPr>
          <a:xfrm>
            <a:off x="548603" y="4120488"/>
            <a:ext cx="660400" cy="304800"/>
          </a:xfrm>
          <a:prstGeom prst="rect">
            <a:avLst/>
          </a:prstGeom>
          <a:solidFill>
            <a:srgbClr val="273A52"/>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none" lIns="91440" tIns="45720" rIns="91440" bIns="45720" rtlCol="0" anchor="t" anchorCtr="0">
            <a:noAutofit/>
          </a:bodyPr>
          <a:lstStyle/>
          <a:p>
            <a:pPr algn="ctr"/>
            <a:r>
              <a:rPr lang="ko-KR" sz="1000" b="1" dirty="0">
                <a:solidFill>
                  <a:srgbClr val="FFFFFF"/>
                </a:solidFill>
                <a:latin typeface="맑은 고딕"/>
                <a:ea typeface="맑은 고딕"/>
              </a:rPr>
              <a:t>실험 2</a:t>
            </a:r>
          </a:p>
        </p:txBody>
      </p:sp>
      <p:sp>
        <p:nvSpPr>
          <p:cNvPr id="12" name="Rectangle 11"/>
          <p:cNvSpPr/>
          <p:nvPr/>
        </p:nvSpPr>
        <p:spPr>
          <a:xfrm>
            <a:off x="1290320" y="4082475"/>
            <a:ext cx="5880100" cy="1117600"/>
          </a:xfrm>
          <a:prstGeom prst="rect">
            <a:avLst/>
          </a:prstGeom>
          <a:no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noAutofit/>
          </a:bodyPr>
          <a:lstStyle/>
          <a:p>
            <a:pPr algn="l">
              <a:lnSpc>
                <a:spcPct val="110000"/>
              </a:lnSpc>
              <a:spcAft>
                <a:spcPts val="350"/>
              </a:spcAft>
            </a:pPr>
            <a:r>
              <a:rPr lang="ko-KR" sz="1200" b="1" dirty="0">
                <a:solidFill>
                  <a:srgbClr val="273A52"/>
                </a:solidFill>
                <a:latin typeface="맑은 고딕"/>
                <a:ea typeface="맑은 고딕"/>
              </a:rPr>
              <a:t>RQ3 · 충돌 고유성 (대조군 분리)</a:t>
            </a:r>
          </a:p>
          <a:p>
            <a:pPr marL="171450" indent="-171450" algn="l">
              <a:lnSpc>
                <a:spcPct val="128000"/>
              </a:lnSpc>
              <a:buFont typeface="Arial" panose="020B0604020202020204" pitchFamily="34" charset="0"/>
              <a:buChar char="•"/>
            </a:pPr>
            <a:r>
              <a:rPr lang="ko-KR" sz="1100" b="0" dirty="0">
                <a:solidFill>
                  <a:srgbClr val="1E2227"/>
                </a:solidFill>
                <a:latin typeface="맑은 고딕"/>
                <a:ea typeface="맑은 고딕"/>
              </a:rPr>
              <a:t>관측된 </a:t>
            </a:r>
            <a:r>
              <a:rPr lang="ko-KR" sz="1100" b="1" dirty="0">
                <a:solidFill>
                  <a:srgbClr val="1E2227"/>
                </a:solidFill>
                <a:latin typeface="맑은 고딕"/>
                <a:ea typeface="맑은 고딕"/>
              </a:rPr>
              <a:t>불일치</a:t>
            </a:r>
            <a:r>
              <a:rPr lang="ko-KR" sz="1100" b="0" dirty="0">
                <a:solidFill>
                  <a:srgbClr val="1E2227"/>
                </a:solidFill>
                <a:latin typeface="맑은 고딕"/>
                <a:ea typeface="맑은 고딕"/>
              </a:rPr>
              <a:t>는 충돌 고유의 실패인가, 난이도·문서 수 증가의 </a:t>
            </a:r>
            <a:r>
              <a:rPr lang="ko-KR" sz="1100" b="1" dirty="0">
                <a:solidFill>
                  <a:srgbClr val="1E2227"/>
                </a:solidFill>
                <a:latin typeface="맑은 고딕"/>
                <a:ea typeface="맑은 고딕"/>
              </a:rPr>
              <a:t>부수 효과</a:t>
            </a:r>
            <a:r>
              <a:rPr lang="ko-KR" sz="1100" b="0" dirty="0">
                <a:solidFill>
                  <a:srgbClr val="1E2227"/>
                </a:solidFill>
                <a:latin typeface="맑은 고딕"/>
                <a:ea typeface="맑은 고딕"/>
              </a:rPr>
              <a:t>인가?</a:t>
            </a:r>
          </a:p>
        </p:txBody>
      </p:sp>
      <p:sp>
        <p:nvSpPr>
          <p:cNvPr id="13" name="Rectangle 12"/>
          <p:cNvSpPr/>
          <p:nvPr/>
        </p:nvSpPr>
        <p:spPr>
          <a:xfrm>
            <a:off x="548603" y="5288888"/>
            <a:ext cx="660400" cy="304800"/>
          </a:xfrm>
          <a:prstGeom prst="rect">
            <a:avLst/>
          </a:prstGeom>
          <a:solidFill>
            <a:srgbClr val="273A52"/>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none" lIns="91440" tIns="45720" rIns="91440" bIns="45720" rtlCol="0" anchor="t" anchorCtr="0">
            <a:noAutofit/>
          </a:bodyPr>
          <a:lstStyle/>
          <a:p>
            <a:pPr algn="ctr"/>
            <a:r>
              <a:rPr lang="ko-KR" sz="1000" b="1" dirty="0">
                <a:solidFill>
                  <a:srgbClr val="FFFFFF"/>
                </a:solidFill>
                <a:latin typeface="맑은 고딕"/>
                <a:ea typeface="맑은 고딕"/>
              </a:rPr>
              <a:t>실험 3</a:t>
            </a:r>
          </a:p>
        </p:txBody>
      </p:sp>
      <p:sp>
        <p:nvSpPr>
          <p:cNvPr id="14" name="Rectangle 13"/>
          <p:cNvSpPr/>
          <p:nvPr/>
        </p:nvSpPr>
        <p:spPr>
          <a:xfrm>
            <a:off x="1290320" y="5250875"/>
            <a:ext cx="5880100" cy="1117600"/>
          </a:xfrm>
          <a:prstGeom prst="rect">
            <a:avLst/>
          </a:prstGeom>
          <a:no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noAutofit/>
          </a:bodyPr>
          <a:lstStyle/>
          <a:p>
            <a:pPr algn="l">
              <a:lnSpc>
                <a:spcPct val="110000"/>
              </a:lnSpc>
              <a:spcAft>
                <a:spcPts val="350"/>
              </a:spcAft>
            </a:pPr>
            <a:r>
              <a:rPr lang="ko-KR" sz="1200" b="1" dirty="0">
                <a:solidFill>
                  <a:srgbClr val="273A52"/>
                </a:solidFill>
                <a:latin typeface="맑은 고딕"/>
                <a:ea typeface="맑은 고딕"/>
              </a:rPr>
              <a:t>RQ4 · 인과 규명</a:t>
            </a:r>
          </a:p>
          <a:p>
            <a:pPr marL="171450" indent="-171450" algn="l">
              <a:lnSpc>
                <a:spcPct val="128000"/>
              </a:lnSpc>
              <a:buFont typeface="Arial" panose="020B0604020202020204" pitchFamily="34" charset="0"/>
              <a:buChar char="•"/>
            </a:pPr>
            <a:r>
              <a:rPr lang="ko-KR" sz="1100" b="1" dirty="0">
                <a:solidFill>
                  <a:srgbClr val="1E2227"/>
                </a:solidFill>
                <a:latin typeface="맑은 고딕"/>
                <a:ea typeface="맑은 고딕"/>
              </a:rPr>
              <a:t>추론 결론이 최종 답변에 인과적으로 영향을 주는가(L-b)</a:t>
            </a:r>
            <a:r>
              <a:rPr lang="ko-KR" sz="1100" b="0" dirty="0">
                <a:solidFill>
                  <a:srgbClr val="1E2227"/>
                </a:solidFill>
                <a:latin typeface="맑은 고딕"/>
                <a:ea typeface="맑은 고딕"/>
              </a:rPr>
              <a:t>, 답변이 </a:t>
            </a:r>
            <a:r>
              <a:rPr lang="ko-KR" sz="1100" b="1" dirty="0">
                <a:solidFill>
                  <a:srgbClr val="1E2227"/>
                </a:solidFill>
                <a:latin typeface="맑은 고딕"/>
                <a:ea typeface="맑은 고딕"/>
              </a:rPr>
              <a:t>독립적으로 결정</a:t>
            </a:r>
            <a:r>
              <a:rPr lang="ko-KR" sz="1100" b="0" dirty="0">
                <a:solidFill>
                  <a:srgbClr val="1E2227"/>
                </a:solidFill>
                <a:latin typeface="맑은 고딕"/>
                <a:ea typeface="맑은 고딕"/>
              </a:rPr>
              <a:t>되는가?</a:t>
            </a:r>
          </a:p>
        </p:txBody>
      </p:sp>
      <p:sp>
        <p:nvSpPr>
          <p:cNvPr id="15" name="직사각형 14">
            <a:extLst>
              <a:ext uri="{FF2B5EF4-FFF2-40B4-BE49-F238E27FC236}">
                <a16:creationId xmlns:a16="http://schemas.microsoft.com/office/drawing/2014/main" id="{D4334549-1D8C-504A-B004-6A0CFE111515}"/>
              </a:ext>
            </a:extLst>
          </p:cNvPr>
          <p:cNvSpPr/>
          <p:nvPr/>
        </p:nvSpPr>
        <p:spPr>
          <a:xfrm>
            <a:off x="7454900" y="1701800"/>
            <a:ext cx="4178300" cy="38100"/>
          </a:xfrm>
          <a:prstGeom prst="rect">
            <a:avLst/>
          </a:prstGeom>
          <a:solidFill>
            <a:srgbClr val="273A52"/>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6" name="직사각형 15">
            <a:extLst>
              <a:ext uri="{FF2B5EF4-FFF2-40B4-BE49-F238E27FC236}">
                <a16:creationId xmlns:a16="http://schemas.microsoft.com/office/drawing/2014/main" id="{C301D2F8-9DA9-154D-A763-E2B6E79E50AE}"/>
              </a:ext>
            </a:extLst>
          </p:cNvPr>
          <p:cNvSpPr/>
          <p:nvPr/>
        </p:nvSpPr>
        <p:spPr>
          <a:xfrm>
            <a:off x="7454900" y="1739900"/>
            <a:ext cx="4178300" cy="1371600"/>
          </a:xfrm>
          <a:prstGeom prst="rect">
            <a:avLst/>
          </a:prstGeom>
          <a:solidFill>
            <a:srgbClr val="F6F7F9"/>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vertOverflow="clip" horzOverflow="clip" lIns="91440" tIns="45720" rIns="91440" bIns="45720" rtlCol="0" anchor="t" anchorCtr="0">
            <a:noAutofit/>
          </a:bodyPr>
          <a:lstStyle/>
          <a:p>
            <a:pPr algn="l">
              <a:lnSpc>
                <a:spcPct val="115000"/>
              </a:lnSpc>
              <a:spcAft>
                <a:spcPts val="350"/>
              </a:spcAft>
            </a:pPr>
            <a:r>
              <a:rPr lang="ko-KR" sz="1150" b="1" dirty="0">
                <a:solidFill>
                  <a:srgbClr val="273A52"/>
                </a:solidFill>
                <a:latin typeface="맑은 고딕"/>
                <a:ea typeface="맑은 고딕"/>
              </a:rPr>
              <a:t>L-a · 자기일관성</a:t>
            </a:r>
            <a:r>
              <a:rPr lang="ko-KR" sz="1000" b="1" dirty="0">
                <a:solidFill>
                  <a:srgbClr val="A4482A"/>
                </a:solidFill>
                <a:latin typeface="맑은 고딕"/>
                <a:ea typeface="맑은 고딕"/>
              </a:rPr>
              <a:t>   RQ1 · RQ2 · RQ3</a:t>
            </a:r>
          </a:p>
          <a:p>
            <a:pPr algn="l">
              <a:lnSpc>
                <a:spcPct val="122000"/>
              </a:lnSpc>
              <a:spcAft>
                <a:spcPts val="250"/>
              </a:spcAft>
            </a:pPr>
            <a:r>
              <a:rPr lang="ko-KR" sz="1050" b="1" dirty="0">
                <a:solidFill>
                  <a:srgbClr val="273A52"/>
                </a:solidFill>
                <a:latin typeface="맑은 고딕"/>
                <a:ea typeface="맑은 고딕"/>
              </a:rPr>
              <a:t>정의 : </a:t>
            </a:r>
            <a:r>
              <a:rPr lang="ko-KR" sz="1050" b="0" dirty="0">
                <a:solidFill>
                  <a:srgbClr val="1E2227"/>
                </a:solidFill>
                <a:latin typeface="맑은 고딕"/>
                <a:ea typeface="맑은 고딕"/>
              </a:rPr>
              <a:t>추론 결론과 최종 답변의 내용상 일치</a:t>
            </a:r>
          </a:p>
          <a:p>
            <a:pPr algn="l">
              <a:lnSpc>
                <a:spcPct val="122000"/>
              </a:lnSpc>
              <a:spcAft>
                <a:spcPts val="250"/>
              </a:spcAft>
            </a:pPr>
            <a:r>
              <a:rPr lang="ko-KR" sz="1050" b="1" dirty="0">
                <a:solidFill>
                  <a:srgbClr val="273A52"/>
                </a:solidFill>
                <a:latin typeface="맑은 고딕"/>
                <a:ea typeface="맑은 고딕"/>
              </a:rPr>
              <a:t>측정 : </a:t>
            </a:r>
            <a:r>
              <a:rPr lang="ko-KR" sz="1050" b="0" dirty="0">
                <a:solidFill>
                  <a:srgbClr val="1E2227"/>
                </a:solidFill>
                <a:latin typeface="맑은 고딕"/>
                <a:ea typeface="맑은 고딕"/>
              </a:rPr>
              <a:t>추론 결론과 최종답 라벨을 대조하며, 지표로 AIR를 사용</a:t>
            </a:r>
          </a:p>
          <a:p>
            <a:pPr algn="l">
              <a:lnSpc>
                <a:spcPct val="122000"/>
              </a:lnSpc>
              <a:spcAft>
                <a:spcPts val="250"/>
              </a:spcAft>
            </a:pPr>
            <a:r>
              <a:rPr lang="ko-KR" sz="1050" b="1" dirty="0">
                <a:solidFill>
                  <a:srgbClr val="273A52"/>
                </a:solidFill>
                <a:latin typeface="맑은 고딕"/>
                <a:ea typeface="맑은 고딕"/>
              </a:rPr>
              <a:t>사용 : </a:t>
            </a:r>
            <a:r>
              <a:rPr lang="ko-KR" sz="1050" b="0" dirty="0">
                <a:solidFill>
                  <a:srgbClr val="1E2227"/>
                </a:solidFill>
                <a:latin typeface="맑은 고딕"/>
                <a:ea typeface="맑은 고딕"/>
              </a:rPr>
              <a:t>RQ1 진단 · RQ2 경로 판별 · RQ3 대조군 비교</a:t>
            </a:r>
          </a:p>
        </p:txBody>
      </p:sp>
      <p:sp>
        <p:nvSpPr>
          <p:cNvPr id="17" name="TextBox 16">
            <a:extLst>
              <a:ext uri="{FF2B5EF4-FFF2-40B4-BE49-F238E27FC236}">
                <a16:creationId xmlns:a16="http://schemas.microsoft.com/office/drawing/2014/main" id="{F7DF618B-C1A0-5D43-A21A-330F4A426A28}"/>
              </a:ext>
            </a:extLst>
          </p:cNvPr>
          <p:cNvSpPr txBox="1"/>
          <p:nvPr/>
        </p:nvSpPr>
        <p:spPr>
          <a:xfrm>
            <a:off x="546100" y="1270000"/>
            <a:ext cx="6731000" cy="279400"/>
          </a:xfrm>
          <a:prstGeom prst="rect">
            <a:avLst/>
          </a:prstGeom>
          <a:noFill/>
        </p:spPr>
        <p:txBody>
          <a:bodyPr vertOverflow="overflow" vert="horz" wrap="square" lIns="91440" tIns="45720" rIns="91440" bIns="45720" rtlCol="0" anchor="t" anchorCtr="0">
            <a:noAutofit/>
          </a:bodyPr>
          <a:lstStyle/>
          <a:p>
            <a:pPr algn="l"/>
            <a:r>
              <a:rPr lang="ko-KR" sz="1150" b="0" dirty="0">
                <a:solidFill>
                  <a:srgbClr val="6B7480"/>
                </a:solidFill>
                <a:latin typeface="맑은 고딕"/>
                <a:ea typeface="맑은 고딕"/>
              </a:rPr>
              <a:t>본 연구가 해결하고자 하는 질문은 </a:t>
            </a:r>
            <a:r>
              <a:rPr lang="ko-KR" sz="1150" b="1" dirty="0">
                <a:solidFill>
                  <a:srgbClr val="273A52"/>
                </a:solidFill>
                <a:latin typeface="맑은 고딕"/>
                <a:ea typeface="맑은 고딕"/>
              </a:rPr>
              <a:t>세 실험에 걸친 네 가지</a:t>
            </a:r>
            <a:r>
              <a:rPr lang="ko-KR" sz="1150" b="0" dirty="0">
                <a:solidFill>
                  <a:srgbClr val="6B7480"/>
                </a:solidFill>
                <a:latin typeface="맑은 고딕"/>
                <a:ea typeface="맑은 고딕"/>
              </a:rPr>
              <a:t>다</a:t>
            </a:r>
          </a:p>
        </p:txBody>
      </p:sp>
      <p:sp>
        <p:nvSpPr>
          <p:cNvPr id="19" name="직사각형 18">
            <a:extLst>
              <a:ext uri="{FF2B5EF4-FFF2-40B4-BE49-F238E27FC236}">
                <a16:creationId xmlns:a16="http://schemas.microsoft.com/office/drawing/2014/main" id="{163590DF-03AD-4E43-BB29-B183B9C9A558}"/>
              </a:ext>
            </a:extLst>
          </p:cNvPr>
          <p:cNvSpPr/>
          <p:nvPr/>
        </p:nvSpPr>
        <p:spPr>
          <a:xfrm>
            <a:off x="7454900" y="3248950"/>
            <a:ext cx="4178300" cy="38100"/>
          </a:xfrm>
          <a:prstGeom prst="rect">
            <a:avLst/>
          </a:prstGeom>
          <a:solidFill>
            <a:srgbClr val="273A52"/>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0" name="직사각형 19">
            <a:extLst>
              <a:ext uri="{FF2B5EF4-FFF2-40B4-BE49-F238E27FC236}">
                <a16:creationId xmlns:a16="http://schemas.microsoft.com/office/drawing/2014/main" id="{7CE887DF-A69B-0B45-B650-58C413053569}"/>
              </a:ext>
            </a:extLst>
          </p:cNvPr>
          <p:cNvSpPr/>
          <p:nvPr/>
        </p:nvSpPr>
        <p:spPr>
          <a:xfrm>
            <a:off x="7454900" y="3287050"/>
            <a:ext cx="4178300" cy="1212088"/>
          </a:xfrm>
          <a:prstGeom prst="rect">
            <a:avLst/>
          </a:prstGeom>
          <a:solidFill>
            <a:srgbClr val="F6F7F9"/>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vertOverflow="clip" horzOverflow="clip" lIns="91440" tIns="45720" rIns="91440" bIns="45720" rtlCol="0" anchor="t" anchorCtr="0">
            <a:noAutofit/>
          </a:bodyPr>
          <a:lstStyle/>
          <a:p>
            <a:pPr algn="l">
              <a:lnSpc>
                <a:spcPct val="115000"/>
              </a:lnSpc>
              <a:spcAft>
                <a:spcPts val="350"/>
              </a:spcAft>
            </a:pPr>
            <a:r>
              <a:rPr lang="ko-KR" sz="1150" b="1" dirty="0">
                <a:solidFill>
                  <a:srgbClr val="273A52"/>
                </a:solidFill>
                <a:latin typeface="맑은 고딕"/>
                <a:ea typeface="맑은 고딕"/>
              </a:rPr>
              <a:t>L-b · 인과적 사용</a:t>
            </a:r>
            <a:r>
              <a:rPr lang="ko-KR" sz="1000" b="1" dirty="0">
                <a:solidFill>
                  <a:srgbClr val="A4482A"/>
                </a:solidFill>
                <a:latin typeface="맑은 고딕"/>
                <a:ea typeface="맑은 고딕"/>
              </a:rPr>
              <a:t>   RQ4</a:t>
            </a:r>
          </a:p>
          <a:p>
            <a:pPr algn="l">
              <a:lnSpc>
                <a:spcPct val="122000"/>
              </a:lnSpc>
              <a:spcAft>
                <a:spcPts val="250"/>
              </a:spcAft>
            </a:pPr>
            <a:r>
              <a:rPr lang="ko-KR" sz="1050" b="1" dirty="0">
                <a:solidFill>
                  <a:srgbClr val="273A52"/>
                </a:solidFill>
                <a:latin typeface="맑은 고딕"/>
                <a:ea typeface="맑은 고딕"/>
              </a:rPr>
              <a:t>정의 : </a:t>
            </a:r>
            <a:r>
              <a:rPr lang="ko-KR" sz="1050" b="0" dirty="0">
                <a:solidFill>
                  <a:srgbClr val="1E2227"/>
                </a:solidFill>
                <a:latin typeface="맑은 고딕"/>
                <a:ea typeface="맑은 고딕"/>
              </a:rPr>
              <a:t>추론이 답 결정에 실제로 영향을 주는가</a:t>
            </a:r>
          </a:p>
          <a:p>
            <a:pPr algn="l">
              <a:lnSpc>
                <a:spcPct val="122000"/>
              </a:lnSpc>
              <a:spcAft>
                <a:spcPts val="250"/>
              </a:spcAft>
            </a:pPr>
            <a:r>
              <a:rPr lang="ko-KR" sz="1050" b="1" dirty="0">
                <a:solidFill>
                  <a:srgbClr val="273A52"/>
                </a:solidFill>
                <a:latin typeface="맑은 고딕"/>
                <a:ea typeface="맑은 고딕"/>
              </a:rPr>
              <a:t>검증 : </a:t>
            </a:r>
            <a:r>
              <a:rPr lang="ko-KR" sz="1050" b="0" dirty="0">
                <a:solidFill>
                  <a:srgbClr val="1E2227"/>
                </a:solidFill>
                <a:latin typeface="맑은 고딕"/>
                <a:ea typeface="맑은 고딕"/>
              </a:rPr>
              <a:t>절단·재생성으로 개입하며, 지표로 정답 한정 답 변화율을 사용</a:t>
            </a:r>
          </a:p>
          <a:p>
            <a:pPr algn="l">
              <a:lnSpc>
                <a:spcPct val="122000"/>
              </a:lnSpc>
              <a:spcAft>
                <a:spcPts val="250"/>
              </a:spcAft>
            </a:pPr>
            <a:r>
              <a:rPr lang="ko-KR" sz="1050" b="1" dirty="0">
                <a:solidFill>
                  <a:srgbClr val="273A52"/>
                </a:solidFill>
                <a:latin typeface="맑은 고딕"/>
                <a:ea typeface="맑은 고딕"/>
              </a:rPr>
              <a:t>사용 : </a:t>
            </a:r>
            <a:r>
              <a:rPr lang="ko-KR" sz="1050" b="0" dirty="0">
                <a:solidFill>
                  <a:srgbClr val="1E2227"/>
                </a:solidFill>
                <a:latin typeface="맑은 고딕"/>
                <a:ea typeface="맑은 고딕"/>
              </a:rPr>
              <a:t>RQ4 인과 규명의 근거</a:t>
            </a:r>
          </a:p>
        </p:txBody>
      </p:sp>
      <p:sp>
        <p:nvSpPr>
          <p:cNvPr id="21" name="직사각형 20">
            <a:extLst>
              <a:ext uri="{FF2B5EF4-FFF2-40B4-BE49-F238E27FC236}">
                <a16:creationId xmlns:a16="http://schemas.microsoft.com/office/drawing/2014/main" id="{440FF3DA-9FA7-8E48-BA7B-7CA6FF3C41D2}"/>
              </a:ext>
            </a:extLst>
          </p:cNvPr>
          <p:cNvSpPr/>
          <p:nvPr/>
        </p:nvSpPr>
        <p:spPr>
          <a:xfrm>
            <a:off x="7454900" y="4660097"/>
            <a:ext cx="4178300" cy="38100"/>
          </a:xfrm>
          <a:prstGeom prst="rect">
            <a:avLst/>
          </a:prstGeom>
          <a:solidFill>
            <a:srgbClr val="A4482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2" name="직사각형 21">
            <a:extLst>
              <a:ext uri="{FF2B5EF4-FFF2-40B4-BE49-F238E27FC236}">
                <a16:creationId xmlns:a16="http://schemas.microsoft.com/office/drawing/2014/main" id="{F5396E57-8622-4140-A18C-450EF8F9B9C5}"/>
              </a:ext>
            </a:extLst>
          </p:cNvPr>
          <p:cNvSpPr/>
          <p:nvPr/>
        </p:nvSpPr>
        <p:spPr>
          <a:xfrm>
            <a:off x="7454900" y="4698197"/>
            <a:ext cx="4178300" cy="1452784"/>
          </a:xfrm>
          <a:prstGeom prst="rect">
            <a:avLst/>
          </a:prstGeom>
          <a:solidFill>
            <a:srgbClr val="F6F7F9"/>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vertOverflow="clip" horzOverflow="clip" lIns="91440" tIns="45720" rIns="91440" bIns="45720" rtlCol="0" anchor="t" anchorCtr="0">
            <a:noAutofit/>
          </a:bodyPr>
          <a:lstStyle/>
          <a:p>
            <a:pPr algn="l">
              <a:lnSpc>
                <a:spcPct val="115000"/>
              </a:lnSpc>
              <a:spcAft>
                <a:spcPts val="350"/>
              </a:spcAft>
            </a:pPr>
            <a:r>
              <a:rPr lang="ko-KR" sz="1150" b="1" dirty="0">
                <a:solidFill>
                  <a:srgbClr val="273A52"/>
                </a:solidFill>
                <a:latin typeface="맑은 고딕"/>
                <a:ea typeface="맑은 고딕"/>
              </a:rPr>
              <a:t>L-c · 내부 충실성</a:t>
            </a:r>
            <a:r>
              <a:rPr lang="ko-KR" sz="1000" b="1" dirty="0">
                <a:solidFill>
                  <a:srgbClr val="A4482A"/>
                </a:solidFill>
                <a:latin typeface="맑은 고딕"/>
                <a:ea typeface="맑은 고딕"/>
              </a:rPr>
              <a:t>   본 연구 범위 밖</a:t>
            </a:r>
          </a:p>
          <a:p>
            <a:pPr algn="l">
              <a:lnSpc>
                <a:spcPct val="122000"/>
              </a:lnSpc>
              <a:spcAft>
                <a:spcPts val="250"/>
              </a:spcAft>
            </a:pPr>
            <a:r>
              <a:rPr lang="ko-KR" sz="1050" b="1" dirty="0">
                <a:solidFill>
                  <a:srgbClr val="273A52"/>
                </a:solidFill>
                <a:latin typeface="맑은 고딕"/>
                <a:ea typeface="맑은 고딕"/>
              </a:rPr>
              <a:t>정의 : </a:t>
            </a:r>
            <a:r>
              <a:rPr lang="ko-KR" sz="1050" b="0" dirty="0">
                <a:solidFill>
                  <a:srgbClr val="1E2227"/>
                </a:solidFill>
                <a:latin typeface="맑은 고딕"/>
                <a:ea typeface="맑은 고딕"/>
              </a:rPr>
              <a:t>트레이스가 ‘진짜 속마음’을 반영하는가</a:t>
            </a:r>
          </a:p>
          <a:p>
            <a:pPr algn="l">
              <a:lnSpc>
                <a:spcPct val="122000"/>
              </a:lnSpc>
              <a:spcAft>
                <a:spcPts val="250"/>
              </a:spcAft>
            </a:pPr>
            <a:r>
              <a:rPr lang="ko-KR" sz="1050" b="1" dirty="0">
                <a:solidFill>
                  <a:srgbClr val="273A52"/>
                </a:solidFill>
                <a:latin typeface="맑은 고딕"/>
                <a:ea typeface="맑은 고딕"/>
              </a:rPr>
              <a:t>제외 이유 : </a:t>
            </a:r>
            <a:r>
              <a:rPr lang="ko-KR" sz="1050" b="0" dirty="0">
                <a:solidFill>
                  <a:srgbClr val="1E2227"/>
                </a:solidFill>
                <a:latin typeface="맑은 고딕"/>
                <a:ea typeface="맑은 고딕"/>
              </a:rPr>
              <a:t>텍스트만으로는 판정할 수 없습니다. 모델이 실제 이유와 다른 설명을 쓸 수 있기 때문입니다 (</a:t>
            </a:r>
            <a:r>
              <a:rPr lang="ko-KR" sz="1050" b="1" dirty="0">
                <a:solidFill>
                  <a:srgbClr val="1E2227"/>
                </a:solidFill>
                <a:latin typeface="맑은 고딕"/>
                <a:ea typeface="맑은 고딕"/>
              </a:rPr>
              <a:t>Turpin 2023 · Arcuschin 2025</a:t>
            </a:r>
            <a:r>
              <a:rPr lang="ko-KR" sz="1050" b="0" dirty="0">
                <a:solidFill>
                  <a:srgbClr val="1E2227"/>
                </a:solidFill>
                <a:latin typeface="맑은 고딕"/>
                <a:ea typeface="맑은 고딕"/>
              </a:rPr>
              <a:t>)</a:t>
            </a:r>
          </a:p>
          <a:p>
            <a:pPr algn="l">
              <a:lnSpc>
                <a:spcPct val="122000"/>
              </a:lnSpc>
              <a:spcAft>
                <a:spcPts val="250"/>
              </a:spcAft>
            </a:pPr>
            <a:r>
              <a:rPr lang="ko-KR" sz="1050" b="1" dirty="0">
                <a:solidFill>
                  <a:srgbClr val="273A52"/>
                </a:solidFill>
                <a:latin typeface="맑은 고딕"/>
                <a:ea typeface="맑은 고딕"/>
              </a:rPr>
              <a:t>대응 : </a:t>
            </a:r>
            <a:r>
              <a:rPr lang="ko-KR" sz="1050" b="0" dirty="0">
                <a:solidFill>
                  <a:srgbClr val="1E2227"/>
                </a:solidFill>
                <a:latin typeface="맑은 고딕"/>
                <a:ea typeface="맑은 고딕"/>
              </a:rPr>
              <a:t>모든 주장은 </a:t>
            </a:r>
            <a:r>
              <a:rPr lang="ko-KR" sz="1050" b="1" dirty="0">
                <a:solidFill>
                  <a:srgbClr val="1E2227"/>
                </a:solidFill>
                <a:latin typeface="맑은 고딕"/>
                <a:ea typeface="맑은 고딕"/>
              </a:rPr>
              <a:t>L-a와 L-b만으로 성립</a:t>
            </a:r>
            <a:r>
              <a:rPr lang="ko-KR" sz="1050" b="0" dirty="0">
                <a:solidFill>
                  <a:srgbClr val="1E2227"/>
                </a:solidFill>
                <a:latin typeface="맑은 고딕"/>
                <a:ea typeface="맑은 고딕"/>
              </a:rPr>
              <a:t>하도록 설계 (상세 §3.2)</a:t>
            </a:r>
          </a:p>
        </p:txBody>
      </p:sp>
    </p:spTree>
    <p:extLst>
      <p:ext uri="{BB962C8B-B14F-4D97-AF65-F5344CB8AC3E}">
        <p14:creationId xmlns:p14="http://schemas.microsoft.com/office/powerpoint/2010/main" val="2985791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1" dirty="0">
                <a:solidFill>
                  <a:srgbClr val="273A52"/>
                </a:solidFill>
                <a:latin typeface="맑은 고딕"/>
                <a:ea typeface="맑은 고딕"/>
              </a:rPr>
              <a:t>§2 관련 연구</a:t>
            </a:r>
          </a:p>
        </p:txBody>
      </p:sp>
      <p:sp>
        <p:nvSpPr>
          <p:cNvPr id="3" name="TextBox 2"/>
          <p:cNvSpPr txBox="1"/>
          <p:nvPr/>
        </p:nvSpPr>
        <p:spPr>
          <a:xfrm>
            <a:off x="548640" y="585216"/>
            <a:ext cx="11091672" cy="502920"/>
          </a:xfrm>
          <a:prstGeom prst="rect">
            <a:avLst/>
          </a:prstGeom>
          <a:noFill/>
        </p:spPr>
        <p:txBody>
          <a:bodyPr wrap="square" lIns="0" tIns="0" rIns="0" bIns="0">
            <a:spAutoFit/>
          </a:bodyPr>
          <a:lstStyle/>
          <a:p>
            <a:pPr algn="l">
              <a:lnSpc>
                <a:spcPct val="122000"/>
              </a:lnSpc>
              <a:spcAft>
                <a:spcPts val="450"/>
              </a:spcAft>
            </a:pPr>
            <a:r>
              <a:rPr sz="2350" b="1">
                <a:solidFill>
                  <a:srgbClr val="273A52"/>
                </a:solidFill>
                <a:latin typeface="맑은 고딕"/>
                <a:ea typeface="맑은 고딕"/>
              </a:rPr>
              <a:t>관련 연구 분류와 본 연구의 위치</a:t>
            </a: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274320"/>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9</a:t>
            </a:fld>
            <a:endParaRPr lang="en-US" altLang="ko-KR" sz="950">
              <a:solidFill>
                <a:srgbClr val="6B7480"/>
              </a:solidFill>
              <a:latin typeface="맑은 고딕"/>
              <a:ea typeface="맑은 고딕"/>
            </a:endParaRPr>
          </a:p>
        </p:txBody>
      </p:sp>
      <p:sp>
        <p:nvSpPr>
          <p:cNvPr id="7" name="Rectangle 6"/>
          <p:cNvSpPr/>
          <p:nvPr/>
        </p:nvSpPr>
        <p:spPr>
          <a:xfrm>
            <a:off x="548640" y="1270000"/>
            <a:ext cx="11091672" cy="658368"/>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45720" rIns="180000" bIns="45720" rtlCol="0" anchor="ctr" anchorCtr="0"/>
          <a:lstStyle/>
          <a:p>
            <a:pPr algn="l">
              <a:lnSpc>
                <a:spcPct val="120000"/>
              </a:lnSpc>
              <a:spcAft>
                <a:spcPts val="0"/>
              </a:spcAft>
            </a:pPr>
            <a:r>
              <a:rPr sz="1150" b="1">
                <a:solidFill>
                  <a:srgbClr val="C9D3E0"/>
                </a:solidFill>
                <a:latin typeface="맑은 고딕"/>
                <a:ea typeface="맑은 고딕"/>
              </a:rPr>
              <a:t>본 연구의 위치     </a:t>
            </a:r>
            <a:r>
              <a:rPr sz="1250" b="0">
                <a:solidFill>
                  <a:srgbClr val="FFFFFF"/>
                </a:solidFill>
                <a:latin typeface="맑은 고딕"/>
                <a:ea typeface="맑은 고딕"/>
              </a:rPr>
              <a:t>①의 데이터에서 ②의 완화 기법을 추론 모델로 이식했을 때, </a:t>
            </a:r>
            <a:r>
              <a:rPr sz="1250" b="1">
                <a:solidFill>
                  <a:srgbClr val="FFFFFF"/>
                </a:solidFill>
                <a:latin typeface="맑은 고딕"/>
                <a:ea typeface="맑은 고딕"/>
              </a:rPr>
              <a:t>③의 방법으로 그 이득이 진짜인지 검증한다</a:t>
            </a:r>
          </a:p>
        </p:txBody>
      </p:sp>
      <p:sp>
        <p:nvSpPr>
          <p:cNvPr id="8" name="Rectangle 7"/>
          <p:cNvSpPr/>
          <p:nvPr/>
        </p:nvSpPr>
        <p:spPr>
          <a:xfrm>
            <a:off x="548640" y="2147824"/>
            <a:ext cx="3584448" cy="33020"/>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2180843"/>
            <a:ext cx="3584448" cy="416102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pPr>
            <a:r>
              <a:rPr sz="1300" b="1" dirty="0">
                <a:solidFill>
                  <a:srgbClr val="273A52"/>
                </a:solidFill>
                <a:latin typeface="맑은 고딕"/>
                <a:ea typeface="맑은 고딕"/>
              </a:rPr>
              <a:t>① RAG </a:t>
            </a:r>
            <a:r>
              <a:rPr sz="1300" b="1" dirty="0" err="1">
                <a:solidFill>
                  <a:srgbClr val="273A52"/>
                </a:solidFill>
                <a:latin typeface="맑은 고딕"/>
                <a:ea typeface="맑은 고딕"/>
              </a:rPr>
              <a:t>지식</a:t>
            </a:r>
            <a:r>
              <a:rPr sz="1300" b="1" dirty="0">
                <a:solidFill>
                  <a:srgbClr val="273A52"/>
                </a:solidFill>
                <a:latin typeface="맑은 고딕"/>
                <a:ea typeface="맑은 고딕"/>
              </a:rPr>
              <a:t> </a:t>
            </a:r>
            <a:r>
              <a:rPr sz="1300" b="1" dirty="0" err="1">
                <a:solidFill>
                  <a:srgbClr val="273A52"/>
                </a:solidFill>
                <a:latin typeface="맑은 고딕"/>
                <a:ea typeface="맑은 고딕"/>
              </a:rPr>
              <a:t>충돌</a:t>
            </a:r>
            <a:r>
              <a:rPr sz="1300" b="1" dirty="0">
                <a:solidFill>
                  <a:srgbClr val="273A52"/>
                </a:solidFill>
                <a:latin typeface="맑은 고딕"/>
                <a:ea typeface="맑은 고딕"/>
              </a:rPr>
              <a:t> </a:t>
            </a:r>
            <a:r>
              <a:rPr sz="1300" b="1" dirty="0" err="1">
                <a:solidFill>
                  <a:srgbClr val="273A52"/>
                </a:solidFill>
                <a:latin typeface="맑은 고딕"/>
                <a:ea typeface="맑은 고딕"/>
              </a:rPr>
              <a:t>진단</a:t>
            </a:r>
            <a:endParaRPr sz="1300" b="1" dirty="0">
              <a:solidFill>
                <a:srgbClr val="273A52"/>
              </a:solidFill>
              <a:latin typeface="맑은 고딕"/>
              <a:ea typeface="맑은 고딕"/>
            </a:endParaRPr>
          </a:p>
          <a:p>
            <a:pPr algn="l">
              <a:lnSpc>
                <a:spcPct val="132000"/>
              </a:lnSpc>
              <a:spcAft>
                <a:spcPts val="450"/>
              </a:spcAft>
            </a:pPr>
            <a:r>
              <a:rPr sz="1100" b="1" dirty="0" err="1">
                <a:solidFill>
                  <a:srgbClr val="1E2227"/>
                </a:solidFill>
                <a:latin typeface="맑은 고딕"/>
                <a:ea typeface="맑은 고딕"/>
              </a:rPr>
              <a:t>충돌을</a:t>
            </a:r>
            <a:r>
              <a:rPr sz="1100" b="1" dirty="0">
                <a:solidFill>
                  <a:srgbClr val="1E2227"/>
                </a:solidFill>
                <a:latin typeface="맑은 고딕"/>
                <a:ea typeface="맑은 고딕"/>
              </a:rPr>
              <a:t> </a:t>
            </a:r>
            <a:r>
              <a:rPr sz="1100" b="1" dirty="0" err="1">
                <a:solidFill>
                  <a:srgbClr val="1E2227"/>
                </a:solidFill>
                <a:latin typeface="맑은 고딕"/>
                <a:ea typeface="맑은 고딕"/>
              </a:rPr>
              <a:t>유형화하고</a:t>
            </a:r>
            <a:r>
              <a:rPr sz="1100" b="1" dirty="0">
                <a:solidFill>
                  <a:srgbClr val="1E2227"/>
                </a:solidFill>
                <a:latin typeface="맑은 고딕"/>
                <a:ea typeface="맑은 고딕"/>
              </a:rPr>
              <a:t>, </a:t>
            </a:r>
            <a:r>
              <a:rPr sz="1100" b="1" dirty="0" err="1">
                <a:solidFill>
                  <a:srgbClr val="1E2227"/>
                </a:solidFill>
                <a:latin typeface="맑은 고딕"/>
                <a:ea typeface="맑은 고딕"/>
              </a:rPr>
              <a:t>실제</a:t>
            </a:r>
            <a:r>
              <a:rPr sz="1100" b="1" dirty="0">
                <a:solidFill>
                  <a:srgbClr val="1E2227"/>
                </a:solidFill>
                <a:latin typeface="맑은 고딕"/>
                <a:ea typeface="맑은 고딕"/>
              </a:rPr>
              <a:t> </a:t>
            </a:r>
            <a:r>
              <a:rPr sz="1100" b="1" dirty="0" err="1">
                <a:solidFill>
                  <a:srgbClr val="1E2227"/>
                </a:solidFill>
                <a:latin typeface="맑은 고딕"/>
                <a:ea typeface="맑은 고딕"/>
              </a:rPr>
              <a:t>웹에서</a:t>
            </a:r>
            <a:r>
              <a:rPr sz="1100" b="1" dirty="0">
                <a:solidFill>
                  <a:srgbClr val="1E2227"/>
                </a:solidFill>
                <a:latin typeface="맑은 고딕"/>
                <a:ea typeface="맑은 고딕"/>
              </a:rPr>
              <a:t> </a:t>
            </a:r>
            <a:r>
              <a:rPr sz="1100" b="1" dirty="0" err="1">
                <a:solidFill>
                  <a:srgbClr val="1E2227"/>
                </a:solidFill>
                <a:latin typeface="맑은 고딕"/>
                <a:ea typeface="맑은 고딕"/>
              </a:rPr>
              <a:t>모델이</a:t>
            </a:r>
            <a:r>
              <a:rPr sz="1100" b="1" dirty="0">
                <a:solidFill>
                  <a:srgbClr val="1E2227"/>
                </a:solidFill>
                <a:latin typeface="맑은 고딕"/>
                <a:ea typeface="맑은 고딕"/>
              </a:rPr>
              <a:t> </a:t>
            </a:r>
            <a:r>
              <a:rPr sz="1100" b="1" dirty="0" err="1">
                <a:solidFill>
                  <a:srgbClr val="1E2227"/>
                </a:solidFill>
                <a:latin typeface="맑은 고딕"/>
                <a:ea typeface="맑은 고딕"/>
              </a:rPr>
              <a:t>겪는</a:t>
            </a:r>
            <a:r>
              <a:rPr sz="1100" b="1" dirty="0">
                <a:solidFill>
                  <a:srgbClr val="1E2227"/>
                </a:solidFill>
                <a:latin typeface="맑은 고딕"/>
                <a:ea typeface="맑은 고딕"/>
              </a:rPr>
              <a:t> </a:t>
            </a:r>
            <a:r>
              <a:rPr sz="1100" b="1" dirty="0" err="1">
                <a:solidFill>
                  <a:srgbClr val="1E2227"/>
                </a:solidFill>
                <a:latin typeface="맑은 고딕"/>
                <a:ea typeface="맑은 고딕"/>
              </a:rPr>
              <a:t>실패를</a:t>
            </a:r>
            <a:r>
              <a:rPr sz="1100" b="1" dirty="0">
                <a:solidFill>
                  <a:srgbClr val="1E2227"/>
                </a:solidFill>
                <a:latin typeface="맑은 고딕"/>
                <a:ea typeface="맑은 고딕"/>
              </a:rPr>
              <a:t> </a:t>
            </a:r>
            <a:r>
              <a:rPr sz="1100" b="1" dirty="0" err="1">
                <a:solidFill>
                  <a:srgbClr val="1E2227"/>
                </a:solidFill>
                <a:latin typeface="맑은 고딕"/>
                <a:ea typeface="맑은 고딕"/>
              </a:rPr>
              <a:t>정량화한</a:t>
            </a:r>
            <a:r>
              <a:rPr sz="1100" b="1" dirty="0">
                <a:solidFill>
                  <a:srgbClr val="1E2227"/>
                </a:solidFill>
                <a:latin typeface="맑은 고딕"/>
                <a:ea typeface="맑은 고딕"/>
              </a:rPr>
              <a:t> </a:t>
            </a:r>
            <a:r>
              <a:rPr sz="1100" b="1" dirty="0" err="1">
                <a:solidFill>
                  <a:srgbClr val="1E2227"/>
                </a:solidFill>
                <a:latin typeface="맑은 고딕"/>
                <a:ea typeface="맑은 고딕"/>
              </a:rPr>
              <a:t>연구</a:t>
            </a:r>
            <a:endParaRPr sz="1100" b="1" dirty="0">
              <a:solidFill>
                <a:srgbClr val="1E2227"/>
              </a:solidFill>
              <a:latin typeface="맑은 고딕"/>
              <a:ea typeface="맑은 고딕"/>
            </a:endParaRPr>
          </a:p>
          <a:p>
            <a:pPr marL="171450" indent="-171450" algn="l">
              <a:lnSpc>
                <a:spcPct val="132000"/>
              </a:lnSpc>
              <a:spcAft>
                <a:spcPts val="450"/>
              </a:spcAft>
              <a:buFont typeface="Arial" panose="020B0604020202020204" pitchFamily="34" charset="0"/>
              <a:buChar char="•"/>
            </a:pPr>
            <a:r>
              <a:rPr sz="1080" b="1" dirty="0">
                <a:solidFill>
                  <a:srgbClr val="1E2227"/>
                </a:solidFill>
                <a:latin typeface="맑은 고딕"/>
                <a:ea typeface="맑은 고딕"/>
              </a:rPr>
              <a:t>Xu et al. (EMNLP 2024)</a:t>
            </a:r>
            <a:r>
              <a:rPr sz="1080" b="0" dirty="0">
                <a:solidFill>
                  <a:srgbClr val="6B7480"/>
                </a:solidFill>
                <a:latin typeface="맑은 고딕"/>
                <a:ea typeface="맑은 고딕"/>
              </a:rPr>
              <a:t>  </a:t>
            </a:r>
            <a:r>
              <a:rPr sz="1080" b="0" dirty="0" err="1">
                <a:solidFill>
                  <a:srgbClr val="6B7480"/>
                </a:solidFill>
                <a:latin typeface="맑은 고딕"/>
                <a:ea typeface="맑은 고딕"/>
              </a:rPr>
              <a:t>지식</a:t>
            </a:r>
            <a:r>
              <a:rPr sz="1080" b="0" dirty="0">
                <a:solidFill>
                  <a:srgbClr val="6B7480"/>
                </a:solidFill>
                <a:latin typeface="맑은 고딕"/>
                <a:ea typeface="맑은 고딕"/>
              </a:rPr>
              <a:t> </a:t>
            </a:r>
            <a:r>
              <a:rPr sz="1080" b="0" dirty="0" err="1">
                <a:solidFill>
                  <a:srgbClr val="6B7480"/>
                </a:solidFill>
                <a:latin typeface="맑은 고딕"/>
                <a:ea typeface="맑은 고딕"/>
              </a:rPr>
              <a:t>충돌을</a:t>
            </a:r>
            <a:r>
              <a:rPr sz="1080" b="0" dirty="0">
                <a:solidFill>
                  <a:srgbClr val="6B7480"/>
                </a:solidFill>
                <a:latin typeface="맑은 고딕"/>
                <a:ea typeface="맑은 고딕"/>
              </a:rPr>
              <a:t> Context-Memory · Inter-Context · Intra-Memory 3분류로 </a:t>
            </a:r>
            <a:r>
              <a:rPr sz="1080" b="0" dirty="0" err="1">
                <a:solidFill>
                  <a:srgbClr val="6B7480"/>
                </a:solidFill>
                <a:latin typeface="맑은 고딕"/>
                <a:ea typeface="맑은 고딕"/>
              </a:rPr>
              <a:t>정립</a:t>
            </a:r>
            <a:endParaRPr lang="en-US" sz="1080" dirty="0">
              <a:solidFill>
                <a:srgbClr val="6B7480"/>
              </a:solidFill>
              <a:latin typeface="맑은 고딕"/>
              <a:ea typeface="맑은 고딕"/>
            </a:endParaRPr>
          </a:p>
          <a:p>
            <a:pPr marL="171450" indent="-171450" algn="l">
              <a:lnSpc>
                <a:spcPct val="132000"/>
              </a:lnSpc>
              <a:spcAft>
                <a:spcPts val="450"/>
              </a:spcAft>
              <a:buFont typeface="Arial" panose="020B0604020202020204" pitchFamily="34" charset="0"/>
              <a:buChar char="•"/>
            </a:pPr>
            <a:r>
              <a:rPr sz="1080" b="1" dirty="0">
                <a:solidFill>
                  <a:srgbClr val="1E2227"/>
                </a:solidFill>
                <a:latin typeface="맑은 고딕"/>
                <a:ea typeface="맑은 고딕"/>
              </a:rPr>
              <a:t>Cattan et al. (2025) · </a:t>
            </a:r>
            <a:r>
              <a:rPr sz="1080" b="1" dirty="0" err="1">
                <a:solidFill>
                  <a:srgbClr val="1E2227"/>
                </a:solidFill>
                <a:latin typeface="맑은 고딕"/>
                <a:ea typeface="맑은 고딕"/>
              </a:rPr>
              <a:t>DRAGged</a:t>
            </a:r>
            <a:r>
              <a:rPr sz="1080" b="0" dirty="0">
                <a:solidFill>
                  <a:srgbClr val="6B7480"/>
                </a:solidFill>
                <a:latin typeface="맑은 고딕"/>
                <a:ea typeface="맑은 고딕"/>
              </a:rPr>
              <a:t>  </a:t>
            </a:r>
            <a:r>
              <a:rPr sz="1080" b="0" dirty="0" err="1">
                <a:solidFill>
                  <a:srgbClr val="6B7480"/>
                </a:solidFill>
                <a:latin typeface="맑은 고딕"/>
                <a:ea typeface="맑은 고딕"/>
              </a:rPr>
              <a:t>실제</a:t>
            </a:r>
            <a:r>
              <a:rPr sz="1080" b="0" dirty="0">
                <a:solidFill>
                  <a:srgbClr val="6B7480"/>
                </a:solidFill>
                <a:latin typeface="맑은 고딕"/>
                <a:ea typeface="맑은 고딕"/>
              </a:rPr>
              <a:t> </a:t>
            </a:r>
            <a:r>
              <a:rPr sz="1080" b="0" dirty="0" err="1">
                <a:solidFill>
                  <a:srgbClr val="6B7480"/>
                </a:solidFill>
                <a:latin typeface="맑은 고딕"/>
                <a:ea typeface="맑은 고딕"/>
              </a:rPr>
              <a:t>구글</a:t>
            </a:r>
            <a:r>
              <a:rPr sz="1080" b="0" dirty="0">
                <a:solidFill>
                  <a:srgbClr val="6B7480"/>
                </a:solidFill>
                <a:latin typeface="맑은 고딕"/>
                <a:ea typeface="맑은 고딕"/>
              </a:rPr>
              <a:t> </a:t>
            </a:r>
            <a:r>
              <a:rPr sz="1080" b="0" dirty="0" err="1">
                <a:solidFill>
                  <a:srgbClr val="6B7480"/>
                </a:solidFill>
                <a:latin typeface="맑은 고딕"/>
                <a:ea typeface="맑은 고딕"/>
              </a:rPr>
              <a:t>검색</a:t>
            </a:r>
            <a:r>
              <a:rPr sz="1080" b="0" dirty="0">
                <a:solidFill>
                  <a:srgbClr val="6B7480"/>
                </a:solidFill>
                <a:latin typeface="맑은 고딕"/>
                <a:ea typeface="맑은 고딕"/>
              </a:rPr>
              <a:t> </a:t>
            </a:r>
            <a:r>
              <a:rPr sz="1080" b="0" dirty="0" err="1">
                <a:solidFill>
                  <a:srgbClr val="6B7480"/>
                </a:solidFill>
                <a:latin typeface="맑은 고딕"/>
                <a:ea typeface="맑은 고딕"/>
              </a:rPr>
              <a:t>결과</a:t>
            </a:r>
            <a:r>
              <a:rPr sz="1080" b="0" dirty="0">
                <a:solidFill>
                  <a:srgbClr val="6B7480"/>
                </a:solidFill>
                <a:latin typeface="맑은 고딕"/>
                <a:ea typeface="맑은 고딕"/>
              </a:rPr>
              <a:t> 458건 </a:t>
            </a:r>
            <a:r>
              <a:rPr sz="1080" b="0" dirty="0" err="1">
                <a:solidFill>
                  <a:srgbClr val="6B7480"/>
                </a:solidFill>
                <a:latin typeface="맑은 고딕"/>
                <a:ea typeface="맑은 고딕"/>
              </a:rPr>
              <a:t>중</a:t>
            </a:r>
            <a:r>
              <a:rPr sz="1080" b="0" dirty="0">
                <a:solidFill>
                  <a:srgbClr val="6B7480"/>
                </a:solidFill>
                <a:latin typeface="맑은 고딕"/>
                <a:ea typeface="맑은 고딕"/>
              </a:rPr>
              <a:t> </a:t>
            </a:r>
            <a:r>
              <a:rPr sz="1080" b="0" dirty="0" err="1">
                <a:solidFill>
                  <a:srgbClr val="6B7480"/>
                </a:solidFill>
                <a:latin typeface="맑은 고딕"/>
                <a:ea typeface="맑은 고딕"/>
              </a:rPr>
              <a:t>명시적으로</a:t>
            </a:r>
            <a:r>
              <a:rPr sz="1080" b="0" dirty="0">
                <a:solidFill>
                  <a:srgbClr val="6B7480"/>
                </a:solidFill>
                <a:latin typeface="맑은 고딕"/>
                <a:ea typeface="맑은 고딕"/>
              </a:rPr>
              <a:t> </a:t>
            </a:r>
            <a:r>
              <a:rPr sz="1080" b="0" dirty="0" err="1">
                <a:solidFill>
                  <a:srgbClr val="6B7480"/>
                </a:solidFill>
                <a:latin typeface="맑은 고딕"/>
                <a:ea typeface="맑은 고딕"/>
              </a:rPr>
              <a:t>상충하는</a:t>
            </a:r>
            <a:r>
              <a:rPr sz="1080" b="0" dirty="0">
                <a:solidFill>
                  <a:srgbClr val="6B7480"/>
                </a:solidFill>
                <a:latin typeface="맑은 고딕"/>
                <a:ea typeface="맑은 고딕"/>
              </a:rPr>
              <a:t> </a:t>
            </a:r>
            <a:r>
              <a:rPr sz="1080" b="0" dirty="0" err="1">
                <a:solidFill>
                  <a:srgbClr val="6B7480"/>
                </a:solidFill>
                <a:latin typeface="맑은 고딕"/>
                <a:ea typeface="맑은 고딕"/>
              </a:rPr>
              <a:t>문서가</a:t>
            </a:r>
            <a:r>
              <a:rPr sz="1080" b="0" dirty="0">
                <a:solidFill>
                  <a:srgbClr val="6B7480"/>
                </a:solidFill>
                <a:latin typeface="맑은 고딕"/>
                <a:ea typeface="맑은 고딕"/>
              </a:rPr>
              <a:t> 182건(40%) — </a:t>
            </a:r>
            <a:r>
              <a:rPr sz="1080" b="0" dirty="0" err="1">
                <a:solidFill>
                  <a:srgbClr val="6B7480"/>
                </a:solidFill>
                <a:latin typeface="맑은 고딕"/>
                <a:ea typeface="맑은 고딕"/>
              </a:rPr>
              <a:t>충돌</a:t>
            </a:r>
            <a:r>
              <a:rPr sz="1080" b="0" dirty="0">
                <a:solidFill>
                  <a:srgbClr val="6B7480"/>
                </a:solidFill>
                <a:latin typeface="맑은 고딕"/>
                <a:ea typeface="맑은 고딕"/>
              </a:rPr>
              <a:t> </a:t>
            </a:r>
            <a:r>
              <a:rPr sz="1080" b="0" dirty="0" err="1">
                <a:solidFill>
                  <a:srgbClr val="6B7480"/>
                </a:solidFill>
                <a:latin typeface="맑은 고딕"/>
                <a:ea typeface="맑은 고딕"/>
              </a:rPr>
              <a:t>원인을</a:t>
            </a:r>
            <a:r>
              <a:rPr sz="1080" b="0" dirty="0">
                <a:solidFill>
                  <a:srgbClr val="6B7480"/>
                </a:solidFill>
                <a:latin typeface="맑은 고딕"/>
                <a:ea typeface="맑은 고딕"/>
              </a:rPr>
              <a:t> 5유형으로 </a:t>
            </a:r>
            <a:r>
              <a:rPr sz="1080" b="0" dirty="0" err="1">
                <a:solidFill>
                  <a:srgbClr val="6B7480"/>
                </a:solidFill>
                <a:latin typeface="맑은 고딕"/>
                <a:ea typeface="맑은 고딕"/>
              </a:rPr>
              <a:t>라벨링</a:t>
            </a:r>
            <a:endParaRPr lang="en-US" sz="1080" dirty="0">
              <a:solidFill>
                <a:srgbClr val="6B7480"/>
              </a:solidFill>
              <a:latin typeface="맑은 고딕"/>
              <a:ea typeface="맑은 고딕"/>
            </a:endParaRPr>
          </a:p>
          <a:p>
            <a:pPr marL="171450" indent="-171450" algn="l">
              <a:lnSpc>
                <a:spcPct val="132000"/>
              </a:lnSpc>
              <a:spcAft>
                <a:spcPts val="450"/>
              </a:spcAft>
              <a:buFont typeface="Arial" panose="020B0604020202020204" pitchFamily="34" charset="0"/>
              <a:buChar char="•"/>
            </a:pPr>
            <a:r>
              <a:rPr sz="1080" b="1" dirty="0">
                <a:solidFill>
                  <a:srgbClr val="1E2227"/>
                </a:solidFill>
                <a:latin typeface="맑은 고딕"/>
                <a:ea typeface="맑은 고딕"/>
              </a:rPr>
              <a:t>Wang et al. (COLM 2025) · </a:t>
            </a:r>
            <a:r>
              <a:rPr sz="1080" b="1" dirty="0" err="1">
                <a:solidFill>
                  <a:srgbClr val="1E2227"/>
                </a:solidFill>
                <a:latin typeface="맑은 고딕"/>
                <a:ea typeface="맑은 고딕"/>
              </a:rPr>
              <a:t>RAMDocs</a:t>
            </a:r>
            <a:r>
              <a:rPr sz="1080" b="0" dirty="0">
                <a:solidFill>
                  <a:srgbClr val="6B7480"/>
                </a:solidFill>
                <a:latin typeface="맑은 고딕"/>
                <a:ea typeface="맑은 고딕"/>
              </a:rPr>
              <a:t>  </a:t>
            </a:r>
            <a:r>
              <a:rPr sz="1080" b="0" dirty="0" err="1">
                <a:solidFill>
                  <a:srgbClr val="6B7480"/>
                </a:solidFill>
                <a:latin typeface="맑은 고딕"/>
                <a:ea typeface="맑은 고딕"/>
              </a:rPr>
              <a:t>모호성·오정보·노이즈</a:t>
            </a:r>
            <a:r>
              <a:rPr sz="1080" b="0" dirty="0">
                <a:solidFill>
                  <a:srgbClr val="6B7480"/>
                </a:solidFill>
                <a:latin typeface="맑은 고딕"/>
                <a:ea typeface="맑은 고딕"/>
              </a:rPr>
              <a:t> </a:t>
            </a:r>
            <a:r>
              <a:rPr sz="1080" b="0" dirty="0" err="1">
                <a:solidFill>
                  <a:srgbClr val="6B7480"/>
                </a:solidFill>
                <a:latin typeface="맑은 고딕"/>
                <a:ea typeface="맑은 고딕"/>
              </a:rPr>
              <a:t>공존</a:t>
            </a:r>
            <a:r>
              <a:rPr sz="1080" b="0" dirty="0">
                <a:solidFill>
                  <a:srgbClr val="6B7480"/>
                </a:solidFill>
                <a:latin typeface="맑은 고딕"/>
                <a:ea typeface="맑은 고딕"/>
              </a:rPr>
              <a:t> </a:t>
            </a:r>
            <a:r>
              <a:rPr sz="1080" b="0" dirty="0" err="1">
                <a:solidFill>
                  <a:srgbClr val="6B7480"/>
                </a:solidFill>
                <a:latin typeface="맑은 고딕"/>
                <a:ea typeface="맑은 고딕"/>
              </a:rPr>
              <a:t>시</a:t>
            </a:r>
            <a:r>
              <a:rPr sz="1080" b="0" dirty="0">
                <a:solidFill>
                  <a:srgbClr val="6B7480"/>
                </a:solidFill>
                <a:latin typeface="맑은 고딕"/>
                <a:ea typeface="맑은 고딕"/>
              </a:rPr>
              <a:t> </a:t>
            </a:r>
            <a:r>
              <a:rPr sz="1080" b="0" dirty="0" err="1">
                <a:solidFill>
                  <a:srgbClr val="6B7480"/>
                </a:solidFill>
                <a:latin typeface="맑은 고딕"/>
                <a:ea typeface="맑은 고딕"/>
              </a:rPr>
              <a:t>RAG의</a:t>
            </a:r>
            <a:r>
              <a:rPr sz="1080" b="0" dirty="0">
                <a:solidFill>
                  <a:srgbClr val="6B7480"/>
                </a:solidFill>
                <a:latin typeface="맑은 고딕"/>
                <a:ea typeface="맑은 고딕"/>
              </a:rPr>
              <a:t> </a:t>
            </a:r>
            <a:r>
              <a:rPr sz="1080" b="0" dirty="0" err="1">
                <a:solidFill>
                  <a:srgbClr val="6B7480"/>
                </a:solidFill>
                <a:latin typeface="맑은 고딕"/>
                <a:ea typeface="맑은 고딕"/>
              </a:rPr>
              <a:t>오류</a:t>
            </a:r>
            <a:r>
              <a:rPr sz="1080" b="0" dirty="0">
                <a:solidFill>
                  <a:srgbClr val="6B7480"/>
                </a:solidFill>
                <a:latin typeface="맑은 고딕"/>
                <a:ea typeface="맑은 고딕"/>
              </a:rPr>
              <a:t> </a:t>
            </a:r>
            <a:r>
              <a:rPr sz="1080" b="0" dirty="0" err="1">
                <a:solidFill>
                  <a:srgbClr val="6B7480"/>
                </a:solidFill>
                <a:latin typeface="맑은 고딕"/>
                <a:ea typeface="맑은 고딕"/>
              </a:rPr>
              <a:t>감지·답변</a:t>
            </a:r>
            <a:r>
              <a:rPr sz="1080" b="0" dirty="0">
                <a:solidFill>
                  <a:srgbClr val="6B7480"/>
                </a:solidFill>
                <a:latin typeface="맑은 고딕"/>
                <a:ea typeface="맑은 고딕"/>
              </a:rPr>
              <a:t> </a:t>
            </a:r>
            <a:r>
              <a:rPr sz="1080" b="0" dirty="0" err="1">
                <a:solidFill>
                  <a:srgbClr val="6B7480"/>
                </a:solidFill>
                <a:latin typeface="맑은 고딕"/>
                <a:ea typeface="맑은 고딕"/>
              </a:rPr>
              <a:t>거부</a:t>
            </a:r>
            <a:r>
              <a:rPr sz="1080" b="0" dirty="0">
                <a:solidFill>
                  <a:srgbClr val="6B7480"/>
                </a:solidFill>
                <a:latin typeface="맑은 고딕"/>
                <a:ea typeface="맑은 고딕"/>
              </a:rPr>
              <a:t> </a:t>
            </a:r>
            <a:r>
              <a:rPr sz="1080" b="0" dirty="0" err="1">
                <a:solidFill>
                  <a:srgbClr val="6B7480"/>
                </a:solidFill>
                <a:latin typeface="맑은 고딕"/>
                <a:ea typeface="맑은 고딕"/>
              </a:rPr>
              <a:t>한계를</a:t>
            </a:r>
            <a:r>
              <a:rPr sz="1080" b="0" dirty="0">
                <a:solidFill>
                  <a:srgbClr val="6B7480"/>
                </a:solidFill>
                <a:latin typeface="맑은 고딕"/>
                <a:ea typeface="맑은 고딕"/>
              </a:rPr>
              <a:t> </a:t>
            </a:r>
            <a:r>
              <a:rPr sz="1080" b="0" dirty="0" err="1">
                <a:solidFill>
                  <a:srgbClr val="6B7480"/>
                </a:solidFill>
                <a:latin typeface="맑은 고딕"/>
                <a:ea typeface="맑은 고딕"/>
              </a:rPr>
              <a:t>정량화</a:t>
            </a:r>
            <a:endParaRPr lang="en-US" sz="1080" dirty="0">
              <a:solidFill>
                <a:srgbClr val="6B7480"/>
              </a:solidFill>
              <a:latin typeface="맑은 고딕"/>
              <a:ea typeface="맑은 고딕"/>
            </a:endParaRPr>
          </a:p>
          <a:p>
            <a:pPr marL="171450" indent="-171450" algn="l">
              <a:lnSpc>
                <a:spcPct val="132000"/>
              </a:lnSpc>
              <a:spcAft>
                <a:spcPts val="450"/>
              </a:spcAft>
              <a:buFont typeface="Arial" panose="020B0604020202020204" pitchFamily="34" charset="0"/>
              <a:buChar char="•"/>
            </a:pPr>
            <a:r>
              <a:rPr sz="1080" b="1" dirty="0">
                <a:solidFill>
                  <a:srgbClr val="1E2227"/>
                </a:solidFill>
                <a:latin typeface="맑은 고딕"/>
                <a:ea typeface="맑은 고딕"/>
              </a:rPr>
              <a:t>Liu et al. (Findings of NAACL 2025) · QACC</a:t>
            </a:r>
            <a:r>
              <a:rPr sz="1080" b="0" dirty="0">
                <a:solidFill>
                  <a:srgbClr val="6B7480"/>
                </a:solidFill>
                <a:latin typeface="맑은 고딕"/>
                <a:ea typeface="맑은 고딕"/>
              </a:rPr>
              <a:t>  </a:t>
            </a:r>
            <a:r>
              <a:rPr sz="1080" b="0" dirty="0" err="1">
                <a:solidFill>
                  <a:srgbClr val="6B7480"/>
                </a:solidFill>
                <a:latin typeface="맑은 고딕"/>
                <a:ea typeface="맑은 고딕"/>
              </a:rPr>
              <a:t>비모호</a:t>
            </a:r>
            <a:r>
              <a:rPr sz="1080" b="0" dirty="0">
                <a:solidFill>
                  <a:srgbClr val="6B7480"/>
                </a:solidFill>
                <a:latin typeface="맑은 고딕"/>
                <a:ea typeface="맑은 고딕"/>
              </a:rPr>
              <a:t> </a:t>
            </a:r>
            <a:r>
              <a:rPr sz="1080" b="0" dirty="0" err="1">
                <a:solidFill>
                  <a:srgbClr val="6B7480"/>
                </a:solidFill>
                <a:latin typeface="맑은 고딕"/>
                <a:ea typeface="맑은 고딕"/>
              </a:rPr>
              <a:t>질문의</a:t>
            </a:r>
            <a:r>
              <a:rPr sz="1080" b="0" dirty="0">
                <a:solidFill>
                  <a:srgbClr val="6B7480"/>
                </a:solidFill>
                <a:latin typeface="맑은 고딕"/>
                <a:ea typeface="맑은 고딕"/>
              </a:rPr>
              <a:t> 25%가 </a:t>
            </a:r>
            <a:r>
              <a:rPr sz="1080" b="0" dirty="0" err="1">
                <a:solidFill>
                  <a:srgbClr val="6B7480"/>
                </a:solidFill>
                <a:latin typeface="맑은 고딕"/>
                <a:ea typeface="맑은 고딕"/>
              </a:rPr>
              <a:t>자연</a:t>
            </a:r>
            <a:r>
              <a:rPr sz="1080" b="0" dirty="0">
                <a:solidFill>
                  <a:srgbClr val="6B7480"/>
                </a:solidFill>
                <a:latin typeface="맑은 고딕"/>
                <a:ea typeface="맑은 고딕"/>
              </a:rPr>
              <a:t> </a:t>
            </a:r>
            <a:r>
              <a:rPr sz="1080" b="0" dirty="0" err="1">
                <a:solidFill>
                  <a:srgbClr val="6B7480"/>
                </a:solidFill>
                <a:latin typeface="맑은 고딕"/>
                <a:ea typeface="맑은 고딕"/>
              </a:rPr>
              <a:t>충돌</a:t>
            </a:r>
            <a:r>
              <a:rPr sz="1080" b="0" dirty="0">
                <a:solidFill>
                  <a:srgbClr val="6B7480"/>
                </a:solidFill>
                <a:latin typeface="맑은 고딕"/>
                <a:ea typeface="맑은 고딕"/>
              </a:rPr>
              <a:t> </a:t>
            </a:r>
            <a:r>
              <a:rPr sz="1080" b="0" dirty="0" err="1">
                <a:solidFill>
                  <a:srgbClr val="6B7480"/>
                </a:solidFill>
                <a:latin typeface="맑은 고딕"/>
                <a:ea typeface="맑은 고딕"/>
              </a:rPr>
              <a:t>조우</a:t>
            </a:r>
            <a:r>
              <a:rPr sz="1080" b="0" dirty="0">
                <a:solidFill>
                  <a:srgbClr val="6B7480"/>
                </a:solidFill>
                <a:latin typeface="맑은 고딕"/>
                <a:ea typeface="맑은 고딕"/>
              </a:rPr>
              <a:t> · </a:t>
            </a:r>
            <a:r>
              <a:rPr sz="1080" b="0" dirty="0" err="1">
                <a:solidFill>
                  <a:srgbClr val="6B7480"/>
                </a:solidFill>
                <a:latin typeface="맑은 고딕"/>
                <a:ea typeface="맑은 고딕"/>
              </a:rPr>
              <a:t>합성</a:t>
            </a:r>
            <a:r>
              <a:rPr sz="1080" b="0" dirty="0">
                <a:solidFill>
                  <a:srgbClr val="6B7480"/>
                </a:solidFill>
                <a:latin typeface="맑은 고딕"/>
                <a:ea typeface="맑은 고딕"/>
              </a:rPr>
              <a:t> </a:t>
            </a:r>
            <a:r>
              <a:rPr sz="1080" b="0" dirty="0" err="1">
                <a:solidFill>
                  <a:srgbClr val="6B7480"/>
                </a:solidFill>
                <a:latin typeface="맑은 고딕"/>
                <a:ea typeface="맑은 고딕"/>
              </a:rPr>
              <a:t>충돌</a:t>
            </a:r>
            <a:r>
              <a:rPr sz="1080" b="0" dirty="0">
                <a:solidFill>
                  <a:srgbClr val="6B7480"/>
                </a:solidFill>
                <a:latin typeface="맑은 고딕"/>
                <a:ea typeface="맑은 고딕"/>
              </a:rPr>
              <a:t> </a:t>
            </a:r>
            <a:r>
              <a:rPr sz="1080" b="0" dirty="0" err="1">
                <a:solidFill>
                  <a:srgbClr val="6B7480"/>
                </a:solidFill>
                <a:latin typeface="맑은 고딕"/>
                <a:ea typeface="맑은 고딕"/>
              </a:rPr>
              <a:t>학습은</a:t>
            </a:r>
            <a:r>
              <a:rPr sz="1080" b="0" dirty="0">
                <a:solidFill>
                  <a:srgbClr val="6B7480"/>
                </a:solidFill>
                <a:latin typeface="맑은 고딕"/>
                <a:ea typeface="맑은 고딕"/>
              </a:rPr>
              <a:t> </a:t>
            </a:r>
            <a:r>
              <a:rPr sz="1080" b="0" dirty="0" err="1">
                <a:solidFill>
                  <a:srgbClr val="6B7480"/>
                </a:solidFill>
                <a:latin typeface="맑은 고딕"/>
                <a:ea typeface="맑은 고딕"/>
              </a:rPr>
              <a:t>자연</a:t>
            </a:r>
            <a:r>
              <a:rPr sz="1080" b="0" dirty="0">
                <a:solidFill>
                  <a:srgbClr val="6B7480"/>
                </a:solidFill>
                <a:latin typeface="맑은 고딕"/>
                <a:ea typeface="맑은 고딕"/>
              </a:rPr>
              <a:t> </a:t>
            </a:r>
            <a:r>
              <a:rPr sz="1080" b="0" dirty="0" err="1">
                <a:solidFill>
                  <a:srgbClr val="6B7480"/>
                </a:solidFill>
                <a:latin typeface="맑은 고딕"/>
                <a:ea typeface="맑은 고딕"/>
              </a:rPr>
              <a:t>충돌엔</a:t>
            </a:r>
            <a:r>
              <a:rPr sz="1080" b="0" dirty="0">
                <a:solidFill>
                  <a:srgbClr val="6B7480"/>
                </a:solidFill>
                <a:latin typeface="맑은 고딕"/>
                <a:ea typeface="맑은 고딕"/>
              </a:rPr>
              <a:t> </a:t>
            </a:r>
            <a:r>
              <a:rPr sz="1080" b="0" dirty="0" err="1">
                <a:solidFill>
                  <a:srgbClr val="6B7480"/>
                </a:solidFill>
                <a:latin typeface="맑은 고딕"/>
                <a:ea typeface="맑은 고딕"/>
              </a:rPr>
              <a:t>오히려</a:t>
            </a:r>
            <a:r>
              <a:rPr sz="1080" b="0" dirty="0">
                <a:solidFill>
                  <a:srgbClr val="6B7480"/>
                </a:solidFill>
                <a:latin typeface="맑은 고딕"/>
                <a:ea typeface="맑은 고딕"/>
              </a:rPr>
              <a:t> </a:t>
            </a:r>
            <a:r>
              <a:rPr sz="1080" b="0" dirty="0" err="1">
                <a:solidFill>
                  <a:srgbClr val="6B7480"/>
                </a:solidFill>
                <a:latin typeface="맑은 고딕"/>
                <a:ea typeface="맑은 고딕"/>
              </a:rPr>
              <a:t>역효과</a:t>
            </a:r>
            <a:endParaRPr sz="1080" b="0" dirty="0">
              <a:solidFill>
                <a:srgbClr val="6B7480"/>
              </a:solidFill>
              <a:latin typeface="맑은 고딕"/>
              <a:ea typeface="맑은 고딕"/>
            </a:endParaRPr>
          </a:p>
        </p:txBody>
      </p:sp>
      <p:sp>
        <p:nvSpPr>
          <p:cNvPr id="10" name="Rectangle 9"/>
          <p:cNvSpPr/>
          <p:nvPr/>
        </p:nvSpPr>
        <p:spPr>
          <a:xfrm>
            <a:off x="4297680" y="2147824"/>
            <a:ext cx="3584448" cy="33020"/>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97680" y="2180843"/>
            <a:ext cx="3584448" cy="416102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pPr>
            <a:r>
              <a:rPr sz="1300" b="1" dirty="0">
                <a:solidFill>
                  <a:srgbClr val="273A52"/>
                </a:solidFill>
                <a:latin typeface="맑은 고딕"/>
                <a:ea typeface="맑은 고딕"/>
              </a:rPr>
              <a:t>② Inter-Context </a:t>
            </a:r>
            <a:r>
              <a:rPr sz="1300" b="1" dirty="0" err="1">
                <a:solidFill>
                  <a:srgbClr val="273A52"/>
                </a:solidFill>
                <a:latin typeface="맑은 고딕"/>
                <a:ea typeface="맑은 고딕"/>
              </a:rPr>
              <a:t>충돌</a:t>
            </a:r>
            <a:r>
              <a:rPr sz="1300" b="1" dirty="0">
                <a:solidFill>
                  <a:srgbClr val="273A52"/>
                </a:solidFill>
                <a:latin typeface="맑은 고딕"/>
                <a:ea typeface="맑은 고딕"/>
              </a:rPr>
              <a:t> </a:t>
            </a:r>
            <a:r>
              <a:rPr sz="1300" b="1" dirty="0" err="1">
                <a:solidFill>
                  <a:srgbClr val="273A52"/>
                </a:solidFill>
                <a:latin typeface="맑은 고딕"/>
                <a:ea typeface="맑은 고딕"/>
              </a:rPr>
              <a:t>완화</a:t>
            </a:r>
            <a:r>
              <a:rPr sz="1300" b="1" dirty="0">
                <a:solidFill>
                  <a:srgbClr val="273A52"/>
                </a:solidFill>
                <a:latin typeface="맑은 고딕"/>
                <a:ea typeface="맑은 고딕"/>
              </a:rPr>
              <a:t> </a:t>
            </a:r>
            <a:r>
              <a:rPr sz="1300" b="1" dirty="0" err="1">
                <a:solidFill>
                  <a:srgbClr val="273A52"/>
                </a:solidFill>
                <a:latin typeface="맑은 고딕"/>
                <a:ea typeface="맑은 고딕"/>
              </a:rPr>
              <a:t>기법</a:t>
            </a:r>
            <a:endParaRPr sz="1300" b="1" dirty="0">
              <a:solidFill>
                <a:srgbClr val="273A52"/>
              </a:solidFill>
              <a:latin typeface="맑은 고딕"/>
              <a:ea typeface="맑은 고딕"/>
            </a:endParaRPr>
          </a:p>
          <a:p>
            <a:pPr algn="l">
              <a:lnSpc>
                <a:spcPct val="130000"/>
              </a:lnSpc>
              <a:spcAft>
                <a:spcPts val="450"/>
              </a:spcAft>
            </a:pPr>
            <a:r>
              <a:rPr sz="1100" b="1" dirty="0" err="1">
                <a:solidFill>
                  <a:srgbClr val="1E2227"/>
                </a:solidFill>
                <a:latin typeface="맑은 고딕"/>
                <a:ea typeface="맑은 고딕"/>
              </a:rPr>
              <a:t>디코딩</a:t>
            </a:r>
            <a:r>
              <a:rPr sz="1100" b="1" dirty="0">
                <a:solidFill>
                  <a:srgbClr val="1E2227"/>
                </a:solidFill>
                <a:latin typeface="맑은 고딕"/>
                <a:ea typeface="맑은 고딕"/>
              </a:rPr>
              <a:t> </a:t>
            </a:r>
            <a:r>
              <a:rPr sz="1100" b="1" dirty="0" err="1">
                <a:solidFill>
                  <a:srgbClr val="1E2227"/>
                </a:solidFill>
                <a:latin typeface="맑은 고딕"/>
                <a:ea typeface="맑은 고딕"/>
              </a:rPr>
              <a:t>제어·성찰·외부</a:t>
            </a:r>
            <a:r>
              <a:rPr sz="1100" b="1" dirty="0">
                <a:solidFill>
                  <a:srgbClr val="1E2227"/>
                </a:solidFill>
                <a:latin typeface="맑은 고딕"/>
                <a:ea typeface="맑은 고딕"/>
              </a:rPr>
              <a:t> </a:t>
            </a:r>
            <a:r>
              <a:rPr sz="1100" b="1" dirty="0" err="1">
                <a:solidFill>
                  <a:srgbClr val="1E2227"/>
                </a:solidFill>
                <a:latin typeface="맑은 고딕"/>
                <a:ea typeface="맑은 고딕"/>
              </a:rPr>
              <a:t>파이프라인으로</a:t>
            </a:r>
            <a:r>
              <a:rPr sz="1100" b="1" dirty="0">
                <a:solidFill>
                  <a:srgbClr val="1E2227"/>
                </a:solidFill>
                <a:latin typeface="맑은 고딕"/>
                <a:ea typeface="맑은 고딕"/>
              </a:rPr>
              <a:t> </a:t>
            </a:r>
            <a:r>
              <a:rPr sz="1100" b="1" dirty="0" err="1">
                <a:solidFill>
                  <a:srgbClr val="1E2227"/>
                </a:solidFill>
                <a:latin typeface="맑은 고딕"/>
                <a:ea typeface="맑은 고딕"/>
              </a:rPr>
              <a:t>해소</a:t>
            </a:r>
            <a:r>
              <a:rPr sz="1100" b="1" dirty="0">
                <a:solidFill>
                  <a:srgbClr val="1E2227"/>
                </a:solidFill>
                <a:latin typeface="맑은 고딕"/>
                <a:ea typeface="맑은 고딕"/>
              </a:rPr>
              <a:t> </a:t>
            </a:r>
            <a:r>
              <a:rPr sz="1100" b="1" dirty="0" err="1">
                <a:solidFill>
                  <a:srgbClr val="1E2227"/>
                </a:solidFill>
                <a:latin typeface="맑은 고딕"/>
                <a:ea typeface="맑은 고딕"/>
              </a:rPr>
              <a:t>시도</a:t>
            </a:r>
            <a:r>
              <a:rPr sz="1100" b="1" dirty="0">
                <a:solidFill>
                  <a:srgbClr val="1E2227"/>
                </a:solidFill>
                <a:latin typeface="맑은 고딕"/>
                <a:ea typeface="맑은 고딕"/>
              </a:rPr>
              <a:t> — </a:t>
            </a:r>
            <a:r>
              <a:rPr sz="1100" b="1" dirty="0" err="1">
                <a:solidFill>
                  <a:srgbClr val="1E2227"/>
                </a:solidFill>
                <a:latin typeface="맑은 고딕"/>
                <a:ea typeface="맑은 고딕"/>
              </a:rPr>
              <a:t>추론</a:t>
            </a:r>
            <a:r>
              <a:rPr sz="1100" b="1" dirty="0">
                <a:solidFill>
                  <a:srgbClr val="1E2227"/>
                </a:solidFill>
                <a:latin typeface="맑은 고딕"/>
                <a:ea typeface="맑은 고딕"/>
              </a:rPr>
              <a:t> </a:t>
            </a:r>
            <a:r>
              <a:rPr sz="1100" b="1" dirty="0" err="1">
                <a:solidFill>
                  <a:srgbClr val="1E2227"/>
                </a:solidFill>
                <a:latin typeface="맑은 고딕"/>
                <a:ea typeface="맑은 고딕"/>
              </a:rPr>
              <a:t>채널의</a:t>
            </a:r>
            <a:r>
              <a:rPr sz="1100" b="1" dirty="0">
                <a:solidFill>
                  <a:srgbClr val="1E2227"/>
                </a:solidFill>
                <a:latin typeface="맑은 고딕"/>
                <a:ea typeface="맑은 고딕"/>
              </a:rPr>
              <a:t> </a:t>
            </a:r>
            <a:r>
              <a:rPr sz="1100" b="1" dirty="0" err="1">
                <a:solidFill>
                  <a:srgbClr val="1E2227"/>
                </a:solidFill>
                <a:latin typeface="맑은 고딕"/>
                <a:ea typeface="맑은 고딕"/>
              </a:rPr>
              <a:t>인과</a:t>
            </a:r>
            <a:r>
              <a:rPr sz="1100" b="1" dirty="0">
                <a:solidFill>
                  <a:srgbClr val="1E2227"/>
                </a:solidFill>
                <a:latin typeface="맑은 고딕"/>
                <a:ea typeface="맑은 고딕"/>
              </a:rPr>
              <a:t> </a:t>
            </a:r>
            <a:r>
              <a:rPr sz="1100" b="1" dirty="0" err="1">
                <a:solidFill>
                  <a:srgbClr val="1E2227"/>
                </a:solidFill>
                <a:latin typeface="맑은 고딕"/>
                <a:ea typeface="맑은 고딕"/>
              </a:rPr>
              <a:t>규명은</a:t>
            </a:r>
            <a:r>
              <a:rPr sz="1100" b="1" dirty="0">
                <a:solidFill>
                  <a:srgbClr val="1E2227"/>
                </a:solidFill>
                <a:latin typeface="맑은 고딕"/>
                <a:ea typeface="맑은 고딕"/>
              </a:rPr>
              <a:t> </a:t>
            </a:r>
            <a:r>
              <a:rPr sz="1100" b="1" dirty="0" err="1">
                <a:solidFill>
                  <a:srgbClr val="1E2227"/>
                </a:solidFill>
                <a:latin typeface="맑은 고딕"/>
                <a:ea typeface="맑은 고딕"/>
              </a:rPr>
              <a:t>부재</a:t>
            </a:r>
            <a:endParaRPr sz="1100" b="1" dirty="0">
              <a:solidFill>
                <a:srgbClr val="1E2227"/>
              </a:solidFill>
              <a:latin typeface="맑은 고딕"/>
              <a:ea typeface="맑은 고딕"/>
            </a:endParaRPr>
          </a:p>
          <a:p>
            <a:pPr marL="171450" indent="-171450" algn="l">
              <a:lnSpc>
                <a:spcPct val="130000"/>
              </a:lnSpc>
              <a:spcAft>
                <a:spcPts val="450"/>
              </a:spcAft>
              <a:buFont typeface="Arial" panose="020B0604020202020204" pitchFamily="34" charset="0"/>
              <a:buChar char="•"/>
            </a:pPr>
            <a:r>
              <a:rPr sz="1080" b="1" dirty="0">
                <a:solidFill>
                  <a:srgbClr val="1E2227"/>
                </a:solidFill>
                <a:latin typeface="맑은 고딕"/>
                <a:ea typeface="맑은 고딕"/>
              </a:rPr>
              <a:t>Self-RAG (Asai et al., ICLR 2024)</a:t>
            </a:r>
            <a:r>
              <a:rPr sz="1080" b="0" dirty="0">
                <a:solidFill>
                  <a:srgbClr val="6B7480"/>
                </a:solidFill>
                <a:latin typeface="맑은 고딕"/>
                <a:ea typeface="맑은 고딕"/>
              </a:rPr>
              <a:t>  </a:t>
            </a:r>
            <a:r>
              <a:rPr sz="1080" b="0" dirty="0" err="1">
                <a:solidFill>
                  <a:srgbClr val="6B7480"/>
                </a:solidFill>
                <a:latin typeface="맑은 고딕"/>
                <a:ea typeface="맑은 고딕"/>
              </a:rPr>
              <a:t>반성</a:t>
            </a:r>
            <a:r>
              <a:rPr sz="1080" b="0" dirty="0">
                <a:solidFill>
                  <a:srgbClr val="6B7480"/>
                </a:solidFill>
                <a:latin typeface="맑은 고딕"/>
                <a:ea typeface="맑은 고딕"/>
              </a:rPr>
              <a:t> </a:t>
            </a:r>
            <a:r>
              <a:rPr sz="1080" b="0" dirty="0" err="1">
                <a:solidFill>
                  <a:srgbClr val="6B7480"/>
                </a:solidFill>
                <a:latin typeface="맑은 고딕"/>
                <a:ea typeface="맑은 고딕"/>
              </a:rPr>
              <a:t>토큰을</a:t>
            </a:r>
            <a:r>
              <a:rPr sz="1080" b="0" dirty="0">
                <a:solidFill>
                  <a:srgbClr val="6B7480"/>
                </a:solidFill>
                <a:latin typeface="맑은 고딕"/>
                <a:ea typeface="맑은 고딕"/>
              </a:rPr>
              <a:t> </a:t>
            </a:r>
            <a:r>
              <a:rPr sz="1080" b="0" dirty="0" err="1">
                <a:solidFill>
                  <a:srgbClr val="6B7480"/>
                </a:solidFill>
                <a:latin typeface="맑은 고딕"/>
                <a:ea typeface="맑은 고딕"/>
              </a:rPr>
              <a:t>학습해</a:t>
            </a:r>
            <a:r>
              <a:rPr sz="1080" b="0" dirty="0">
                <a:solidFill>
                  <a:srgbClr val="6B7480"/>
                </a:solidFill>
                <a:latin typeface="맑은 고딕"/>
                <a:ea typeface="맑은 고딕"/>
              </a:rPr>
              <a:t> </a:t>
            </a:r>
            <a:r>
              <a:rPr sz="1080" b="0" dirty="0" err="1">
                <a:solidFill>
                  <a:srgbClr val="6B7480"/>
                </a:solidFill>
                <a:latin typeface="맑은 고딕"/>
                <a:ea typeface="맑은 고딕"/>
              </a:rPr>
              <a:t>문서</a:t>
            </a:r>
            <a:r>
              <a:rPr sz="1080" b="0" dirty="0">
                <a:solidFill>
                  <a:srgbClr val="6B7480"/>
                </a:solidFill>
                <a:latin typeface="맑은 고딕"/>
                <a:ea typeface="맑은 고딕"/>
              </a:rPr>
              <a:t> </a:t>
            </a:r>
            <a:r>
              <a:rPr sz="1080" b="0" dirty="0" err="1">
                <a:solidFill>
                  <a:srgbClr val="6B7480"/>
                </a:solidFill>
                <a:latin typeface="맑은 고딕"/>
                <a:ea typeface="맑은 고딕"/>
              </a:rPr>
              <a:t>관련성·답변</a:t>
            </a:r>
            <a:r>
              <a:rPr sz="1080" b="0" dirty="0">
                <a:solidFill>
                  <a:srgbClr val="6B7480"/>
                </a:solidFill>
                <a:latin typeface="맑은 고딕"/>
                <a:ea typeface="맑은 고딕"/>
              </a:rPr>
              <a:t> </a:t>
            </a:r>
            <a:r>
              <a:rPr sz="1080" b="0" dirty="0" err="1">
                <a:solidFill>
                  <a:srgbClr val="6B7480"/>
                </a:solidFill>
                <a:latin typeface="맑은 고딕"/>
                <a:ea typeface="맑은 고딕"/>
              </a:rPr>
              <a:t>사실성을</a:t>
            </a:r>
            <a:r>
              <a:rPr sz="1080" b="0" dirty="0">
                <a:solidFill>
                  <a:srgbClr val="6B7480"/>
                </a:solidFill>
                <a:latin typeface="맑은 고딕"/>
                <a:ea typeface="맑은 고딕"/>
              </a:rPr>
              <a:t> </a:t>
            </a:r>
            <a:r>
              <a:rPr sz="1080" b="0" dirty="0" err="1">
                <a:solidFill>
                  <a:srgbClr val="6B7480"/>
                </a:solidFill>
                <a:latin typeface="맑은 고딕"/>
                <a:ea typeface="맑은 고딕"/>
              </a:rPr>
              <a:t>스스로</a:t>
            </a:r>
            <a:r>
              <a:rPr sz="1080" b="0" dirty="0">
                <a:solidFill>
                  <a:srgbClr val="6B7480"/>
                </a:solidFill>
                <a:latin typeface="맑은 고딕"/>
                <a:ea typeface="맑은 고딕"/>
              </a:rPr>
              <a:t> </a:t>
            </a:r>
            <a:r>
              <a:rPr sz="1080" b="0" dirty="0" err="1">
                <a:solidFill>
                  <a:srgbClr val="6B7480"/>
                </a:solidFill>
                <a:latin typeface="맑은 고딕"/>
                <a:ea typeface="맑은 고딕"/>
              </a:rPr>
              <a:t>평가·제어</a:t>
            </a:r>
            <a:endParaRPr lang="en-US" sz="1080" dirty="0">
              <a:solidFill>
                <a:srgbClr val="6B7480"/>
              </a:solidFill>
              <a:latin typeface="맑은 고딕"/>
              <a:ea typeface="맑은 고딕"/>
            </a:endParaRPr>
          </a:p>
          <a:p>
            <a:pPr marL="171450" indent="-171450" algn="l">
              <a:lnSpc>
                <a:spcPct val="130000"/>
              </a:lnSpc>
              <a:spcAft>
                <a:spcPts val="450"/>
              </a:spcAft>
              <a:buFont typeface="Arial" panose="020B0604020202020204" pitchFamily="34" charset="0"/>
              <a:buChar char="•"/>
            </a:pPr>
            <a:r>
              <a:rPr sz="1080" b="1" dirty="0">
                <a:solidFill>
                  <a:srgbClr val="1E2227"/>
                </a:solidFill>
                <a:latin typeface="맑은 고딕"/>
                <a:ea typeface="맑은 고딕"/>
              </a:rPr>
              <a:t>CD2 (Jin et al., 2024)</a:t>
            </a:r>
            <a:r>
              <a:rPr sz="1080" b="0" dirty="0">
                <a:solidFill>
                  <a:srgbClr val="6B7480"/>
                </a:solidFill>
                <a:latin typeface="맑은 고딕"/>
                <a:ea typeface="맑은 고딕"/>
              </a:rPr>
              <a:t>  </a:t>
            </a:r>
            <a:r>
              <a:rPr sz="1080" b="0" dirty="0" err="1">
                <a:solidFill>
                  <a:srgbClr val="6B7480"/>
                </a:solidFill>
                <a:latin typeface="맑은 고딕"/>
                <a:ea typeface="맑은 고딕"/>
              </a:rPr>
              <a:t>문서</a:t>
            </a:r>
            <a:r>
              <a:rPr sz="1080" b="0" dirty="0">
                <a:solidFill>
                  <a:srgbClr val="6B7480"/>
                </a:solidFill>
                <a:latin typeface="맑은 고딕"/>
                <a:ea typeface="맑은 고딕"/>
              </a:rPr>
              <a:t> </a:t>
            </a:r>
            <a:r>
              <a:rPr sz="1080" b="0" dirty="0" err="1">
                <a:solidFill>
                  <a:srgbClr val="6B7480"/>
                </a:solidFill>
                <a:latin typeface="맑은 고딕"/>
                <a:ea typeface="맑은 고딕"/>
              </a:rPr>
              <a:t>간</a:t>
            </a:r>
            <a:r>
              <a:rPr sz="1080" b="0" dirty="0">
                <a:solidFill>
                  <a:srgbClr val="6B7480"/>
                </a:solidFill>
                <a:latin typeface="맑은 고딕"/>
                <a:ea typeface="맑은 고딕"/>
              </a:rPr>
              <a:t>(inter-context) </a:t>
            </a:r>
            <a:r>
              <a:rPr sz="1080" b="0" dirty="0" err="1">
                <a:solidFill>
                  <a:srgbClr val="6B7480"/>
                </a:solidFill>
                <a:latin typeface="맑은 고딕"/>
                <a:ea typeface="맑은 고딕"/>
              </a:rPr>
              <a:t>충돌을</a:t>
            </a:r>
            <a:r>
              <a:rPr sz="1080" b="0" dirty="0">
                <a:solidFill>
                  <a:srgbClr val="6B7480"/>
                </a:solidFill>
                <a:latin typeface="맑은 고딕"/>
                <a:ea typeface="맑은 고딕"/>
              </a:rPr>
              <a:t> </a:t>
            </a:r>
            <a:r>
              <a:rPr sz="1080" b="0" dirty="0" err="1">
                <a:solidFill>
                  <a:srgbClr val="6B7480"/>
                </a:solidFill>
                <a:latin typeface="맑은 고딕"/>
                <a:ea typeface="맑은 고딕"/>
              </a:rPr>
              <a:t>분리해</a:t>
            </a:r>
            <a:r>
              <a:rPr sz="1080" b="0" dirty="0">
                <a:solidFill>
                  <a:srgbClr val="6B7480"/>
                </a:solidFill>
                <a:latin typeface="맑은 고딕"/>
                <a:ea typeface="맑은 고딕"/>
              </a:rPr>
              <a:t> </a:t>
            </a:r>
            <a:r>
              <a:rPr sz="1080" b="0" dirty="0" err="1">
                <a:solidFill>
                  <a:srgbClr val="6B7480"/>
                </a:solidFill>
                <a:latin typeface="맑은 고딕"/>
                <a:ea typeface="맑은 고딕"/>
              </a:rPr>
              <a:t>대비</a:t>
            </a:r>
            <a:r>
              <a:rPr sz="1080" b="0" dirty="0">
                <a:solidFill>
                  <a:srgbClr val="6B7480"/>
                </a:solidFill>
                <a:latin typeface="맑은 고딕"/>
                <a:ea typeface="맑은 고딕"/>
              </a:rPr>
              <a:t> </a:t>
            </a:r>
            <a:r>
              <a:rPr sz="1080" b="0" dirty="0" err="1">
                <a:solidFill>
                  <a:srgbClr val="6B7480"/>
                </a:solidFill>
                <a:latin typeface="맑은 고딕"/>
                <a:ea typeface="맑은 고딕"/>
              </a:rPr>
              <a:t>디코딩</a:t>
            </a:r>
            <a:endParaRPr lang="en-US" sz="1080" dirty="0">
              <a:solidFill>
                <a:srgbClr val="6B7480"/>
              </a:solidFill>
              <a:latin typeface="맑은 고딕"/>
              <a:ea typeface="맑은 고딕"/>
            </a:endParaRPr>
          </a:p>
          <a:p>
            <a:pPr marL="171450" indent="-171450" algn="l">
              <a:lnSpc>
                <a:spcPct val="130000"/>
              </a:lnSpc>
              <a:spcAft>
                <a:spcPts val="450"/>
              </a:spcAft>
              <a:buFont typeface="Arial" panose="020B0604020202020204" pitchFamily="34" charset="0"/>
              <a:buChar char="•"/>
            </a:pPr>
            <a:r>
              <a:rPr sz="1080" b="1" dirty="0" err="1">
                <a:solidFill>
                  <a:srgbClr val="1E2227"/>
                </a:solidFill>
                <a:latin typeface="맑은 고딕"/>
                <a:ea typeface="맑은 고딕"/>
              </a:rPr>
              <a:t>FaithfulRAG</a:t>
            </a:r>
            <a:r>
              <a:rPr sz="1080" b="1" dirty="0">
                <a:solidFill>
                  <a:srgbClr val="1E2227"/>
                </a:solidFill>
                <a:latin typeface="맑은 고딕"/>
                <a:ea typeface="맑은 고딕"/>
              </a:rPr>
              <a:t> (Zhang et al., 2025)</a:t>
            </a:r>
            <a:r>
              <a:rPr sz="1080" b="0" dirty="0">
                <a:solidFill>
                  <a:srgbClr val="6B7480"/>
                </a:solidFill>
                <a:latin typeface="맑은 고딕"/>
                <a:ea typeface="맑은 고딕"/>
              </a:rPr>
              <a:t>  </a:t>
            </a:r>
            <a:r>
              <a:rPr sz="1080" b="0" dirty="0" err="1">
                <a:solidFill>
                  <a:srgbClr val="6B7480"/>
                </a:solidFill>
                <a:latin typeface="맑은 고딕"/>
                <a:ea typeface="맑은 고딕"/>
              </a:rPr>
              <a:t>사실</a:t>
            </a:r>
            <a:r>
              <a:rPr sz="1080" b="0" dirty="0">
                <a:solidFill>
                  <a:srgbClr val="6B7480"/>
                </a:solidFill>
                <a:latin typeface="맑은 고딕"/>
                <a:ea typeface="맑은 고딕"/>
              </a:rPr>
              <a:t> </a:t>
            </a:r>
            <a:r>
              <a:rPr sz="1080" b="0" dirty="0" err="1">
                <a:solidFill>
                  <a:srgbClr val="6B7480"/>
                </a:solidFill>
                <a:latin typeface="맑은 고딕"/>
                <a:ea typeface="맑은 고딕"/>
              </a:rPr>
              <a:t>수준</a:t>
            </a:r>
            <a:r>
              <a:rPr sz="1080" b="0" dirty="0">
                <a:solidFill>
                  <a:srgbClr val="6B7480"/>
                </a:solidFill>
                <a:latin typeface="맑은 고딕"/>
                <a:ea typeface="맑은 고딕"/>
              </a:rPr>
              <a:t> </a:t>
            </a:r>
            <a:r>
              <a:rPr sz="1080" b="0" dirty="0" err="1">
                <a:solidFill>
                  <a:srgbClr val="6B7480"/>
                </a:solidFill>
                <a:latin typeface="맑은 고딕"/>
                <a:ea typeface="맑은 고딕"/>
              </a:rPr>
              <a:t>충돌을</a:t>
            </a:r>
            <a:r>
              <a:rPr sz="1080" b="0" dirty="0">
                <a:solidFill>
                  <a:srgbClr val="6B7480"/>
                </a:solidFill>
                <a:latin typeface="맑은 고딕"/>
                <a:ea typeface="맑은 고딕"/>
              </a:rPr>
              <a:t> </a:t>
            </a:r>
            <a:r>
              <a:rPr sz="1080" b="0" dirty="0" err="1">
                <a:solidFill>
                  <a:srgbClr val="6B7480"/>
                </a:solidFill>
                <a:latin typeface="맑은 고딕"/>
                <a:ea typeface="맑은 고딕"/>
              </a:rPr>
              <a:t>명시적으로</a:t>
            </a:r>
            <a:r>
              <a:rPr sz="1080" b="0" dirty="0">
                <a:solidFill>
                  <a:srgbClr val="6B7480"/>
                </a:solidFill>
                <a:latin typeface="맑은 고딕"/>
                <a:ea typeface="맑은 고딕"/>
              </a:rPr>
              <a:t> </a:t>
            </a:r>
            <a:r>
              <a:rPr sz="1080" b="0" dirty="0" err="1">
                <a:solidFill>
                  <a:srgbClr val="6B7480"/>
                </a:solidFill>
                <a:latin typeface="맑은 고딕"/>
                <a:ea typeface="맑은 고딕"/>
              </a:rPr>
              <a:t>모델링해</a:t>
            </a:r>
            <a:r>
              <a:rPr sz="1080" b="0" dirty="0">
                <a:solidFill>
                  <a:srgbClr val="6B7480"/>
                </a:solidFill>
                <a:latin typeface="맑은 고딕"/>
                <a:ea typeface="맑은 고딕"/>
              </a:rPr>
              <a:t> </a:t>
            </a:r>
            <a:r>
              <a:rPr sz="1080" b="0" dirty="0" err="1">
                <a:solidFill>
                  <a:srgbClr val="6B7480"/>
                </a:solidFill>
                <a:latin typeface="맑은 고딕"/>
                <a:ea typeface="맑은 고딕"/>
              </a:rPr>
              <a:t>문맥</a:t>
            </a:r>
            <a:r>
              <a:rPr sz="1080" b="0" dirty="0">
                <a:solidFill>
                  <a:srgbClr val="6B7480"/>
                </a:solidFill>
                <a:latin typeface="맑은 고딕"/>
                <a:ea typeface="맑은 고딕"/>
              </a:rPr>
              <a:t> </a:t>
            </a:r>
            <a:r>
              <a:rPr sz="1080" b="0" dirty="0" err="1">
                <a:solidFill>
                  <a:srgbClr val="6B7480"/>
                </a:solidFill>
                <a:latin typeface="맑은 고딕"/>
                <a:ea typeface="맑은 고딕"/>
              </a:rPr>
              <a:t>충실</a:t>
            </a:r>
            <a:r>
              <a:rPr sz="1080" b="0" dirty="0">
                <a:solidFill>
                  <a:srgbClr val="6B7480"/>
                </a:solidFill>
                <a:latin typeface="맑은 고딕"/>
                <a:ea typeface="맑은 고딕"/>
              </a:rPr>
              <a:t> </a:t>
            </a:r>
            <a:r>
              <a:rPr sz="1080" b="0" dirty="0" err="1">
                <a:solidFill>
                  <a:srgbClr val="6B7480"/>
                </a:solidFill>
                <a:latin typeface="맑은 고딕"/>
                <a:ea typeface="맑은 고딕"/>
              </a:rPr>
              <a:t>생성</a:t>
            </a:r>
            <a:r>
              <a:rPr sz="1080" b="0" dirty="0">
                <a:solidFill>
                  <a:srgbClr val="6B7480"/>
                </a:solidFill>
                <a:latin typeface="맑은 고딕"/>
                <a:ea typeface="맑은 고딕"/>
              </a:rPr>
              <a:t> </a:t>
            </a:r>
            <a:r>
              <a:rPr sz="1080" b="0" dirty="0" err="1">
                <a:solidFill>
                  <a:srgbClr val="6B7480"/>
                </a:solidFill>
                <a:latin typeface="맑은 고딕"/>
                <a:ea typeface="맑은 고딕"/>
              </a:rPr>
              <a:t>유도</a:t>
            </a:r>
            <a:endParaRPr lang="en-US" sz="1080" dirty="0">
              <a:solidFill>
                <a:srgbClr val="6B7480"/>
              </a:solidFill>
              <a:latin typeface="맑은 고딕"/>
              <a:ea typeface="맑은 고딕"/>
            </a:endParaRPr>
          </a:p>
          <a:p>
            <a:pPr marL="171450" indent="-171450" algn="l">
              <a:lnSpc>
                <a:spcPct val="130000"/>
              </a:lnSpc>
              <a:spcAft>
                <a:spcPts val="450"/>
              </a:spcAft>
              <a:buFont typeface="Arial" panose="020B0604020202020204" pitchFamily="34" charset="0"/>
              <a:buChar char="•"/>
            </a:pPr>
            <a:r>
              <a:rPr sz="1080" b="1" dirty="0">
                <a:solidFill>
                  <a:srgbClr val="1E2227"/>
                </a:solidFill>
                <a:latin typeface="맑은 고딕"/>
                <a:ea typeface="맑은 고딕"/>
              </a:rPr>
              <a:t>MADAM-RAG (Wang et al., 2025)</a:t>
            </a:r>
            <a:r>
              <a:rPr sz="1080" b="0" dirty="0">
                <a:solidFill>
                  <a:srgbClr val="6B7480"/>
                </a:solidFill>
                <a:latin typeface="맑은 고딕"/>
                <a:ea typeface="맑은 고딕"/>
              </a:rPr>
              <a:t>  </a:t>
            </a:r>
            <a:r>
              <a:rPr sz="1080" b="0" dirty="0" err="1">
                <a:solidFill>
                  <a:srgbClr val="6B7480"/>
                </a:solidFill>
                <a:latin typeface="맑은 고딕"/>
                <a:ea typeface="맑은 고딕"/>
              </a:rPr>
              <a:t>문서별</a:t>
            </a:r>
            <a:r>
              <a:rPr sz="1080" b="0" dirty="0">
                <a:solidFill>
                  <a:srgbClr val="6B7480"/>
                </a:solidFill>
                <a:latin typeface="맑은 고딕"/>
                <a:ea typeface="맑은 고딕"/>
              </a:rPr>
              <a:t> LLM </a:t>
            </a:r>
            <a:r>
              <a:rPr sz="1080" b="0" dirty="0" err="1">
                <a:solidFill>
                  <a:srgbClr val="6B7480"/>
                </a:solidFill>
                <a:latin typeface="맑은 고딕"/>
                <a:ea typeface="맑은 고딕"/>
              </a:rPr>
              <a:t>에이전트의</a:t>
            </a:r>
            <a:r>
              <a:rPr sz="1080" b="0" dirty="0">
                <a:solidFill>
                  <a:srgbClr val="6B7480"/>
                </a:solidFill>
                <a:latin typeface="맑은 고딕"/>
                <a:ea typeface="맑은 고딕"/>
              </a:rPr>
              <a:t> </a:t>
            </a:r>
            <a:r>
              <a:rPr sz="1080" b="0" dirty="0" err="1">
                <a:solidFill>
                  <a:srgbClr val="6B7480"/>
                </a:solidFill>
                <a:latin typeface="맑은 고딕"/>
                <a:ea typeface="맑은 고딕"/>
              </a:rPr>
              <a:t>다중</a:t>
            </a:r>
            <a:r>
              <a:rPr sz="1080" b="0" dirty="0">
                <a:solidFill>
                  <a:srgbClr val="6B7480"/>
                </a:solidFill>
                <a:latin typeface="맑은 고딕"/>
                <a:ea typeface="맑은 고딕"/>
              </a:rPr>
              <a:t> </a:t>
            </a:r>
            <a:r>
              <a:rPr sz="1080" b="0" dirty="0" err="1">
                <a:solidFill>
                  <a:srgbClr val="6B7480"/>
                </a:solidFill>
                <a:latin typeface="맑은 고딕"/>
                <a:ea typeface="맑은 고딕"/>
              </a:rPr>
              <a:t>라운드</a:t>
            </a:r>
            <a:r>
              <a:rPr sz="1080" b="0" dirty="0">
                <a:solidFill>
                  <a:srgbClr val="6B7480"/>
                </a:solidFill>
                <a:latin typeface="맑은 고딕"/>
                <a:ea typeface="맑은 고딕"/>
              </a:rPr>
              <a:t> </a:t>
            </a:r>
            <a:r>
              <a:rPr sz="1080" b="0" dirty="0" err="1">
                <a:solidFill>
                  <a:srgbClr val="6B7480"/>
                </a:solidFill>
                <a:latin typeface="맑은 고딕"/>
                <a:ea typeface="맑은 고딕"/>
              </a:rPr>
              <a:t>토론</a:t>
            </a:r>
            <a:r>
              <a:rPr sz="1080" b="0" dirty="0">
                <a:solidFill>
                  <a:srgbClr val="6B7480"/>
                </a:solidFill>
                <a:latin typeface="맑은 고딕"/>
                <a:ea typeface="맑은 고딕"/>
              </a:rPr>
              <a:t> + </a:t>
            </a:r>
            <a:r>
              <a:rPr sz="1080" b="0" dirty="0" err="1">
                <a:solidFill>
                  <a:srgbClr val="6B7480"/>
                </a:solidFill>
                <a:latin typeface="맑은 고딕"/>
                <a:ea typeface="맑은 고딕"/>
              </a:rPr>
              <a:t>중앙</a:t>
            </a:r>
            <a:r>
              <a:rPr sz="1080" b="0" dirty="0">
                <a:solidFill>
                  <a:srgbClr val="6B7480"/>
                </a:solidFill>
                <a:latin typeface="맑은 고딕"/>
                <a:ea typeface="맑은 고딕"/>
              </a:rPr>
              <a:t> </a:t>
            </a:r>
            <a:r>
              <a:rPr sz="1080" b="0" dirty="0" err="1">
                <a:solidFill>
                  <a:srgbClr val="6B7480"/>
                </a:solidFill>
                <a:latin typeface="맑은 고딕"/>
                <a:ea typeface="맑은 고딕"/>
              </a:rPr>
              <a:t>집계</a:t>
            </a:r>
            <a:endParaRPr lang="en-US" sz="1080" dirty="0">
              <a:solidFill>
                <a:srgbClr val="6B7480"/>
              </a:solidFill>
              <a:latin typeface="맑은 고딕"/>
              <a:ea typeface="맑은 고딕"/>
            </a:endParaRPr>
          </a:p>
          <a:p>
            <a:pPr marL="171450" indent="-171450" algn="l">
              <a:lnSpc>
                <a:spcPct val="130000"/>
              </a:lnSpc>
              <a:spcAft>
                <a:spcPts val="450"/>
              </a:spcAft>
              <a:buFont typeface="Arial" panose="020B0604020202020204" pitchFamily="34" charset="0"/>
              <a:buChar char="•"/>
            </a:pPr>
            <a:r>
              <a:rPr sz="1080" b="1" dirty="0" err="1">
                <a:solidFill>
                  <a:srgbClr val="1E2227"/>
                </a:solidFill>
                <a:latin typeface="맑은 고딕"/>
                <a:ea typeface="맑은 고딕"/>
              </a:rPr>
              <a:t>ConflictRAG</a:t>
            </a:r>
            <a:r>
              <a:rPr sz="1080" b="1" dirty="0">
                <a:solidFill>
                  <a:srgbClr val="1E2227"/>
                </a:solidFill>
                <a:latin typeface="맑은 고딕"/>
                <a:ea typeface="맑은 고딕"/>
              </a:rPr>
              <a:t> (2026)</a:t>
            </a:r>
            <a:r>
              <a:rPr sz="1080" b="0" dirty="0">
                <a:solidFill>
                  <a:srgbClr val="6B7480"/>
                </a:solidFill>
                <a:latin typeface="맑은 고딕"/>
                <a:ea typeface="맑은 고딕"/>
              </a:rPr>
              <a:t>  MLP </a:t>
            </a:r>
            <a:r>
              <a:rPr sz="1080" b="0" dirty="0" err="1">
                <a:solidFill>
                  <a:srgbClr val="6B7480"/>
                </a:solidFill>
                <a:latin typeface="맑은 고딕"/>
                <a:ea typeface="맑은 고딕"/>
              </a:rPr>
              <a:t>분류기로</a:t>
            </a:r>
            <a:r>
              <a:rPr sz="1080" b="0" dirty="0">
                <a:solidFill>
                  <a:srgbClr val="6B7480"/>
                </a:solidFill>
                <a:latin typeface="맑은 고딕"/>
                <a:ea typeface="맑은 고딕"/>
              </a:rPr>
              <a:t> </a:t>
            </a:r>
            <a:r>
              <a:rPr sz="1080" b="0" dirty="0" err="1">
                <a:solidFill>
                  <a:srgbClr val="6B7480"/>
                </a:solidFill>
                <a:latin typeface="맑은 고딕"/>
                <a:ea typeface="맑은 고딕"/>
              </a:rPr>
              <a:t>충돌</a:t>
            </a:r>
            <a:r>
              <a:rPr sz="1080" b="0" dirty="0">
                <a:solidFill>
                  <a:srgbClr val="6B7480"/>
                </a:solidFill>
                <a:latin typeface="맑은 고딕"/>
                <a:ea typeface="맑은 고딕"/>
              </a:rPr>
              <a:t> </a:t>
            </a:r>
            <a:r>
              <a:rPr sz="1080" b="0" dirty="0" err="1">
                <a:solidFill>
                  <a:srgbClr val="6B7480"/>
                </a:solidFill>
                <a:latin typeface="맑은 고딕"/>
                <a:ea typeface="맑은 고딕"/>
              </a:rPr>
              <a:t>감지</a:t>
            </a:r>
            <a:r>
              <a:rPr sz="1080" b="0" dirty="0">
                <a:solidFill>
                  <a:srgbClr val="6B7480"/>
                </a:solidFill>
                <a:latin typeface="맑은 고딕"/>
                <a:ea typeface="맑은 고딕"/>
              </a:rPr>
              <a:t> + Entropy-</a:t>
            </a:r>
            <a:r>
              <a:rPr sz="1080" b="0" dirty="0" err="1">
                <a:solidFill>
                  <a:srgbClr val="6B7480"/>
                </a:solidFill>
                <a:latin typeface="맑은 고딕"/>
                <a:ea typeface="맑은 고딕"/>
              </a:rPr>
              <a:t>TOPSIS로</a:t>
            </a:r>
            <a:r>
              <a:rPr sz="1080" b="0" dirty="0">
                <a:solidFill>
                  <a:srgbClr val="6B7480"/>
                </a:solidFill>
                <a:latin typeface="맑은 고딕"/>
                <a:ea typeface="맑은 고딕"/>
              </a:rPr>
              <a:t> </a:t>
            </a:r>
            <a:r>
              <a:rPr sz="1080" b="0" dirty="0" err="1">
                <a:solidFill>
                  <a:srgbClr val="6B7480"/>
                </a:solidFill>
                <a:latin typeface="맑은 고딕"/>
                <a:ea typeface="맑은 고딕"/>
              </a:rPr>
              <a:t>출처</a:t>
            </a:r>
            <a:r>
              <a:rPr sz="1080" b="0" dirty="0">
                <a:solidFill>
                  <a:srgbClr val="6B7480"/>
                </a:solidFill>
                <a:latin typeface="맑은 고딕"/>
                <a:ea typeface="맑은 고딕"/>
              </a:rPr>
              <a:t> </a:t>
            </a:r>
            <a:r>
              <a:rPr sz="1080" b="0" dirty="0" err="1">
                <a:solidFill>
                  <a:srgbClr val="6B7480"/>
                </a:solidFill>
                <a:latin typeface="맑은 고딕"/>
                <a:ea typeface="맑은 고딕"/>
              </a:rPr>
              <a:t>신뢰도</a:t>
            </a:r>
            <a:r>
              <a:rPr sz="1080" b="0" dirty="0">
                <a:solidFill>
                  <a:srgbClr val="6B7480"/>
                </a:solidFill>
                <a:latin typeface="맑은 고딕"/>
                <a:ea typeface="맑은 고딕"/>
              </a:rPr>
              <a:t> </a:t>
            </a:r>
            <a:r>
              <a:rPr sz="1080" b="0" dirty="0" err="1">
                <a:solidFill>
                  <a:srgbClr val="6B7480"/>
                </a:solidFill>
                <a:latin typeface="맑은 고딕"/>
                <a:ea typeface="맑은 고딕"/>
              </a:rPr>
              <a:t>순위화</a:t>
            </a:r>
            <a:endParaRPr sz="1080" b="0" dirty="0">
              <a:solidFill>
                <a:srgbClr val="6B7480"/>
              </a:solidFill>
              <a:latin typeface="맑은 고딕"/>
              <a:ea typeface="맑은 고딕"/>
            </a:endParaRPr>
          </a:p>
        </p:txBody>
      </p:sp>
      <p:sp>
        <p:nvSpPr>
          <p:cNvPr id="12" name="Rectangle 11"/>
          <p:cNvSpPr/>
          <p:nvPr/>
        </p:nvSpPr>
        <p:spPr>
          <a:xfrm>
            <a:off x="8046720" y="2147824"/>
            <a:ext cx="3584448" cy="33020"/>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46720" y="2180843"/>
            <a:ext cx="3584448" cy="416102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pPr>
            <a:r>
              <a:rPr sz="1300" b="1" dirty="0">
                <a:solidFill>
                  <a:srgbClr val="273A52"/>
                </a:solidFill>
                <a:latin typeface="맑은 고딕"/>
                <a:ea typeface="맑은 고딕"/>
              </a:rPr>
              <a:t>③ </a:t>
            </a:r>
            <a:r>
              <a:rPr sz="1300" b="1" dirty="0" err="1">
                <a:solidFill>
                  <a:srgbClr val="273A52"/>
                </a:solidFill>
                <a:latin typeface="맑은 고딕"/>
                <a:ea typeface="맑은 고딕"/>
              </a:rPr>
              <a:t>진단·통제</a:t>
            </a:r>
            <a:r>
              <a:rPr sz="1300" b="1" dirty="0">
                <a:solidFill>
                  <a:srgbClr val="273A52"/>
                </a:solidFill>
                <a:latin typeface="맑은 고딕"/>
                <a:ea typeface="맑은 고딕"/>
              </a:rPr>
              <a:t> </a:t>
            </a:r>
            <a:r>
              <a:rPr sz="1300" b="1" dirty="0" err="1">
                <a:solidFill>
                  <a:srgbClr val="273A52"/>
                </a:solidFill>
                <a:latin typeface="맑은 고딕"/>
                <a:ea typeface="맑은 고딕"/>
              </a:rPr>
              <a:t>방법론</a:t>
            </a:r>
            <a:endParaRPr sz="1300" b="1" dirty="0">
              <a:solidFill>
                <a:srgbClr val="273A52"/>
              </a:solidFill>
              <a:latin typeface="맑은 고딕"/>
              <a:ea typeface="맑은 고딕"/>
            </a:endParaRPr>
          </a:p>
          <a:p>
            <a:pPr algn="l">
              <a:lnSpc>
                <a:spcPct val="134000"/>
              </a:lnSpc>
              <a:spcAft>
                <a:spcPts val="450"/>
              </a:spcAft>
            </a:pPr>
            <a:r>
              <a:rPr sz="1100" b="1" dirty="0" err="1">
                <a:solidFill>
                  <a:srgbClr val="1E2227"/>
                </a:solidFill>
                <a:latin typeface="맑은 고딕"/>
                <a:ea typeface="맑은 고딕"/>
              </a:rPr>
              <a:t>추론에</a:t>
            </a:r>
            <a:r>
              <a:rPr sz="1100" b="1" dirty="0">
                <a:solidFill>
                  <a:srgbClr val="1E2227"/>
                </a:solidFill>
                <a:latin typeface="맑은 고딕"/>
                <a:ea typeface="맑은 고딕"/>
              </a:rPr>
              <a:t> </a:t>
            </a:r>
            <a:r>
              <a:rPr sz="1100" b="1" dirty="0" err="1">
                <a:solidFill>
                  <a:srgbClr val="1E2227"/>
                </a:solidFill>
                <a:latin typeface="맑은 고딕"/>
                <a:ea typeface="맑은 고딕"/>
              </a:rPr>
              <a:t>직접</a:t>
            </a:r>
            <a:r>
              <a:rPr sz="1100" b="1" dirty="0">
                <a:solidFill>
                  <a:srgbClr val="1E2227"/>
                </a:solidFill>
                <a:latin typeface="맑은 고딕"/>
                <a:ea typeface="맑은 고딕"/>
              </a:rPr>
              <a:t> </a:t>
            </a:r>
            <a:r>
              <a:rPr sz="1100" b="1" dirty="0" err="1">
                <a:solidFill>
                  <a:srgbClr val="1E2227"/>
                </a:solidFill>
                <a:latin typeface="맑은 고딕"/>
                <a:ea typeface="맑은 고딕"/>
              </a:rPr>
              <a:t>손을</a:t>
            </a:r>
            <a:r>
              <a:rPr sz="1100" b="1" dirty="0">
                <a:solidFill>
                  <a:srgbClr val="1E2227"/>
                </a:solidFill>
                <a:latin typeface="맑은 고딕"/>
                <a:ea typeface="맑은 고딕"/>
              </a:rPr>
              <a:t> </a:t>
            </a:r>
            <a:r>
              <a:rPr sz="1100" b="1" dirty="0" err="1">
                <a:solidFill>
                  <a:srgbClr val="1E2227"/>
                </a:solidFill>
                <a:latin typeface="맑은 고딕"/>
                <a:ea typeface="맑은 고딕"/>
              </a:rPr>
              <a:t>대보거나</a:t>
            </a:r>
            <a:r>
              <a:rPr sz="1100" b="1" dirty="0">
                <a:solidFill>
                  <a:srgbClr val="1E2227"/>
                </a:solidFill>
                <a:latin typeface="맑은 고딕"/>
                <a:ea typeface="맑은 고딕"/>
              </a:rPr>
              <a:t> </a:t>
            </a:r>
            <a:r>
              <a:rPr sz="1100" b="1" dirty="0" err="1">
                <a:solidFill>
                  <a:srgbClr val="1E2227"/>
                </a:solidFill>
                <a:latin typeface="맑은 고딕"/>
                <a:ea typeface="맑은 고딕"/>
              </a:rPr>
              <a:t>조건을</a:t>
            </a:r>
            <a:r>
              <a:rPr sz="1100" b="1" dirty="0">
                <a:solidFill>
                  <a:srgbClr val="1E2227"/>
                </a:solidFill>
                <a:latin typeface="맑은 고딕"/>
                <a:ea typeface="맑은 고딕"/>
              </a:rPr>
              <a:t> </a:t>
            </a:r>
            <a:r>
              <a:rPr sz="1100" b="1" dirty="0" err="1">
                <a:solidFill>
                  <a:srgbClr val="1E2227"/>
                </a:solidFill>
                <a:latin typeface="맑은 고딕"/>
                <a:ea typeface="맑은 고딕"/>
              </a:rPr>
              <a:t>통제해</a:t>
            </a:r>
            <a:r>
              <a:rPr sz="1100" b="1" dirty="0">
                <a:solidFill>
                  <a:srgbClr val="1E2227"/>
                </a:solidFill>
                <a:latin typeface="맑은 고딕"/>
                <a:ea typeface="맑은 고딕"/>
              </a:rPr>
              <a:t>, </a:t>
            </a:r>
            <a:r>
              <a:rPr sz="1100" b="1" dirty="0" err="1">
                <a:solidFill>
                  <a:srgbClr val="1E2227"/>
                </a:solidFill>
                <a:latin typeface="맑은 고딕"/>
                <a:ea typeface="맑은 고딕"/>
              </a:rPr>
              <a:t>무엇이</a:t>
            </a:r>
            <a:r>
              <a:rPr sz="1100" b="1" dirty="0">
                <a:solidFill>
                  <a:srgbClr val="1E2227"/>
                </a:solidFill>
                <a:latin typeface="맑은 고딕"/>
                <a:ea typeface="맑은 고딕"/>
              </a:rPr>
              <a:t> </a:t>
            </a:r>
            <a:r>
              <a:rPr sz="1100" b="1" dirty="0" err="1">
                <a:solidFill>
                  <a:srgbClr val="1E2227"/>
                </a:solidFill>
                <a:latin typeface="맑은 고딕"/>
                <a:ea typeface="맑은 고딕"/>
              </a:rPr>
              <a:t>답을</a:t>
            </a:r>
            <a:r>
              <a:rPr sz="1100" b="1" dirty="0">
                <a:solidFill>
                  <a:srgbClr val="1E2227"/>
                </a:solidFill>
                <a:latin typeface="맑은 고딕"/>
                <a:ea typeface="맑은 고딕"/>
              </a:rPr>
              <a:t> </a:t>
            </a:r>
            <a:r>
              <a:rPr sz="1100" b="1" dirty="0" err="1">
                <a:solidFill>
                  <a:srgbClr val="1E2227"/>
                </a:solidFill>
                <a:latin typeface="맑은 고딕"/>
                <a:ea typeface="맑은 고딕"/>
              </a:rPr>
              <a:t>좌우하는지</a:t>
            </a:r>
            <a:r>
              <a:rPr sz="1100" b="1" dirty="0">
                <a:solidFill>
                  <a:srgbClr val="1E2227"/>
                </a:solidFill>
                <a:latin typeface="맑은 고딕"/>
                <a:ea typeface="맑은 고딕"/>
              </a:rPr>
              <a:t> </a:t>
            </a:r>
            <a:r>
              <a:rPr sz="1100" b="1" dirty="0" err="1">
                <a:solidFill>
                  <a:srgbClr val="1E2227"/>
                </a:solidFill>
                <a:latin typeface="맑은 고딕"/>
                <a:ea typeface="맑은 고딕"/>
              </a:rPr>
              <a:t>알아내는</a:t>
            </a:r>
            <a:r>
              <a:rPr sz="1100" b="1" dirty="0">
                <a:solidFill>
                  <a:srgbClr val="1E2227"/>
                </a:solidFill>
                <a:latin typeface="맑은 고딕"/>
                <a:ea typeface="맑은 고딕"/>
              </a:rPr>
              <a:t> </a:t>
            </a:r>
            <a:r>
              <a:rPr sz="1100" b="1" dirty="0" err="1">
                <a:solidFill>
                  <a:srgbClr val="1E2227"/>
                </a:solidFill>
                <a:latin typeface="맑은 고딕"/>
                <a:ea typeface="맑은 고딕"/>
              </a:rPr>
              <a:t>방법을</a:t>
            </a:r>
            <a:r>
              <a:rPr sz="1100" b="1" dirty="0">
                <a:solidFill>
                  <a:srgbClr val="1E2227"/>
                </a:solidFill>
                <a:latin typeface="맑은 고딕"/>
                <a:ea typeface="맑은 고딕"/>
              </a:rPr>
              <a:t> </a:t>
            </a:r>
            <a:r>
              <a:rPr sz="1100" b="1" dirty="0" err="1">
                <a:solidFill>
                  <a:srgbClr val="1E2227"/>
                </a:solidFill>
                <a:latin typeface="맑은 고딕"/>
                <a:ea typeface="맑은 고딕"/>
              </a:rPr>
              <a:t>빌려온다</a:t>
            </a:r>
            <a:endParaRPr sz="1100" b="1" dirty="0">
              <a:solidFill>
                <a:srgbClr val="1E2227"/>
              </a:solidFill>
              <a:latin typeface="맑은 고딕"/>
              <a:ea typeface="맑은 고딕"/>
            </a:endParaRPr>
          </a:p>
          <a:p>
            <a:pPr marL="171450" indent="-171450" algn="l">
              <a:lnSpc>
                <a:spcPct val="134000"/>
              </a:lnSpc>
              <a:spcAft>
                <a:spcPts val="450"/>
              </a:spcAft>
              <a:buFont typeface="Arial" panose="020B0604020202020204" pitchFamily="34" charset="0"/>
              <a:buChar char="•"/>
            </a:pPr>
            <a:r>
              <a:rPr sz="1080" b="1" dirty="0">
                <a:solidFill>
                  <a:srgbClr val="1E2227"/>
                </a:solidFill>
                <a:latin typeface="맑은 고딕"/>
                <a:ea typeface="맑은 고딕"/>
              </a:rPr>
              <a:t>Lanham et al. (2023)</a:t>
            </a:r>
            <a:r>
              <a:rPr sz="1080" b="0" dirty="0">
                <a:solidFill>
                  <a:srgbClr val="6B7480"/>
                </a:solidFill>
                <a:latin typeface="맑은 고딕"/>
                <a:ea typeface="맑은 고딕"/>
              </a:rPr>
              <a:t>  </a:t>
            </a:r>
            <a:r>
              <a:rPr sz="1080" b="0" dirty="0" err="1">
                <a:solidFill>
                  <a:srgbClr val="6B7480"/>
                </a:solidFill>
                <a:latin typeface="맑은 고딕"/>
                <a:ea typeface="맑은 고딕"/>
              </a:rPr>
              <a:t>추론을</a:t>
            </a:r>
            <a:r>
              <a:rPr sz="1080" b="0" dirty="0">
                <a:solidFill>
                  <a:srgbClr val="6B7480"/>
                </a:solidFill>
                <a:latin typeface="맑은 고딕"/>
                <a:ea typeface="맑은 고딕"/>
              </a:rPr>
              <a:t> </a:t>
            </a:r>
            <a:r>
              <a:rPr sz="1080" b="0" dirty="0" err="1">
                <a:solidFill>
                  <a:srgbClr val="6B7480"/>
                </a:solidFill>
                <a:latin typeface="맑은 고딕"/>
                <a:ea typeface="맑은 고딕"/>
              </a:rPr>
              <a:t>중간에</a:t>
            </a:r>
            <a:r>
              <a:rPr sz="1080" b="0" dirty="0">
                <a:solidFill>
                  <a:srgbClr val="6B7480"/>
                </a:solidFill>
                <a:latin typeface="맑은 고딕"/>
                <a:ea typeface="맑은 고딕"/>
              </a:rPr>
              <a:t> </a:t>
            </a:r>
            <a:r>
              <a:rPr sz="1080" b="0" dirty="0" err="1">
                <a:solidFill>
                  <a:srgbClr val="6B7480"/>
                </a:solidFill>
                <a:latin typeface="맑은 고딕"/>
                <a:ea typeface="맑은 고딕"/>
              </a:rPr>
              <a:t>끊고</a:t>
            </a:r>
            <a:r>
              <a:rPr sz="1080" b="0" dirty="0">
                <a:solidFill>
                  <a:srgbClr val="6B7480"/>
                </a:solidFill>
                <a:latin typeface="맑은 고딕"/>
                <a:ea typeface="맑은 고딕"/>
              </a:rPr>
              <a:t> </a:t>
            </a:r>
            <a:r>
              <a:rPr sz="1080" b="0" dirty="0" err="1">
                <a:solidFill>
                  <a:srgbClr val="6B7480"/>
                </a:solidFill>
                <a:latin typeface="맑은 고딕"/>
                <a:ea typeface="맑은 고딕"/>
              </a:rPr>
              <a:t>바로</a:t>
            </a:r>
            <a:r>
              <a:rPr sz="1080" b="0" dirty="0">
                <a:solidFill>
                  <a:srgbClr val="6B7480"/>
                </a:solidFill>
                <a:latin typeface="맑은 고딕"/>
                <a:ea typeface="맑은 고딕"/>
              </a:rPr>
              <a:t> </a:t>
            </a:r>
            <a:r>
              <a:rPr sz="1080" b="0" dirty="0" err="1">
                <a:solidFill>
                  <a:srgbClr val="6B7480"/>
                </a:solidFill>
                <a:latin typeface="맑은 고딕"/>
                <a:ea typeface="맑은 고딕"/>
              </a:rPr>
              <a:t>답하게</a:t>
            </a:r>
            <a:r>
              <a:rPr sz="1080" b="0" dirty="0">
                <a:solidFill>
                  <a:srgbClr val="6B7480"/>
                </a:solidFill>
                <a:latin typeface="맑은 고딕"/>
                <a:ea typeface="맑은 고딕"/>
              </a:rPr>
              <a:t> </a:t>
            </a:r>
            <a:r>
              <a:rPr sz="1080" b="0" dirty="0" err="1">
                <a:solidFill>
                  <a:srgbClr val="6B7480"/>
                </a:solidFill>
                <a:latin typeface="맑은 고딕"/>
                <a:ea typeface="맑은 고딕"/>
              </a:rPr>
              <a:t>하면</a:t>
            </a:r>
            <a:r>
              <a:rPr sz="1080" b="0" dirty="0">
                <a:solidFill>
                  <a:srgbClr val="6B7480"/>
                </a:solidFill>
                <a:latin typeface="맑은 고딕"/>
                <a:ea typeface="맑은 고딕"/>
              </a:rPr>
              <a:t> </a:t>
            </a:r>
            <a:r>
              <a:rPr sz="1080" b="0" dirty="0" err="1">
                <a:solidFill>
                  <a:srgbClr val="6B7480"/>
                </a:solidFill>
                <a:latin typeface="맑은 고딕"/>
                <a:ea typeface="맑은 고딕"/>
              </a:rPr>
              <a:t>답이</a:t>
            </a:r>
            <a:r>
              <a:rPr sz="1080" b="0" dirty="0">
                <a:solidFill>
                  <a:srgbClr val="6B7480"/>
                </a:solidFill>
                <a:latin typeface="맑은 고딕"/>
                <a:ea typeface="맑은 고딕"/>
              </a:rPr>
              <a:t> </a:t>
            </a:r>
            <a:r>
              <a:rPr sz="1080" b="0" dirty="0" err="1">
                <a:solidFill>
                  <a:srgbClr val="6B7480"/>
                </a:solidFill>
                <a:latin typeface="맑은 고딕"/>
                <a:ea typeface="맑은 고딕"/>
              </a:rPr>
              <a:t>어떻게</a:t>
            </a:r>
            <a:r>
              <a:rPr sz="1080" b="0" dirty="0">
                <a:solidFill>
                  <a:srgbClr val="6B7480"/>
                </a:solidFill>
                <a:latin typeface="맑은 고딕"/>
                <a:ea typeface="맑은 고딕"/>
              </a:rPr>
              <a:t> </a:t>
            </a:r>
            <a:r>
              <a:rPr sz="1080" b="0" dirty="0" err="1">
                <a:solidFill>
                  <a:srgbClr val="6B7480"/>
                </a:solidFill>
                <a:latin typeface="맑은 고딕"/>
                <a:ea typeface="맑은 고딕"/>
              </a:rPr>
              <a:t>변하는지</a:t>
            </a:r>
            <a:r>
              <a:rPr sz="1080" b="0" dirty="0">
                <a:solidFill>
                  <a:srgbClr val="6B7480"/>
                </a:solidFill>
                <a:latin typeface="맑은 고딕"/>
                <a:ea typeface="맑은 고딕"/>
              </a:rPr>
              <a:t> </a:t>
            </a:r>
            <a:r>
              <a:rPr sz="1080" b="0" dirty="0" err="1">
                <a:solidFill>
                  <a:srgbClr val="6B7480"/>
                </a:solidFill>
                <a:latin typeface="맑은 고딕"/>
                <a:ea typeface="맑은 고딕"/>
              </a:rPr>
              <a:t>관찰</a:t>
            </a:r>
            <a:r>
              <a:rPr sz="1080" b="0" dirty="0">
                <a:solidFill>
                  <a:srgbClr val="6B7480"/>
                </a:solidFill>
                <a:latin typeface="맑은 고딕"/>
                <a:ea typeface="맑은 고딕"/>
              </a:rPr>
              <a:t> → </a:t>
            </a:r>
            <a:r>
              <a:rPr sz="1080" b="0" dirty="0" err="1">
                <a:solidFill>
                  <a:srgbClr val="6B7480"/>
                </a:solidFill>
                <a:latin typeface="맑은 고딕"/>
                <a:ea typeface="맑은 고딕"/>
              </a:rPr>
              <a:t>우리</a:t>
            </a:r>
            <a:r>
              <a:rPr sz="1080" b="0" dirty="0">
                <a:solidFill>
                  <a:srgbClr val="6B7480"/>
                </a:solidFill>
                <a:latin typeface="맑은 고딕"/>
                <a:ea typeface="맑은 고딕"/>
              </a:rPr>
              <a:t> '</a:t>
            </a:r>
            <a:r>
              <a:rPr sz="1080" b="0" dirty="0" err="1">
                <a:solidFill>
                  <a:srgbClr val="6B7480"/>
                </a:solidFill>
                <a:latin typeface="맑은 고딕"/>
                <a:ea typeface="맑은 고딕"/>
              </a:rPr>
              <a:t>추론</a:t>
            </a:r>
            <a:r>
              <a:rPr sz="1080" b="0" dirty="0">
                <a:solidFill>
                  <a:srgbClr val="6B7480"/>
                </a:solidFill>
                <a:latin typeface="맑은 고딕"/>
                <a:ea typeface="맑은 고딕"/>
              </a:rPr>
              <a:t> </a:t>
            </a:r>
            <a:r>
              <a:rPr sz="1080" b="0" dirty="0" err="1">
                <a:solidFill>
                  <a:srgbClr val="6B7480"/>
                </a:solidFill>
                <a:latin typeface="맑은 고딕"/>
                <a:ea typeface="맑은 고딕"/>
              </a:rPr>
              <a:t>절단</a:t>
            </a:r>
            <a:r>
              <a:rPr sz="1080" b="0" dirty="0">
                <a:solidFill>
                  <a:srgbClr val="6B7480"/>
                </a:solidFill>
                <a:latin typeface="맑은 고딕"/>
                <a:ea typeface="맑은 고딕"/>
              </a:rPr>
              <a:t>' </a:t>
            </a:r>
            <a:r>
              <a:rPr sz="1080" b="0" dirty="0" err="1">
                <a:solidFill>
                  <a:srgbClr val="6B7480"/>
                </a:solidFill>
                <a:latin typeface="맑은 고딕"/>
                <a:ea typeface="맑은 고딕"/>
              </a:rPr>
              <a:t>개입의</a:t>
            </a:r>
            <a:r>
              <a:rPr sz="1080" b="0" dirty="0">
                <a:solidFill>
                  <a:srgbClr val="6B7480"/>
                </a:solidFill>
                <a:latin typeface="맑은 고딕"/>
                <a:ea typeface="맑은 고딕"/>
              </a:rPr>
              <a:t> </a:t>
            </a:r>
            <a:r>
              <a:rPr sz="1080" b="0" dirty="0" err="1">
                <a:solidFill>
                  <a:srgbClr val="6B7480"/>
                </a:solidFill>
                <a:latin typeface="맑은 고딕"/>
                <a:ea typeface="맑은 고딕"/>
              </a:rPr>
              <a:t>원조</a:t>
            </a:r>
            <a:endParaRPr lang="en-US" sz="1080" dirty="0">
              <a:solidFill>
                <a:srgbClr val="6B7480"/>
              </a:solidFill>
              <a:latin typeface="맑은 고딕"/>
              <a:ea typeface="맑은 고딕"/>
            </a:endParaRPr>
          </a:p>
          <a:p>
            <a:pPr marL="171450" indent="-171450" algn="l">
              <a:lnSpc>
                <a:spcPct val="134000"/>
              </a:lnSpc>
              <a:spcAft>
                <a:spcPts val="450"/>
              </a:spcAft>
              <a:buFont typeface="Arial" panose="020B0604020202020204" pitchFamily="34" charset="0"/>
              <a:buChar char="•"/>
            </a:pPr>
            <a:r>
              <a:rPr sz="1080" b="1" dirty="0">
                <a:solidFill>
                  <a:srgbClr val="1E2227"/>
                </a:solidFill>
                <a:latin typeface="맑은 고딕"/>
                <a:ea typeface="맑은 고딕"/>
              </a:rPr>
              <a:t>Bogdan (2025) · Macar (2025)</a:t>
            </a:r>
            <a:r>
              <a:rPr sz="1080" b="0" dirty="0">
                <a:solidFill>
                  <a:srgbClr val="6B7480"/>
                </a:solidFill>
                <a:latin typeface="맑은 고딕"/>
                <a:ea typeface="맑은 고딕"/>
              </a:rPr>
              <a:t>  </a:t>
            </a:r>
            <a:r>
              <a:rPr sz="1080" b="0" dirty="0" err="1">
                <a:solidFill>
                  <a:srgbClr val="6B7480"/>
                </a:solidFill>
                <a:latin typeface="맑은 고딕"/>
                <a:ea typeface="맑은 고딕"/>
              </a:rPr>
              <a:t>추론의</a:t>
            </a:r>
            <a:r>
              <a:rPr sz="1080" b="0" dirty="0">
                <a:solidFill>
                  <a:srgbClr val="6B7480"/>
                </a:solidFill>
                <a:latin typeface="맑은 고딕"/>
                <a:ea typeface="맑은 고딕"/>
              </a:rPr>
              <a:t> </a:t>
            </a:r>
            <a:r>
              <a:rPr sz="1080" b="0" dirty="0" err="1">
                <a:solidFill>
                  <a:srgbClr val="6B7480"/>
                </a:solidFill>
                <a:latin typeface="맑은 고딕"/>
                <a:ea typeface="맑은 고딕"/>
              </a:rPr>
              <a:t>특정</a:t>
            </a:r>
            <a:r>
              <a:rPr sz="1080" b="0" dirty="0">
                <a:solidFill>
                  <a:srgbClr val="6B7480"/>
                </a:solidFill>
                <a:latin typeface="맑은 고딕"/>
                <a:ea typeface="맑은 고딕"/>
              </a:rPr>
              <a:t> </a:t>
            </a:r>
            <a:r>
              <a:rPr sz="1080" b="0" dirty="0" err="1">
                <a:solidFill>
                  <a:srgbClr val="6B7480"/>
                </a:solidFill>
                <a:latin typeface="맑은 고딕"/>
                <a:ea typeface="맑은 고딕"/>
              </a:rPr>
              <a:t>문장부터</a:t>
            </a:r>
            <a:r>
              <a:rPr sz="1080" b="0" dirty="0">
                <a:solidFill>
                  <a:srgbClr val="6B7480"/>
                </a:solidFill>
                <a:latin typeface="맑은 고딕"/>
                <a:ea typeface="맑은 고딕"/>
              </a:rPr>
              <a:t> </a:t>
            </a:r>
            <a:r>
              <a:rPr sz="1080" b="0" dirty="0" err="1">
                <a:solidFill>
                  <a:srgbClr val="6B7480"/>
                </a:solidFill>
                <a:latin typeface="맑은 고딕"/>
                <a:ea typeface="맑은 고딕"/>
              </a:rPr>
              <a:t>다시</a:t>
            </a:r>
            <a:r>
              <a:rPr sz="1080" b="0" dirty="0">
                <a:solidFill>
                  <a:srgbClr val="6B7480"/>
                </a:solidFill>
                <a:latin typeface="맑은 고딕"/>
                <a:ea typeface="맑은 고딕"/>
              </a:rPr>
              <a:t> </a:t>
            </a:r>
            <a:r>
              <a:rPr sz="1080" b="0" dirty="0" err="1">
                <a:solidFill>
                  <a:srgbClr val="6B7480"/>
                </a:solidFill>
                <a:latin typeface="맑은 고딕"/>
                <a:ea typeface="맑은 고딕"/>
              </a:rPr>
              <a:t>생성해</a:t>
            </a:r>
            <a:r>
              <a:rPr sz="1080" b="0" dirty="0">
                <a:solidFill>
                  <a:srgbClr val="6B7480"/>
                </a:solidFill>
                <a:latin typeface="맑은 고딕"/>
                <a:ea typeface="맑은 고딕"/>
              </a:rPr>
              <a:t>, </a:t>
            </a:r>
            <a:r>
              <a:rPr sz="1080" b="0" dirty="0" err="1">
                <a:solidFill>
                  <a:srgbClr val="6B7480"/>
                </a:solidFill>
                <a:latin typeface="맑은 고딕"/>
                <a:ea typeface="맑은 고딕"/>
              </a:rPr>
              <a:t>그</a:t>
            </a:r>
            <a:r>
              <a:rPr sz="1080" b="0" dirty="0">
                <a:solidFill>
                  <a:srgbClr val="6B7480"/>
                </a:solidFill>
                <a:latin typeface="맑은 고딕"/>
                <a:ea typeface="맑은 고딕"/>
              </a:rPr>
              <a:t> </a:t>
            </a:r>
            <a:r>
              <a:rPr sz="1080" b="0" dirty="0" err="1">
                <a:solidFill>
                  <a:srgbClr val="6B7480"/>
                </a:solidFill>
                <a:latin typeface="맑은 고딕"/>
                <a:ea typeface="맑은 고딕"/>
              </a:rPr>
              <a:t>문장이</a:t>
            </a:r>
            <a:r>
              <a:rPr sz="1080" b="0" dirty="0">
                <a:solidFill>
                  <a:srgbClr val="6B7480"/>
                </a:solidFill>
                <a:latin typeface="맑은 고딕"/>
                <a:ea typeface="맑은 고딕"/>
              </a:rPr>
              <a:t> </a:t>
            </a:r>
            <a:r>
              <a:rPr sz="1080" b="0" dirty="0" err="1">
                <a:solidFill>
                  <a:srgbClr val="6B7480"/>
                </a:solidFill>
                <a:latin typeface="맑은 고딕"/>
                <a:ea typeface="맑은 고딕"/>
              </a:rPr>
              <a:t>답을</a:t>
            </a:r>
            <a:r>
              <a:rPr sz="1080" b="0" dirty="0">
                <a:solidFill>
                  <a:srgbClr val="6B7480"/>
                </a:solidFill>
                <a:latin typeface="맑은 고딕"/>
                <a:ea typeface="맑은 고딕"/>
              </a:rPr>
              <a:t> </a:t>
            </a:r>
            <a:r>
              <a:rPr sz="1080" b="0" dirty="0" err="1">
                <a:solidFill>
                  <a:srgbClr val="6B7480"/>
                </a:solidFill>
                <a:latin typeface="맑은 고딕"/>
                <a:ea typeface="맑은 고딕"/>
              </a:rPr>
              <a:t>얼마나</a:t>
            </a:r>
            <a:r>
              <a:rPr sz="1080" b="0" dirty="0">
                <a:solidFill>
                  <a:srgbClr val="6B7480"/>
                </a:solidFill>
                <a:latin typeface="맑은 고딕"/>
                <a:ea typeface="맑은 고딕"/>
              </a:rPr>
              <a:t> </a:t>
            </a:r>
            <a:r>
              <a:rPr sz="1080" b="0" dirty="0" err="1">
                <a:solidFill>
                  <a:srgbClr val="6B7480"/>
                </a:solidFill>
                <a:latin typeface="맑은 고딕"/>
                <a:ea typeface="맑은 고딕"/>
              </a:rPr>
              <a:t>좌우하는지</a:t>
            </a:r>
            <a:r>
              <a:rPr sz="1080" b="0" dirty="0">
                <a:solidFill>
                  <a:srgbClr val="6B7480"/>
                </a:solidFill>
                <a:latin typeface="맑은 고딕"/>
                <a:ea typeface="맑은 고딕"/>
              </a:rPr>
              <a:t> </a:t>
            </a:r>
            <a:r>
              <a:rPr sz="1080" b="0" dirty="0" err="1">
                <a:solidFill>
                  <a:srgbClr val="6B7480"/>
                </a:solidFill>
                <a:latin typeface="맑은 고딕"/>
                <a:ea typeface="맑은 고딕"/>
              </a:rPr>
              <a:t>측정</a:t>
            </a:r>
            <a:r>
              <a:rPr sz="1080" b="0" dirty="0">
                <a:solidFill>
                  <a:srgbClr val="6B7480"/>
                </a:solidFill>
                <a:latin typeface="맑은 고딕"/>
                <a:ea typeface="맑은 고딕"/>
              </a:rPr>
              <a:t> → </a:t>
            </a:r>
            <a:r>
              <a:rPr sz="1080" b="0" dirty="0" err="1">
                <a:solidFill>
                  <a:srgbClr val="6B7480"/>
                </a:solidFill>
                <a:latin typeface="맑은 고딕"/>
                <a:ea typeface="맑은 고딕"/>
              </a:rPr>
              <a:t>우리</a:t>
            </a:r>
            <a:r>
              <a:rPr sz="1080" b="0" dirty="0">
                <a:solidFill>
                  <a:srgbClr val="6B7480"/>
                </a:solidFill>
                <a:latin typeface="맑은 고딕"/>
                <a:ea typeface="맑은 고딕"/>
              </a:rPr>
              <a:t> '</a:t>
            </a:r>
            <a:r>
              <a:rPr sz="1080" b="0" dirty="0" err="1">
                <a:solidFill>
                  <a:srgbClr val="6B7480"/>
                </a:solidFill>
                <a:latin typeface="맑은 고딕"/>
                <a:ea typeface="맑은 고딕"/>
              </a:rPr>
              <a:t>재생성</a:t>
            </a:r>
            <a:r>
              <a:rPr sz="1080" b="0" dirty="0">
                <a:solidFill>
                  <a:srgbClr val="6B7480"/>
                </a:solidFill>
                <a:latin typeface="맑은 고딕"/>
                <a:ea typeface="맑은 고딕"/>
              </a:rPr>
              <a:t>' </a:t>
            </a:r>
            <a:r>
              <a:rPr sz="1080" b="0" dirty="0" err="1">
                <a:solidFill>
                  <a:srgbClr val="6B7480"/>
                </a:solidFill>
                <a:latin typeface="맑은 고딕"/>
                <a:ea typeface="맑은 고딕"/>
              </a:rPr>
              <a:t>개입의</a:t>
            </a:r>
            <a:r>
              <a:rPr sz="1080" b="0" dirty="0">
                <a:solidFill>
                  <a:srgbClr val="6B7480"/>
                </a:solidFill>
                <a:latin typeface="맑은 고딕"/>
                <a:ea typeface="맑은 고딕"/>
              </a:rPr>
              <a:t> </a:t>
            </a:r>
            <a:r>
              <a:rPr sz="1080" b="0" dirty="0" err="1">
                <a:solidFill>
                  <a:srgbClr val="6B7480"/>
                </a:solidFill>
                <a:latin typeface="맑은 고딕"/>
                <a:ea typeface="맑은 고딕"/>
              </a:rPr>
              <a:t>방법</a:t>
            </a:r>
            <a:endParaRPr lang="en-US" sz="1080" dirty="0">
              <a:solidFill>
                <a:srgbClr val="6B7480"/>
              </a:solidFill>
              <a:latin typeface="맑은 고딕"/>
              <a:ea typeface="맑은 고딕"/>
            </a:endParaRPr>
          </a:p>
          <a:p>
            <a:pPr marL="171450" indent="-171450" algn="l">
              <a:lnSpc>
                <a:spcPct val="134000"/>
              </a:lnSpc>
              <a:spcAft>
                <a:spcPts val="450"/>
              </a:spcAft>
              <a:buFont typeface="Arial" panose="020B0604020202020204" pitchFamily="34" charset="0"/>
              <a:buChar char="•"/>
            </a:pPr>
            <a:r>
              <a:rPr sz="1080" b="1" dirty="0">
                <a:solidFill>
                  <a:srgbClr val="1E2227"/>
                </a:solidFill>
                <a:latin typeface="맑은 고딕"/>
                <a:ea typeface="맑은 고딕"/>
              </a:rPr>
              <a:t>Longpre et al. (EMNLP 2021)</a:t>
            </a:r>
            <a:r>
              <a:rPr sz="1080" b="0" dirty="0">
                <a:solidFill>
                  <a:srgbClr val="6B7480"/>
                </a:solidFill>
                <a:latin typeface="맑은 고딕"/>
                <a:ea typeface="맑은 고딕"/>
              </a:rPr>
              <a:t>  </a:t>
            </a:r>
            <a:r>
              <a:rPr sz="1080" b="0" dirty="0" err="1">
                <a:solidFill>
                  <a:srgbClr val="6B7480"/>
                </a:solidFill>
                <a:latin typeface="맑은 고딕"/>
                <a:ea typeface="맑은 고딕"/>
              </a:rPr>
              <a:t>정답을</a:t>
            </a:r>
            <a:r>
              <a:rPr sz="1080" b="0" dirty="0">
                <a:solidFill>
                  <a:srgbClr val="6B7480"/>
                </a:solidFill>
                <a:latin typeface="맑은 고딕"/>
                <a:ea typeface="맑은 고딕"/>
              </a:rPr>
              <a:t> </a:t>
            </a:r>
            <a:r>
              <a:rPr sz="1080" b="0" dirty="0" err="1">
                <a:solidFill>
                  <a:srgbClr val="6B7480"/>
                </a:solidFill>
                <a:latin typeface="맑은 고딕"/>
                <a:ea typeface="맑은 고딕"/>
              </a:rPr>
              <a:t>지지하던</a:t>
            </a:r>
            <a:r>
              <a:rPr sz="1080" b="0" dirty="0">
                <a:solidFill>
                  <a:srgbClr val="6B7480"/>
                </a:solidFill>
                <a:latin typeface="맑은 고딕"/>
                <a:ea typeface="맑은 고딕"/>
              </a:rPr>
              <a:t> </a:t>
            </a:r>
            <a:r>
              <a:rPr sz="1080" b="0" dirty="0" err="1">
                <a:solidFill>
                  <a:srgbClr val="6B7480"/>
                </a:solidFill>
                <a:latin typeface="맑은 고딕"/>
                <a:ea typeface="맑은 고딕"/>
              </a:rPr>
              <a:t>문서의</a:t>
            </a:r>
            <a:r>
              <a:rPr sz="1080" b="0" dirty="0">
                <a:solidFill>
                  <a:srgbClr val="6B7480"/>
                </a:solidFill>
                <a:latin typeface="맑은 고딕"/>
                <a:ea typeface="맑은 고딕"/>
              </a:rPr>
              <a:t> </a:t>
            </a:r>
            <a:r>
              <a:rPr sz="1080" b="0" dirty="0" err="1">
                <a:solidFill>
                  <a:srgbClr val="6B7480"/>
                </a:solidFill>
                <a:latin typeface="맑은 고딕"/>
                <a:ea typeface="맑은 고딕"/>
              </a:rPr>
              <a:t>핵심</a:t>
            </a:r>
            <a:r>
              <a:rPr sz="1080" b="0" dirty="0">
                <a:solidFill>
                  <a:srgbClr val="6B7480"/>
                </a:solidFill>
                <a:latin typeface="맑은 고딕"/>
                <a:ea typeface="맑은 고딕"/>
              </a:rPr>
              <a:t> </a:t>
            </a:r>
            <a:r>
              <a:rPr sz="1080" b="0" dirty="0" err="1">
                <a:solidFill>
                  <a:srgbClr val="6B7480"/>
                </a:solidFill>
                <a:latin typeface="맑은 고딕"/>
                <a:ea typeface="맑은 고딕"/>
              </a:rPr>
              <a:t>단어를</a:t>
            </a:r>
            <a:r>
              <a:rPr sz="1080" b="0" dirty="0">
                <a:solidFill>
                  <a:srgbClr val="6B7480"/>
                </a:solidFill>
                <a:latin typeface="맑은 고딕"/>
                <a:ea typeface="맑은 고딕"/>
              </a:rPr>
              <a:t> </a:t>
            </a:r>
            <a:r>
              <a:rPr sz="1080" b="0" dirty="0" err="1">
                <a:solidFill>
                  <a:srgbClr val="6B7480"/>
                </a:solidFill>
                <a:latin typeface="맑은 고딕"/>
                <a:ea typeface="맑은 고딕"/>
              </a:rPr>
              <a:t>바꿔</a:t>
            </a:r>
            <a:r>
              <a:rPr sz="1080" b="0" dirty="0">
                <a:solidFill>
                  <a:srgbClr val="6B7480"/>
                </a:solidFill>
                <a:latin typeface="맑은 고딕"/>
                <a:ea typeface="맑은 고딕"/>
              </a:rPr>
              <a:t> </a:t>
            </a:r>
            <a:r>
              <a:rPr sz="1080" b="0" dirty="0" err="1">
                <a:solidFill>
                  <a:srgbClr val="6B7480"/>
                </a:solidFill>
                <a:latin typeface="맑은 고딕"/>
                <a:ea typeface="맑은 고딕"/>
              </a:rPr>
              <a:t>충돌을</a:t>
            </a:r>
            <a:r>
              <a:rPr sz="1080" b="0" dirty="0">
                <a:solidFill>
                  <a:srgbClr val="6B7480"/>
                </a:solidFill>
                <a:latin typeface="맑은 고딕"/>
                <a:ea typeface="맑은 고딕"/>
              </a:rPr>
              <a:t> </a:t>
            </a:r>
            <a:r>
              <a:rPr sz="1080" b="0" dirty="0" err="1">
                <a:solidFill>
                  <a:srgbClr val="6B7480"/>
                </a:solidFill>
                <a:latin typeface="맑은 고딕"/>
                <a:ea typeface="맑은 고딕"/>
              </a:rPr>
              <a:t>만들어</a:t>
            </a:r>
            <a:r>
              <a:rPr sz="1080" b="0" dirty="0">
                <a:solidFill>
                  <a:srgbClr val="6B7480"/>
                </a:solidFill>
                <a:latin typeface="맑은 고딕"/>
                <a:ea typeface="맑은 고딕"/>
              </a:rPr>
              <a:t>, </a:t>
            </a:r>
            <a:r>
              <a:rPr sz="1080" b="0" dirty="0" err="1">
                <a:solidFill>
                  <a:srgbClr val="6B7480"/>
                </a:solidFill>
                <a:latin typeface="맑은 고딕"/>
                <a:ea typeface="맑은 고딕"/>
              </a:rPr>
              <a:t>충돌</a:t>
            </a:r>
            <a:r>
              <a:rPr sz="1080" b="0" dirty="0">
                <a:solidFill>
                  <a:srgbClr val="6B7480"/>
                </a:solidFill>
                <a:latin typeface="맑은 고딕"/>
                <a:ea typeface="맑은 고딕"/>
              </a:rPr>
              <a:t> </a:t>
            </a:r>
            <a:r>
              <a:rPr sz="1080" b="0" dirty="0" err="1">
                <a:solidFill>
                  <a:srgbClr val="6B7480"/>
                </a:solidFill>
                <a:latin typeface="맑은 고딕"/>
                <a:ea typeface="맑은 고딕"/>
              </a:rPr>
              <a:t>있을</a:t>
            </a:r>
            <a:r>
              <a:rPr sz="1080" b="0" dirty="0">
                <a:solidFill>
                  <a:srgbClr val="6B7480"/>
                </a:solidFill>
                <a:latin typeface="맑은 고딕"/>
                <a:ea typeface="맑은 고딕"/>
              </a:rPr>
              <a:t> </a:t>
            </a:r>
            <a:r>
              <a:rPr sz="1080" b="0" dirty="0" err="1">
                <a:solidFill>
                  <a:srgbClr val="6B7480"/>
                </a:solidFill>
                <a:latin typeface="맑은 고딕"/>
                <a:ea typeface="맑은 고딕"/>
              </a:rPr>
              <a:t>때와</a:t>
            </a:r>
            <a:r>
              <a:rPr sz="1080" b="0" dirty="0">
                <a:solidFill>
                  <a:srgbClr val="6B7480"/>
                </a:solidFill>
                <a:latin typeface="맑은 고딕"/>
                <a:ea typeface="맑은 고딕"/>
              </a:rPr>
              <a:t> </a:t>
            </a:r>
            <a:r>
              <a:rPr sz="1080" b="0" dirty="0" err="1">
                <a:solidFill>
                  <a:srgbClr val="6B7480"/>
                </a:solidFill>
                <a:latin typeface="맑은 고딕"/>
                <a:ea typeface="맑은 고딕"/>
              </a:rPr>
              <a:t>없을</a:t>
            </a:r>
            <a:r>
              <a:rPr sz="1080" b="0" dirty="0">
                <a:solidFill>
                  <a:srgbClr val="6B7480"/>
                </a:solidFill>
                <a:latin typeface="맑은 고딕"/>
                <a:ea typeface="맑은 고딕"/>
              </a:rPr>
              <a:t> </a:t>
            </a:r>
            <a:r>
              <a:rPr sz="1080" b="0" dirty="0" err="1">
                <a:solidFill>
                  <a:srgbClr val="6B7480"/>
                </a:solidFill>
                <a:latin typeface="맑은 고딕"/>
                <a:ea typeface="맑은 고딕"/>
              </a:rPr>
              <a:t>때를</a:t>
            </a:r>
            <a:r>
              <a:rPr sz="1080" b="0" dirty="0">
                <a:solidFill>
                  <a:srgbClr val="6B7480"/>
                </a:solidFill>
                <a:latin typeface="맑은 고딕"/>
                <a:ea typeface="맑은 고딕"/>
              </a:rPr>
              <a:t> </a:t>
            </a:r>
            <a:r>
              <a:rPr sz="1080" b="0" dirty="0" err="1">
                <a:solidFill>
                  <a:srgbClr val="6B7480"/>
                </a:solidFill>
                <a:latin typeface="맑은 고딕"/>
                <a:ea typeface="맑은 고딕"/>
              </a:rPr>
              <a:t>나란히</a:t>
            </a:r>
            <a:r>
              <a:rPr sz="1080" b="0" dirty="0">
                <a:solidFill>
                  <a:srgbClr val="6B7480"/>
                </a:solidFill>
                <a:latin typeface="맑은 고딕"/>
                <a:ea typeface="맑은 고딕"/>
              </a:rPr>
              <a:t> </a:t>
            </a:r>
            <a:r>
              <a:rPr sz="1080" b="0" dirty="0" err="1">
                <a:solidFill>
                  <a:srgbClr val="6B7480"/>
                </a:solidFill>
                <a:latin typeface="맑은 고딕"/>
                <a:ea typeface="맑은 고딕"/>
              </a:rPr>
              <a:t>비교</a:t>
            </a:r>
            <a:r>
              <a:rPr sz="1080" b="0" dirty="0">
                <a:solidFill>
                  <a:srgbClr val="6B7480"/>
                </a:solidFill>
                <a:latin typeface="맑은 고딕"/>
                <a:ea typeface="맑은 고딕"/>
              </a:rPr>
              <a:t> → RQ3 </a:t>
            </a:r>
            <a:r>
              <a:rPr sz="1080" b="0" dirty="0" err="1">
                <a:solidFill>
                  <a:srgbClr val="6B7480"/>
                </a:solidFill>
                <a:latin typeface="맑은 고딕"/>
                <a:ea typeface="맑은 고딕"/>
              </a:rPr>
              <a:t>대조군</a:t>
            </a:r>
            <a:r>
              <a:rPr sz="1080" b="0" dirty="0">
                <a:solidFill>
                  <a:srgbClr val="6B7480"/>
                </a:solidFill>
                <a:latin typeface="맑은 고딕"/>
                <a:ea typeface="맑은 고딕"/>
              </a:rPr>
              <a:t> </a:t>
            </a:r>
            <a:r>
              <a:rPr sz="1080" b="0" dirty="0" err="1">
                <a:solidFill>
                  <a:srgbClr val="6B7480"/>
                </a:solidFill>
                <a:latin typeface="맑은 고딕"/>
                <a:ea typeface="맑은 고딕"/>
              </a:rPr>
              <a:t>설계의</a:t>
            </a:r>
            <a:r>
              <a:rPr sz="1080" b="0" dirty="0">
                <a:solidFill>
                  <a:srgbClr val="6B7480"/>
                </a:solidFill>
                <a:latin typeface="맑은 고딕"/>
                <a:ea typeface="맑은 고딕"/>
              </a:rPr>
              <a:t> </a:t>
            </a:r>
            <a:r>
              <a:rPr sz="1080" b="0" dirty="0" err="1">
                <a:solidFill>
                  <a:srgbClr val="6B7480"/>
                </a:solidFill>
                <a:latin typeface="맑은 고딕"/>
                <a:ea typeface="맑은 고딕"/>
              </a:rPr>
              <a:t>원조</a:t>
            </a:r>
            <a:endParaRPr lang="en-US" sz="1080" dirty="0">
              <a:solidFill>
                <a:srgbClr val="6B7480"/>
              </a:solidFill>
              <a:latin typeface="맑은 고딕"/>
              <a:ea typeface="맑은 고딕"/>
            </a:endParaRPr>
          </a:p>
          <a:p>
            <a:pPr marL="171450" indent="-171450" algn="l">
              <a:lnSpc>
                <a:spcPct val="134000"/>
              </a:lnSpc>
              <a:spcAft>
                <a:spcPts val="450"/>
              </a:spcAft>
              <a:buFont typeface="Arial" panose="020B0604020202020204" pitchFamily="34" charset="0"/>
              <a:buChar char="•"/>
            </a:pPr>
            <a:r>
              <a:rPr sz="1080" b="1" dirty="0">
                <a:solidFill>
                  <a:srgbClr val="1E2227"/>
                </a:solidFill>
                <a:latin typeface="맑은 고딕"/>
                <a:ea typeface="맑은 고딕"/>
              </a:rPr>
              <a:t>Xie (ICLR'24) · Wu (</a:t>
            </a:r>
            <a:r>
              <a:rPr sz="1080" b="1" dirty="0" err="1">
                <a:solidFill>
                  <a:srgbClr val="1E2227"/>
                </a:solidFill>
                <a:latin typeface="맑은 고딕"/>
                <a:ea typeface="맑은 고딕"/>
              </a:rPr>
              <a:t>ClashEval</a:t>
            </a:r>
            <a:r>
              <a:rPr sz="1080" b="1" dirty="0">
                <a:solidFill>
                  <a:srgbClr val="1E2227"/>
                </a:solidFill>
                <a:latin typeface="맑은 고딕"/>
                <a:ea typeface="맑은 고딕"/>
              </a:rPr>
              <a:t>, NeurIPS'24) · Jin ('24)</a:t>
            </a:r>
            <a:r>
              <a:rPr sz="1080" b="0" dirty="0">
                <a:solidFill>
                  <a:srgbClr val="6B7480"/>
                </a:solidFill>
                <a:latin typeface="맑은 고딕"/>
                <a:ea typeface="맑은 고딕"/>
              </a:rPr>
              <a:t>  </a:t>
            </a:r>
            <a:r>
              <a:rPr sz="1080" b="0" dirty="0" err="1">
                <a:solidFill>
                  <a:srgbClr val="6B7480"/>
                </a:solidFill>
                <a:latin typeface="맑은 고딕"/>
                <a:ea typeface="맑은 고딕"/>
              </a:rPr>
              <a:t>충돌</a:t>
            </a:r>
            <a:r>
              <a:rPr sz="1080" b="0" dirty="0">
                <a:solidFill>
                  <a:srgbClr val="6B7480"/>
                </a:solidFill>
                <a:latin typeface="맑은 고딕"/>
                <a:ea typeface="맑은 고딕"/>
              </a:rPr>
              <a:t> </a:t>
            </a:r>
            <a:r>
              <a:rPr sz="1080" b="0" dirty="0" err="1">
                <a:solidFill>
                  <a:srgbClr val="6B7480"/>
                </a:solidFill>
                <a:latin typeface="맑은 고딕"/>
                <a:ea typeface="맑은 고딕"/>
              </a:rPr>
              <a:t>강도·문서</a:t>
            </a:r>
            <a:r>
              <a:rPr sz="1080" b="0" dirty="0">
                <a:solidFill>
                  <a:srgbClr val="6B7480"/>
                </a:solidFill>
                <a:latin typeface="맑은 고딕"/>
                <a:ea typeface="맑은 고딕"/>
              </a:rPr>
              <a:t> </a:t>
            </a:r>
            <a:r>
              <a:rPr sz="1080" b="0" dirty="0" err="1">
                <a:solidFill>
                  <a:srgbClr val="6B7480"/>
                </a:solidFill>
                <a:latin typeface="맑은 고딕"/>
                <a:ea typeface="맑은 고딕"/>
              </a:rPr>
              <a:t>조건을</a:t>
            </a:r>
            <a:r>
              <a:rPr sz="1080" b="0" dirty="0">
                <a:solidFill>
                  <a:srgbClr val="6B7480"/>
                </a:solidFill>
                <a:latin typeface="맑은 고딕"/>
                <a:ea typeface="맑은 고딕"/>
              </a:rPr>
              <a:t> </a:t>
            </a:r>
            <a:r>
              <a:rPr sz="1080" b="0" dirty="0" err="1">
                <a:solidFill>
                  <a:srgbClr val="6B7480"/>
                </a:solidFill>
                <a:latin typeface="맑은 고딕"/>
                <a:ea typeface="맑은 고딕"/>
              </a:rPr>
              <a:t>바꿔</a:t>
            </a:r>
            <a:r>
              <a:rPr sz="1080" b="0" dirty="0">
                <a:solidFill>
                  <a:srgbClr val="6B7480"/>
                </a:solidFill>
                <a:latin typeface="맑은 고딕"/>
                <a:ea typeface="맑은 고딕"/>
              </a:rPr>
              <a:t> </a:t>
            </a:r>
            <a:r>
              <a:rPr sz="1080" b="0" dirty="0" err="1">
                <a:solidFill>
                  <a:srgbClr val="6B7480"/>
                </a:solidFill>
                <a:latin typeface="맑은 고딕"/>
                <a:ea typeface="맑은 고딕"/>
              </a:rPr>
              <a:t>가며</a:t>
            </a:r>
            <a:r>
              <a:rPr sz="1080" b="0" dirty="0">
                <a:solidFill>
                  <a:srgbClr val="6B7480"/>
                </a:solidFill>
                <a:latin typeface="맑은 고딕"/>
                <a:ea typeface="맑은 고딕"/>
              </a:rPr>
              <a:t> </a:t>
            </a:r>
            <a:r>
              <a:rPr sz="1080" b="0" dirty="0" err="1">
                <a:solidFill>
                  <a:srgbClr val="6B7480"/>
                </a:solidFill>
                <a:latin typeface="맑은 고딕"/>
                <a:ea typeface="맑은 고딕"/>
              </a:rPr>
              <a:t>순수하게</a:t>
            </a:r>
            <a:r>
              <a:rPr sz="1080" b="0" dirty="0">
                <a:solidFill>
                  <a:srgbClr val="6B7480"/>
                </a:solidFill>
                <a:latin typeface="맑은 고딕"/>
                <a:ea typeface="맑은 고딕"/>
              </a:rPr>
              <a:t> '</a:t>
            </a:r>
            <a:r>
              <a:rPr sz="1080" b="0" dirty="0" err="1">
                <a:solidFill>
                  <a:srgbClr val="6B7480"/>
                </a:solidFill>
                <a:latin typeface="맑은 고딕"/>
                <a:ea typeface="맑은 고딕"/>
              </a:rPr>
              <a:t>충돌</a:t>
            </a:r>
            <a:r>
              <a:rPr sz="1080" b="0" dirty="0">
                <a:solidFill>
                  <a:srgbClr val="6B7480"/>
                </a:solidFill>
                <a:latin typeface="맑은 고딕"/>
                <a:ea typeface="맑은 고딕"/>
              </a:rPr>
              <a:t> </a:t>
            </a:r>
            <a:r>
              <a:rPr sz="1080" b="0" dirty="0" err="1">
                <a:solidFill>
                  <a:srgbClr val="6B7480"/>
                </a:solidFill>
                <a:latin typeface="맑은 고딕"/>
                <a:ea typeface="맑은 고딕"/>
              </a:rPr>
              <a:t>때문'인</a:t>
            </a:r>
            <a:r>
              <a:rPr sz="1080" b="0" dirty="0">
                <a:solidFill>
                  <a:srgbClr val="6B7480"/>
                </a:solidFill>
                <a:latin typeface="맑은 고딕"/>
                <a:ea typeface="맑은 고딕"/>
              </a:rPr>
              <a:t> </a:t>
            </a:r>
            <a:r>
              <a:rPr sz="1080" b="0" dirty="0" err="1">
                <a:solidFill>
                  <a:srgbClr val="6B7480"/>
                </a:solidFill>
                <a:latin typeface="맑은 고딕"/>
                <a:ea typeface="맑은 고딕"/>
              </a:rPr>
              <a:t>행동만</a:t>
            </a:r>
            <a:r>
              <a:rPr sz="1080" b="0" dirty="0">
                <a:solidFill>
                  <a:srgbClr val="6B7480"/>
                </a:solidFill>
                <a:latin typeface="맑은 고딕"/>
                <a:ea typeface="맑은 고딕"/>
              </a:rPr>
              <a:t> </a:t>
            </a:r>
            <a:r>
              <a:rPr sz="1080" b="0" dirty="0" err="1">
                <a:solidFill>
                  <a:srgbClr val="6B7480"/>
                </a:solidFill>
                <a:latin typeface="맑은 고딕"/>
                <a:ea typeface="맑은 고딕"/>
              </a:rPr>
              <a:t>골라냄</a:t>
            </a:r>
            <a:r>
              <a:rPr sz="1080" b="0" dirty="0">
                <a:solidFill>
                  <a:srgbClr val="6B7480"/>
                </a:solidFill>
                <a:latin typeface="맑은 고딕"/>
                <a:ea typeface="맑은 고딕"/>
              </a:rPr>
              <a:t> → </a:t>
            </a:r>
            <a:r>
              <a:rPr sz="1080" b="0" dirty="0" err="1">
                <a:solidFill>
                  <a:srgbClr val="6B7480"/>
                </a:solidFill>
                <a:latin typeface="맑은 고딕"/>
                <a:ea typeface="맑은 고딕"/>
              </a:rPr>
              <a:t>통제</a:t>
            </a:r>
            <a:r>
              <a:rPr sz="1080" b="0" dirty="0">
                <a:solidFill>
                  <a:srgbClr val="6B7480"/>
                </a:solidFill>
                <a:latin typeface="맑은 고딕"/>
                <a:ea typeface="맑은 고딕"/>
              </a:rPr>
              <a:t> </a:t>
            </a:r>
            <a:r>
              <a:rPr sz="1080" b="0" dirty="0" err="1">
                <a:solidFill>
                  <a:srgbClr val="6B7480"/>
                </a:solidFill>
                <a:latin typeface="맑은 고딕"/>
                <a:ea typeface="맑은 고딕"/>
              </a:rPr>
              <a:t>설계</a:t>
            </a:r>
            <a:r>
              <a:rPr sz="1080" b="0" dirty="0">
                <a:solidFill>
                  <a:srgbClr val="6B7480"/>
                </a:solidFill>
                <a:latin typeface="맑은 고딕"/>
                <a:ea typeface="맑은 고딕"/>
              </a:rPr>
              <a:t> </a:t>
            </a:r>
            <a:r>
              <a:rPr sz="1080" b="0" dirty="0" err="1">
                <a:solidFill>
                  <a:srgbClr val="6B7480"/>
                </a:solidFill>
                <a:latin typeface="맑은 고딕"/>
                <a:ea typeface="맑은 고딕"/>
              </a:rPr>
              <a:t>참고</a:t>
            </a:r>
            <a:endParaRPr sz="1080" b="0" dirty="0">
              <a:solidFill>
                <a:srgbClr val="6B7480"/>
              </a:solidFill>
              <a:latin typeface="맑은 고딕"/>
              <a:ea typeface="맑은 고딕"/>
            </a:endParaRPr>
          </a:p>
        </p:txBody>
      </p:sp>
    </p:spTree>
    <p:extLst>
      <p:ext uri="{BB962C8B-B14F-4D97-AF65-F5344CB8AC3E}">
        <p14:creationId xmlns:p14="http://schemas.microsoft.com/office/powerpoint/2010/main" val="2123990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0" dirty="0">
                <a:solidFill>
                  <a:srgbClr val="6B7480"/>
                </a:solidFill>
                <a:latin typeface="맑은 고딕"/>
                <a:ea typeface="맑은 고딕"/>
              </a:rPr>
              <a:t>§3 방법론</a:t>
            </a:r>
            <a:r>
              <a:rPr lang="en-US" sz="1250" b="0" dirty="0">
                <a:solidFill>
                  <a:srgbClr val="B0B7C0"/>
                </a:solidFill>
                <a:latin typeface="맑은 고딕"/>
                <a:ea typeface="맑은 고딕"/>
              </a:rPr>
              <a:t>   ›   </a:t>
            </a:r>
            <a:r>
              <a:rPr lang="en-US" sz="1250" b="1" dirty="0">
                <a:solidFill>
                  <a:srgbClr val="273A52"/>
                </a:solidFill>
                <a:latin typeface="맑은 고딕"/>
                <a:ea typeface="맑은 고딕"/>
              </a:rPr>
              <a:t>§3.1 데이터</a:t>
            </a:r>
          </a:p>
        </p:txBody>
      </p:sp>
      <p:sp>
        <p:nvSpPr>
          <p:cNvPr id="3" name="TextBox 2"/>
          <p:cNvSpPr txBox="1"/>
          <p:nvPr/>
        </p:nvSpPr>
        <p:spPr>
          <a:xfrm>
            <a:off x="548640" y="585216"/>
            <a:ext cx="11091672" cy="502920"/>
          </a:xfrm>
          <a:prstGeom prst="rect">
            <a:avLst/>
          </a:prstGeom>
          <a:noFill/>
        </p:spPr>
        <p:txBody>
          <a:bodyPr wrap="square" lIns="0" tIns="0" rIns="0" bIns="0">
            <a:spAutoFit/>
          </a:bodyPr>
          <a:lstStyle/>
          <a:p>
            <a:pPr algn="l">
              <a:lnSpc>
                <a:spcPct val="122000"/>
              </a:lnSpc>
              <a:spcAft>
                <a:spcPts val="450"/>
              </a:spcAft>
            </a:pPr>
            <a:r>
              <a:rPr sz="2350" b="1">
                <a:solidFill>
                  <a:srgbClr val="273A52"/>
                </a:solidFill>
                <a:latin typeface="맑은 고딕"/>
                <a:ea typeface="맑은 고딕"/>
              </a:rPr>
              <a:t>데이터셋 구성: 3개 데이터셋의 역할 분담</a:t>
            </a: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274320"/>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10</a:t>
            </a:fld>
            <a:endParaRPr lang="en-US" altLang="ko-KR" sz="950">
              <a:solidFill>
                <a:srgbClr val="6B7480"/>
              </a:solidFill>
              <a:latin typeface="맑은 고딕"/>
              <a:ea typeface="맑은 고딕"/>
            </a:endParaRPr>
          </a:p>
        </p:txBody>
      </p:sp>
      <p:sp>
        <p:nvSpPr>
          <p:cNvPr id="7" name="TextBox 6"/>
          <p:cNvSpPr txBox="1"/>
          <p:nvPr/>
        </p:nvSpPr>
        <p:spPr>
          <a:xfrm>
            <a:off x="548640" y="1270000"/>
            <a:ext cx="3529584" cy="274320"/>
          </a:xfrm>
          <a:prstGeom prst="rect">
            <a:avLst/>
          </a:prstGeom>
          <a:noFill/>
        </p:spPr>
        <p:txBody>
          <a:bodyPr wrap="square" lIns="91440" tIns="45720" rIns="91440" bIns="45720" anchor="t" anchorCtr="0">
            <a:spAutoFit/>
          </a:bodyPr>
          <a:lstStyle/>
          <a:p>
            <a:pPr algn="l">
              <a:lnSpc>
                <a:spcPct val="122000"/>
              </a:lnSpc>
              <a:spcAft>
                <a:spcPts val="450"/>
              </a:spcAft>
            </a:pPr>
            <a:r>
              <a:rPr sz="1400" b="1">
                <a:solidFill>
                  <a:srgbClr val="273A52"/>
                </a:solidFill>
                <a:latin typeface="맑은 고딕"/>
                <a:ea typeface="맑은 고딕"/>
              </a:rPr>
              <a:t>DRAGged</a:t>
            </a:r>
            <a:r>
              <a:rPr sz="930" b="0">
                <a:solidFill>
                  <a:srgbClr val="6B7480"/>
                </a:solidFill>
                <a:latin typeface="맑은 고딕"/>
                <a:ea typeface="맑은 고딕"/>
              </a:rPr>
              <a:t>   Cattan et al. (2025)</a:t>
            </a:r>
          </a:p>
        </p:txBody>
      </p:sp>
      <p:sp>
        <p:nvSpPr>
          <p:cNvPr id="9" name="TextBox 8"/>
          <p:cNvSpPr txBox="1"/>
          <p:nvPr/>
        </p:nvSpPr>
        <p:spPr>
          <a:xfrm>
            <a:off x="548640" y="1645920"/>
            <a:ext cx="3529584" cy="653512"/>
          </a:xfrm>
          <a:prstGeom prst="rect">
            <a:avLst/>
          </a:prstGeom>
          <a:noFill/>
        </p:spPr>
        <p:txBody>
          <a:bodyPr wrap="square" lIns="91440" tIns="45720" rIns="91440" bIns="45720" anchor="t" anchorCtr="0">
            <a:spAutoFit/>
          </a:bodyPr>
          <a:lstStyle/>
          <a:p>
            <a:pPr algn="l">
              <a:lnSpc>
                <a:spcPct val="126000"/>
              </a:lnSpc>
              <a:spcAft>
                <a:spcPts val="450"/>
              </a:spcAft>
            </a:pPr>
            <a:r>
              <a:rPr lang="ko-KR" sz="1000" b="1" dirty="0">
                <a:solidFill>
                  <a:srgbClr val="1E2227"/>
                </a:solidFill>
                <a:latin typeface="맑은 고딕"/>
                <a:ea typeface="맑은 고딕"/>
              </a:rPr>
              <a:t>구글에서 실제 검색한 웹 문서</a:t>
            </a:r>
            <a:r>
              <a:rPr lang="ko-KR" sz="1000" b="0" dirty="0">
                <a:solidFill>
                  <a:srgbClr val="1E2227"/>
                </a:solidFill>
                <a:latin typeface="맑은 고딕"/>
                <a:ea typeface="맑은 고딕"/>
              </a:rPr>
              <a:t>를 그대로 사용. 한 질문에는 한 가지 충돌만 들어 있고, 전문가가 5개 유형으로 구분해 표시.</a:t>
            </a:r>
          </a:p>
        </p:txBody>
      </p:sp>
      <p:graphicFrame>
        <p:nvGraphicFramePr>
          <p:cNvPr id="10" name="Table 9"/>
          <p:cNvGraphicFramePr>
            <a:graphicFrameLocks noGrp="1"/>
          </p:cNvGraphicFramePr>
          <p:nvPr/>
        </p:nvGraphicFramePr>
        <p:xfrm>
          <a:off x="548640" y="2550160"/>
          <a:ext cx="3529584" cy="2622576"/>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786384">
                  <a:extLst>
                    <a:ext uri="{9D8B030D-6E8A-4147-A177-3AD203B41FA5}">
                      <a16:colId xmlns:a16="http://schemas.microsoft.com/office/drawing/2014/main" val="20001"/>
                    </a:ext>
                  </a:extLst>
                </a:gridCol>
              </a:tblGrid>
              <a:tr h="310896">
                <a:tc>
                  <a:txBody>
                    <a:bodyPr/>
                    <a:lstStyle/>
                    <a:p>
                      <a:pPr algn="ctr">
                        <a:lnSpc>
                          <a:spcPct val="114000"/>
                        </a:lnSpc>
                        <a:spcAft>
                          <a:spcPts val="200"/>
                        </a:spcAft>
                      </a:pPr>
                      <a:r>
                        <a:rPr lang="ko-KR" altLang="en-US" sz="960" b="1" dirty="0">
                          <a:solidFill>
                            <a:srgbClr val="FFFFFF"/>
                          </a:solidFill>
                          <a:latin typeface="맑은 고딕"/>
                          <a:ea typeface="맑은 고딕"/>
                        </a:rPr>
                        <a:t>충돌 유형</a:t>
                      </a:r>
                      <a:endParaRPr sz="960" b="1" dirty="0">
                        <a:solidFill>
                          <a:srgbClr val="FFFFFF"/>
                        </a:solidFill>
                        <a:latin typeface="맑은 고딕"/>
                        <a:ea typeface="맑은 고딕"/>
                      </a:endParaRPr>
                    </a:p>
                  </a:txBody>
                  <a:tcPr marL="82296" marR="82296" marT="36576" marB="36576" anchor="ctr">
                    <a:solidFill>
                      <a:srgbClr val="273A52"/>
                    </a:solidFill>
                  </a:tcPr>
                </a:tc>
                <a:tc>
                  <a:txBody>
                    <a:bodyPr/>
                    <a:lstStyle/>
                    <a:p>
                      <a:pPr algn="ctr">
                        <a:lnSpc>
                          <a:spcPct val="114000"/>
                        </a:lnSpc>
                        <a:spcAft>
                          <a:spcPts val="200"/>
                        </a:spcAft>
                      </a:pPr>
                      <a:r>
                        <a:rPr sz="960" b="1" dirty="0" err="1">
                          <a:solidFill>
                            <a:srgbClr val="FFFFFF"/>
                          </a:solidFill>
                          <a:latin typeface="맑은 고딕"/>
                          <a:ea typeface="맑은 고딕"/>
                        </a:rPr>
                        <a:t>건수</a:t>
                      </a:r>
                      <a:endParaRPr sz="960" b="1" dirty="0">
                        <a:solidFill>
                          <a:srgbClr val="FFFFFF"/>
                        </a:solidFill>
                        <a:latin typeface="맑은 고딕"/>
                        <a:ea typeface="맑은 고딕"/>
                      </a:endParaRPr>
                    </a:p>
                  </a:txBody>
                  <a:tcPr marL="82296" marR="82296" marT="36576" marB="36576" anchor="ctr">
                    <a:solidFill>
                      <a:srgbClr val="273A52"/>
                    </a:solidFill>
                  </a:tcPr>
                </a:tc>
                <a:extLst>
                  <a:ext uri="{0D108BD9-81ED-4DB2-BD59-A6C34878D82A}">
                    <a16:rowId xmlns:a16="http://schemas.microsoft.com/office/drawing/2014/main" val="10000"/>
                  </a:ext>
                </a:extLst>
              </a:tr>
              <a:tr h="402336">
                <a:tc>
                  <a:txBody>
                    <a:bodyPr/>
                    <a:lstStyle/>
                    <a:p>
                      <a:pPr algn="l">
                        <a:lnSpc>
                          <a:spcPct val="114000"/>
                        </a:lnSpc>
                        <a:spcAft>
                          <a:spcPts val="200"/>
                        </a:spcAft>
                      </a:pPr>
                      <a:r>
                        <a:rPr sz="960" b="1" dirty="0">
                          <a:solidFill>
                            <a:srgbClr val="1E7A6F"/>
                          </a:solidFill>
                          <a:latin typeface="맑은 고딕"/>
                          <a:ea typeface="맑은 고딕"/>
                        </a:rPr>
                        <a:t>Conflict due to outdated information (시간 충돌)</a:t>
                      </a:r>
                    </a:p>
                  </a:txBody>
                  <a:tcPr marL="82296" marR="82296" marT="36576" marB="36576" anchor="ctr">
                    <a:solidFill>
                      <a:srgbClr val="FFFFFF"/>
                    </a:solidFill>
                  </a:tcPr>
                </a:tc>
                <a:tc>
                  <a:txBody>
                    <a:bodyPr/>
                    <a:lstStyle/>
                    <a:p>
                      <a:pPr algn="l">
                        <a:lnSpc>
                          <a:spcPct val="114000"/>
                        </a:lnSpc>
                        <a:spcAft>
                          <a:spcPts val="200"/>
                        </a:spcAft>
                      </a:pPr>
                      <a:r>
                        <a:rPr sz="960" b="1" dirty="0">
                          <a:solidFill>
                            <a:srgbClr val="1E7A6F"/>
                          </a:solidFill>
                          <a:latin typeface="맑은 고딕"/>
                          <a:ea typeface="맑은 고딕"/>
                        </a:rPr>
                        <a:t>62</a:t>
                      </a:r>
                    </a:p>
                  </a:txBody>
                  <a:tcPr marL="82296" marR="82296" marT="36576" marB="36576" anchor="ctr">
                    <a:solidFill>
                      <a:srgbClr val="FFFFFF"/>
                    </a:solidFill>
                  </a:tcPr>
                </a:tc>
                <a:extLst>
                  <a:ext uri="{0D108BD9-81ED-4DB2-BD59-A6C34878D82A}">
                    <a16:rowId xmlns:a16="http://schemas.microsoft.com/office/drawing/2014/main" val="10001"/>
                  </a:ext>
                </a:extLst>
              </a:tr>
              <a:tr h="402336">
                <a:tc>
                  <a:txBody>
                    <a:bodyPr/>
                    <a:lstStyle/>
                    <a:p>
                      <a:pPr algn="l">
                        <a:lnSpc>
                          <a:spcPct val="114000"/>
                        </a:lnSpc>
                        <a:spcAft>
                          <a:spcPts val="200"/>
                        </a:spcAft>
                      </a:pPr>
                      <a:r>
                        <a:rPr sz="960" b="1" dirty="0">
                          <a:solidFill>
                            <a:srgbClr val="1E7A6F"/>
                          </a:solidFill>
                          <a:latin typeface="맑은 고딕"/>
                          <a:ea typeface="맑은 고딕"/>
                        </a:rPr>
                        <a:t>Conflict due to misinformation (오정보)</a:t>
                      </a:r>
                    </a:p>
                  </a:txBody>
                  <a:tcPr marL="82296" marR="82296" marT="36576" marB="36576" anchor="ctr">
                    <a:solidFill>
                      <a:srgbClr val="F6F7F9"/>
                    </a:solidFill>
                  </a:tcPr>
                </a:tc>
                <a:tc>
                  <a:txBody>
                    <a:bodyPr/>
                    <a:lstStyle/>
                    <a:p>
                      <a:pPr algn="l">
                        <a:lnSpc>
                          <a:spcPct val="114000"/>
                        </a:lnSpc>
                        <a:spcAft>
                          <a:spcPts val="200"/>
                        </a:spcAft>
                      </a:pPr>
                      <a:r>
                        <a:rPr sz="960" b="1">
                          <a:solidFill>
                            <a:srgbClr val="1E7A6F"/>
                          </a:solidFill>
                          <a:latin typeface="맑은 고딕"/>
                          <a:ea typeface="맑은 고딕"/>
                        </a:rPr>
                        <a:t>5</a:t>
                      </a:r>
                    </a:p>
                  </a:txBody>
                  <a:tcPr marL="82296" marR="82296" marT="36576" marB="36576" anchor="ctr">
                    <a:solidFill>
                      <a:srgbClr val="F6F7F9"/>
                    </a:solidFill>
                  </a:tcPr>
                </a:tc>
                <a:extLst>
                  <a:ext uri="{0D108BD9-81ED-4DB2-BD59-A6C34878D82A}">
                    <a16:rowId xmlns:a16="http://schemas.microsoft.com/office/drawing/2014/main" val="10002"/>
                  </a:ext>
                </a:extLst>
              </a:tr>
              <a:tr h="402336">
                <a:tc>
                  <a:txBody>
                    <a:bodyPr/>
                    <a:lstStyle/>
                    <a:p>
                      <a:pPr algn="l">
                        <a:lnSpc>
                          <a:spcPct val="114000"/>
                        </a:lnSpc>
                        <a:spcAft>
                          <a:spcPts val="200"/>
                        </a:spcAft>
                      </a:pPr>
                      <a:r>
                        <a:rPr sz="960" b="1" dirty="0">
                          <a:solidFill>
                            <a:srgbClr val="1E7A6F"/>
                          </a:solidFill>
                          <a:latin typeface="맑은 고딕"/>
                          <a:ea typeface="맑은 고딕"/>
                        </a:rPr>
                        <a:t>Conflicting opinions and research outcomes (견해·연구 차이)</a:t>
                      </a:r>
                    </a:p>
                  </a:txBody>
                  <a:tcPr marL="82296" marR="82296" marT="36576" marB="36576" anchor="ctr">
                    <a:solidFill>
                      <a:srgbClr val="FFFFFF"/>
                    </a:solidFill>
                  </a:tcPr>
                </a:tc>
                <a:tc>
                  <a:txBody>
                    <a:bodyPr/>
                    <a:lstStyle/>
                    <a:p>
                      <a:pPr algn="l">
                        <a:lnSpc>
                          <a:spcPct val="114000"/>
                        </a:lnSpc>
                        <a:spcAft>
                          <a:spcPts val="200"/>
                        </a:spcAft>
                      </a:pPr>
                      <a:r>
                        <a:rPr sz="960" b="1">
                          <a:solidFill>
                            <a:srgbClr val="1E7A6F"/>
                          </a:solidFill>
                          <a:latin typeface="맑은 고딕"/>
                          <a:ea typeface="맑은 고딕"/>
                        </a:rPr>
                        <a:t>115</a:t>
                      </a:r>
                    </a:p>
                  </a:txBody>
                  <a:tcPr marL="82296" marR="82296" marT="36576" marB="36576" anchor="ctr">
                    <a:solidFill>
                      <a:srgbClr val="FFFFFF"/>
                    </a:solidFill>
                  </a:tcPr>
                </a:tc>
                <a:extLst>
                  <a:ext uri="{0D108BD9-81ED-4DB2-BD59-A6C34878D82A}">
                    <a16:rowId xmlns:a16="http://schemas.microsoft.com/office/drawing/2014/main" val="10003"/>
                  </a:ext>
                </a:extLst>
              </a:tr>
              <a:tr h="402336">
                <a:tc>
                  <a:txBody>
                    <a:bodyPr/>
                    <a:lstStyle/>
                    <a:p>
                      <a:pPr algn="l">
                        <a:lnSpc>
                          <a:spcPct val="114000"/>
                        </a:lnSpc>
                        <a:spcAft>
                          <a:spcPts val="200"/>
                        </a:spcAft>
                      </a:pPr>
                      <a:r>
                        <a:rPr sz="960" b="0">
                          <a:solidFill>
                            <a:srgbClr val="1E2227"/>
                          </a:solidFill>
                          <a:latin typeface="맑은 고딕"/>
                          <a:ea typeface="맑은 고딕"/>
                        </a:rPr>
                        <a:t>Complementary information (부분 정보 보완)</a:t>
                      </a:r>
                    </a:p>
                  </a:txBody>
                  <a:tcPr marL="82296" marR="82296" marT="36576" marB="36576" anchor="ctr">
                    <a:solidFill>
                      <a:srgbClr val="F6F7F9"/>
                    </a:solidFill>
                  </a:tcPr>
                </a:tc>
                <a:tc>
                  <a:txBody>
                    <a:bodyPr/>
                    <a:lstStyle/>
                    <a:p>
                      <a:pPr algn="l">
                        <a:lnSpc>
                          <a:spcPct val="114000"/>
                        </a:lnSpc>
                        <a:spcAft>
                          <a:spcPts val="200"/>
                        </a:spcAft>
                      </a:pPr>
                      <a:r>
                        <a:rPr sz="960" b="0">
                          <a:solidFill>
                            <a:srgbClr val="1E2227"/>
                          </a:solidFill>
                          <a:latin typeface="맑은 고딕"/>
                          <a:ea typeface="맑은 고딕"/>
                        </a:rPr>
                        <a:t>115</a:t>
                      </a:r>
                    </a:p>
                  </a:txBody>
                  <a:tcPr marL="82296" marR="82296" marT="36576" marB="36576" anchor="ctr">
                    <a:solidFill>
                      <a:srgbClr val="F6F7F9"/>
                    </a:solidFill>
                  </a:tcPr>
                </a:tc>
                <a:extLst>
                  <a:ext uri="{0D108BD9-81ED-4DB2-BD59-A6C34878D82A}">
                    <a16:rowId xmlns:a16="http://schemas.microsoft.com/office/drawing/2014/main" val="10004"/>
                  </a:ext>
                </a:extLst>
              </a:tr>
              <a:tr h="402336">
                <a:tc>
                  <a:txBody>
                    <a:bodyPr/>
                    <a:lstStyle/>
                    <a:p>
                      <a:pPr algn="l">
                        <a:lnSpc>
                          <a:spcPct val="114000"/>
                        </a:lnSpc>
                        <a:spcAft>
                          <a:spcPts val="200"/>
                        </a:spcAft>
                      </a:pPr>
                      <a:r>
                        <a:rPr sz="960" b="0" dirty="0">
                          <a:solidFill>
                            <a:srgbClr val="1E2227"/>
                          </a:solidFill>
                          <a:latin typeface="맑은 고딕"/>
                          <a:ea typeface="맑은 고딕"/>
                        </a:rPr>
                        <a:t>No conflict (비충돌)</a:t>
                      </a:r>
                    </a:p>
                  </a:txBody>
                  <a:tcPr marL="82296" marR="82296" marT="36576" marB="36576" anchor="ctr">
                    <a:solidFill>
                      <a:srgbClr val="FFFFFF"/>
                    </a:solidFill>
                  </a:tcPr>
                </a:tc>
                <a:tc>
                  <a:txBody>
                    <a:bodyPr/>
                    <a:lstStyle/>
                    <a:p>
                      <a:pPr algn="l">
                        <a:lnSpc>
                          <a:spcPct val="114000"/>
                        </a:lnSpc>
                        <a:spcAft>
                          <a:spcPts val="200"/>
                        </a:spcAft>
                      </a:pPr>
                      <a:r>
                        <a:rPr sz="960" b="0" dirty="0">
                          <a:solidFill>
                            <a:srgbClr val="1E2227"/>
                          </a:solidFill>
                          <a:latin typeface="맑은 고딕"/>
                          <a:ea typeface="맑은 고딕"/>
                        </a:rPr>
                        <a:t>161</a:t>
                      </a:r>
                    </a:p>
                  </a:txBody>
                  <a:tcPr marL="82296" marR="82296" marT="36576" marB="36576" anchor="ctr">
                    <a:solidFill>
                      <a:srgbClr val="FFFFFF"/>
                    </a:solidFill>
                  </a:tcPr>
                </a:tc>
                <a:extLst>
                  <a:ext uri="{0D108BD9-81ED-4DB2-BD59-A6C34878D82A}">
                    <a16:rowId xmlns:a16="http://schemas.microsoft.com/office/drawing/2014/main" val="10005"/>
                  </a:ext>
                </a:extLst>
              </a:tr>
              <a:tr h="300000">
                <a:tc>
                  <a:txBody>
                    <a:bodyPr/>
                    <a:lstStyle/>
                    <a:p>
                      <a:pPr algn="l">
                        <a:lnSpc>
                          <a:spcPct val="114000"/>
                        </a:lnSpc>
                        <a:spcAft>
                          <a:spcPts val="200"/>
                        </a:spcAft>
                      </a:pPr>
                      <a:r>
                        <a:rPr lang="ko-KR" sz="960" b="0">
                          <a:solidFill>
                            <a:srgbClr val="1E2227"/>
                          </a:solidFill>
                          <a:latin typeface="맑은 고딕"/>
                          <a:ea typeface="맑은 고딕"/>
                        </a:rPr>
                        <a:t>Total (전체)</a:t>
                      </a:r>
                    </a:p>
                  </a:txBody>
                  <a:tcPr marL="82296" marR="82296" marT="36576" marB="36576" anchor="ctr">
                    <a:solidFill>
                      <a:srgbClr val="FFFFFF"/>
                    </a:solidFill>
                  </a:tcPr>
                </a:tc>
                <a:tc>
                  <a:txBody>
                    <a:bodyPr/>
                    <a:lstStyle/>
                    <a:p>
                      <a:pPr algn="l">
                        <a:lnSpc>
                          <a:spcPct val="114000"/>
                        </a:lnSpc>
                        <a:spcAft>
                          <a:spcPts val="200"/>
                        </a:spcAft>
                      </a:pPr>
                      <a:r>
                        <a:rPr lang="ko-KR" sz="960" b="0" dirty="0">
                          <a:solidFill>
                            <a:srgbClr val="1E2227"/>
                          </a:solidFill>
                          <a:latin typeface="맑은 고딕"/>
                          <a:ea typeface="맑은 고딕"/>
                        </a:rPr>
                        <a:t>458</a:t>
                      </a:r>
                    </a:p>
                  </a:txBody>
                  <a:tcPr marL="82296" marR="82296" marT="36576" marB="36576" anchor="ctr">
                    <a:solidFill>
                      <a:srgbClr val="FFFFFF"/>
                    </a:solidFill>
                  </a:tcPr>
                </a:tc>
                <a:extLst>
                  <a:ext uri="{0D108BD9-81ED-4DB2-BD59-A6C34878D82A}">
                    <a16:rowId xmlns:a16="http://schemas.microsoft.com/office/drawing/2014/main" val="1079142952"/>
                  </a:ext>
                </a:extLst>
              </a:tr>
            </a:tbl>
          </a:graphicData>
        </a:graphic>
      </p:graphicFrame>
      <p:sp>
        <p:nvSpPr>
          <p:cNvPr id="11" name="TextBox 10"/>
          <p:cNvSpPr txBox="1"/>
          <p:nvPr/>
        </p:nvSpPr>
        <p:spPr>
          <a:xfrm>
            <a:off x="4329684" y="1270000"/>
            <a:ext cx="3529584" cy="274320"/>
          </a:xfrm>
          <a:prstGeom prst="rect">
            <a:avLst/>
          </a:prstGeom>
          <a:noFill/>
        </p:spPr>
        <p:txBody>
          <a:bodyPr wrap="square" lIns="91440" tIns="45720" rIns="91440" bIns="45720" anchor="t" anchorCtr="0">
            <a:spAutoFit/>
          </a:bodyPr>
          <a:lstStyle/>
          <a:p>
            <a:pPr algn="l">
              <a:lnSpc>
                <a:spcPct val="122000"/>
              </a:lnSpc>
              <a:spcAft>
                <a:spcPts val="450"/>
              </a:spcAft>
            </a:pPr>
            <a:r>
              <a:rPr sz="1400" b="1">
                <a:solidFill>
                  <a:srgbClr val="273A52"/>
                </a:solidFill>
                <a:latin typeface="맑은 고딕"/>
                <a:ea typeface="맑은 고딕"/>
              </a:rPr>
              <a:t>QACC</a:t>
            </a:r>
            <a:r>
              <a:rPr sz="930" b="0">
                <a:solidFill>
                  <a:srgbClr val="6B7480"/>
                </a:solidFill>
                <a:latin typeface="맑은 고딕"/>
                <a:ea typeface="맑은 고딕"/>
              </a:rPr>
              <a:t>   Liu et al. (Findings of NAACL 2025)</a:t>
            </a:r>
          </a:p>
        </p:txBody>
      </p:sp>
      <p:sp>
        <p:nvSpPr>
          <p:cNvPr id="13" name="TextBox 12"/>
          <p:cNvSpPr txBox="1"/>
          <p:nvPr/>
        </p:nvSpPr>
        <p:spPr>
          <a:xfrm>
            <a:off x="4329684" y="1645920"/>
            <a:ext cx="3529584" cy="653512"/>
          </a:xfrm>
          <a:prstGeom prst="rect">
            <a:avLst/>
          </a:prstGeom>
          <a:noFill/>
        </p:spPr>
        <p:txBody>
          <a:bodyPr wrap="square" lIns="91440" tIns="45720" rIns="91440" bIns="45720" anchor="t" anchorCtr="0">
            <a:spAutoFit/>
          </a:bodyPr>
          <a:lstStyle/>
          <a:p>
            <a:pPr algn="l">
              <a:lnSpc>
                <a:spcPct val="126000"/>
              </a:lnSpc>
              <a:spcAft>
                <a:spcPts val="450"/>
              </a:spcAft>
            </a:pPr>
            <a:r>
              <a:rPr lang="ko-KR" sz="1000" b="1" dirty="0">
                <a:solidFill>
                  <a:srgbClr val="1E2227"/>
                </a:solidFill>
                <a:latin typeface="맑은 고딕"/>
                <a:ea typeface="맑은 고딕"/>
              </a:rPr>
              <a:t>구글 검색 결과</a:t>
            </a:r>
            <a:r>
              <a:rPr lang="ko-KR" sz="1000" b="0" dirty="0">
                <a:solidFill>
                  <a:srgbClr val="1E2227"/>
                </a:solidFill>
                <a:latin typeface="맑은 고딕"/>
                <a:ea typeface="맑은 고딕"/>
              </a:rPr>
              <a:t> 기반. 뜻이 명확한 질문 하나에 검색 문서 여러 개를 붙인 구조로, 그중 25%는 검색 문서들끼리 답이 서로 엇갈렸음 (문맥 간 충돌 · Inter-Context).</a:t>
            </a:r>
          </a:p>
        </p:txBody>
      </p:sp>
      <p:graphicFrame>
        <p:nvGraphicFramePr>
          <p:cNvPr id="14" name="Table 13"/>
          <p:cNvGraphicFramePr>
            <a:graphicFrameLocks noGrp="1"/>
          </p:cNvGraphicFramePr>
          <p:nvPr/>
        </p:nvGraphicFramePr>
        <p:xfrm>
          <a:off x="4329684" y="2550160"/>
          <a:ext cx="3530600" cy="1500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20000"/>
                    </a:ext>
                  </a:extLst>
                </a:gridCol>
                <a:gridCol w="1117600">
                  <a:extLst>
                    <a:ext uri="{9D8B030D-6E8A-4147-A177-3AD203B41FA5}">
                      <a16:colId xmlns:a16="http://schemas.microsoft.com/office/drawing/2014/main" val="20001"/>
                    </a:ext>
                  </a:extLst>
                </a:gridCol>
              </a:tblGrid>
              <a:tr h="300000">
                <a:tc>
                  <a:txBody>
                    <a:bodyPr/>
                    <a:lstStyle/>
                    <a:p>
                      <a:pPr algn="ctr">
                        <a:lnSpc>
                          <a:spcPct val="110000"/>
                        </a:lnSpc>
                        <a:spcAft>
                          <a:spcPts val="0"/>
                        </a:spcAft>
                      </a:pPr>
                      <a:r>
                        <a:rPr lang="ko-KR" sz="960" b="1" dirty="0">
                          <a:solidFill>
                            <a:srgbClr val="FFFFFF"/>
                          </a:solidFill>
                          <a:latin typeface="맑은 고딕"/>
                          <a:ea typeface="맑은 고딕"/>
                        </a:rPr>
                        <a:t>구분</a:t>
                      </a:r>
                    </a:p>
                  </a:txBody>
                  <a:tcPr marL="82296" marR="82296" marT="36576" marB="36576" anchor="ctr">
                    <a:solidFill>
                      <a:srgbClr val="273A52"/>
                    </a:solidFill>
                  </a:tcPr>
                </a:tc>
                <a:tc>
                  <a:txBody>
                    <a:bodyPr/>
                    <a:lstStyle/>
                    <a:p>
                      <a:pPr algn="ctr">
                        <a:lnSpc>
                          <a:spcPct val="110000"/>
                        </a:lnSpc>
                        <a:spcAft>
                          <a:spcPts val="0"/>
                        </a:spcAft>
                      </a:pPr>
                      <a:r>
                        <a:rPr lang="ko-KR" sz="960" b="1" dirty="0">
                          <a:solidFill>
                            <a:srgbClr val="FFFFFF"/>
                          </a:solidFill>
                          <a:latin typeface="맑은 고딕"/>
                          <a:ea typeface="맑은 고딕"/>
                        </a:rPr>
                        <a:t>건수</a:t>
                      </a:r>
                    </a:p>
                  </a:txBody>
                  <a:tcPr marL="82296" marR="82296" marT="36576" marB="36576" anchor="ctr">
                    <a:solidFill>
                      <a:srgbClr val="273A52"/>
                    </a:solidFill>
                  </a:tcPr>
                </a:tc>
                <a:extLst>
                  <a:ext uri="{0D108BD9-81ED-4DB2-BD59-A6C34878D82A}">
                    <a16:rowId xmlns:a16="http://schemas.microsoft.com/office/drawing/2014/main" val="10000"/>
                  </a:ext>
                </a:extLst>
              </a:tr>
              <a:tr h="300000">
                <a:tc>
                  <a:txBody>
                    <a:bodyPr/>
                    <a:lstStyle/>
                    <a:p>
                      <a:pPr algn="l">
                        <a:lnSpc>
                          <a:spcPct val="110000"/>
                        </a:lnSpc>
                        <a:spcAft>
                          <a:spcPts val="0"/>
                        </a:spcAft>
                      </a:pPr>
                      <a:r>
                        <a:rPr lang="ko-KR" sz="960" b="1">
                          <a:solidFill>
                            <a:srgbClr val="1E7A6F"/>
                          </a:solidFill>
                          <a:latin typeface="맑은 고딕"/>
                          <a:ea typeface="맑은 고딕"/>
                        </a:rPr>
                        <a:t>충돌 (Conflict)</a:t>
                      </a:r>
                    </a:p>
                  </a:txBody>
                  <a:tcPr marL="82296" marR="82296" marT="36576" marB="36576" anchor="ctr">
                    <a:solidFill>
                      <a:srgbClr val="FFFFFF"/>
                    </a:solidFill>
                  </a:tcPr>
                </a:tc>
                <a:tc>
                  <a:txBody>
                    <a:bodyPr/>
                    <a:lstStyle/>
                    <a:p>
                      <a:pPr algn="l">
                        <a:lnSpc>
                          <a:spcPct val="110000"/>
                        </a:lnSpc>
                        <a:spcAft>
                          <a:spcPts val="0"/>
                        </a:spcAft>
                      </a:pPr>
                      <a:r>
                        <a:rPr lang="ko-KR" sz="960" b="1">
                          <a:solidFill>
                            <a:srgbClr val="1E2227"/>
                          </a:solidFill>
                          <a:latin typeface="맑은 고딕"/>
                          <a:ea typeface="맑은 고딕"/>
                        </a:rPr>
                        <a:t>≈ 404  (25%)</a:t>
                      </a:r>
                    </a:p>
                  </a:txBody>
                  <a:tcPr marL="82296" marR="82296" marT="36576" marB="36576" anchor="ctr">
                    <a:solidFill>
                      <a:srgbClr val="FFFFFF"/>
                    </a:solidFill>
                  </a:tcPr>
                </a:tc>
                <a:extLst>
                  <a:ext uri="{0D108BD9-81ED-4DB2-BD59-A6C34878D82A}">
                    <a16:rowId xmlns:a16="http://schemas.microsoft.com/office/drawing/2014/main" val="10001"/>
                  </a:ext>
                </a:extLst>
              </a:tr>
              <a:tr h="300000">
                <a:tc>
                  <a:txBody>
                    <a:bodyPr/>
                    <a:lstStyle/>
                    <a:p>
                      <a:pPr algn="l">
                        <a:lnSpc>
                          <a:spcPct val="110000"/>
                        </a:lnSpc>
                        <a:spcAft>
                          <a:spcPts val="0"/>
                        </a:spcAft>
                      </a:pPr>
                      <a:r>
                        <a:rPr lang="ko-KR" sz="960" b="0">
                          <a:solidFill>
                            <a:srgbClr val="6B7480"/>
                          </a:solidFill>
                          <a:latin typeface="맑은 고딕"/>
                          <a:ea typeface="맑은 고딕"/>
                        </a:rPr>
                        <a:t>  └ 오정보·시간성·상충의견</a:t>
                      </a:r>
                    </a:p>
                  </a:txBody>
                  <a:tcPr marL="82296" marR="82296" marT="36576" marB="36576" anchor="ctr">
                    <a:solidFill>
                      <a:srgbClr val="FFFFFF"/>
                    </a:solidFill>
                  </a:tcPr>
                </a:tc>
                <a:tc>
                  <a:txBody>
                    <a:bodyPr/>
                    <a:lstStyle/>
                    <a:p>
                      <a:pPr algn="l">
                        <a:lnSpc>
                          <a:spcPct val="110000"/>
                        </a:lnSpc>
                        <a:spcAft>
                          <a:spcPts val="0"/>
                        </a:spcAft>
                      </a:pPr>
                      <a:r>
                        <a:rPr lang="ko-KR" sz="960" b="1">
                          <a:solidFill>
                            <a:srgbClr val="C2410C"/>
                          </a:solidFill>
                          <a:latin typeface="맑은 고딕"/>
                          <a:ea typeface="맑은 고딕"/>
                        </a:rPr>
                        <a:t>측정 예정</a:t>
                      </a:r>
                    </a:p>
                  </a:txBody>
                  <a:tcPr marL="82296" marR="82296" marT="36576" marB="36576" anchor="ctr">
                    <a:solidFill>
                      <a:srgbClr val="FFFFFF"/>
                    </a:solidFill>
                  </a:tcPr>
                </a:tc>
                <a:extLst>
                  <a:ext uri="{0D108BD9-81ED-4DB2-BD59-A6C34878D82A}">
                    <a16:rowId xmlns:a16="http://schemas.microsoft.com/office/drawing/2014/main" val="3880931333"/>
                  </a:ext>
                </a:extLst>
              </a:tr>
              <a:tr h="300000">
                <a:tc>
                  <a:txBody>
                    <a:bodyPr/>
                    <a:lstStyle/>
                    <a:p>
                      <a:pPr algn="l">
                        <a:lnSpc>
                          <a:spcPct val="110000"/>
                        </a:lnSpc>
                        <a:spcAft>
                          <a:spcPts val="0"/>
                        </a:spcAft>
                      </a:pPr>
                      <a:r>
                        <a:rPr lang="ko-KR" sz="960" b="1">
                          <a:solidFill>
                            <a:srgbClr val="1E7A6F"/>
                          </a:solidFill>
                          <a:latin typeface="맑은 고딕"/>
                          <a:ea typeface="맑은 고딕"/>
                        </a:rPr>
                        <a:t>비충돌 (No conflict)</a:t>
                      </a:r>
                    </a:p>
                  </a:txBody>
                  <a:tcPr marL="82296" marR="82296" marT="36576" marB="36576" anchor="ctr">
                    <a:solidFill>
                      <a:srgbClr val="FFFFFF"/>
                    </a:solidFill>
                  </a:tcPr>
                </a:tc>
                <a:tc>
                  <a:txBody>
                    <a:bodyPr/>
                    <a:lstStyle/>
                    <a:p>
                      <a:pPr algn="l">
                        <a:lnSpc>
                          <a:spcPct val="110000"/>
                        </a:lnSpc>
                        <a:spcAft>
                          <a:spcPts val="0"/>
                        </a:spcAft>
                      </a:pPr>
                      <a:r>
                        <a:rPr lang="ko-KR" sz="960" b="1">
                          <a:solidFill>
                            <a:srgbClr val="1E2227"/>
                          </a:solidFill>
                          <a:latin typeface="맑은 고딕"/>
                          <a:ea typeface="맑은 고딕"/>
                        </a:rPr>
                        <a:t>≈ 1,213  (75%)</a:t>
                      </a:r>
                    </a:p>
                  </a:txBody>
                  <a:tcPr marL="82296" marR="82296" marT="36576" marB="36576" anchor="ctr">
                    <a:solidFill>
                      <a:srgbClr val="FFFFFF"/>
                    </a:solidFill>
                  </a:tcPr>
                </a:tc>
                <a:extLst>
                  <a:ext uri="{0D108BD9-81ED-4DB2-BD59-A6C34878D82A}">
                    <a16:rowId xmlns:a16="http://schemas.microsoft.com/office/drawing/2014/main" val="494699737"/>
                  </a:ext>
                </a:extLst>
              </a:tr>
              <a:tr h="300000">
                <a:tc>
                  <a:txBody>
                    <a:bodyPr/>
                    <a:lstStyle/>
                    <a:p>
                      <a:pPr algn="l">
                        <a:lnSpc>
                          <a:spcPct val="110000"/>
                        </a:lnSpc>
                        <a:spcAft>
                          <a:spcPts val="0"/>
                        </a:spcAft>
                      </a:pPr>
                      <a:r>
                        <a:rPr lang="ko-KR" sz="960" b="0">
                          <a:solidFill>
                            <a:srgbClr val="1E2227"/>
                          </a:solidFill>
                          <a:latin typeface="맑은 고딕"/>
                          <a:ea typeface="맑은 고딕"/>
                        </a:rPr>
                        <a:t>Total (전체)</a:t>
                      </a:r>
                    </a:p>
                  </a:txBody>
                  <a:tcPr marL="82296" marR="82296" marT="36576" marB="36576" anchor="ctr">
                    <a:solidFill>
                      <a:srgbClr val="FFFFFF"/>
                    </a:solidFill>
                  </a:tcPr>
                </a:tc>
                <a:tc>
                  <a:txBody>
                    <a:bodyPr/>
                    <a:lstStyle/>
                    <a:p>
                      <a:pPr algn="l">
                        <a:lnSpc>
                          <a:spcPct val="110000"/>
                        </a:lnSpc>
                        <a:spcAft>
                          <a:spcPts val="0"/>
                        </a:spcAft>
                      </a:pPr>
                      <a:r>
                        <a:rPr lang="ko-KR" sz="960" b="0" dirty="0">
                          <a:solidFill>
                            <a:srgbClr val="1E2227"/>
                          </a:solidFill>
                          <a:latin typeface="맑은 고딕"/>
                          <a:ea typeface="맑은 고딕"/>
                        </a:rPr>
                        <a:t>1,617</a:t>
                      </a:r>
                    </a:p>
                  </a:txBody>
                  <a:tcPr marL="82296" marR="82296" marT="36576" marB="36576" anchor="ctr">
                    <a:solidFill>
                      <a:srgbClr val="FFFFFF"/>
                    </a:solidFill>
                  </a:tcPr>
                </a:tc>
                <a:extLst>
                  <a:ext uri="{0D108BD9-81ED-4DB2-BD59-A6C34878D82A}">
                    <a16:rowId xmlns:a16="http://schemas.microsoft.com/office/drawing/2014/main" val="1240249138"/>
                  </a:ext>
                </a:extLst>
              </a:tr>
            </a:tbl>
          </a:graphicData>
        </a:graphic>
      </p:graphicFrame>
      <p:sp>
        <p:nvSpPr>
          <p:cNvPr id="16" name="TextBox 15"/>
          <p:cNvSpPr txBox="1"/>
          <p:nvPr/>
        </p:nvSpPr>
        <p:spPr>
          <a:xfrm>
            <a:off x="8110728" y="1270000"/>
            <a:ext cx="3529584" cy="274320"/>
          </a:xfrm>
          <a:prstGeom prst="rect">
            <a:avLst/>
          </a:prstGeom>
          <a:noFill/>
        </p:spPr>
        <p:txBody>
          <a:bodyPr wrap="square" lIns="91440" tIns="45720" rIns="91440" bIns="45720" anchor="t" anchorCtr="0">
            <a:spAutoFit/>
          </a:bodyPr>
          <a:lstStyle/>
          <a:p>
            <a:pPr algn="l">
              <a:lnSpc>
                <a:spcPct val="122000"/>
              </a:lnSpc>
              <a:spcAft>
                <a:spcPts val="450"/>
              </a:spcAft>
            </a:pPr>
            <a:r>
              <a:rPr sz="1400" b="1">
                <a:solidFill>
                  <a:srgbClr val="273A52"/>
                </a:solidFill>
                <a:latin typeface="맑은 고딕"/>
                <a:ea typeface="맑은 고딕"/>
              </a:rPr>
              <a:t>RAMDocs</a:t>
            </a:r>
            <a:r>
              <a:rPr sz="930" b="0">
                <a:solidFill>
                  <a:srgbClr val="6B7480"/>
                </a:solidFill>
                <a:latin typeface="맑은 고딕"/>
                <a:ea typeface="맑은 고딕"/>
              </a:rPr>
              <a:t>   Wang et al. (COLM 2025)</a:t>
            </a:r>
          </a:p>
        </p:txBody>
      </p:sp>
      <p:sp>
        <p:nvSpPr>
          <p:cNvPr id="18" name="TextBox 17"/>
          <p:cNvSpPr txBox="1"/>
          <p:nvPr/>
        </p:nvSpPr>
        <p:spPr>
          <a:xfrm>
            <a:off x="8110728" y="1645920"/>
            <a:ext cx="3529584" cy="653512"/>
          </a:xfrm>
          <a:prstGeom prst="rect">
            <a:avLst/>
          </a:prstGeom>
          <a:noFill/>
        </p:spPr>
        <p:txBody>
          <a:bodyPr wrap="square" lIns="91440" tIns="45720" rIns="91440" bIns="45720" anchor="t" anchorCtr="0">
            <a:spAutoFit/>
          </a:bodyPr>
          <a:lstStyle/>
          <a:p>
            <a:pPr algn="l">
              <a:lnSpc>
                <a:spcPct val="126000"/>
              </a:lnSpc>
              <a:spcAft>
                <a:spcPts val="450"/>
              </a:spcAft>
            </a:pPr>
            <a:r>
              <a:rPr lang="ko-KR" sz="1000" b="1" dirty="0">
                <a:solidFill>
                  <a:srgbClr val="1E2227"/>
                </a:solidFill>
                <a:latin typeface="맑은 고딕"/>
                <a:ea typeface="맑은 고딕"/>
              </a:rPr>
              <a:t>위키피디아 문서</a:t>
            </a:r>
            <a:r>
              <a:rPr lang="ko-KR" sz="1000" b="0" dirty="0">
                <a:solidFill>
                  <a:srgbClr val="1E2227"/>
                </a:solidFill>
                <a:latin typeface="맑은 고딕"/>
                <a:ea typeface="맑은 고딕"/>
              </a:rPr>
              <a:t> 기반에 오정보·노이즈를 일부러 섞음. 한 질문에 모호성(이름이 여러 대상을 가리켜 답이 여럿)·오정보·노이즈가 함께 존재.</a:t>
            </a:r>
          </a:p>
        </p:txBody>
      </p:sp>
      <p:graphicFrame>
        <p:nvGraphicFramePr>
          <p:cNvPr id="19" name="Table 18"/>
          <p:cNvGraphicFramePr>
            <a:graphicFrameLocks noGrp="1"/>
          </p:cNvGraphicFramePr>
          <p:nvPr/>
        </p:nvGraphicFramePr>
        <p:xfrm>
          <a:off x="8110728" y="2550160"/>
          <a:ext cx="3529584" cy="120000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969264">
                  <a:extLst>
                    <a:ext uri="{9D8B030D-6E8A-4147-A177-3AD203B41FA5}">
                      <a16:colId xmlns:a16="http://schemas.microsoft.com/office/drawing/2014/main" val="20001"/>
                    </a:ext>
                  </a:extLst>
                </a:gridCol>
              </a:tblGrid>
              <a:tr h="300000">
                <a:tc>
                  <a:txBody>
                    <a:bodyPr/>
                    <a:lstStyle/>
                    <a:p>
                      <a:pPr algn="ctr">
                        <a:lnSpc>
                          <a:spcPct val="114000"/>
                        </a:lnSpc>
                        <a:spcAft>
                          <a:spcPts val="200"/>
                        </a:spcAft>
                      </a:pPr>
                      <a:r>
                        <a:rPr lang="ko-KR" altLang="en-US" sz="960" b="1" dirty="0">
                          <a:solidFill>
                            <a:srgbClr val="FFFFFF"/>
                          </a:solidFill>
                          <a:latin typeface="맑은 고딕"/>
                          <a:ea typeface="맑은 고딕"/>
                        </a:rPr>
                        <a:t>충돌 유형</a:t>
                      </a:r>
                      <a:endParaRPr lang="ko-KR" sz="960" b="1" dirty="0">
                        <a:solidFill>
                          <a:srgbClr val="FFFFFF"/>
                        </a:solidFill>
                        <a:latin typeface="맑은 고딕"/>
                        <a:ea typeface="맑은 고딕"/>
                      </a:endParaRPr>
                    </a:p>
                  </a:txBody>
                  <a:tcPr marL="82296" marR="82296" marT="36576" marB="36576" anchor="ctr">
                    <a:solidFill>
                      <a:srgbClr val="273A52"/>
                    </a:solidFill>
                  </a:tcPr>
                </a:tc>
                <a:tc>
                  <a:txBody>
                    <a:bodyPr/>
                    <a:lstStyle/>
                    <a:p>
                      <a:pPr algn="ctr">
                        <a:lnSpc>
                          <a:spcPct val="114000"/>
                        </a:lnSpc>
                        <a:spcAft>
                          <a:spcPts val="200"/>
                        </a:spcAft>
                      </a:pPr>
                      <a:r>
                        <a:rPr lang="ko-KR" sz="960" b="1" dirty="0">
                          <a:solidFill>
                            <a:srgbClr val="FFFFFF"/>
                          </a:solidFill>
                          <a:latin typeface="맑은 고딕"/>
                          <a:ea typeface="맑은 고딕"/>
                        </a:rPr>
                        <a:t>적용 범위</a:t>
                      </a:r>
                    </a:p>
                  </a:txBody>
                  <a:tcPr marL="82296" marR="82296" marT="36576" marB="36576" anchor="ctr">
                    <a:solidFill>
                      <a:srgbClr val="273A52"/>
                    </a:solidFill>
                  </a:tcPr>
                </a:tc>
                <a:extLst>
                  <a:ext uri="{0D108BD9-81ED-4DB2-BD59-A6C34878D82A}">
                    <a16:rowId xmlns:a16="http://schemas.microsoft.com/office/drawing/2014/main" val="10000"/>
                  </a:ext>
                </a:extLst>
              </a:tr>
              <a:tr h="300000">
                <a:tc>
                  <a:txBody>
                    <a:bodyPr/>
                    <a:lstStyle/>
                    <a:p>
                      <a:pPr algn="l">
                        <a:lnSpc>
                          <a:spcPct val="114000"/>
                        </a:lnSpc>
                        <a:spcAft>
                          <a:spcPts val="200"/>
                        </a:spcAft>
                      </a:pPr>
                      <a:r>
                        <a:rPr lang="ko-KR" sz="960" b="1">
                          <a:solidFill>
                            <a:srgbClr val="1E7A6F"/>
                          </a:solidFill>
                          <a:latin typeface="맑은 고딕"/>
                          <a:ea typeface="맑은 고딕"/>
                        </a:rPr>
                        <a:t>Ambiguity (모호성)</a:t>
                      </a:r>
                    </a:p>
                  </a:txBody>
                  <a:tcPr marL="82296" marR="82296" marT="36576" marB="36576" anchor="ctr">
                    <a:solidFill>
                      <a:srgbClr val="FFFFFF"/>
                    </a:solidFill>
                  </a:tcPr>
                </a:tc>
                <a:tc>
                  <a:txBody>
                    <a:bodyPr/>
                    <a:lstStyle/>
                    <a:p>
                      <a:pPr algn="l">
                        <a:lnSpc>
                          <a:spcPct val="114000"/>
                        </a:lnSpc>
                        <a:spcAft>
                          <a:spcPts val="200"/>
                        </a:spcAft>
                      </a:pPr>
                      <a:r>
                        <a:rPr lang="ko-KR" sz="960" b="1">
                          <a:solidFill>
                            <a:srgbClr val="1E2227"/>
                          </a:solidFill>
                          <a:latin typeface="맑은 고딕"/>
                          <a:ea typeface="맑은 고딕"/>
                        </a:rPr>
                        <a:t>500건 전체</a:t>
                      </a:r>
                    </a:p>
                  </a:txBody>
                  <a:tcPr marL="82296" marR="82296" marT="36576" marB="36576" anchor="ctr">
                    <a:solidFill>
                      <a:srgbClr val="FFFFFF"/>
                    </a:solidFill>
                  </a:tcPr>
                </a:tc>
                <a:extLst>
                  <a:ext uri="{0D108BD9-81ED-4DB2-BD59-A6C34878D82A}">
                    <a16:rowId xmlns:a16="http://schemas.microsoft.com/office/drawing/2014/main" val="10001"/>
                  </a:ext>
                </a:extLst>
              </a:tr>
              <a:tr h="300000">
                <a:tc>
                  <a:txBody>
                    <a:bodyPr/>
                    <a:lstStyle/>
                    <a:p>
                      <a:pPr algn="l">
                        <a:lnSpc>
                          <a:spcPct val="114000"/>
                        </a:lnSpc>
                        <a:spcAft>
                          <a:spcPts val="200"/>
                        </a:spcAft>
                      </a:pPr>
                      <a:r>
                        <a:rPr lang="ko-KR" sz="960" b="1">
                          <a:solidFill>
                            <a:srgbClr val="1E7A6F"/>
                          </a:solidFill>
                          <a:latin typeface="맑은 고딕"/>
                          <a:ea typeface="맑은 고딕"/>
                        </a:rPr>
                        <a:t>Misinformation (오정보)</a:t>
                      </a:r>
                    </a:p>
                  </a:txBody>
                  <a:tcPr marL="82296" marR="82296" marT="36576" marB="36576" anchor="ctr">
                    <a:solidFill>
                      <a:srgbClr val="FFFFFF"/>
                    </a:solidFill>
                  </a:tcPr>
                </a:tc>
                <a:tc>
                  <a:txBody>
                    <a:bodyPr/>
                    <a:lstStyle/>
                    <a:p>
                      <a:pPr algn="l">
                        <a:lnSpc>
                          <a:spcPct val="114000"/>
                        </a:lnSpc>
                        <a:spcAft>
                          <a:spcPts val="200"/>
                        </a:spcAft>
                      </a:pPr>
                      <a:r>
                        <a:rPr lang="ko-KR" sz="960" b="1">
                          <a:solidFill>
                            <a:srgbClr val="1E2227"/>
                          </a:solidFill>
                          <a:latin typeface="맑은 고딕"/>
                          <a:ea typeface="맑은 고딕"/>
                        </a:rPr>
                        <a:t>500건 전체</a:t>
                      </a:r>
                    </a:p>
                  </a:txBody>
                  <a:tcPr marL="82296" marR="82296" marT="36576" marB="36576" anchor="ctr">
                    <a:solidFill>
                      <a:srgbClr val="FFFFFF"/>
                    </a:solidFill>
                  </a:tcPr>
                </a:tc>
                <a:extLst>
                  <a:ext uri="{0D108BD9-81ED-4DB2-BD59-A6C34878D82A}">
                    <a16:rowId xmlns:a16="http://schemas.microsoft.com/office/drawing/2014/main" val="3806870593"/>
                  </a:ext>
                </a:extLst>
              </a:tr>
              <a:tr h="300000">
                <a:tc>
                  <a:txBody>
                    <a:bodyPr/>
                    <a:lstStyle/>
                    <a:p>
                      <a:pPr algn="l">
                        <a:lnSpc>
                          <a:spcPct val="114000"/>
                        </a:lnSpc>
                        <a:spcAft>
                          <a:spcPts val="200"/>
                        </a:spcAft>
                      </a:pPr>
                      <a:r>
                        <a:rPr lang="ko-KR" sz="960" b="0">
                          <a:solidFill>
                            <a:srgbClr val="1E2227"/>
                          </a:solidFill>
                          <a:latin typeface="맑은 고딕"/>
                          <a:ea typeface="맑은 고딕"/>
                        </a:rPr>
                        <a:t>Total (전체 질의)</a:t>
                      </a:r>
                    </a:p>
                  </a:txBody>
                  <a:tcPr marL="82296" marR="82296" marT="36576" marB="36576" anchor="ctr">
                    <a:solidFill>
                      <a:srgbClr val="FFFFFF"/>
                    </a:solidFill>
                  </a:tcPr>
                </a:tc>
                <a:tc>
                  <a:txBody>
                    <a:bodyPr/>
                    <a:lstStyle/>
                    <a:p>
                      <a:pPr algn="l">
                        <a:lnSpc>
                          <a:spcPct val="114000"/>
                        </a:lnSpc>
                        <a:spcAft>
                          <a:spcPts val="200"/>
                        </a:spcAft>
                      </a:pPr>
                      <a:r>
                        <a:rPr lang="ko-KR" sz="960" b="0" dirty="0">
                          <a:solidFill>
                            <a:srgbClr val="1E2227"/>
                          </a:solidFill>
                          <a:latin typeface="맑은 고딕"/>
                          <a:ea typeface="맑은 고딕"/>
                        </a:rPr>
                        <a:t>500</a:t>
                      </a:r>
                    </a:p>
                  </a:txBody>
                  <a:tcPr marL="82296" marR="82296"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20" name="TextBox 19"/>
          <p:cNvSpPr txBox="1"/>
          <p:nvPr/>
        </p:nvSpPr>
        <p:spPr>
          <a:xfrm>
            <a:off x="8110728" y="4232656"/>
            <a:ext cx="3529584" cy="647357"/>
          </a:xfrm>
          <a:prstGeom prst="rect">
            <a:avLst/>
          </a:prstGeom>
          <a:noFill/>
        </p:spPr>
        <p:txBody>
          <a:bodyPr wrap="square" lIns="91440" tIns="45720" rIns="91440" bIns="45720" anchor="t" anchorCtr="0">
            <a:spAutoFit/>
          </a:bodyPr>
          <a:lstStyle/>
          <a:p>
            <a:pPr algn="l">
              <a:lnSpc>
                <a:spcPct val="130000"/>
              </a:lnSpc>
              <a:spcAft>
                <a:spcPts val="450"/>
              </a:spcAft>
            </a:pPr>
            <a:r>
              <a:rPr lang="ko-KR" sz="960" b="0" dirty="0">
                <a:solidFill>
                  <a:srgbClr val="6B7480"/>
                </a:solidFill>
                <a:latin typeface="맑은 고딕"/>
                <a:ea typeface="맑은 고딕"/>
              </a:rPr>
              <a:t>※ 한 질문에 모호성·오정보·노이즈가 한꺼번에 섞여 있어 오류 유형이 하나로 나뉘지 않음. 그래서 원본을 그대로 쓰지 않고 </a:t>
            </a:r>
            <a:r>
              <a:rPr lang="ko-KR" sz="960" b="1" dirty="0">
                <a:solidFill>
                  <a:srgbClr val="C2410C"/>
                </a:solidFill>
                <a:latin typeface="맑은 고딕"/>
                <a:ea typeface="맑은 고딕"/>
              </a:rPr>
              <a:t>데이터셋을 2개로 나눠 전처리</a:t>
            </a:r>
            <a:r>
              <a:rPr lang="ko-KR" sz="960" b="0" dirty="0">
                <a:solidFill>
                  <a:srgbClr val="6B7480"/>
                </a:solidFill>
                <a:latin typeface="맑은 고딕"/>
                <a:ea typeface="맑은 고딕"/>
              </a:rPr>
              <a:t>해서 사용.</a:t>
            </a:r>
          </a:p>
        </p:txBody>
      </p:sp>
      <p:sp>
        <p:nvSpPr>
          <p:cNvPr id="21" name="TextBox 20"/>
          <p:cNvSpPr txBox="1"/>
          <p:nvPr/>
        </p:nvSpPr>
        <p:spPr>
          <a:xfrm>
            <a:off x="548640" y="5403088"/>
            <a:ext cx="11091672" cy="294889"/>
          </a:xfrm>
          <a:prstGeom prst="rect">
            <a:avLst/>
          </a:prstGeom>
          <a:noFill/>
        </p:spPr>
        <p:txBody>
          <a:bodyPr wrap="square" lIns="91440" tIns="45720" rIns="91440" bIns="45720" anchor="t" anchorCtr="0">
            <a:spAutoFit/>
          </a:bodyPr>
          <a:lstStyle/>
          <a:p>
            <a:pPr algn="l">
              <a:lnSpc>
                <a:spcPct val="122000"/>
              </a:lnSpc>
              <a:spcAft>
                <a:spcPts val="450"/>
              </a:spcAft>
            </a:pPr>
            <a:r>
              <a:rPr sz="1200" b="0" dirty="0" err="1">
                <a:solidFill>
                  <a:srgbClr val="1E2227"/>
                </a:solidFill>
                <a:latin typeface="맑은 고딕"/>
                <a:ea typeface="맑은 고딕"/>
              </a:rPr>
              <a:t>세</a:t>
            </a:r>
            <a:r>
              <a:rPr sz="1200" b="0" dirty="0">
                <a:solidFill>
                  <a:srgbClr val="1E2227"/>
                </a:solidFill>
                <a:latin typeface="맑은 고딕"/>
                <a:ea typeface="맑은 고딕"/>
              </a:rPr>
              <a:t> </a:t>
            </a:r>
            <a:r>
              <a:rPr sz="1200" b="0" dirty="0" err="1">
                <a:solidFill>
                  <a:srgbClr val="1E2227"/>
                </a:solidFill>
                <a:latin typeface="맑은 고딕"/>
                <a:ea typeface="맑은 고딕"/>
              </a:rPr>
              <a:t>데이터셋은</a:t>
            </a:r>
            <a:r>
              <a:rPr sz="1200" b="0" dirty="0">
                <a:solidFill>
                  <a:srgbClr val="1E2227"/>
                </a:solidFill>
                <a:latin typeface="맑은 고딕"/>
                <a:ea typeface="맑은 고딕"/>
              </a:rPr>
              <a:t> </a:t>
            </a:r>
            <a:r>
              <a:rPr sz="1200" b="0" dirty="0" err="1">
                <a:solidFill>
                  <a:srgbClr val="1E2227"/>
                </a:solidFill>
                <a:latin typeface="맑은 고딕"/>
                <a:ea typeface="맑은 고딕"/>
              </a:rPr>
              <a:t>충돌</a:t>
            </a:r>
            <a:r>
              <a:rPr sz="1200" b="0" dirty="0">
                <a:solidFill>
                  <a:srgbClr val="1E2227"/>
                </a:solidFill>
                <a:latin typeface="맑은 고딕"/>
                <a:ea typeface="맑은 고딕"/>
              </a:rPr>
              <a:t> </a:t>
            </a:r>
            <a:r>
              <a:rPr sz="1200" b="0" dirty="0" err="1">
                <a:solidFill>
                  <a:srgbClr val="1E2227"/>
                </a:solidFill>
                <a:latin typeface="맑은 고딕"/>
                <a:ea typeface="맑은 고딕"/>
              </a:rPr>
              <a:t>정의·문서</a:t>
            </a:r>
            <a:r>
              <a:rPr sz="1200" b="0" dirty="0">
                <a:solidFill>
                  <a:srgbClr val="1E2227"/>
                </a:solidFill>
                <a:latin typeface="맑은 고딕"/>
                <a:ea typeface="맑은 고딕"/>
              </a:rPr>
              <a:t> </a:t>
            </a:r>
            <a:r>
              <a:rPr sz="1200" b="0" dirty="0" err="1">
                <a:solidFill>
                  <a:srgbClr val="1E2227"/>
                </a:solidFill>
                <a:latin typeface="맑은 고딕"/>
                <a:ea typeface="맑은 고딕"/>
              </a:rPr>
              <a:t>길이가</a:t>
            </a:r>
            <a:r>
              <a:rPr sz="1200" b="0" dirty="0">
                <a:solidFill>
                  <a:srgbClr val="1E2227"/>
                </a:solidFill>
                <a:latin typeface="맑은 고딕"/>
                <a:ea typeface="맑은 고딕"/>
              </a:rPr>
              <a:t> </a:t>
            </a:r>
            <a:r>
              <a:rPr sz="1200" b="0" dirty="0" err="1">
                <a:solidFill>
                  <a:srgbClr val="1E2227"/>
                </a:solidFill>
                <a:latin typeface="맑은 고딕"/>
                <a:ea typeface="맑은 고딕"/>
              </a:rPr>
              <a:t>달라</a:t>
            </a:r>
            <a:r>
              <a:rPr sz="1200" b="0" dirty="0">
                <a:solidFill>
                  <a:srgbClr val="1E2227"/>
                </a:solidFill>
                <a:latin typeface="맑은 고딕"/>
                <a:ea typeface="맑은 고딕"/>
              </a:rPr>
              <a:t> </a:t>
            </a:r>
            <a:r>
              <a:rPr sz="1200" b="1" dirty="0" err="1">
                <a:solidFill>
                  <a:srgbClr val="273A52"/>
                </a:solidFill>
                <a:latin typeface="맑은 고딕"/>
                <a:ea typeface="맑은 고딕"/>
              </a:rPr>
              <a:t>합치지</a:t>
            </a:r>
            <a:r>
              <a:rPr sz="1200" b="1" dirty="0">
                <a:solidFill>
                  <a:srgbClr val="273A52"/>
                </a:solidFill>
                <a:latin typeface="맑은 고딕"/>
                <a:ea typeface="맑은 고딕"/>
              </a:rPr>
              <a:t> </a:t>
            </a:r>
            <a:r>
              <a:rPr sz="1200" b="1" dirty="0" err="1">
                <a:solidFill>
                  <a:srgbClr val="273A52"/>
                </a:solidFill>
                <a:latin typeface="맑은 고딕"/>
                <a:ea typeface="맑은 고딕"/>
              </a:rPr>
              <a:t>않고</a:t>
            </a:r>
            <a:r>
              <a:rPr sz="1200" b="1" dirty="0">
                <a:solidFill>
                  <a:srgbClr val="273A52"/>
                </a:solidFill>
                <a:latin typeface="맑은 고딕"/>
                <a:ea typeface="맑은 고딕"/>
              </a:rPr>
              <a:t> </a:t>
            </a:r>
            <a:r>
              <a:rPr sz="1200" b="1" dirty="0" err="1">
                <a:solidFill>
                  <a:srgbClr val="273A52"/>
                </a:solidFill>
                <a:latin typeface="맑은 고딕"/>
                <a:ea typeface="맑은 고딕"/>
              </a:rPr>
              <a:t>각자</a:t>
            </a:r>
            <a:r>
              <a:rPr sz="1200" b="1" dirty="0">
                <a:solidFill>
                  <a:srgbClr val="273A52"/>
                </a:solidFill>
                <a:latin typeface="맑은 고딕"/>
                <a:ea typeface="맑은 고딕"/>
              </a:rPr>
              <a:t> </a:t>
            </a:r>
            <a:r>
              <a:rPr sz="1200" b="1" dirty="0" err="1">
                <a:solidFill>
                  <a:srgbClr val="273A52"/>
                </a:solidFill>
                <a:latin typeface="맑은 고딕"/>
                <a:ea typeface="맑은 고딕"/>
              </a:rPr>
              <a:t>분리</a:t>
            </a:r>
            <a:r>
              <a:rPr sz="1200" b="1" dirty="0">
                <a:solidFill>
                  <a:srgbClr val="273A52"/>
                </a:solidFill>
                <a:latin typeface="맑은 고딕"/>
                <a:ea typeface="맑은 고딕"/>
              </a:rPr>
              <a:t> </a:t>
            </a:r>
            <a:r>
              <a:rPr sz="1200" b="1" dirty="0" err="1">
                <a:solidFill>
                  <a:srgbClr val="273A52"/>
                </a:solidFill>
                <a:latin typeface="맑은 고딕"/>
                <a:ea typeface="맑은 고딕"/>
              </a:rPr>
              <a:t>보고</a:t>
            </a:r>
            <a:r>
              <a:rPr sz="1200" b="0" dirty="0" err="1">
                <a:solidFill>
                  <a:srgbClr val="1E2227"/>
                </a:solidFill>
                <a:latin typeface="맑은 고딕"/>
                <a:ea typeface="맑은 고딕"/>
              </a:rPr>
              <a:t>합니다</a:t>
            </a:r>
            <a:r>
              <a:rPr sz="1200" b="0" dirty="0">
                <a:solidFill>
                  <a:srgbClr val="1E2227"/>
                </a:solidFill>
                <a:latin typeface="맑은 고딕"/>
                <a:ea typeface="맑은 고딕"/>
              </a:rPr>
              <a:t> — </a:t>
            </a:r>
            <a:r>
              <a:rPr sz="1200" b="0" dirty="0" err="1">
                <a:solidFill>
                  <a:srgbClr val="1E2227"/>
                </a:solidFill>
                <a:latin typeface="맑은 고딕"/>
                <a:ea typeface="맑은 고딕"/>
              </a:rPr>
              <a:t>지표도</a:t>
            </a:r>
            <a:r>
              <a:rPr sz="1200" b="0" dirty="0">
                <a:solidFill>
                  <a:srgbClr val="1E2227"/>
                </a:solidFill>
                <a:latin typeface="맑은 고딕"/>
                <a:ea typeface="맑은 고딕"/>
              </a:rPr>
              <a:t> </a:t>
            </a:r>
            <a:r>
              <a:rPr sz="1200" b="0" dirty="0" err="1">
                <a:solidFill>
                  <a:srgbClr val="1E2227"/>
                </a:solidFill>
                <a:latin typeface="맑은 고딕"/>
                <a:ea typeface="맑은 고딕"/>
              </a:rPr>
              <a:t>데이터셋별로</a:t>
            </a:r>
            <a:r>
              <a:rPr sz="1200" b="0" dirty="0">
                <a:solidFill>
                  <a:srgbClr val="1E2227"/>
                </a:solidFill>
                <a:latin typeface="맑은 고딕"/>
                <a:ea typeface="맑은 고딕"/>
              </a:rPr>
              <a:t> </a:t>
            </a:r>
            <a:r>
              <a:rPr sz="1200" b="0" dirty="0" err="1">
                <a:solidFill>
                  <a:srgbClr val="1E2227"/>
                </a:solidFill>
                <a:latin typeface="맑은 고딕"/>
                <a:ea typeface="맑은 고딕"/>
              </a:rPr>
              <a:t>나눠</a:t>
            </a:r>
            <a:r>
              <a:rPr sz="1200" b="0" dirty="0">
                <a:solidFill>
                  <a:srgbClr val="1E2227"/>
                </a:solidFill>
                <a:latin typeface="맑은 고딕"/>
                <a:ea typeface="맑은 고딕"/>
              </a:rPr>
              <a:t> </a:t>
            </a:r>
            <a:r>
              <a:rPr sz="1200" b="0" dirty="0" err="1">
                <a:solidFill>
                  <a:srgbClr val="1E2227"/>
                </a:solidFill>
                <a:latin typeface="맑은 고딕"/>
                <a:ea typeface="맑은 고딕"/>
              </a:rPr>
              <a:t>집계</a:t>
            </a:r>
            <a:r>
              <a:rPr sz="1200" b="0" dirty="0">
                <a:solidFill>
                  <a:srgbClr val="1E2227"/>
                </a:solidFill>
                <a:latin typeface="맑은 고딕"/>
                <a:ea typeface="맑은 고딕"/>
              </a:rPr>
              <a:t> (</a:t>
            </a:r>
            <a:r>
              <a:rPr sz="1200" b="0" dirty="0" err="1">
                <a:solidFill>
                  <a:srgbClr val="1E2227"/>
                </a:solidFill>
                <a:latin typeface="맑은 고딕"/>
                <a:ea typeface="맑은 고딕"/>
              </a:rPr>
              <a:t>검정력</a:t>
            </a:r>
            <a:r>
              <a:rPr sz="1200" b="0" dirty="0">
                <a:solidFill>
                  <a:srgbClr val="1E2227"/>
                </a:solidFill>
                <a:latin typeface="맑은 고딕"/>
                <a:ea typeface="맑은 고딕"/>
              </a:rPr>
              <a:t> §3.2.3)</a:t>
            </a:r>
          </a:p>
        </p:txBody>
      </p:sp>
    </p:spTree>
    <p:extLst>
      <p:ext uri="{BB962C8B-B14F-4D97-AF65-F5344CB8AC3E}">
        <p14:creationId xmlns:p14="http://schemas.microsoft.com/office/powerpoint/2010/main" val="4118189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0" dirty="0">
                <a:solidFill>
                  <a:srgbClr val="6B7480"/>
                </a:solidFill>
                <a:latin typeface="맑은 고딕"/>
                <a:ea typeface="맑은 고딕"/>
              </a:rPr>
              <a:t>§3 방법론</a:t>
            </a:r>
            <a:r>
              <a:rPr lang="en-US" sz="1250" b="0" dirty="0">
                <a:solidFill>
                  <a:srgbClr val="B0B7C0"/>
                </a:solidFill>
                <a:latin typeface="맑은 고딕"/>
                <a:ea typeface="맑은 고딕"/>
              </a:rPr>
              <a:t>   ›   </a:t>
            </a:r>
            <a:r>
              <a:rPr lang="en-US" sz="1250" b="1" dirty="0">
                <a:solidFill>
                  <a:srgbClr val="273A52"/>
                </a:solidFill>
                <a:latin typeface="맑은 고딕"/>
                <a:ea typeface="맑은 고딕"/>
              </a:rPr>
              <a:t>§3.1 데이터</a:t>
            </a:r>
          </a:p>
        </p:txBody>
      </p:sp>
      <p:sp>
        <p:nvSpPr>
          <p:cNvPr id="3" name="TextBox 2"/>
          <p:cNvSpPr txBox="1"/>
          <p:nvPr/>
        </p:nvSpPr>
        <p:spPr>
          <a:xfrm>
            <a:off x="548640" y="585216"/>
            <a:ext cx="11091672" cy="396647"/>
          </a:xfrm>
          <a:prstGeom prst="rect">
            <a:avLst/>
          </a:prstGeom>
          <a:noFill/>
        </p:spPr>
        <p:txBody>
          <a:bodyPr wrap="square" lIns="0" tIns="0" rIns="0" bIns="0">
            <a:spAutoFit/>
          </a:bodyPr>
          <a:lstStyle/>
          <a:p>
            <a:pPr algn="l">
              <a:lnSpc>
                <a:spcPct val="122000"/>
              </a:lnSpc>
              <a:spcAft>
                <a:spcPts val="450"/>
              </a:spcAft>
            </a:pPr>
            <a:r>
              <a:rPr sz="2350" b="1" dirty="0" err="1">
                <a:solidFill>
                  <a:srgbClr val="273A52"/>
                </a:solidFill>
                <a:latin typeface="맑은 고딕"/>
                <a:ea typeface="맑은 고딕"/>
              </a:rPr>
              <a:t>데이터셋</a:t>
            </a:r>
            <a:r>
              <a:rPr sz="2350" b="1" dirty="0">
                <a:solidFill>
                  <a:srgbClr val="273A52"/>
                </a:solidFill>
                <a:latin typeface="맑은 고딕"/>
                <a:ea typeface="맑은 고딕"/>
              </a:rPr>
              <a:t> </a:t>
            </a:r>
            <a:r>
              <a:rPr sz="2350" b="1" dirty="0" err="1">
                <a:solidFill>
                  <a:srgbClr val="273A52"/>
                </a:solidFill>
                <a:latin typeface="맑은 고딕"/>
                <a:ea typeface="맑은 고딕"/>
              </a:rPr>
              <a:t>공통</a:t>
            </a:r>
            <a:r>
              <a:rPr sz="2350" b="1" dirty="0">
                <a:solidFill>
                  <a:srgbClr val="273A52"/>
                </a:solidFill>
                <a:latin typeface="맑은 고딕"/>
                <a:ea typeface="맑은 고딕"/>
              </a:rPr>
              <a:t> </a:t>
            </a:r>
            <a:r>
              <a:rPr sz="2350" b="1" dirty="0" err="1">
                <a:solidFill>
                  <a:srgbClr val="273A52"/>
                </a:solidFill>
                <a:latin typeface="맑은 고딕"/>
                <a:ea typeface="맑은 고딕"/>
              </a:rPr>
              <a:t>전처리</a:t>
            </a:r>
            <a:r>
              <a:rPr sz="2350" b="1" dirty="0">
                <a:solidFill>
                  <a:srgbClr val="273A52"/>
                </a:solidFill>
                <a:latin typeface="맑은 고딕"/>
                <a:ea typeface="맑은 고딕"/>
              </a:rPr>
              <a:t> </a:t>
            </a:r>
            <a:r>
              <a:rPr sz="2350" b="1" dirty="0" err="1">
                <a:solidFill>
                  <a:srgbClr val="273A52"/>
                </a:solidFill>
                <a:latin typeface="맑은 고딕"/>
                <a:ea typeface="맑은 고딕"/>
              </a:rPr>
              <a:t>구조</a:t>
            </a:r>
            <a:endParaRPr sz="2350" b="1" dirty="0">
              <a:solidFill>
                <a:srgbClr val="273A52"/>
              </a:solidFill>
              <a:latin typeface="맑은 고딕"/>
              <a:ea typeface="맑은 고딕"/>
            </a:endParaRP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274320"/>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11</a:t>
            </a:fld>
            <a:endParaRPr lang="en-US" altLang="ko-KR" sz="950">
              <a:solidFill>
                <a:srgbClr val="6B7480"/>
              </a:solidFill>
              <a:latin typeface="맑은 고딕"/>
              <a:ea typeface="맑은 고딕"/>
            </a:endParaRPr>
          </a:p>
        </p:txBody>
      </p:sp>
      <p:sp>
        <p:nvSpPr>
          <p:cNvPr id="230" name="labelA"/>
          <p:cNvSpPr txBox="1"/>
          <p:nvPr/>
        </p:nvSpPr>
        <p:spPr>
          <a:xfrm>
            <a:off x="546100" y="1498600"/>
            <a:ext cx="11087100" cy="254000"/>
          </a:xfrm>
          <a:prstGeom prst="rect">
            <a:avLst/>
          </a:prstGeom>
          <a:noFill/>
        </p:spPr>
        <p:txBody>
          <a:bodyPr wrap="square" lIns="0" tIns="0" rIns="0" bIns="0" anchor="t">
            <a:noAutofit/>
          </a:bodyPr>
          <a:lstStyle/>
          <a:p>
            <a:pPr algn="l"/>
            <a:r>
              <a:rPr lang="ko-KR" sz="1250" b="1" dirty="0">
                <a:solidFill>
                  <a:srgbClr val="273A52"/>
                </a:solidFill>
                <a:latin typeface="맑은 고딕"/>
                <a:ea typeface="맑은 고딕"/>
              </a:rPr>
              <a:t>공통 전처리 파이프라인</a:t>
            </a:r>
            <a:r>
              <a:rPr lang="ko-KR" sz="1100" b="0" dirty="0">
                <a:solidFill>
                  <a:srgbClr val="6B7480"/>
                </a:solidFill>
                <a:latin typeface="맑은 고딕"/>
                <a:ea typeface="맑은 고딕"/>
              </a:rPr>
              <a:t>   —   원본이 무엇이든 동일한 5단계로 정규화한다</a:t>
            </a:r>
          </a:p>
        </p:txBody>
      </p:sp>
      <p:sp>
        <p:nvSpPr>
          <p:cNvPr id="220" name="card1"/>
          <p:cNvSpPr/>
          <p:nvPr/>
        </p:nvSpPr>
        <p:spPr>
          <a:xfrm>
            <a:off x="546100" y="1879600"/>
            <a:ext cx="2006600" cy="1371600"/>
          </a:xfrm>
          <a:prstGeom prst="roundRect">
            <a:avLst>
              <a:gd name="adj" fmla="val 6000"/>
            </a:avLst>
          </a:prstGeom>
          <a:solidFill>
            <a:srgbClr val="F4F6F8"/>
          </a:solidFill>
          <a:ln w="9525">
            <a:solidFill>
              <a:srgbClr val="DCE1E7"/>
            </a:solidFill>
          </a:ln>
        </p:spPr>
        <p:txBody>
          <a:bodyPr wrap="square" lIns="114300" tIns="488950" rIns="91440" bIns="45720" anchor="t">
            <a:noAutofit/>
          </a:bodyPr>
          <a:lstStyle/>
          <a:p>
            <a:pPr algn="l">
              <a:lnSpc>
                <a:spcPct val="106000"/>
              </a:lnSpc>
              <a:spcAft>
                <a:spcPts val="300"/>
              </a:spcAft>
            </a:pPr>
            <a:r>
              <a:rPr lang="ko-KR" sz="1150" b="1" dirty="0">
                <a:solidFill>
                  <a:srgbClr val="273A52"/>
                </a:solidFill>
                <a:latin typeface="맑은 고딕"/>
                <a:ea typeface="맑은 고딕"/>
              </a:rPr>
              <a:t>원본 구조 파악</a:t>
            </a:r>
          </a:p>
          <a:p>
            <a:pPr algn="l">
              <a:lnSpc>
                <a:spcPct val="108000"/>
              </a:lnSpc>
            </a:pPr>
            <a:r>
              <a:rPr lang="ko-KR" sz="1000" b="0" dirty="0">
                <a:solidFill>
                  <a:srgbClr val="5A626C"/>
                </a:solidFill>
                <a:latin typeface="맑은 고딕"/>
                <a:ea typeface="맑은 고딕"/>
              </a:rPr>
              <a:t>데이터셋별 상이한 원본 포맷·필드 확인</a:t>
            </a:r>
          </a:p>
        </p:txBody>
      </p:sp>
      <p:sp>
        <p:nvSpPr>
          <p:cNvPr id="210" name="badge1"/>
          <p:cNvSpPr/>
          <p:nvPr/>
        </p:nvSpPr>
        <p:spPr>
          <a:xfrm>
            <a:off x="698500" y="2032000"/>
            <a:ext cx="292100" cy="292100"/>
          </a:xfrm>
          <a:prstGeom prst="ellipse">
            <a:avLst/>
          </a:prstGeom>
          <a:solidFill>
            <a:srgbClr val="273A52"/>
          </a:solidFill>
          <a:ln>
            <a:noFill/>
          </a:ln>
        </p:spPr>
        <p:txBody>
          <a:bodyPr wrap="none" lIns="0" tIns="0" rIns="0" bIns="0" anchor="ctr">
            <a:noAutofit/>
          </a:bodyPr>
          <a:lstStyle/>
          <a:p>
            <a:pPr algn="ctr"/>
            <a:r>
              <a:rPr lang="en-US" sz="1100" b="1" dirty="0">
                <a:solidFill>
                  <a:srgbClr val="FFFFFF"/>
                </a:solidFill>
                <a:latin typeface="맑은 고딕"/>
                <a:ea typeface="맑은 고딕"/>
              </a:rPr>
              <a:t>1</a:t>
            </a:r>
          </a:p>
        </p:txBody>
      </p:sp>
      <p:sp>
        <p:nvSpPr>
          <p:cNvPr id="240" name="arrow0"/>
          <p:cNvSpPr txBox="1"/>
          <p:nvPr/>
        </p:nvSpPr>
        <p:spPr>
          <a:xfrm>
            <a:off x="2571750" y="2311400"/>
            <a:ext cx="228600" cy="381000"/>
          </a:xfrm>
          <a:prstGeom prst="rect">
            <a:avLst/>
          </a:prstGeom>
          <a:noFill/>
        </p:spPr>
        <p:txBody>
          <a:bodyPr wrap="none" lIns="0" tIns="0" rIns="0" bIns="0" anchor="ctr">
            <a:noAutofit/>
          </a:bodyPr>
          <a:lstStyle/>
          <a:p>
            <a:pPr algn="ctr"/>
            <a:r>
              <a:rPr lang="en-US" sz="1800" b="1" dirty="0">
                <a:solidFill>
                  <a:srgbClr val="A4482A"/>
                </a:solidFill>
                <a:latin typeface="맑은 고딕"/>
                <a:ea typeface="맑은 고딕"/>
              </a:rPr>
              <a:t>›</a:t>
            </a:r>
          </a:p>
        </p:txBody>
      </p:sp>
      <p:sp>
        <p:nvSpPr>
          <p:cNvPr id="221" name="card2"/>
          <p:cNvSpPr/>
          <p:nvPr/>
        </p:nvSpPr>
        <p:spPr>
          <a:xfrm>
            <a:off x="2819400" y="1879600"/>
            <a:ext cx="2006600" cy="1371600"/>
          </a:xfrm>
          <a:prstGeom prst="roundRect">
            <a:avLst>
              <a:gd name="adj" fmla="val 6000"/>
            </a:avLst>
          </a:prstGeom>
          <a:solidFill>
            <a:srgbClr val="F4F6F8"/>
          </a:solidFill>
          <a:ln w="9525">
            <a:solidFill>
              <a:srgbClr val="DCE1E7"/>
            </a:solidFill>
          </a:ln>
        </p:spPr>
        <p:txBody>
          <a:bodyPr wrap="square" lIns="114300" tIns="488950" rIns="91440" bIns="45720" anchor="t">
            <a:noAutofit/>
          </a:bodyPr>
          <a:lstStyle/>
          <a:p>
            <a:pPr algn="l">
              <a:lnSpc>
                <a:spcPct val="106000"/>
              </a:lnSpc>
              <a:spcAft>
                <a:spcPts val="300"/>
              </a:spcAft>
            </a:pPr>
            <a:r>
              <a:rPr lang="ko-KR" sz="1150" b="1" dirty="0">
                <a:solidFill>
                  <a:srgbClr val="273A52"/>
                </a:solidFill>
                <a:latin typeface="맑은 고딕"/>
                <a:ea typeface="맑은 고딕"/>
              </a:rPr>
              <a:t>필드 정규화</a:t>
            </a:r>
          </a:p>
          <a:p>
            <a:pPr algn="l">
              <a:lnSpc>
                <a:spcPct val="108000"/>
              </a:lnSpc>
            </a:pPr>
            <a:r>
              <a:rPr lang="ko-KR" sz="1000" b="0" dirty="0">
                <a:solidFill>
                  <a:srgbClr val="5A626C"/>
                </a:solidFill>
                <a:latin typeface="맑은 고딕"/>
                <a:ea typeface="맑은 고딕"/>
              </a:rPr>
              <a:t>question · correct_answer · chunks[] 로 통일</a:t>
            </a:r>
          </a:p>
        </p:txBody>
      </p:sp>
      <p:sp>
        <p:nvSpPr>
          <p:cNvPr id="211" name="badge2"/>
          <p:cNvSpPr/>
          <p:nvPr/>
        </p:nvSpPr>
        <p:spPr>
          <a:xfrm>
            <a:off x="2971800" y="2032000"/>
            <a:ext cx="292100" cy="292100"/>
          </a:xfrm>
          <a:prstGeom prst="ellipse">
            <a:avLst/>
          </a:prstGeom>
          <a:solidFill>
            <a:srgbClr val="273A52"/>
          </a:solidFill>
          <a:ln>
            <a:noFill/>
          </a:ln>
        </p:spPr>
        <p:txBody>
          <a:bodyPr wrap="none" lIns="0" tIns="0" rIns="0" bIns="0" anchor="ctr">
            <a:noAutofit/>
          </a:bodyPr>
          <a:lstStyle/>
          <a:p>
            <a:pPr algn="ctr"/>
            <a:r>
              <a:rPr lang="en-US" sz="1100" b="1" dirty="0">
                <a:solidFill>
                  <a:srgbClr val="FFFFFF"/>
                </a:solidFill>
                <a:latin typeface="맑은 고딕"/>
                <a:ea typeface="맑은 고딕"/>
              </a:rPr>
              <a:t>2</a:t>
            </a:r>
          </a:p>
        </p:txBody>
      </p:sp>
      <p:sp>
        <p:nvSpPr>
          <p:cNvPr id="241" name="arrow1"/>
          <p:cNvSpPr txBox="1"/>
          <p:nvPr/>
        </p:nvSpPr>
        <p:spPr>
          <a:xfrm>
            <a:off x="4845050" y="2311400"/>
            <a:ext cx="228600" cy="381000"/>
          </a:xfrm>
          <a:prstGeom prst="rect">
            <a:avLst/>
          </a:prstGeom>
          <a:noFill/>
        </p:spPr>
        <p:txBody>
          <a:bodyPr wrap="none" lIns="0" tIns="0" rIns="0" bIns="0" anchor="ctr">
            <a:noAutofit/>
          </a:bodyPr>
          <a:lstStyle/>
          <a:p>
            <a:pPr algn="ctr"/>
            <a:r>
              <a:rPr lang="en-US" sz="1800" b="1" dirty="0">
                <a:solidFill>
                  <a:srgbClr val="A4482A"/>
                </a:solidFill>
                <a:latin typeface="맑은 고딕"/>
                <a:ea typeface="맑은 고딕"/>
              </a:rPr>
              <a:t>›</a:t>
            </a:r>
          </a:p>
        </p:txBody>
      </p:sp>
      <p:sp>
        <p:nvSpPr>
          <p:cNvPr id="222" name="card3"/>
          <p:cNvSpPr/>
          <p:nvPr/>
        </p:nvSpPr>
        <p:spPr>
          <a:xfrm>
            <a:off x="5092700" y="1879600"/>
            <a:ext cx="2006600" cy="1371600"/>
          </a:xfrm>
          <a:prstGeom prst="roundRect">
            <a:avLst>
              <a:gd name="adj" fmla="val 6000"/>
            </a:avLst>
          </a:prstGeom>
          <a:solidFill>
            <a:srgbClr val="F4F6F8"/>
          </a:solidFill>
          <a:ln w="9525">
            <a:solidFill>
              <a:srgbClr val="DCE1E7"/>
            </a:solidFill>
          </a:ln>
        </p:spPr>
        <p:txBody>
          <a:bodyPr wrap="square" lIns="114300" tIns="488950" rIns="91440" bIns="45720" anchor="t">
            <a:noAutofit/>
          </a:bodyPr>
          <a:lstStyle/>
          <a:p>
            <a:pPr algn="l">
              <a:lnSpc>
                <a:spcPct val="106000"/>
              </a:lnSpc>
              <a:spcAft>
                <a:spcPts val="300"/>
              </a:spcAft>
            </a:pPr>
            <a:r>
              <a:rPr lang="ko-KR" sz="1150" b="1" dirty="0">
                <a:solidFill>
                  <a:srgbClr val="273A52"/>
                </a:solidFill>
                <a:latin typeface="맑은 고딕"/>
                <a:ea typeface="맑은 고딕"/>
              </a:rPr>
              <a:t>청크 라벨링</a:t>
            </a:r>
          </a:p>
          <a:p>
            <a:pPr algn="l">
              <a:lnSpc>
                <a:spcPct val="108000"/>
              </a:lnSpc>
            </a:pPr>
            <a:r>
              <a:rPr lang="en-US" altLang="ko-KR" sz="1000" dirty="0">
                <a:solidFill>
                  <a:srgbClr val="5A626C"/>
                </a:solidFill>
                <a:latin typeface="맑은 고딕"/>
                <a:ea typeface="맑은 고딕"/>
              </a:rPr>
              <a:t>correct</a:t>
            </a:r>
            <a:r>
              <a:rPr lang="ko-KR" sz="1000" b="0" dirty="0">
                <a:solidFill>
                  <a:srgbClr val="5A626C"/>
                </a:solidFill>
                <a:latin typeface="맑은 고딕"/>
                <a:ea typeface="맑은 고딕"/>
              </a:rPr>
              <a:t> · </a:t>
            </a:r>
            <a:r>
              <a:rPr lang="en-US" altLang="ko-KR" sz="1000" dirty="0">
                <a:solidFill>
                  <a:srgbClr val="5A626C"/>
                </a:solidFill>
                <a:latin typeface="맑은 고딕"/>
                <a:ea typeface="맑은 고딕"/>
              </a:rPr>
              <a:t>conflict</a:t>
            </a:r>
            <a:r>
              <a:rPr lang="ko-KR" sz="1000" b="0" dirty="0">
                <a:solidFill>
                  <a:srgbClr val="5A626C"/>
                </a:solidFill>
                <a:latin typeface="맑은 고딕"/>
                <a:ea typeface="맑은 고딕"/>
              </a:rPr>
              <a:t> · noise 3분류 부여</a:t>
            </a:r>
          </a:p>
        </p:txBody>
      </p:sp>
      <p:sp>
        <p:nvSpPr>
          <p:cNvPr id="212" name="badge3"/>
          <p:cNvSpPr/>
          <p:nvPr/>
        </p:nvSpPr>
        <p:spPr>
          <a:xfrm>
            <a:off x="5245100" y="2032000"/>
            <a:ext cx="292100" cy="292100"/>
          </a:xfrm>
          <a:prstGeom prst="ellipse">
            <a:avLst/>
          </a:prstGeom>
          <a:solidFill>
            <a:srgbClr val="273A52"/>
          </a:solidFill>
          <a:ln>
            <a:noFill/>
          </a:ln>
        </p:spPr>
        <p:txBody>
          <a:bodyPr wrap="none" lIns="0" tIns="0" rIns="0" bIns="0" anchor="ctr">
            <a:noAutofit/>
          </a:bodyPr>
          <a:lstStyle/>
          <a:p>
            <a:pPr algn="ctr"/>
            <a:r>
              <a:rPr lang="en-US" sz="1100" b="1" dirty="0">
                <a:solidFill>
                  <a:srgbClr val="FFFFFF"/>
                </a:solidFill>
                <a:latin typeface="맑은 고딕"/>
                <a:ea typeface="맑은 고딕"/>
              </a:rPr>
              <a:t>3</a:t>
            </a:r>
          </a:p>
        </p:txBody>
      </p:sp>
      <p:sp>
        <p:nvSpPr>
          <p:cNvPr id="242" name="arrow2"/>
          <p:cNvSpPr txBox="1"/>
          <p:nvPr/>
        </p:nvSpPr>
        <p:spPr>
          <a:xfrm>
            <a:off x="7118350" y="2311400"/>
            <a:ext cx="228600" cy="381000"/>
          </a:xfrm>
          <a:prstGeom prst="rect">
            <a:avLst/>
          </a:prstGeom>
          <a:noFill/>
        </p:spPr>
        <p:txBody>
          <a:bodyPr wrap="none" lIns="0" tIns="0" rIns="0" bIns="0" anchor="ctr">
            <a:noAutofit/>
          </a:bodyPr>
          <a:lstStyle/>
          <a:p>
            <a:pPr algn="ctr"/>
            <a:r>
              <a:rPr lang="en-US" sz="1800" b="1" dirty="0">
                <a:solidFill>
                  <a:srgbClr val="A4482A"/>
                </a:solidFill>
                <a:latin typeface="맑은 고딕"/>
                <a:ea typeface="맑은 고딕"/>
              </a:rPr>
              <a:t>›</a:t>
            </a:r>
          </a:p>
        </p:txBody>
      </p:sp>
      <p:sp>
        <p:nvSpPr>
          <p:cNvPr id="223" name="card4"/>
          <p:cNvSpPr/>
          <p:nvPr/>
        </p:nvSpPr>
        <p:spPr>
          <a:xfrm>
            <a:off x="7366000" y="1879600"/>
            <a:ext cx="2006600" cy="1371600"/>
          </a:xfrm>
          <a:prstGeom prst="roundRect">
            <a:avLst>
              <a:gd name="adj" fmla="val 6000"/>
            </a:avLst>
          </a:prstGeom>
          <a:solidFill>
            <a:srgbClr val="F4F6F8"/>
          </a:solidFill>
          <a:ln w="9525">
            <a:solidFill>
              <a:srgbClr val="DCE1E7"/>
            </a:solidFill>
          </a:ln>
        </p:spPr>
        <p:txBody>
          <a:bodyPr wrap="square" lIns="114300" tIns="488950" rIns="91440" bIns="45720" anchor="t">
            <a:noAutofit/>
          </a:bodyPr>
          <a:lstStyle/>
          <a:p>
            <a:pPr algn="l">
              <a:lnSpc>
                <a:spcPct val="106000"/>
              </a:lnSpc>
              <a:spcAft>
                <a:spcPts val="300"/>
              </a:spcAft>
            </a:pPr>
            <a:r>
              <a:rPr lang="ko-KR" sz="1150" b="1" dirty="0">
                <a:solidFill>
                  <a:srgbClr val="273A52"/>
                </a:solidFill>
                <a:latin typeface="맑은 고딕"/>
                <a:ea typeface="맑은 고딕"/>
              </a:rPr>
              <a:t>혼합 청크 배열</a:t>
            </a:r>
          </a:p>
          <a:p>
            <a:pPr algn="l">
              <a:lnSpc>
                <a:spcPct val="108000"/>
              </a:lnSpc>
            </a:pPr>
            <a:r>
              <a:rPr lang="en-US" altLang="ko-KR" sz="1000" dirty="0">
                <a:solidFill>
                  <a:srgbClr val="5A626C"/>
                </a:solidFill>
                <a:latin typeface="맑은 고딕"/>
                <a:ea typeface="맑은 고딕"/>
              </a:rPr>
              <a:t>correct · conflict · noise 모두 chunks[]에 섞어 적재</a:t>
            </a:r>
          </a:p>
        </p:txBody>
      </p:sp>
      <p:sp>
        <p:nvSpPr>
          <p:cNvPr id="213" name="badge4"/>
          <p:cNvSpPr/>
          <p:nvPr/>
        </p:nvSpPr>
        <p:spPr>
          <a:xfrm>
            <a:off x="7518400" y="2032000"/>
            <a:ext cx="292100" cy="292100"/>
          </a:xfrm>
          <a:prstGeom prst="ellipse">
            <a:avLst/>
          </a:prstGeom>
          <a:solidFill>
            <a:srgbClr val="273A52"/>
          </a:solidFill>
          <a:ln>
            <a:noFill/>
          </a:ln>
        </p:spPr>
        <p:txBody>
          <a:bodyPr wrap="none" lIns="0" tIns="0" rIns="0" bIns="0" anchor="ctr">
            <a:noAutofit/>
          </a:bodyPr>
          <a:lstStyle/>
          <a:p>
            <a:pPr algn="ctr"/>
            <a:r>
              <a:rPr lang="en-US" sz="1100" b="1" dirty="0">
                <a:solidFill>
                  <a:srgbClr val="FFFFFF"/>
                </a:solidFill>
                <a:latin typeface="맑은 고딕"/>
                <a:ea typeface="맑은 고딕"/>
              </a:rPr>
              <a:t>4</a:t>
            </a:r>
          </a:p>
        </p:txBody>
      </p:sp>
      <p:sp>
        <p:nvSpPr>
          <p:cNvPr id="243" name="arrow3"/>
          <p:cNvSpPr txBox="1"/>
          <p:nvPr/>
        </p:nvSpPr>
        <p:spPr>
          <a:xfrm>
            <a:off x="9391650" y="2311400"/>
            <a:ext cx="228600" cy="381000"/>
          </a:xfrm>
          <a:prstGeom prst="rect">
            <a:avLst/>
          </a:prstGeom>
          <a:noFill/>
        </p:spPr>
        <p:txBody>
          <a:bodyPr wrap="none" lIns="0" tIns="0" rIns="0" bIns="0" anchor="ctr">
            <a:noAutofit/>
          </a:bodyPr>
          <a:lstStyle/>
          <a:p>
            <a:pPr algn="ctr"/>
            <a:r>
              <a:rPr lang="en-US" sz="1800" b="1" dirty="0">
                <a:solidFill>
                  <a:srgbClr val="A4482A"/>
                </a:solidFill>
                <a:latin typeface="맑은 고딕"/>
                <a:ea typeface="맑은 고딕"/>
              </a:rPr>
              <a:t>›</a:t>
            </a:r>
          </a:p>
        </p:txBody>
      </p:sp>
      <p:sp>
        <p:nvSpPr>
          <p:cNvPr id="224" name="card5"/>
          <p:cNvSpPr/>
          <p:nvPr/>
        </p:nvSpPr>
        <p:spPr>
          <a:xfrm>
            <a:off x="9639300" y="1879600"/>
            <a:ext cx="2006600" cy="1371600"/>
          </a:xfrm>
          <a:prstGeom prst="roundRect">
            <a:avLst>
              <a:gd name="adj" fmla="val 6000"/>
            </a:avLst>
          </a:prstGeom>
          <a:solidFill>
            <a:srgbClr val="F4F6F8"/>
          </a:solidFill>
          <a:ln w="9525">
            <a:solidFill>
              <a:srgbClr val="DCE1E7"/>
            </a:solidFill>
          </a:ln>
        </p:spPr>
        <p:txBody>
          <a:bodyPr wrap="square" lIns="114300" tIns="488950" rIns="91440" bIns="45720" anchor="t">
            <a:noAutofit/>
          </a:bodyPr>
          <a:lstStyle/>
          <a:p>
            <a:pPr algn="l">
              <a:lnSpc>
                <a:spcPct val="106000"/>
              </a:lnSpc>
              <a:spcAft>
                <a:spcPts val="300"/>
              </a:spcAft>
            </a:pPr>
            <a:r>
              <a:rPr lang="ko-KR" sz="1150" b="1" dirty="0">
                <a:solidFill>
                  <a:srgbClr val="273A52"/>
                </a:solidFill>
                <a:latin typeface="맑은 고딕"/>
                <a:ea typeface="맑은 고딕"/>
              </a:rPr>
              <a:t>사람 검증</a:t>
            </a:r>
          </a:p>
          <a:p>
            <a:pPr algn="l">
              <a:lnSpc>
                <a:spcPct val="108000"/>
              </a:lnSpc>
            </a:pPr>
            <a:r>
              <a:rPr lang="ko-KR" sz="1000" b="0" dirty="0">
                <a:solidFill>
                  <a:srgbClr val="5A626C"/>
                </a:solidFill>
                <a:latin typeface="맑은 고딕"/>
                <a:ea typeface="맑은 고딕"/>
              </a:rPr>
              <a:t>사실 충돌 전수 확정·교정</a:t>
            </a:r>
          </a:p>
        </p:txBody>
      </p:sp>
      <p:sp>
        <p:nvSpPr>
          <p:cNvPr id="214" name="badge5"/>
          <p:cNvSpPr/>
          <p:nvPr/>
        </p:nvSpPr>
        <p:spPr>
          <a:xfrm>
            <a:off x="9791700" y="2032000"/>
            <a:ext cx="292100" cy="292100"/>
          </a:xfrm>
          <a:prstGeom prst="ellipse">
            <a:avLst/>
          </a:prstGeom>
          <a:solidFill>
            <a:srgbClr val="273A52"/>
          </a:solidFill>
          <a:ln>
            <a:noFill/>
          </a:ln>
        </p:spPr>
        <p:txBody>
          <a:bodyPr wrap="none" lIns="0" tIns="0" rIns="0" bIns="0" anchor="ctr">
            <a:noAutofit/>
          </a:bodyPr>
          <a:lstStyle/>
          <a:p>
            <a:pPr algn="ctr"/>
            <a:r>
              <a:rPr lang="en-US" sz="1100" b="1" dirty="0">
                <a:solidFill>
                  <a:srgbClr val="FFFFFF"/>
                </a:solidFill>
                <a:latin typeface="맑은 고딕"/>
                <a:ea typeface="맑은 고딕"/>
              </a:rPr>
              <a:t>5</a:t>
            </a:r>
          </a:p>
        </p:txBody>
      </p:sp>
      <p:sp>
        <p:nvSpPr>
          <p:cNvPr id="260" name="labelB"/>
          <p:cNvSpPr txBox="1"/>
          <p:nvPr/>
        </p:nvSpPr>
        <p:spPr>
          <a:xfrm>
            <a:off x="546100" y="3505200"/>
            <a:ext cx="11087100" cy="254000"/>
          </a:xfrm>
          <a:prstGeom prst="rect">
            <a:avLst/>
          </a:prstGeom>
          <a:noFill/>
        </p:spPr>
        <p:txBody>
          <a:bodyPr wrap="square" lIns="0" tIns="0" rIns="0" bIns="0" anchor="t">
            <a:noAutofit/>
          </a:bodyPr>
          <a:lstStyle/>
          <a:p>
            <a:pPr algn="l"/>
            <a:r>
              <a:rPr lang="ko-KR" sz="1250" b="1" dirty="0">
                <a:solidFill>
                  <a:srgbClr val="273A52"/>
                </a:solidFill>
                <a:latin typeface="맑은 고딕"/>
                <a:ea typeface="맑은 고딕"/>
              </a:rPr>
              <a:t>공통 산출물</a:t>
            </a:r>
            <a:r>
              <a:rPr lang="ko-KR" sz="1100" b="0" dirty="0">
                <a:solidFill>
                  <a:srgbClr val="6B7480"/>
                </a:solidFill>
                <a:latin typeface="맑은 고딕"/>
                <a:ea typeface="맑은 고딕"/>
              </a:rPr>
              <a:t>   —   정규화 후 모든 인스턴스가 갖는 형태</a:t>
            </a:r>
          </a:p>
        </p:txBody>
      </p:sp>
      <p:sp>
        <p:nvSpPr>
          <p:cNvPr id="261" name="schemaBox"/>
          <p:cNvSpPr/>
          <p:nvPr/>
        </p:nvSpPr>
        <p:spPr>
          <a:xfrm>
            <a:off x="546100" y="3810000"/>
            <a:ext cx="5969000" cy="2667000"/>
          </a:xfrm>
          <a:prstGeom prst="roundRect">
            <a:avLst>
              <a:gd name="adj" fmla="val 5000"/>
            </a:avLst>
          </a:prstGeom>
          <a:solidFill>
            <a:srgbClr val="F4F6F8"/>
          </a:solidFill>
          <a:ln w="9525">
            <a:solidFill>
              <a:srgbClr val="DCE1E7"/>
            </a:solidFill>
          </a:ln>
        </p:spPr>
        <p:txBody>
          <a:bodyPr wrap="square" lIns="137160" tIns="76200" rIns="91440" bIns="101600" anchor="t">
            <a:noAutofit/>
          </a:bodyPr>
          <a:lstStyle/>
          <a:p>
            <a:pPr algn="l">
              <a:spcAft>
                <a:spcPts val="400"/>
              </a:spcAft>
            </a:pPr>
            <a:r>
              <a:rPr lang="ko-KR" sz="1150" b="1" dirty="0">
                <a:solidFill>
                  <a:srgbClr val="273A52"/>
                </a:solidFill>
                <a:latin typeface="맑은 고딕"/>
                <a:ea typeface="맑은 고딕"/>
              </a:rPr>
              <a:t>공통 스키마 (JSON)</a:t>
            </a:r>
          </a:p>
          <a:p>
            <a:pPr algn="l">
              <a:lnSpc>
                <a:spcPct val="113000"/>
              </a:lnSpc>
            </a:pPr>
            <a:r>
              <a:rPr lang="en-US" sz="1050" b="0" dirty="0">
                <a:solidFill>
                  <a:srgbClr val="1E2227"/>
                </a:solidFill>
                <a:latin typeface="Consolas"/>
                <a:ea typeface="맑은 고딕"/>
              </a:rPr>
              <a:t>{</a:t>
            </a:r>
          </a:p>
          <a:p>
            <a:pPr algn="l">
              <a:lnSpc>
                <a:spcPct val="113000"/>
              </a:lnSpc>
            </a:pPr>
            <a:r>
              <a:rPr lang="en-US" sz="1050" b="0" dirty="0">
                <a:solidFill>
                  <a:srgbClr val="1E2227"/>
                </a:solidFill>
                <a:latin typeface="Consolas"/>
                <a:ea typeface="맑은 고딕"/>
              </a:rPr>
              <a:t>  "dataset": "DRAGged",</a:t>
            </a:r>
          </a:p>
          <a:p>
            <a:pPr algn="l">
              <a:lnSpc>
                <a:spcPct val="113000"/>
              </a:lnSpc>
            </a:pPr>
            <a:r>
              <a:rPr lang="en-US" sz="1050" b="0" dirty="0">
                <a:solidFill>
                  <a:srgbClr val="1E2227"/>
                </a:solidFill>
                <a:latin typeface="Consolas"/>
                <a:ea typeface="맑은 고딕"/>
              </a:rPr>
              <a:t>  "question": "When does Passover begin in 2025?",</a:t>
            </a:r>
          </a:p>
          <a:p>
            <a:pPr algn="l">
              <a:lnSpc>
                <a:spcPct val="113000"/>
              </a:lnSpc>
            </a:pPr>
            <a:r>
              <a:rPr lang="en-US" sz="1050" b="0" dirty="0">
                <a:solidFill>
                  <a:srgbClr val="1E2227"/>
                </a:solidFill>
                <a:latin typeface="Consolas"/>
                <a:ea typeface="맑은 고딕"/>
              </a:rPr>
              <a:t>  "</a:t>
            </a:r>
            <a:r>
              <a:rPr lang="en-US" sz="1050" b="0" dirty="0" err="1">
                <a:solidFill>
                  <a:srgbClr val="1E2227"/>
                </a:solidFill>
                <a:latin typeface="Consolas"/>
                <a:ea typeface="맑은 고딕"/>
              </a:rPr>
              <a:t>correct_answers</a:t>
            </a:r>
            <a:r>
              <a:rPr lang="en-US" sz="1050" b="0" dirty="0">
                <a:solidFill>
                  <a:srgbClr val="1E2227"/>
                </a:solidFill>
                <a:latin typeface="Consolas"/>
                <a:ea typeface="맑은 고딕"/>
              </a:rPr>
              <a:t>": ["sundown, Sat April 12, 2025”],</a:t>
            </a:r>
            <a:r>
              <a:rPr lang="ko-KR" sz="1000" b="0" dirty="0">
                <a:solidFill>
                  <a:srgbClr val="9AA3AD"/>
                </a:solidFill>
                <a:latin typeface="Consolas"/>
                <a:ea typeface="맑은 고딕"/>
              </a:rPr>
              <a:t>  // 복수 정답은 배열</a:t>
            </a:r>
          </a:p>
          <a:p>
            <a:pPr algn="l">
              <a:lnSpc>
                <a:spcPct val="113000"/>
              </a:lnSpc>
            </a:pPr>
            <a:r>
              <a:rPr lang="en-US" sz="1050" b="0" dirty="0">
                <a:solidFill>
                  <a:srgbClr val="1E2227"/>
                </a:solidFill>
                <a:latin typeface="Consolas"/>
                <a:ea typeface="맑은 고딕"/>
              </a:rPr>
              <a:t>  "conflict_type": </a:t>
            </a:r>
            <a:r>
              <a:rPr lang="en-US" sz="1050" b="0" dirty="0">
                <a:solidFill>
                  <a:srgbClr val="C2410C"/>
                </a:solidFill>
                <a:latin typeface="Consolas"/>
                <a:ea typeface="맑은 고딕"/>
              </a:rPr>
              <a:t>“</a:t>
            </a:r>
            <a:r>
              <a:rPr lang="en-US" sz="1050" b="1" dirty="0">
                <a:solidFill>
                  <a:srgbClr val="C2410C"/>
                </a:solidFill>
                <a:latin typeface="Consolas"/>
                <a:ea typeface="맑은 고딕"/>
              </a:rPr>
              <a:t>Outdated</a:t>
            </a:r>
            <a:r>
              <a:rPr lang="en-US" sz="1050" dirty="0">
                <a:solidFill>
                  <a:srgbClr val="C2410C"/>
                </a:solidFill>
                <a:latin typeface="Consolas"/>
                <a:ea typeface="맑은 고딕"/>
              </a:rPr>
              <a:t>”</a:t>
            </a:r>
            <a:r>
              <a:rPr lang="en-US" sz="1050" b="0" dirty="0">
                <a:solidFill>
                  <a:srgbClr val="1E2227"/>
                </a:solidFill>
                <a:latin typeface="Consolas"/>
                <a:ea typeface="맑은 고딕"/>
              </a:rPr>
              <a:t>,</a:t>
            </a:r>
          </a:p>
          <a:p>
            <a:pPr algn="l">
              <a:lnSpc>
                <a:spcPct val="113000"/>
              </a:lnSpc>
            </a:pPr>
            <a:r>
              <a:rPr lang="ko-KR" sz="1000" b="0" dirty="0">
                <a:solidFill>
                  <a:srgbClr val="9AA3AD"/>
                </a:solidFill>
                <a:latin typeface="Consolas"/>
                <a:ea typeface="맑은 고딕"/>
              </a:rPr>
              <a:t>  // 5개 라벨 중 하나로 통일 부여</a:t>
            </a:r>
          </a:p>
          <a:p>
            <a:pPr algn="l">
              <a:lnSpc>
                <a:spcPct val="113000"/>
              </a:lnSpc>
            </a:pPr>
            <a:r>
              <a:rPr lang="en-US" sz="1050" b="0" dirty="0">
                <a:solidFill>
                  <a:srgbClr val="1E2227"/>
                </a:solidFill>
                <a:latin typeface="Consolas"/>
                <a:ea typeface="맑은 고딕"/>
              </a:rPr>
              <a:t>  "chunks": [</a:t>
            </a:r>
          </a:p>
          <a:p>
            <a:pPr algn="l">
              <a:lnSpc>
                <a:spcPct val="113000"/>
              </a:lnSpc>
            </a:pPr>
            <a:r>
              <a:rPr lang="en-US" sz="1050" b="0" dirty="0">
                <a:solidFill>
                  <a:srgbClr val="1E2227"/>
                </a:solidFill>
                <a:latin typeface="Consolas"/>
                <a:ea typeface="맑은 고딕"/>
              </a:rPr>
              <a:t>    { "id":"c1", "text":"...begins April 12, 2025", "label":</a:t>
            </a:r>
            <a:r>
              <a:rPr lang="en-US" sz="1050" b="1" dirty="0">
                <a:solidFill>
                  <a:srgbClr val="C2410C"/>
                </a:solidFill>
                <a:latin typeface="Consolas"/>
                <a:ea typeface="맑은 고딕"/>
              </a:rPr>
              <a:t>"correct"</a:t>
            </a:r>
            <a:r>
              <a:rPr lang="en-US" sz="1050" b="0" dirty="0">
                <a:solidFill>
                  <a:srgbClr val="1E2227"/>
                </a:solidFill>
                <a:latin typeface="Consolas"/>
                <a:ea typeface="맑은 고딕"/>
              </a:rPr>
              <a:t> },</a:t>
            </a:r>
          </a:p>
          <a:p>
            <a:pPr algn="l">
              <a:lnSpc>
                <a:spcPct val="113000"/>
              </a:lnSpc>
            </a:pPr>
            <a:r>
              <a:rPr lang="en-US" sz="1050" b="0" dirty="0">
                <a:solidFill>
                  <a:srgbClr val="1E2227"/>
                </a:solidFill>
                <a:latin typeface="Consolas"/>
                <a:ea typeface="맑은 고딕"/>
              </a:rPr>
              <a:t>    { "id":"c2", "text":"...starts April 22 (2024)", "label":</a:t>
            </a:r>
            <a:r>
              <a:rPr lang="en-US" sz="1050" b="1" dirty="0">
                <a:solidFill>
                  <a:srgbClr val="C2410C"/>
                </a:solidFill>
                <a:latin typeface="Consolas"/>
                <a:ea typeface="맑은 고딕"/>
              </a:rPr>
              <a:t>"conflict"</a:t>
            </a:r>
            <a:r>
              <a:rPr lang="en-US" sz="1050" b="0" dirty="0">
                <a:solidFill>
                  <a:srgbClr val="1E2227"/>
                </a:solidFill>
                <a:latin typeface="Consolas"/>
                <a:ea typeface="맑은 고딕"/>
              </a:rPr>
              <a:t> },</a:t>
            </a:r>
          </a:p>
          <a:p>
            <a:pPr algn="l">
              <a:lnSpc>
                <a:spcPct val="113000"/>
              </a:lnSpc>
            </a:pPr>
            <a:r>
              <a:rPr lang="en-US" sz="1050" b="0" dirty="0">
                <a:solidFill>
                  <a:srgbClr val="1E2227"/>
                </a:solidFill>
                <a:latin typeface="Consolas"/>
                <a:ea typeface="맑은 고딕"/>
              </a:rPr>
              <a:t>    { "id":"c3", "text":"...spring travel deals", "label":</a:t>
            </a:r>
            <a:r>
              <a:rPr lang="en-US" sz="1050" b="1" dirty="0">
                <a:solidFill>
                  <a:srgbClr val="C2410C"/>
                </a:solidFill>
                <a:latin typeface="Consolas"/>
                <a:ea typeface="맑은 고딕"/>
              </a:rPr>
              <a:t>"noise"</a:t>
            </a:r>
            <a:r>
              <a:rPr lang="en-US" sz="1050" b="0" dirty="0">
                <a:solidFill>
                  <a:srgbClr val="1E2227"/>
                </a:solidFill>
                <a:latin typeface="Consolas"/>
                <a:ea typeface="맑은 고딕"/>
              </a:rPr>
              <a:t> }</a:t>
            </a:r>
          </a:p>
          <a:p>
            <a:pPr algn="l">
              <a:lnSpc>
                <a:spcPct val="113000"/>
              </a:lnSpc>
            </a:pPr>
            <a:r>
              <a:rPr lang="en-US" sz="1050" b="0" dirty="0">
                <a:solidFill>
                  <a:srgbClr val="1E2227"/>
                </a:solidFill>
                <a:latin typeface="Consolas"/>
                <a:ea typeface="맑은 고딕"/>
              </a:rPr>
              <a:t>  ]</a:t>
            </a:r>
          </a:p>
          <a:p>
            <a:pPr algn="l">
              <a:lnSpc>
                <a:spcPct val="113000"/>
              </a:lnSpc>
            </a:pPr>
            <a:r>
              <a:rPr lang="en-US" sz="1050" b="0" dirty="0">
                <a:solidFill>
                  <a:srgbClr val="1E2227"/>
                </a:solidFill>
                <a:latin typeface="Consolas"/>
                <a:ea typeface="맑은 고딕"/>
              </a:rPr>
              <a:t>}</a:t>
            </a:r>
          </a:p>
        </p:txBody>
      </p:sp>
      <p:sp>
        <p:nvSpPr>
          <p:cNvPr id="5" name="rulePanel">
            <a:extLst>
              <a:ext uri="{FF2B5EF4-FFF2-40B4-BE49-F238E27FC236}">
                <a16:creationId xmlns:a16="http://schemas.microsoft.com/office/drawing/2014/main" id="{83F3A316-A38F-9943-9207-5177A6C28EB3}"/>
              </a:ext>
            </a:extLst>
          </p:cNvPr>
          <p:cNvSpPr/>
          <p:nvPr/>
        </p:nvSpPr>
        <p:spPr>
          <a:xfrm>
            <a:off x="6769100" y="3810000"/>
            <a:ext cx="4864100" cy="2667000"/>
          </a:xfrm>
          <a:prstGeom prst="rect">
            <a:avLst/>
          </a:prstGeom>
          <a:noFill/>
          <a:ln w="9525" cap="flat" cmpd="sng" algn="ctr">
            <a:solidFill>
              <a:srgbClr val="DCE1E7"/>
            </a:solidFill>
            <a:prstDash val="solid"/>
          </a:ln>
          <a:effectLst/>
        </p:spPr>
        <p:style>
          <a:lnRef idx="1">
            <a:schemeClr val="accent1"/>
          </a:lnRef>
          <a:fillRef idx="3">
            <a:schemeClr val="accent1"/>
          </a:fillRef>
          <a:effectRef idx="2">
            <a:schemeClr val="accent1"/>
          </a:effectRef>
          <a:fontRef idx="minor">
            <a:schemeClr val="lt1"/>
          </a:fontRef>
        </p:style>
        <p:txBody>
          <a:bodyPr vertOverflow="clip" horzOverflow="clip" wrap="square" lIns="152400" tIns="127000" rIns="152400" bIns="101600" rtlCol="0" anchor="t" anchorCtr="0"/>
          <a:lstStyle/>
          <a:p>
            <a:pPr algn="l">
              <a:spcAft>
                <a:spcPts val="300"/>
              </a:spcAft>
            </a:pPr>
            <a:r>
              <a:rPr lang="ko-KR" sz="1200" b="1" dirty="0">
                <a:solidFill>
                  <a:srgbClr val="273A52"/>
                </a:solidFill>
                <a:latin typeface="맑은 고딕"/>
                <a:ea typeface="맑은 고딕"/>
              </a:rPr>
              <a:t>공통 처리 규약</a:t>
            </a:r>
          </a:p>
          <a:p>
            <a:pPr marL="200025" indent="-200025" algn="l">
              <a:lnSpc>
                <a:spcPct val="110000"/>
              </a:lnSpc>
              <a:spcBef>
                <a:spcPts val="300"/>
              </a:spcBef>
              <a:buFont typeface="Arial"/>
              <a:buChar char="•"/>
            </a:pPr>
            <a:r>
              <a:rPr lang="ko-KR" sz="1200" b="1" dirty="0">
                <a:solidFill>
                  <a:srgbClr val="C2410C"/>
                </a:solidFill>
                <a:latin typeface="맑은 고딕"/>
                <a:ea typeface="맑은 고딕"/>
              </a:rPr>
              <a:t>청크 필드</a:t>
            </a:r>
            <a:r>
              <a:rPr lang="ko-KR" sz="1200" b="0" dirty="0">
                <a:solidFill>
                  <a:srgbClr val="1E2227"/>
                </a:solidFill>
                <a:latin typeface="맑은 고딕"/>
                <a:ea typeface="맑은 고딕"/>
              </a:rPr>
              <a:t> — </a:t>
            </a:r>
            <a:r>
              <a:rPr lang="ko-KR" sz="1200" b="1" dirty="0">
                <a:solidFill>
                  <a:srgbClr val="1E2227"/>
                </a:solidFill>
                <a:latin typeface="맑은 고딕"/>
                <a:ea typeface="맑은 고딕"/>
              </a:rPr>
              <a:t>id · label · text</a:t>
            </a:r>
            <a:r>
              <a:rPr lang="ko-KR" sz="1200" b="0" dirty="0">
                <a:solidFill>
                  <a:srgbClr val="1E2227"/>
                </a:solidFill>
                <a:latin typeface="맑은 고딕"/>
                <a:ea typeface="맑은 고딕"/>
              </a:rPr>
              <a:t> 만 공통 부여, 그 외 필드는 원본 그대로 보존</a:t>
            </a:r>
          </a:p>
          <a:p>
            <a:pPr marL="200025" indent="-200025" algn="l">
              <a:lnSpc>
                <a:spcPct val="110000"/>
              </a:lnSpc>
              <a:spcBef>
                <a:spcPts val="300"/>
              </a:spcBef>
              <a:buFont typeface="Arial"/>
              <a:buChar char="•"/>
            </a:pPr>
            <a:r>
              <a:rPr lang="ko-KR" sz="1200" b="1" dirty="0">
                <a:solidFill>
                  <a:srgbClr val="C2410C"/>
                </a:solidFill>
                <a:latin typeface="맑은 고딕"/>
                <a:ea typeface="맑은 고딕"/>
              </a:rPr>
              <a:t>문서 길이</a:t>
            </a:r>
            <a:r>
              <a:rPr lang="ko-KR" sz="1200" b="0" dirty="0">
                <a:solidFill>
                  <a:srgbClr val="1E2227"/>
                </a:solidFill>
                <a:latin typeface="맑은 고딕"/>
                <a:ea typeface="맑은 고딕"/>
              </a:rPr>
              <a:t> — chunks[]에서 파생, 필요 시 회귀 공변량으로 사용</a:t>
            </a:r>
          </a:p>
          <a:p>
            <a:pPr marL="200025" indent="-200025" algn="l">
              <a:lnSpc>
                <a:spcPct val="110000"/>
              </a:lnSpc>
              <a:spcBef>
                <a:spcPts val="300"/>
              </a:spcBef>
              <a:buFont typeface="Arial"/>
              <a:buChar char="•"/>
            </a:pPr>
            <a:r>
              <a:rPr lang="ko-KR" sz="1200" b="1" dirty="0" err="1">
                <a:solidFill>
                  <a:srgbClr val="C2410C"/>
                </a:solidFill>
                <a:latin typeface="Consolas"/>
                <a:ea typeface="맑은 고딕"/>
              </a:rPr>
              <a:t>conflict_type</a:t>
            </a:r>
            <a:r>
              <a:rPr lang="ko-KR" sz="1200" b="0" dirty="0">
                <a:solidFill>
                  <a:srgbClr val="1E2227"/>
                </a:solidFill>
                <a:latin typeface="맑은 고딕"/>
                <a:ea typeface="맑은 고딕"/>
              </a:rPr>
              <a:t> — 아래 5개 라벨 중 하나로 통일 부여 </a:t>
            </a:r>
            <a:r>
              <a:rPr lang="ko-KR" sz="1050" b="0" dirty="0" err="1">
                <a:solidFill>
                  <a:srgbClr val="4A5560"/>
                </a:solidFill>
                <a:latin typeface="맑은 고딕"/>
                <a:ea typeface="맑은 고딕"/>
              </a:rPr>
              <a:t>DRAGged</a:t>
            </a:r>
            <a:r>
              <a:rPr lang="ko-KR" sz="1050" b="0" dirty="0">
                <a:solidFill>
                  <a:srgbClr val="4A5560"/>
                </a:solidFill>
                <a:latin typeface="맑은 고딕"/>
                <a:ea typeface="맑은 고딕"/>
              </a:rPr>
              <a:t> = native(전문가) · RAMDocs·QACC = assign(</a:t>
            </a:r>
            <a:r>
              <a:rPr lang="ko-KR" sz="1050" b="0" dirty="0" err="1">
                <a:solidFill>
                  <a:srgbClr val="4A5560"/>
                </a:solidFill>
                <a:latin typeface="맑은 고딕"/>
                <a:ea typeface="맑은 고딕"/>
              </a:rPr>
              <a:t>LLM+인간</a:t>
            </a:r>
            <a:r>
              <a:rPr lang="ko-KR" sz="1050" b="0" dirty="0">
                <a:solidFill>
                  <a:srgbClr val="4A5560"/>
                </a:solidFill>
                <a:latin typeface="맑은 고딕"/>
                <a:ea typeface="맑은 고딕"/>
              </a:rPr>
              <a:t>)</a:t>
            </a:r>
            <a:endParaRPr lang="en-US" altLang="ko-KR" sz="1050" b="0" dirty="0">
              <a:solidFill>
                <a:srgbClr val="4A5560"/>
              </a:solidFill>
              <a:latin typeface="맑은 고딕"/>
              <a:ea typeface="맑은 고딕"/>
            </a:endParaRPr>
          </a:p>
          <a:p>
            <a:pPr marL="628650" lvl="1" indent="-171450">
              <a:spcAft>
                <a:spcPts val="100"/>
              </a:spcAft>
              <a:buFont typeface="Arial" panose="020B0604020202020204" pitchFamily="34" charset="0"/>
              <a:buChar char="•"/>
            </a:pPr>
            <a:r>
              <a:rPr lang="en-US" altLang="ko-KR" sz="1050" b="1" dirty="0">
                <a:solidFill>
                  <a:schemeClr val="tx1"/>
                </a:solidFill>
                <a:latin typeface="맑은 고딕"/>
                <a:ea typeface="맑은 고딕"/>
              </a:rPr>
              <a:t>No conflict</a:t>
            </a:r>
            <a:r>
              <a:rPr lang="ko-KR" altLang="ko-KR" sz="1050" dirty="0">
                <a:solidFill>
                  <a:schemeClr val="tx1"/>
                </a:solidFill>
                <a:latin typeface="맑은 고딕"/>
                <a:ea typeface="맑은 고딕"/>
              </a:rPr>
              <a:t> </a:t>
            </a:r>
            <a:r>
              <a:rPr lang="ko-KR" altLang="ko-KR" sz="1050" dirty="0">
                <a:solidFill>
                  <a:srgbClr val="5A626C"/>
                </a:solidFill>
                <a:latin typeface="맑은 고딕"/>
                <a:ea typeface="맑은 고딕"/>
              </a:rPr>
              <a:t>(</a:t>
            </a:r>
            <a:r>
              <a:rPr lang="ko-KR" altLang="ko-KR" sz="1050" dirty="0" err="1">
                <a:solidFill>
                  <a:srgbClr val="5A626C"/>
                </a:solidFill>
                <a:latin typeface="맑은 고딕"/>
                <a:ea typeface="맑은 고딕"/>
              </a:rPr>
              <a:t>무충돌</a:t>
            </a:r>
            <a:r>
              <a:rPr lang="ko-KR" altLang="ko-KR" sz="1050" dirty="0">
                <a:solidFill>
                  <a:srgbClr val="5A626C"/>
                </a:solidFill>
                <a:latin typeface="맑은 고딕"/>
                <a:ea typeface="맑은 고딕"/>
              </a:rPr>
              <a:t> · 문서들이 동일한 답)</a:t>
            </a:r>
          </a:p>
          <a:p>
            <a:pPr marL="628650" lvl="1" indent="-171450">
              <a:spcAft>
                <a:spcPts val="100"/>
              </a:spcAft>
              <a:buFont typeface="Arial" panose="020B0604020202020204" pitchFamily="34" charset="0"/>
              <a:buChar char="•"/>
            </a:pPr>
            <a:r>
              <a:rPr lang="en-US" altLang="ko-KR" sz="1050" b="1" dirty="0">
                <a:solidFill>
                  <a:schemeClr val="tx1"/>
                </a:solidFill>
                <a:latin typeface="맑은 고딕"/>
                <a:ea typeface="맑은 고딕"/>
              </a:rPr>
              <a:t>Complementary</a:t>
            </a:r>
            <a:r>
              <a:rPr lang="ko-KR" altLang="ko-KR" sz="1050" dirty="0">
                <a:solidFill>
                  <a:srgbClr val="5A626C"/>
                </a:solidFill>
                <a:latin typeface="맑은 고딕"/>
                <a:ea typeface="맑은 고딕"/>
              </a:rPr>
              <a:t> (상보 정보 · </a:t>
            </a:r>
            <a:r>
              <a:rPr lang="ko-KR" altLang="ko-KR" sz="1050" dirty="0" err="1">
                <a:solidFill>
                  <a:srgbClr val="5A626C"/>
                </a:solidFill>
                <a:latin typeface="맑은 고딕"/>
                <a:ea typeface="맑은 고딕"/>
              </a:rPr>
              <a:t>부분·양립</a:t>
            </a:r>
            <a:r>
              <a:rPr lang="ko-KR" altLang="ko-KR" sz="1050" dirty="0">
                <a:solidFill>
                  <a:srgbClr val="5A626C"/>
                </a:solidFill>
                <a:latin typeface="맑은 고딕"/>
                <a:ea typeface="맑은 고딕"/>
              </a:rPr>
              <a:t> 정보 종합)</a:t>
            </a:r>
          </a:p>
          <a:p>
            <a:pPr marL="628650" lvl="1" indent="-171450">
              <a:spcAft>
                <a:spcPts val="100"/>
              </a:spcAft>
              <a:buFont typeface="Arial" panose="020B0604020202020204" pitchFamily="34" charset="0"/>
              <a:buChar char="•"/>
            </a:pPr>
            <a:r>
              <a:rPr lang="en-US" altLang="ko-KR" sz="1050" b="1" dirty="0">
                <a:solidFill>
                  <a:schemeClr val="tx1"/>
                </a:solidFill>
                <a:latin typeface="맑은 고딕"/>
                <a:ea typeface="맑은 고딕"/>
              </a:rPr>
              <a:t>Conflicting opinions</a:t>
            </a:r>
            <a:r>
              <a:rPr lang="ko-KR" altLang="ko-KR" sz="1050" dirty="0">
                <a:solidFill>
                  <a:schemeClr val="tx1"/>
                </a:solidFill>
                <a:latin typeface="맑은 고딕"/>
                <a:ea typeface="맑은 고딕"/>
              </a:rPr>
              <a:t> </a:t>
            </a:r>
            <a:r>
              <a:rPr lang="ko-KR" altLang="ko-KR" sz="1050" dirty="0">
                <a:solidFill>
                  <a:srgbClr val="5A626C"/>
                </a:solidFill>
                <a:latin typeface="맑은 고딕"/>
                <a:ea typeface="맑은 고딕"/>
              </a:rPr>
              <a:t>(상충 의견 · </a:t>
            </a:r>
            <a:r>
              <a:rPr lang="ko-KR" altLang="ko-KR" sz="1050" dirty="0" err="1">
                <a:solidFill>
                  <a:srgbClr val="5A626C"/>
                </a:solidFill>
                <a:latin typeface="맑은 고딕"/>
                <a:ea typeface="맑은 고딕"/>
              </a:rPr>
              <a:t>주관·상반된</a:t>
            </a:r>
            <a:r>
              <a:rPr lang="ko-KR" altLang="ko-KR" sz="1050" dirty="0">
                <a:solidFill>
                  <a:srgbClr val="5A626C"/>
                </a:solidFill>
                <a:latin typeface="맑은 고딕"/>
                <a:ea typeface="맑은 고딕"/>
              </a:rPr>
              <a:t> 연구)</a:t>
            </a:r>
          </a:p>
          <a:p>
            <a:pPr marL="628650" lvl="1" indent="-171450">
              <a:spcAft>
                <a:spcPts val="100"/>
              </a:spcAft>
              <a:buFont typeface="Arial" panose="020B0604020202020204" pitchFamily="34" charset="0"/>
              <a:buChar char="•"/>
            </a:pPr>
            <a:r>
              <a:rPr lang="en-US" altLang="ko-KR" sz="1050" b="1" dirty="0">
                <a:solidFill>
                  <a:schemeClr val="tx1"/>
                </a:solidFill>
                <a:latin typeface="맑은 고딕"/>
                <a:ea typeface="맑은 고딕"/>
              </a:rPr>
              <a:t>Outdated</a:t>
            </a:r>
            <a:r>
              <a:rPr lang="ko-KR" altLang="ko-KR" sz="1050" dirty="0">
                <a:solidFill>
                  <a:srgbClr val="5A626C"/>
                </a:solidFill>
                <a:latin typeface="맑은 고딕"/>
                <a:ea typeface="맑은 고딕"/>
              </a:rPr>
              <a:t> (시효 · 시간에 따라 정답이 바뀜)</a:t>
            </a:r>
          </a:p>
          <a:p>
            <a:pPr marL="628650" lvl="1" indent="-171450">
              <a:spcAft>
                <a:spcPts val="100"/>
              </a:spcAft>
              <a:buFont typeface="Arial" panose="020B0604020202020204" pitchFamily="34" charset="0"/>
              <a:buChar char="•"/>
            </a:pPr>
            <a:r>
              <a:rPr lang="en-US" altLang="ko-KR" sz="1050" b="1" dirty="0">
                <a:solidFill>
                  <a:schemeClr val="tx1"/>
                </a:solidFill>
                <a:latin typeface="맑은 고딕"/>
                <a:ea typeface="맑은 고딕"/>
              </a:rPr>
              <a:t>Misinformation</a:t>
            </a:r>
            <a:r>
              <a:rPr lang="ko-KR" altLang="ko-KR" sz="1050" dirty="0">
                <a:solidFill>
                  <a:srgbClr val="5A626C"/>
                </a:solidFill>
                <a:latin typeface="맑은 고딕"/>
                <a:ea typeface="맑은 고딕"/>
              </a:rPr>
              <a:t> (</a:t>
            </a:r>
            <a:r>
              <a:rPr lang="ko-KR" altLang="ko-KR" sz="1050" dirty="0" err="1">
                <a:solidFill>
                  <a:srgbClr val="5A626C"/>
                </a:solidFill>
                <a:latin typeface="맑은 고딕"/>
                <a:ea typeface="맑은 고딕"/>
              </a:rPr>
              <a:t>오정보</a:t>
            </a:r>
            <a:r>
              <a:rPr lang="ko-KR" altLang="ko-KR" sz="1050" dirty="0">
                <a:solidFill>
                  <a:srgbClr val="5A626C"/>
                </a:solidFill>
                <a:latin typeface="맑은 고딕"/>
                <a:ea typeface="맑은 고딕"/>
              </a:rPr>
              <a:t> · 일부 문서가 오류)</a:t>
            </a:r>
          </a:p>
          <a:p>
            <a:pPr algn="l">
              <a:lnSpc>
                <a:spcPct val="110000"/>
              </a:lnSpc>
              <a:spcBef>
                <a:spcPts val="300"/>
              </a:spcBef>
            </a:pPr>
            <a:endParaRPr lang="ko-KR" sz="1050" b="0" dirty="0">
              <a:solidFill>
                <a:srgbClr val="4A5560"/>
              </a:solidFill>
              <a:latin typeface="맑은 고딕"/>
              <a:ea typeface="맑은 고딕"/>
            </a:endParaRPr>
          </a:p>
        </p:txBody>
      </p:sp>
    </p:spTree>
    <p:extLst>
      <p:ext uri="{BB962C8B-B14F-4D97-AF65-F5344CB8AC3E}">
        <p14:creationId xmlns:p14="http://schemas.microsoft.com/office/powerpoint/2010/main" val="2119687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0" dirty="0">
                <a:solidFill>
                  <a:srgbClr val="6B7480"/>
                </a:solidFill>
                <a:latin typeface="맑은 고딕"/>
                <a:ea typeface="맑은 고딕"/>
              </a:rPr>
              <a:t>§3 방법론</a:t>
            </a:r>
            <a:r>
              <a:rPr lang="en-US" sz="1250" b="0" dirty="0">
                <a:solidFill>
                  <a:srgbClr val="B0B7C0"/>
                </a:solidFill>
                <a:latin typeface="맑은 고딕"/>
                <a:ea typeface="맑은 고딕"/>
              </a:rPr>
              <a:t>   ›   </a:t>
            </a:r>
            <a:r>
              <a:rPr lang="en-US" sz="1250" b="1" dirty="0">
                <a:solidFill>
                  <a:srgbClr val="273A52"/>
                </a:solidFill>
                <a:latin typeface="맑은 고딕"/>
                <a:ea typeface="맑은 고딕"/>
              </a:rPr>
              <a:t>§3.1 데이터</a:t>
            </a:r>
          </a:p>
        </p:txBody>
      </p:sp>
      <p:sp>
        <p:nvSpPr>
          <p:cNvPr id="3" name="TextBox 2"/>
          <p:cNvSpPr txBox="1"/>
          <p:nvPr/>
        </p:nvSpPr>
        <p:spPr>
          <a:xfrm>
            <a:off x="548640" y="585216"/>
            <a:ext cx="11091672" cy="396647"/>
          </a:xfrm>
          <a:prstGeom prst="rect">
            <a:avLst/>
          </a:prstGeom>
          <a:noFill/>
        </p:spPr>
        <p:txBody>
          <a:bodyPr wrap="square" lIns="0" tIns="0" rIns="0" bIns="0">
            <a:spAutoFit/>
          </a:bodyPr>
          <a:lstStyle/>
          <a:p>
            <a:pPr algn="l">
              <a:lnSpc>
                <a:spcPct val="122000"/>
              </a:lnSpc>
              <a:spcAft>
                <a:spcPts val="450"/>
              </a:spcAft>
            </a:pPr>
            <a:r>
              <a:rPr sz="2350" b="1" dirty="0" err="1">
                <a:solidFill>
                  <a:srgbClr val="273A52"/>
                </a:solidFill>
                <a:latin typeface="맑은 고딕"/>
                <a:ea typeface="맑은 고딕"/>
              </a:rPr>
              <a:t>DRAGged</a:t>
            </a:r>
            <a:r>
              <a:rPr lang="en-US" altLang="ko-KR" sz="2350" b="1" dirty="0">
                <a:solidFill>
                  <a:srgbClr val="273A52"/>
                </a:solidFill>
                <a:latin typeface="맑은 고딕"/>
                <a:ea typeface="맑은 고딕"/>
              </a:rPr>
              <a:t>:</a:t>
            </a:r>
            <a:r>
              <a:rPr lang="ko-KR" altLang="en-US" sz="2350" b="1" dirty="0">
                <a:solidFill>
                  <a:srgbClr val="273A52"/>
                </a:solidFill>
                <a:latin typeface="맑은 고딕"/>
                <a:ea typeface="맑은 고딕"/>
              </a:rPr>
              <a:t> 원본 구조와 </a:t>
            </a:r>
            <a:r>
              <a:rPr lang="ko-KR" altLang="en-US" sz="2350" b="1" dirty="0" err="1">
                <a:solidFill>
                  <a:srgbClr val="273A52"/>
                </a:solidFill>
                <a:latin typeface="맑은 고딕"/>
                <a:ea typeface="맑은 고딕"/>
              </a:rPr>
              <a:t>전처리</a:t>
            </a:r>
            <a:r>
              <a:rPr lang="ko-KR" altLang="en-US" sz="2350" b="1" dirty="0">
                <a:solidFill>
                  <a:srgbClr val="273A52"/>
                </a:solidFill>
                <a:latin typeface="맑은 고딕"/>
                <a:ea typeface="맑은 고딕"/>
              </a:rPr>
              <a:t> 방법</a:t>
            </a:r>
            <a:endParaRPr sz="2350" b="1" dirty="0">
              <a:solidFill>
                <a:srgbClr val="273A52"/>
              </a:solidFill>
              <a:latin typeface="맑은 고딕"/>
              <a:ea typeface="맑은 고딕"/>
            </a:endParaRP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274320"/>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12</a:t>
            </a:fld>
            <a:endParaRPr lang="en-US" altLang="ko-KR" sz="950">
              <a:solidFill>
                <a:srgbClr val="6B7480"/>
              </a:solidFill>
              <a:latin typeface="맑은 고딕"/>
              <a:ea typeface="맑은 고딕"/>
            </a:endParaRPr>
          </a:p>
        </p:txBody>
      </p:sp>
      <p:sp>
        <p:nvSpPr>
          <p:cNvPr id="7" name="Rectangle 6"/>
          <p:cNvSpPr/>
          <p:nvPr/>
        </p:nvSpPr>
        <p:spPr>
          <a:xfrm>
            <a:off x="548640" y="1270000"/>
            <a:ext cx="11087100" cy="2309509"/>
          </a:xfrm>
          <a:prstGeom prst="rect">
            <a:avLst/>
          </a:prstGeom>
          <a:solidFill>
            <a:srgbClr val="F0F2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3000"/>
              </a:lnSpc>
              <a:spcAft>
                <a:spcPts val="120"/>
              </a:spcAft>
            </a:pPr>
            <a:r>
              <a:rPr sz="1120" b="0" dirty="0">
                <a:solidFill>
                  <a:srgbClr val="1E2227"/>
                </a:solidFill>
                <a:latin typeface="Consolas"/>
                <a:ea typeface="맑은 고딕"/>
              </a:rPr>
              <a:t>{</a:t>
            </a:r>
          </a:p>
          <a:p>
            <a:pPr algn="l">
              <a:lnSpc>
                <a:spcPct val="113000"/>
              </a:lnSpc>
              <a:spcAft>
                <a:spcPts val="120"/>
              </a:spcAft>
            </a:pPr>
            <a:r>
              <a:rPr sz="1120" b="0" dirty="0">
                <a:solidFill>
                  <a:srgbClr val="1E2227"/>
                </a:solidFill>
                <a:latin typeface="Consolas"/>
                <a:ea typeface="맑은 고딕"/>
              </a:rPr>
              <a:t>  </a:t>
            </a:r>
            <a:r>
              <a:rPr sz="1120" b="1" dirty="0">
                <a:solidFill>
                  <a:srgbClr val="273A52"/>
                </a:solidFill>
                <a:latin typeface="Consolas"/>
                <a:ea typeface="맑은 고딕"/>
              </a:rPr>
              <a:t>"question"</a:t>
            </a:r>
            <a:r>
              <a:rPr sz="1120" b="0" dirty="0">
                <a:solidFill>
                  <a:srgbClr val="1E2227"/>
                </a:solidFill>
                <a:latin typeface="Consolas"/>
                <a:ea typeface="맑은 고딕"/>
              </a:rPr>
              <a:t>: "When does Passover start?",</a:t>
            </a:r>
            <a:r>
              <a:rPr sz="1120" b="0" dirty="0">
                <a:solidFill>
                  <a:srgbClr val="6B7480"/>
                </a:solidFill>
                <a:latin typeface="Consolas"/>
                <a:ea typeface="맑은 고딕"/>
              </a:rPr>
              <a:t>   // 질의(사용자 질문)</a:t>
            </a:r>
          </a:p>
          <a:p>
            <a:pPr algn="l">
              <a:lnSpc>
                <a:spcPct val="113000"/>
              </a:lnSpc>
              <a:spcAft>
                <a:spcPts val="120"/>
              </a:spcAft>
            </a:pPr>
            <a:r>
              <a:rPr sz="1120" b="0" dirty="0">
                <a:solidFill>
                  <a:srgbClr val="1E2227"/>
                </a:solidFill>
                <a:latin typeface="Consolas"/>
                <a:ea typeface="맑은 고딕"/>
              </a:rPr>
              <a:t>  </a:t>
            </a:r>
            <a:r>
              <a:rPr sz="1120" b="1" dirty="0">
                <a:solidFill>
                  <a:srgbClr val="273A52"/>
                </a:solidFill>
                <a:latin typeface="Consolas"/>
                <a:ea typeface="맑은 고딕"/>
              </a:rPr>
              <a:t>"conflict_type"</a:t>
            </a:r>
            <a:r>
              <a:rPr sz="1120" b="0" dirty="0">
                <a:solidFill>
                  <a:srgbClr val="1E2227"/>
                </a:solidFill>
                <a:latin typeface="Consolas"/>
                <a:ea typeface="맑은 고딕"/>
              </a:rPr>
              <a:t>: "</a:t>
            </a:r>
            <a:r>
              <a:rPr lang="en" sz="1120" b="0" dirty="0">
                <a:solidFill>
                  <a:srgbClr val="1E2227"/>
                </a:solidFill>
                <a:latin typeface="Consolas"/>
                <a:ea typeface="맑은 고딕"/>
              </a:rPr>
              <a:t>Conflict due to outdated info</a:t>
            </a:r>
            <a:r>
              <a:rPr sz="1120" b="0" dirty="0">
                <a:solidFill>
                  <a:srgbClr val="1E2227"/>
                </a:solidFill>
                <a:latin typeface="Consolas"/>
                <a:ea typeface="맑은 고딕"/>
              </a:rPr>
              <a:t>",</a:t>
            </a:r>
            <a:r>
              <a:rPr sz="1120" b="0" dirty="0">
                <a:solidFill>
                  <a:srgbClr val="6B7480"/>
                </a:solidFill>
                <a:latin typeface="Consolas"/>
                <a:ea typeface="맑은 고딕"/>
              </a:rPr>
              <a:t>   // 전문가 충돌 유형 · 본 연구 분석 축(5분류)</a:t>
            </a:r>
          </a:p>
          <a:p>
            <a:pPr algn="l">
              <a:lnSpc>
                <a:spcPct val="113000"/>
              </a:lnSpc>
              <a:spcAft>
                <a:spcPts val="120"/>
              </a:spcAft>
            </a:pPr>
            <a:r>
              <a:rPr sz="1120" b="0" dirty="0">
                <a:solidFill>
                  <a:srgbClr val="1E2227"/>
                </a:solidFill>
                <a:latin typeface="Consolas"/>
                <a:ea typeface="맑은 고딕"/>
              </a:rPr>
              <a:t>  </a:t>
            </a:r>
            <a:r>
              <a:rPr sz="1120" b="1" dirty="0">
                <a:solidFill>
                  <a:srgbClr val="273A52"/>
                </a:solidFill>
                <a:latin typeface="Consolas"/>
                <a:ea typeface="맑은 고딕"/>
              </a:rPr>
              <a:t>"correct_answer"</a:t>
            </a:r>
            <a:r>
              <a:rPr sz="1120" b="0" dirty="0">
                <a:solidFill>
                  <a:srgbClr val="1E2227"/>
                </a:solidFill>
                <a:latin typeface="Consolas"/>
                <a:ea typeface="맑은 고딕"/>
              </a:rPr>
              <a:t>: "sundown Saturday, April 12",</a:t>
            </a:r>
            <a:r>
              <a:rPr sz="1120" b="0" dirty="0">
                <a:solidFill>
                  <a:srgbClr val="6B7480"/>
                </a:solidFill>
                <a:latin typeface="Consolas"/>
                <a:ea typeface="맑은 고딕"/>
              </a:rPr>
              <a:t>   // 시점-유효 정답 · 채점 기준</a:t>
            </a:r>
          </a:p>
          <a:p>
            <a:pPr algn="l">
              <a:lnSpc>
                <a:spcPct val="113000"/>
              </a:lnSpc>
              <a:spcAft>
                <a:spcPts val="120"/>
              </a:spcAft>
            </a:pPr>
            <a:r>
              <a:rPr sz="1120" b="0" dirty="0">
                <a:solidFill>
                  <a:srgbClr val="1E2227"/>
                </a:solidFill>
                <a:latin typeface="Consolas"/>
                <a:ea typeface="맑은 고딕"/>
              </a:rPr>
              <a:t>  </a:t>
            </a:r>
            <a:r>
              <a:rPr sz="1120" b="1" dirty="0">
                <a:solidFill>
                  <a:srgbClr val="273A52"/>
                </a:solidFill>
                <a:latin typeface="Consolas"/>
                <a:ea typeface="맑은 고딕"/>
              </a:rPr>
              <a:t>"search_results"</a:t>
            </a:r>
            <a:r>
              <a:rPr sz="1120" b="0" dirty="0">
                <a:solidFill>
                  <a:srgbClr val="1E2227"/>
                </a:solidFill>
                <a:latin typeface="Consolas"/>
                <a:ea typeface="맑은 고딕"/>
              </a:rPr>
              <a:t>: [</a:t>
            </a:r>
            <a:r>
              <a:rPr sz="1120" b="0" dirty="0">
                <a:solidFill>
                  <a:srgbClr val="6B7480"/>
                </a:solidFill>
                <a:latin typeface="Consolas"/>
                <a:ea typeface="맑은 고딕"/>
              </a:rPr>
              <a:t>   // 구글 top-10 스니펫(10개, 짧은 발췌)</a:t>
            </a:r>
          </a:p>
          <a:p>
            <a:pPr algn="l">
              <a:lnSpc>
                <a:spcPct val="113000"/>
              </a:lnSpc>
              <a:spcAft>
                <a:spcPts val="120"/>
              </a:spcAft>
            </a:pPr>
            <a:r>
              <a:rPr sz="1120" b="0" dirty="0">
                <a:solidFill>
                  <a:srgbClr val="1E2227"/>
                </a:solidFill>
                <a:latin typeface="Consolas"/>
                <a:ea typeface="맑은 고딕"/>
              </a:rPr>
              <a:t>    { "date":"2025-01-01", "url":"chabad.org", "text":"...April 12" },</a:t>
            </a:r>
            <a:r>
              <a:rPr sz="1120" b="1" dirty="0">
                <a:solidFill>
                  <a:srgbClr val="1E7A6F"/>
                </a:solidFill>
                <a:latin typeface="Consolas"/>
                <a:ea typeface="맑은 고딕"/>
              </a:rPr>
              <a:t>  ← 최신</a:t>
            </a:r>
          </a:p>
          <a:p>
            <a:pPr algn="l">
              <a:lnSpc>
                <a:spcPct val="113000"/>
              </a:lnSpc>
              <a:spcAft>
                <a:spcPts val="120"/>
              </a:spcAft>
            </a:pPr>
            <a:r>
              <a:rPr sz="1120" b="0" dirty="0">
                <a:solidFill>
                  <a:srgbClr val="1E2227"/>
                </a:solidFill>
                <a:latin typeface="Consolas"/>
                <a:ea typeface="맑은 고딕"/>
              </a:rPr>
              <a:t>    { "date":"2024-05-01", "url":"...", "text":"...same day" }, ... ]</a:t>
            </a:r>
            <a:r>
              <a:rPr sz="1120" b="1" dirty="0">
                <a:solidFill>
                  <a:srgbClr val="A4482A"/>
                </a:solidFill>
                <a:latin typeface="Consolas"/>
                <a:ea typeface="맑은 고딕"/>
              </a:rPr>
              <a:t>  ← 과거</a:t>
            </a:r>
          </a:p>
          <a:p>
            <a:pPr algn="l">
              <a:lnSpc>
                <a:spcPct val="113000"/>
              </a:lnSpc>
              <a:spcAft>
                <a:spcPts val="120"/>
              </a:spcAft>
            </a:pPr>
            <a:r>
              <a:rPr sz="1120" b="0" dirty="0">
                <a:solidFill>
                  <a:srgbClr val="6B7480"/>
                </a:solidFill>
                <a:latin typeface="Consolas"/>
                <a:ea typeface="맑은 고딕"/>
              </a:rPr>
              <a:t>  // date = 최신성 · url = 출처·권위 · text = 짧은 스니펫(충돌 탐지)</a:t>
            </a:r>
          </a:p>
          <a:p>
            <a:pPr algn="l">
              <a:lnSpc>
                <a:spcPct val="113000"/>
              </a:lnSpc>
              <a:spcAft>
                <a:spcPts val="120"/>
              </a:spcAft>
            </a:pPr>
            <a:r>
              <a:rPr sz="1120" b="0" dirty="0">
                <a:solidFill>
                  <a:srgbClr val="1E2227"/>
                </a:solidFill>
                <a:latin typeface="Consolas"/>
                <a:ea typeface="맑은 고딕"/>
              </a:rPr>
              <a:t>}</a:t>
            </a:r>
            <a:r>
              <a:rPr sz="1120" b="0" dirty="0">
                <a:solidFill>
                  <a:srgbClr val="6B7480"/>
                </a:solidFill>
                <a:latin typeface="Consolas"/>
                <a:ea typeface="맑은 고딕"/>
              </a:rPr>
              <a:t>   </a:t>
            </a:r>
            <a:endParaRPr lang="en-US" sz="1120" b="0" dirty="0">
              <a:solidFill>
                <a:srgbClr val="6B7480"/>
              </a:solidFill>
              <a:latin typeface="Consolas"/>
              <a:ea typeface="맑은 고딕"/>
            </a:endParaRPr>
          </a:p>
          <a:p>
            <a:pPr algn="l">
              <a:lnSpc>
                <a:spcPct val="113000"/>
              </a:lnSpc>
              <a:spcAft>
                <a:spcPts val="120"/>
              </a:spcAft>
            </a:pPr>
            <a:endParaRPr lang="en-US" sz="1120" dirty="0">
              <a:solidFill>
                <a:srgbClr val="6B7480"/>
              </a:solidFill>
              <a:latin typeface="Consolas"/>
              <a:ea typeface="맑은 고딕"/>
            </a:endParaRPr>
          </a:p>
          <a:p>
            <a:pPr algn="l">
              <a:lnSpc>
                <a:spcPct val="113000"/>
              </a:lnSpc>
              <a:spcAft>
                <a:spcPts val="120"/>
              </a:spcAft>
            </a:pPr>
            <a:r>
              <a:rPr sz="1120" b="0" dirty="0">
                <a:solidFill>
                  <a:srgbClr val="6B7480"/>
                </a:solidFill>
                <a:latin typeface="Consolas"/>
                <a:ea typeface="맑은 고딕"/>
              </a:rPr>
              <a:t>※ 개별 청크에 정답 라벨이 없어 정답 청크 매핑이 필요</a:t>
            </a:r>
          </a:p>
        </p:txBody>
      </p:sp>
      <p:sp>
        <p:nvSpPr>
          <p:cNvPr id="13" name="TextBox 12">
            <a:extLst>
              <a:ext uri="{FF2B5EF4-FFF2-40B4-BE49-F238E27FC236}">
                <a16:creationId xmlns:a16="http://schemas.microsoft.com/office/drawing/2014/main" id="{6078FDD1-12AC-A747-A0F6-E16533DEF0D6}"/>
              </a:ext>
            </a:extLst>
          </p:cNvPr>
          <p:cNvSpPr txBox="1"/>
          <p:nvPr/>
        </p:nvSpPr>
        <p:spPr>
          <a:xfrm>
            <a:off x="548640" y="3724983"/>
            <a:ext cx="11087100" cy="353336"/>
          </a:xfrm>
          <a:prstGeom prst="rect">
            <a:avLst/>
          </a:prstGeom>
          <a:noFill/>
        </p:spPr>
        <p:txBody>
          <a:bodyPr vertOverflow="overflow" vert="horz" wrap="square" lIns="91440" tIns="45720" rIns="91440" bIns="45720" rtlCol="0" anchor="ctr" anchorCtr="0">
            <a:noAutofit/>
          </a:bodyPr>
          <a:lstStyle/>
          <a:p>
            <a:pPr algn="l"/>
            <a:r>
              <a:rPr lang="ko-KR" sz="1300" b="1" dirty="0">
                <a:solidFill>
                  <a:srgbClr val="273A52"/>
                </a:solidFill>
                <a:latin typeface="맑은 고딕"/>
                <a:ea typeface="맑은 고딕"/>
              </a:rPr>
              <a:t>데이터 </a:t>
            </a:r>
            <a:r>
              <a:rPr lang="ko-KR" sz="1300" b="1" dirty="0" err="1">
                <a:solidFill>
                  <a:srgbClr val="273A52"/>
                </a:solidFill>
                <a:latin typeface="맑은 고딕"/>
                <a:ea typeface="맑은 고딕"/>
              </a:rPr>
              <a:t>전처리</a:t>
            </a:r>
            <a:r>
              <a:rPr lang="ko-KR" sz="1300" b="1" dirty="0">
                <a:solidFill>
                  <a:srgbClr val="273A52"/>
                </a:solidFill>
                <a:latin typeface="맑은 고딕"/>
                <a:ea typeface="맑은 고딕"/>
              </a:rPr>
              <a:t> 방법</a:t>
            </a:r>
            <a:endParaRPr lang="en-US" altLang="ko-KR" sz="1300" b="1" dirty="0">
              <a:solidFill>
                <a:srgbClr val="273A52"/>
              </a:solidFill>
              <a:latin typeface="맑은 고딕"/>
              <a:ea typeface="맑은 고딕"/>
            </a:endParaRPr>
          </a:p>
        </p:txBody>
      </p:sp>
      <p:graphicFrame>
        <p:nvGraphicFramePr>
          <p:cNvPr id="40" name="Pipeline Table"/>
          <p:cNvGraphicFramePr>
            <a:graphicFrameLocks noGrp="1"/>
          </p:cNvGraphicFramePr>
          <p:nvPr/>
        </p:nvGraphicFramePr>
        <p:xfrm>
          <a:off x="548640" y="4384368"/>
          <a:ext cx="11086800" cy="1460000"/>
        </p:xfrm>
        <a:graphic>
          <a:graphicData uri="http://schemas.openxmlformats.org/drawingml/2006/table">
            <a:tbl>
              <a:tblPr firstRow="1" bandRow="1">
                <a:tableStyleId>{5C22544A-7EE6-4342-B048-85BDC9FD1C3A}</a:tableStyleId>
              </a:tblPr>
              <a:tblGrid>
                <a:gridCol w="1900000">
                  <a:extLst>
                    <a:ext uri="{9D8B030D-6E8A-4147-A177-3AD203B41FA5}">
                      <a16:colId xmlns:a16="http://schemas.microsoft.com/office/drawing/2014/main" val="20000"/>
                    </a:ext>
                  </a:extLst>
                </a:gridCol>
                <a:gridCol w="9186800">
                  <a:extLst>
                    <a:ext uri="{9D8B030D-6E8A-4147-A177-3AD203B41FA5}">
                      <a16:colId xmlns:a16="http://schemas.microsoft.com/office/drawing/2014/main" val="20001"/>
                    </a:ext>
                  </a:extLst>
                </a:gridCol>
              </a:tblGrid>
              <a:tr h="320000">
                <a:tc>
                  <a:txBody>
                    <a:bodyPr/>
                    <a:lstStyle/>
                    <a:p>
                      <a:pPr algn="ctr">
                        <a:lnSpc>
                          <a:spcPct val="114000"/>
                        </a:lnSpc>
                        <a:spcAft>
                          <a:spcPts val="200"/>
                        </a:spcAft>
                      </a:pPr>
                      <a:r>
                        <a:rPr lang="ko-KR" sz="1150" b="1" dirty="0">
                          <a:solidFill>
                            <a:srgbClr val="FFFFFF"/>
                          </a:solidFill>
                          <a:latin typeface="맑은 고딕"/>
                          <a:ea typeface="맑은 고딕"/>
                        </a:rPr>
                        <a:t>단계</a:t>
                      </a:r>
                    </a:p>
                  </a:txBody>
                  <a:tcPr anchor="ctr">
                    <a:solidFill>
                      <a:srgbClr val="273A52"/>
                    </a:solidFill>
                  </a:tcPr>
                </a:tc>
                <a:tc>
                  <a:txBody>
                    <a:bodyPr/>
                    <a:lstStyle/>
                    <a:p>
                      <a:pPr algn="ctr">
                        <a:lnSpc>
                          <a:spcPct val="114000"/>
                        </a:lnSpc>
                        <a:spcAft>
                          <a:spcPts val="200"/>
                        </a:spcAft>
                      </a:pPr>
                      <a:r>
                        <a:rPr lang="ko-KR" sz="1150" b="1" dirty="0">
                          <a:solidFill>
                            <a:srgbClr val="FFFFFF"/>
                          </a:solidFill>
                          <a:latin typeface="맑은 고딕"/>
                          <a:ea typeface="맑은 고딕"/>
                        </a:rPr>
                        <a:t>내용</a:t>
                      </a:r>
                    </a:p>
                  </a:txBody>
                  <a:tcPr anchor="ctr">
                    <a:solidFill>
                      <a:srgbClr val="273A52"/>
                    </a:solidFill>
                  </a:tcPr>
                </a:tc>
                <a:extLst>
                  <a:ext uri="{0D108BD9-81ED-4DB2-BD59-A6C34878D82A}">
                    <a16:rowId xmlns:a16="http://schemas.microsoft.com/office/drawing/2014/main" val="10000"/>
                  </a:ext>
                </a:extLst>
              </a:tr>
              <a:tr h="380000">
                <a:tc>
                  <a:txBody>
                    <a:bodyPr/>
                    <a:lstStyle/>
                    <a:p>
                      <a:pPr algn="l">
                        <a:lnSpc>
                          <a:spcPct val="114000"/>
                        </a:lnSpc>
                        <a:spcAft>
                          <a:spcPts val="200"/>
                        </a:spcAft>
                      </a:pPr>
                      <a:r>
                        <a:rPr lang="ko-KR" sz="1100" b="1" dirty="0">
                          <a:solidFill>
                            <a:srgbClr val="1E2227"/>
                          </a:solidFill>
                          <a:latin typeface="맑은 고딕"/>
                          <a:ea typeface="맑은 고딕"/>
                        </a:rPr>
                        <a:t>① 라벨 확보</a:t>
                      </a:r>
                    </a:p>
                  </a:txBody>
                  <a:tcPr anchor="ctr">
                    <a:solidFill>
                      <a:srgbClr val="FFFFFF"/>
                    </a:solidFill>
                  </a:tcPr>
                </a:tc>
                <a:tc>
                  <a:txBody>
                    <a:bodyPr/>
                    <a:lstStyle/>
                    <a:p>
                      <a:pPr algn="l">
                        <a:lnSpc>
                          <a:spcPct val="114000"/>
                        </a:lnSpc>
                        <a:spcAft>
                          <a:spcPts val="200"/>
                        </a:spcAft>
                      </a:pPr>
                      <a:r>
                        <a:rPr lang="ko-KR" sz="1100" b="0" dirty="0">
                          <a:solidFill>
                            <a:srgbClr val="1E2227"/>
                          </a:solidFill>
                          <a:latin typeface="맑은 고딕"/>
                          <a:ea typeface="맑은 고딕"/>
                        </a:rPr>
                        <a:t>청크에 </a:t>
                      </a:r>
                      <a:r>
                        <a:rPr lang="ko-KR" sz="1100" b="1" dirty="0">
                          <a:solidFill>
                            <a:srgbClr val="C2410C"/>
                          </a:solidFill>
                          <a:latin typeface="맑은 고딕"/>
                          <a:ea typeface="맑은 고딕"/>
                        </a:rPr>
                        <a:t>correct·conflict·noise</a:t>
                      </a:r>
                      <a:r>
                        <a:rPr lang="ko-KR" sz="1100" b="0" dirty="0">
                          <a:solidFill>
                            <a:srgbClr val="1E2227"/>
                          </a:solidFill>
                          <a:latin typeface="맑은 고딕"/>
                          <a:ea typeface="맑은 고딕"/>
                        </a:rPr>
                        <a:t> 라벨이 없어, LLM이 초벌 분류한 뒤 사람이 전수 검토로 확정.</a:t>
                      </a:r>
                    </a:p>
                  </a:txBody>
                  <a:tcPr anchor="ctr">
                    <a:solidFill>
                      <a:srgbClr val="FFFFFF"/>
                    </a:solidFill>
                  </a:tcPr>
                </a:tc>
                <a:extLst>
                  <a:ext uri="{0D108BD9-81ED-4DB2-BD59-A6C34878D82A}">
                    <a16:rowId xmlns:a16="http://schemas.microsoft.com/office/drawing/2014/main" val="10001"/>
                  </a:ext>
                </a:extLst>
              </a:tr>
              <a:tr h="380000">
                <a:tc>
                  <a:txBody>
                    <a:bodyPr/>
                    <a:lstStyle/>
                    <a:p>
                      <a:pPr algn="l">
                        <a:lnSpc>
                          <a:spcPct val="114000"/>
                        </a:lnSpc>
                        <a:spcAft>
                          <a:spcPts val="200"/>
                        </a:spcAft>
                      </a:pPr>
                      <a:r>
                        <a:rPr lang="ko-KR" sz="1100" b="1" dirty="0">
                          <a:solidFill>
                            <a:srgbClr val="1E2227"/>
                          </a:solidFill>
                          <a:latin typeface="맑은 고딕"/>
                          <a:ea typeface="맑은 고딕"/>
                        </a:rPr>
                        <a:t>② 정답 확정·검증</a:t>
                      </a:r>
                    </a:p>
                  </a:txBody>
                  <a:tcPr anchor="ctr">
                    <a:solidFill>
                      <a:srgbClr val="EEF2F7"/>
                    </a:solidFill>
                  </a:tcPr>
                </a:tc>
                <a:tc>
                  <a:txBody>
                    <a:bodyPr/>
                    <a:lstStyle/>
                    <a:p>
                      <a:pPr algn="l">
                        <a:lnSpc>
                          <a:spcPct val="114000"/>
                        </a:lnSpc>
                        <a:spcAft>
                          <a:spcPts val="200"/>
                        </a:spcAft>
                      </a:pPr>
                      <a:r>
                        <a:rPr lang="ko-KR" sz="1100" b="0" dirty="0">
                          <a:solidFill>
                            <a:srgbClr val="1E2227"/>
                          </a:solidFill>
                          <a:latin typeface="맑은 고딕"/>
                          <a:ea typeface="맑은 고딕"/>
                        </a:rPr>
                        <a:t>correct_answer의 오탈자를 정오표로 보정해 최종 확정.</a:t>
                      </a:r>
                    </a:p>
                  </a:txBody>
                  <a:tcPr anchor="ctr">
                    <a:solidFill>
                      <a:srgbClr val="EEF2F7"/>
                    </a:solidFill>
                  </a:tcPr>
                </a:tc>
                <a:extLst>
                  <a:ext uri="{0D108BD9-81ED-4DB2-BD59-A6C34878D82A}">
                    <a16:rowId xmlns:a16="http://schemas.microsoft.com/office/drawing/2014/main" val="10002"/>
                  </a:ext>
                </a:extLst>
              </a:tr>
              <a:tr h="380000">
                <a:tc>
                  <a:txBody>
                    <a:bodyPr/>
                    <a:lstStyle/>
                    <a:p>
                      <a:pPr algn="l">
                        <a:lnSpc>
                          <a:spcPct val="114000"/>
                        </a:lnSpc>
                        <a:spcAft>
                          <a:spcPts val="200"/>
                        </a:spcAft>
                      </a:pPr>
                      <a:r>
                        <a:rPr lang="ko-KR" sz="1100" b="1" dirty="0">
                          <a:solidFill>
                            <a:srgbClr val="1E2227"/>
                          </a:solidFill>
                          <a:latin typeface="맑은 고딕"/>
                          <a:ea typeface="맑은 고딕"/>
                        </a:rPr>
                        <a:t>③ 공통 구조 매핑</a:t>
                      </a:r>
                    </a:p>
                  </a:txBody>
                  <a:tcPr anchor="ctr">
                    <a:solidFill>
                      <a:srgbClr val="FFFFFF"/>
                    </a:solidFill>
                  </a:tcPr>
                </a:tc>
                <a:tc>
                  <a:txBody>
                    <a:bodyPr/>
                    <a:lstStyle/>
                    <a:p>
                      <a:pPr algn="l">
                        <a:lnSpc>
                          <a:spcPct val="114000"/>
                        </a:lnSpc>
                        <a:spcAft>
                          <a:spcPts val="200"/>
                        </a:spcAft>
                      </a:pPr>
                      <a:r>
                        <a:rPr lang="ko-KR" sz="1100" b="0" dirty="0">
                          <a:solidFill>
                            <a:srgbClr val="1E2227"/>
                          </a:solidFill>
                          <a:latin typeface="맑은 고딕"/>
                          <a:ea typeface="맑은 고딕"/>
                        </a:rPr>
                        <a:t>확정된 라벨을 공통 구조(</a:t>
                      </a:r>
                      <a:r>
                        <a:rPr lang="ko-KR" sz="1100" b="1" dirty="0">
                          <a:solidFill>
                            <a:srgbClr val="C2410C"/>
                          </a:solidFill>
                          <a:latin typeface="맑은 고딕"/>
                          <a:ea typeface="맑은 고딕"/>
                        </a:rPr>
                        <a:t>correct/conflict/noise</a:t>
                      </a:r>
                      <a:r>
                        <a:rPr lang="ko-KR" sz="1100" b="0" dirty="0">
                          <a:solidFill>
                            <a:srgbClr val="1E2227"/>
                          </a:solidFill>
                          <a:latin typeface="맑은 고딕"/>
                          <a:ea typeface="맑은 고딕"/>
                        </a:rPr>
                        <a:t> + 정답)로 정리.</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9" name="TextBox 8">
            <a:extLst>
              <a:ext uri="{FF2B5EF4-FFF2-40B4-BE49-F238E27FC236}">
                <a16:creationId xmlns:a16="http://schemas.microsoft.com/office/drawing/2014/main" id="{B866117A-6A10-A3DE-2CE9-AECBB13B9F8B}"/>
              </a:ext>
            </a:extLst>
          </p:cNvPr>
          <p:cNvSpPr txBox="1"/>
          <p:nvPr/>
        </p:nvSpPr>
        <p:spPr>
          <a:xfrm>
            <a:off x="556259" y="4047407"/>
            <a:ext cx="11074400" cy="276999"/>
          </a:xfrm>
          <a:prstGeom prst="rect">
            <a:avLst/>
          </a:prstGeom>
          <a:noFill/>
        </p:spPr>
        <p:txBody>
          <a:bodyPr wrap="square">
            <a:spAutoFit/>
          </a:bodyPr>
          <a:lstStyle/>
          <a:p>
            <a:pPr algn="l"/>
            <a:r>
              <a:rPr lang="ko-KR" sz="1150" b="1" dirty="0">
                <a:solidFill>
                  <a:srgbClr val="273A52"/>
                </a:solidFill>
                <a:latin typeface="맑은 고딕"/>
                <a:ea typeface="맑은 고딕"/>
              </a:rPr>
              <a:t>청크 라벨링</a:t>
            </a:r>
            <a:r>
              <a:rPr lang="ko-KR" sz="1050" b="0" dirty="0">
                <a:solidFill>
                  <a:srgbClr val="6B7480"/>
                </a:solidFill>
                <a:latin typeface="맑은 고딕"/>
                <a:ea typeface="맑은 고딕"/>
              </a:rPr>
              <a:t> — conflict_type은 원본 값을 그대로 두고, search_result의 각 청크에 </a:t>
            </a:r>
            <a:r>
              <a:rPr lang="ko-KR" sz="1050" b="1" dirty="0">
                <a:solidFill>
                  <a:srgbClr val="C2410C"/>
                </a:solidFill>
                <a:latin typeface="맑은 고딕"/>
                <a:ea typeface="맑은 고딕"/>
              </a:rPr>
              <a:t>correct/conflict/noise</a:t>
            </a:r>
            <a:r>
              <a:rPr lang="ko-KR" sz="1050" b="0" dirty="0">
                <a:solidFill>
                  <a:srgbClr val="6B7480"/>
                </a:solidFill>
                <a:latin typeface="맑은 고딕"/>
                <a:ea typeface="맑은 고딕"/>
              </a:rPr>
              <a:t> 라벨을 새로 부여하는 것이 목적.</a:t>
            </a:r>
          </a:p>
        </p:txBody>
      </p:sp>
    </p:spTree>
    <p:extLst>
      <p:ext uri="{BB962C8B-B14F-4D97-AF65-F5344CB8AC3E}">
        <p14:creationId xmlns:p14="http://schemas.microsoft.com/office/powerpoint/2010/main" val="4258182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0" dirty="0">
                <a:solidFill>
                  <a:srgbClr val="6B7480"/>
                </a:solidFill>
                <a:latin typeface="맑은 고딕"/>
                <a:ea typeface="맑은 고딕"/>
              </a:rPr>
              <a:t>§3 방법론</a:t>
            </a:r>
            <a:r>
              <a:rPr lang="en-US" sz="1250" b="0" dirty="0">
                <a:solidFill>
                  <a:srgbClr val="B0B7C0"/>
                </a:solidFill>
                <a:latin typeface="맑은 고딕"/>
                <a:ea typeface="맑은 고딕"/>
              </a:rPr>
              <a:t>   ›   </a:t>
            </a:r>
            <a:r>
              <a:rPr lang="en-US" sz="1250" b="1" dirty="0">
                <a:solidFill>
                  <a:srgbClr val="273A52"/>
                </a:solidFill>
                <a:latin typeface="맑은 고딕"/>
                <a:ea typeface="맑은 고딕"/>
              </a:rPr>
              <a:t>§3.1 데이터</a:t>
            </a:r>
          </a:p>
        </p:txBody>
      </p:sp>
      <p:sp>
        <p:nvSpPr>
          <p:cNvPr id="3" name="TextBox 2"/>
          <p:cNvSpPr txBox="1"/>
          <p:nvPr/>
        </p:nvSpPr>
        <p:spPr>
          <a:xfrm>
            <a:off x="548640" y="585216"/>
            <a:ext cx="11091672" cy="396647"/>
          </a:xfrm>
          <a:prstGeom prst="rect">
            <a:avLst/>
          </a:prstGeom>
          <a:noFill/>
        </p:spPr>
        <p:txBody>
          <a:bodyPr wrap="square" lIns="0" tIns="0" rIns="0" bIns="0">
            <a:spAutoFit/>
          </a:bodyPr>
          <a:lstStyle/>
          <a:p>
            <a:pPr>
              <a:lnSpc>
                <a:spcPct val="122000"/>
              </a:lnSpc>
              <a:spcAft>
                <a:spcPts val="450"/>
              </a:spcAft>
            </a:pPr>
            <a:r>
              <a:rPr sz="2350" b="1" dirty="0">
                <a:solidFill>
                  <a:srgbClr val="273A52"/>
                </a:solidFill>
                <a:latin typeface="맑은 고딕"/>
                <a:ea typeface="맑은 고딕"/>
              </a:rPr>
              <a:t>QACC</a:t>
            </a:r>
            <a:r>
              <a:rPr lang="en-US" altLang="ko-KR" sz="2350" b="1" dirty="0">
                <a:solidFill>
                  <a:srgbClr val="273A52"/>
                </a:solidFill>
                <a:latin typeface="맑은 고딕"/>
                <a:ea typeface="맑은 고딕"/>
              </a:rPr>
              <a:t>:</a:t>
            </a:r>
            <a:r>
              <a:rPr lang="ko-KR" altLang="en-US" sz="2350" b="1" dirty="0">
                <a:solidFill>
                  <a:srgbClr val="273A52"/>
                </a:solidFill>
                <a:latin typeface="맑은 고딕"/>
                <a:ea typeface="맑은 고딕"/>
              </a:rPr>
              <a:t> 원본 구조와 </a:t>
            </a:r>
            <a:r>
              <a:rPr lang="ko-KR" altLang="en-US" sz="2350" b="1" dirty="0" err="1">
                <a:solidFill>
                  <a:srgbClr val="273A52"/>
                </a:solidFill>
                <a:latin typeface="맑은 고딕"/>
                <a:ea typeface="맑은 고딕"/>
              </a:rPr>
              <a:t>전처리</a:t>
            </a:r>
            <a:r>
              <a:rPr lang="ko-KR" altLang="en-US" sz="2350" b="1" dirty="0">
                <a:solidFill>
                  <a:srgbClr val="273A52"/>
                </a:solidFill>
                <a:latin typeface="맑은 고딕"/>
                <a:ea typeface="맑은 고딕"/>
              </a:rPr>
              <a:t> 방법</a:t>
            </a:r>
            <a:endParaRPr sz="2350" b="1" dirty="0">
              <a:solidFill>
                <a:srgbClr val="273A52"/>
              </a:solidFill>
              <a:latin typeface="맑은 고딕"/>
              <a:ea typeface="맑은 고딕"/>
            </a:endParaRP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274320"/>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13</a:t>
            </a:fld>
            <a:endParaRPr lang="en-US" altLang="ko-KR" sz="950">
              <a:solidFill>
                <a:srgbClr val="6B7480"/>
              </a:solidFill>
              <a:latin typeface="맑은 고딕"/>
              <a:ea typeface="맑은 고딕"/>
            </a:endParaRPr>
          </a:p>
        </p:txBody>
      </p:sp>
      <p:sp>
        <p:nvSpPr>
          <p:cNvPr id="7" name="Rectangle 6"/>
          <p:cNvSpPr/>
          <p:nvPr/>
        </p:nvSpPr>
        <p:spPr>
          <a:xfrm>
            <a:off x="548640" y="1270000"/>
            <a:ext cx="11087100" cy="2337495"/>
          </a:xfrm>
          <a:prstGeom prst="rect">
            <a:avLst/>
          </a:prstGeom>
          <a:solidFill>
            <a:srgbClr val="F0F2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3000"/>
              </a:lnSpc>
              <a:spcAft>
                <a:spcPts val="120"/>
              </a:spcAft>
            </a:pPr>
            <a:r>
              <a:rPr sz="1120" b="0" dirty="0">
                <a:solidFill>
                  <a:srgbClr val="1E2227"/>
                </a:solidFill>
                <a:latin typeface="Consolas"/>
                <a:ea typeface="맑은 고딕"/>
              </a:rPr>
              <a:t>{</a:t>
            </a:r>
          </a:p>
          <a:p>
            <a:pPr algn="l">
              <a:lnSpc>
                <a:spcPct val="113000"/>
              </a:lnSpc>
              <a:spcAft>
                <a:spcPts val="120"/>
              </a:spcAft>
            </a:pPr>
            <a:r>
              <a:rPr sz="1120" b="0" dirty="0">
                <a:solidFill>
                  <a:srgbClr val="1E2227"/>
                </a:solidFill>
                <a:latin typeface="Consolas"/>
                <a:ea typeface="맑은 고딕"/>
              </a:rPr>
              <a:t>  </a:t>
            </a:r>
            <a:r>
              <a:rPr sz="1120" b="1" dirty="0">
                <a:solidFill>
                  <a:srgbClr val="273A52"/>
                </a:solidFill>
                <a:latin typeface="Consolas"/>
                <a:ea typeface="맑은 고딕"/>
              </a:rPr>
              <a:t>"question"</a:t>
            </a:r>
            <a:r>
              <a:rPr sz="1120" b="0" dirty="0">
                <a:solidFill>
                  <a:srgbClr val="1E2227"/>
                </a:solidFill>
                <a:latin typeface="Consolas"/>
                <a:ea typeface="맑은 고딕"/>
              </a:rPr>
              <a:t>: "Where did ... a bridge too far come from?",</a:t>
            </a:r>
            <a:r>
              <a:rPr sz="1120" b="0" dirty="0">
                <a:solidFill>
                  <a:srgbClr val="6B7480"/>
                </a:solidFill>
                <a:latin typeface="Consolas"/>
                <a:ea typeface="맑은 고딕"/>
              </a:rPr>
              <a:t>   // 질의 · AmbigQA 비모호</a:t>
            </a:r>
          </a:p>
          <a:p>
            <a:pPr algn="l">
              <a:lnSpc>
                <a:spcPct val="113000"/>
              </a:lnSpc>
              <a:spcAft>
                <a:spcPts val="120"/>
              </a:spcAft>
            </a:pPr>
            <a:r>
              <a:rPr sz="1120" b="0" dirty="0">
                <a:solidFill>
                  <a:srgbClr val="1E2227"/>
                </a:solidFill>
                <a:latin typeface="Consolas"/>
                <a:ea typeface="맑은 고딕"/>
              </a:rPr>
              <a:t>  </a:t>
            </a:r>
            <a:r>
              <a:rPr sz="1120" b="1" dirty="0">
                <a:solidFill>
                  <a:srgbClr val="273A52"/>
                </a:solidFill>
                <a:latin typeface="Consolas"/>
                <a:ea typeface="맑은 고딕"/>
              </a:rPr>
              <a:t>"contexts"</a:t>
            </a:r>
            <a:r>
              <a:rPr sz="1120" b="0" dirty="0">
                <a:solidFill>
                  <a:srgbClr val="1E2227"/>
                </a:solidFill>
                <a:latin typeface="Consolas"/>
                <a:ea typeface="맑은 고딕"/>
              </a:rPr>
              <a:t>: ["...", ...],</a:t>
            </a:r>
            <a:r>
              <a:rPr sz="1120" b="0" dirty="0">
                <a:solidFill>
                  <a:srgbClr val="6B7480"/>
                </a:solidFill>
                <a:latin typeface="Consolas"/>
                <a:ea typeface="맑은 고딕"/>
              </a:rPr>
              <a:t>   // 구글 top-10 스니펫</a:t>
            </a:r>
          </a:p>
          <a:p>
            <a:pPr algn="l">
              <a:lnSpc>
                <a:spcPct val="113000"/>
              </a:lnSpc>
              <a:spcAft>
                <a:spcPts val="120"/>
              </a:spcAft>
            </a:pPr>
            <a:r>
              <a:rPr sz="1120" b="0" dirty="0">
                <a:solidFill>
                  <a:srgbClr val="1E2227"/>
                </a:solidFill>
                <a:latin typeface="Consolas"/>
                <a:ea typeface="맑은 고딕"/>
              </a:rPr>
              <a:t>  </a:t>
            </a:r>
            <a:r>
              <a:rPr sz="1120" b="1" dirty="0">
                <a:solidFill>
                  <a:srgbClr val="273A52"/>
                </a:solidFill>
                <a:latin typeface="Consolas"/>
                <a:ea typeface="맑은 고딕"/>
              </a:rPr>
              <a:t>"sources"</a:t>
            </a:r>
            <a:r>
              <a:rPr sz="1120" b="0" dirty="0">
                <a:solidFill>
                  <a:srgbClr val="1E2227"/>
                </a:solidFill>
                <a:latin typeface="Consolas"/>
                <a:ea typeface="맑은 고딕"/>
              </a:rPr>
              <a:t>: ["study.com", "wikipedia.org", ...],</a:t>
            </a:r>
            <a:r>
              <a:rPr sz="1120" b="0" dirty="0">
                <a:solidFill>
                  <a:srgbClr val="6B7480"/>
                </a:solidFill>
                <a:latin typeface="Consolas"/>
                <a:ea typeface="맑은 고딕"/>
              </a:rPr>
              <a:t>   // 스니펫 출처 도메인</a:t>
            </a:r>
          </a:p>
          <a:p>
            <a:pPr algn="l">
              <a:lnSpc>
                <a:spcPct val="113000"/>
              </a:lnSpc>
              <a:spcAft>
                <a:spcPts val="120"/>
              </a:spcAft>
            </a:pPr>
            <a:r>
              <a:rPr sz="1120" b="0" dirty="0">
                <a:solidFill>
                  <a:srgbClr val="1E2227"/>
                </a:solidFill>
                <a:latin typeface="Consolas"/>
                <a:ea typeface="맑은 고딕"/>
              </a:rPr>
              <a:t>  </a:t>
            </a:r>
            <a:r>
              <a:rPr sz="1120" b="1" dirty="0">
                <a:solidFill>
                  <a:srgbClr val="273A52"/>
                </a:solidFill>
                <a:latin typeface="Consolas"/>
                <a:ea typeface="맑은 고딕"/>
              </a:rPr>
              <a:t>"firstAnswer"</a:t>
            </a:r>
            <a:r>
              <a:rPr sz="1120" b="0" dirty="0">
                <a:solidFill>
                  <a:srgbClr val="1E2227"/>
                </a:solidFill>
                <a:latin typeface="Consolas"/>
                <a:ea typeface="맑은 고딕"/>
              </a:rPr>
              <a:t>:  "Marget Garden",   </a:t>
            </a:r>
            <a:r>
              <a:rPr sz="1120" b="1" dirty="0">
                <a:solidFill>
                  <a:srgbClr val="273A52"/>
                </a:solidFill>
                <a:latin typeface="Consolas"/>
                <a:ea typeface="맑은 고딕"/>
              </a:rPr>
              <a:t>"firstContext"</a:t>
            </a:r>
            <a:r>
              <a:rPr sz="1120" b="0" dirty="0">
                <a:solidFill>
                  <a:srgbClr val="1E2227"/>
                </a:solidFill>
                <a:latin typeface="Consolas"/>
                <a:ea typeface="맑은 고딕"/>
              </a:rPr>
              <a:t>:  "['A']",</a:t>
            </a:r>
            <a:r>
              <a:rPr sz="1120" b="0" dirty="0">
                <a:solidFill>
                  <a:srgbClr val="6B7480"/>
                </a:solidFill>
                <a:latin typeface="Consolas"/>
                <a:ea typeface="맑은 고딕"/>
              </a:rPr>
              <a:t>   // first·second = 상충하는 두 후보 답 + 각 지지 문서</a:t>
            </a:r>
          </a:p>
          <a:p>
            <a:pPr algn="l">
              <a:lnSpc>
                <a:spcPct val="113000"/>
              </a:lnSpc>
              <a:spcAft>
                <a:spcPts val="120"/>
              </a:spcAft>
            </a:pPr>
            <a:r>
              <a:rPr sz="1120" b="0" dirty="0">
                <a:solidFill>
                  <a:srgbClr val="1E2227"/>
                </a:solidFill>
                <a:latin typeface="Consolas"/>
                <a:ea typeface="맑은 고딕"/>
              </a:rPr>
              <a:t>  </a:t>
            </a:r>
            <a:r>
              <a:rPr sz="1120" b="1" dirty="0">
                <a:solidFill>
                  <a:srgbClr val="273A52"/>
                </a:solidFill>
                <a:latin typeface="Consolas"/>
                <a:ea typeface="맑은 고딕"/>
              </a:rPr>
              <a:t>"secondAnswer"</a:t>
            </a:r>
            <a:r>
              <a:rPr sz="1120" b="0" dirty="0">
                <a:solidFill>
                  <a:srgbClr val="1E2227"/>
                </a:solidFill>
                <a:latin typeface="Consolas"/>
                <a:ea typeface="맑은 고딕"/>
              </a:rPr>
              <a:t>: "Operation Market Garden",  </a:t>
            </a:r>
            <a:r>
              <a:rPr sz="1120" b="1" dirty="0">
                <a:solidFill>
                  <a:srgbClr val="273A52"/>
                </a:solidFill>
                <a:latin typeface="Consolas"/>
                <a:ea typeface="맑은 고딕"/>
              </a:rPr>
              <a:t>"secondContext"</a:t>
            </a:r>
            <a:r>
              <a:rPr sz="1120" b="0" dirty="0">
                <a:solidFill>
                  <a:srgbClr val="1E2227"/>
                </a:solidFill>
                <a:latin typeface="Consolas"/>
                <a:ea typeface="맑은 고딕"/>
              </a:rPr>
              <a:t>: "['B']",</a:t>
            </a:r>
          </a:p>
          <a:p>
            <a:pPr algn="l">
              <a:lnSpc>
                <a:spcPct val="113000"/>
              </a:lnSpc>
              <a:spcAft>
                <a:spcPts val="120"/>
              </a:spcAft>
            </a:pPr>
            <a:r>
              <a:rPr sz="1120" b="0" dirty="0">
                <a:solidFill>
                  <a:srgbClr val="1E2227"/>
                </a:solidFill>
                <a:latin typeface="Consolas"/>
                <a:ea typeface="맑은 고딕"/>
              </a:rPr>
              <a:t>  </a:t>
            </a:r>
            <a:r>
              <a:rPr sz="1120" b="1" dirty="0">
                <a:solidFill>
                  <a:srgbClr val="273A52"/>
                </a:solidFill>
                <a:latin typeface="Consolas"/>
                <a:ea typeface="맑은 고딕"/>
              </a:rPr>
              <a:t>"correctAnswer"</a:t>
            </a:r>
            <a:r>
              <a:rPr sz="1120" b="0" dirty="0">
                <a:solidFill>
                  <a:srgbClr val="1E2227"/>
                </a:solidFill>
                <a:latin typeface="Consolas"/>
                <a:ea typeface="맑은 고딕"/>
              </a:rPr>
              <a:t>: "Operation Market Garden",</a:t>
            </a:r>
            <a:r>
              <a:rPr sz="1120" b="0" dirty="0">
                <a:solidFill>
                  <a:srgbClr val="6B7480"/>
                </a:solidFill>
                <a:latin typeface="Consolas"/>
                <a:ea typeface="맑은 고딕"/>
              </a:rPr>
              <a:t>   // 정답</a:t>
            </a:r>
          </a:p>
          <a:p>
            <a:pPr algn="l">
              <a:lnSpc>
                <a:spcPct val="113000"/>
              </a:lnSpc>
              <a:spcAft>
                <a:spcPts val="120"/>
              </a:spcAft>
            </a:pPr>
            <a:r>
              <a:rPr sz="1120" b="0" dirty="0">
                <a:solidFill>
                  <a:srgbClr val="1E2227"/>
                </a:solidFill>
                <a:latin typeface="Consolas"/>
                <a:ea typeface="맑은 고딕"/>
              </a:rPr>
              <a:t>  </a:t>
            </a:r>
            <a:r>
              <a:rPr sz="1120" b="1" dirty="0">
                <a:solidFill>
                  <a:srgbClr val="273A52"/>
                </a:solidFill>
                <a:latin typeface="Consolas"/>
                <a:ea typeface="맑은 고딕"/>
              </a:rPr>
              <a:t>"reasons"</a:t>
            </a:r>
            <a:r>
              <a:rPr sz="1120" b="0" dirty="0">
                <a:solidFill>
                  <a:srgbClr val="1E2227"/>
                </a:solidFill>
                <a:latin typeface="Consolas"/>
                <a:ea typeface="맑은 고딕"/>
              </a:rPr>
              <a:t>: "['C']" }</a:t>
            </a:r>
            <a:r>
              <a:rPr sz="1120" b="0" dirty="0">
                <a:solidFill>
                  <a:srgbClr val="6B7480"/>
                </a:solidFill>
                <a:latin typeface="Consolas"/>
                <a:ea typeface="맑은 고딕"/>
              </a:rPr>
              <a:t>   // 선택 사유: 다수결·출처·상식·최신성</a:t>
            </a:r>
          </a:p>
          <a:p>
            <a:pPr algn="l">
              <a:lnSpc>
                <a:spcPct val="113000"/>
              </a:lnSpc>
              <a:spcAft>
                <a:spcPts val="120"/>
              </a:spcAft>
            </a:pPr>
            <a:r>
              <a:rPr sz="1120" b="0" dirty="0">
                <a:solidFill>
                  <a:srgbClr val="6B7480"/>
                </a:solidFill>
                <a:latin typeface="Consolas"/>
                <a:ea typeface="맑은 고딕"/>
              </a:rPr>
              <a:t>  // correctAnswer 쪽 = correct, 다른 답 쪽 = conflict (짝이 원본에 내장 → 별도 매핑 불필요)</a:t>
            </a:r>
          </a:p>
          <a:p>
            <a:pPr algn="l">
              <a:lnSpc>
                <a:spcPct val="113000"/>
              </a:lnSpc>
              <a:spcAft>
                <a:spcPts val="120"/>
              </a:spcAft>
            </a:pPr>
            <a:endParaRPr lang="en-US" sz="1120" b="0" dirty="0">
              <a:solidFill>
                <a:srgbClr val="6B7480"/>
              </a:solidFill>
              <a:latin typeface="Consolas"/>
              <a:ea typeface="맑은 고딕"/>
            </a:endParaRPr>
          </a:p>
          <a:p>
            <a:pPr algn="l">
              <a:lnSpc>
                <a:spcPct val="113000"/>
              </a:lnSpc>
              <a:spcAft>
                <a:spcPts val="120"/>
              </a:spcAft>
            </a:pPr>
            <a:r>
              <a:rPr sz="1120" b="0" dirty="0">
                <a:solidFill>
                  <a:srgbClr val="6B7480"/>
                </a:solidFill>
                <a:latin typeface="Consolas"/>
                <a:ea typeface="맑은 고딕"/>
              </a:rPr>
              <a:t>※ 전건 correctAnswer 보유 · 오타(Marget)·granularity 차이 → 공통 taxonomy로 재분류(사이비=비충돌 드롭)</a:t>
            </a:r>
          </a:p>
        </p:txBody>
      </p:sp>
      <p:sp>
        <p:nvSpPr>
          <p:cNvPr id="10" name="TextBox 9"/>
          <p:cNvSpPr txBox="1"/>
          <p:nvPr/>
        </p:nvSpPr>
        <p:spPr>
          <a:xfrm>
            <a:off x="548640" y="3848507"/>
            <a:ext cx="11091672" cy="292388"/>
          </a:xfrm>
          <a:prstGeom prst="rect">
            <a:avLst/>
          </a:prstGeom>
          <a:noFill/>
        </p:spPr>
        <p:txBody>
          <a:bodyPr wrap="square" lIns="91440" tIns="45720" rIns="91440" bIns="45720" anchor="ctr" anchorCtr="0">
            <a:spAutoFit/>
          </a:bodyPr>
          <a:lstStyle/>
          <a:p>
            <a:pPr algn="l"/>
            <a:r>
              <a:rPr lang="ko-KR" sz="1300" b="1" dirty="0">
                <a:solidFill>
                  <a:srgbClr val="273A52"/>
                </a:solidFill>
                <a:latin typeface="맑은 고딕"/>
                <a:ea typeface="맑은 고딕"/>
              </a:rPr>
              <a:t>데이터 전처리 방법</a:t>
            </a:r>
          </a:p>
        </p:txBody>
      </p:sp>
      <p:graphicFrame>
        <p:nvGraphicFramePr>
          <p:cNvPr id="11" name="Table 10"/>
          <p:cNvGraphicFramePr>
            <a:graphicFrameLocks noGrp="1"/>
          </p:cNvGraphicFramePr>
          <p:nvPr/>
        </p:nvGraphicFramePr>
        <p:xfrm>
          <a:off x="548640" y="4432707"/>
          <a:ext cx="11086800" cy="1460000"/>
        </p:xfrm>
        <a:graphic>
          <a:graphicData uri="http://schemas.openxmlformats.org/drawingml/2006/table">
            <a:tbl>
              <a:tblPr firstRow="1" bandRow="1">
                <a:tableStyleId>{5C22544A-7EE6-4342-B048-85BDC9FD1C3A}</a:tableStyleId>
              </a:tblPr>
              <a:tblGrid>
                <a:gridCol w="1900000">
                  <a:extLst>
                    <a:ext uri="{9D8B030D-6E8A-4147-A177-3AD203B41FA5}">
                      <a16:colId xmlns:a16="http://schemas.microsoft.com/office/drawing/2014/main" val="20000"/>
                    </a:ext>
                  </a:extLst>
                </a:gridCol>
                <a:gridCol w="9186800">
                  <a:extLst>
                    <a:ext uri="{9D8B030D-6E8A-4147-A177-3AD203B41FA5}">
                      <a16:colId xmlns:a16="http://schemas.microsoft.com/office/drawing/2014/main" val="20001"/>
                    </a:ext>
                  </a:extLst>
                </a:gridCol>
              </a:tblGrid>
              <a:tr h="320000">
                <a:tc>
                  <a:txBody>
                    <a:bodyPr/>
                    <a:lstStyle/>
                    <a:p>
                      <a:pPr algn="ctr">
                        <a:lnSpc>
                          <a:spcPct val="114000"/>
                        </a:lnSpc>
                        <a:spcAft>
                          <a:spcPts val="200"/>
                        </a:spcAft>
                      </a:pPr>
                      <a:r>
                        <a:rPr sz="1150" b="1">
                          <a:solidFill>
                            <a:srgbClr val="FFFFFF"/>
                          </a:solidFill>
                          <a:latin typeface="맑은 고딕"/>
                          <a:ea typeface="맑은 고딕"/>
                        </a:rPr>
                        <a:t>단계</a:t>
                      </a:r>
                    </a:p>
                  </a:txBody>
                  <a:tcPr anchor="ctr">
                    <a:solidFill>
                      <a:srgbClr val="273A52"/>
                    </a:solidFill>
                  </a:tcPr>
                </a:tc>
                <a:tc>
                  <a:txBody>
                    <a:bodyPr/>
                    <a:lstStyle/>
                    <a:p>
                      <a:pPr algn="ctr">
                        <a:lnSpc>
                          <a:spcPct val="114000"/>
                        </a:lnSpc>
                        <a:spcAft>
                          <a:spcPts val="200"/>
                        </a:spcAft>
                      </a:pPr>
                      <a:r>
                        <a:rPr sz="1150" b="1" dirty="0" err="1">
                          <a:solidFill>
                            <a:srgbClr val="FFFFFF"/>
                          </a:solidFill>
                          <a:latin typeface="맑은 고딕"/>
                          <a:ea typeface="맑은 고딕"/>
                        </a:rPr>
                        <a:t>내용</a:t>
                      </a:r>
                      <a:endParaRPr sz="1150" b="1" dirty="0">
                        <a:solidFill>
                          <a:srgbClr val="FFFFFF"/>
                        </a:solidFill>
                        <a:latin typeface="맑은 고딕"/>
                        <a:ea typeface="맑은 고딕"/>
                      </a:endParaRPr>
                    </a:p>
                  </a:txBody>
                  <a:tcPr anchor="ctr">
                    <a:solidFill>
                      <a:srgbClr val="273A52"/>
                    </a:solidFill>
                  </a:tcPr>
                </a:tc>
                <a:extLst>
                  <a:ext uri="{0D108BD9-81ED-4DB2-BD59-A6C34878D82A}">
                    <a16:rowId xmlns:a16="http://schemas.microsoft.com/office/drawing/2014/main" val="10000"/>
                  </a:ext>
                </a:extLst>
              </a:tr>
              <a:tr h="380000">
                <a:tc>
                  <a:txBody>
                    <a:bodyPr/>
                    <a:lstStyle/>
                    <a:p>
                      <a:pPr algn="l">
                        <a:lnSpc>
                          <a:spcPct val="114000"/>
                        </a:lnSpc>
                        <a:spcAft>
                          <a:spcPts val="200"/>
                        </a:spcAft>
                      </a:pPr>
                      <a:r>
                        <a:rPr lang="ko-KR" sz="1100" b="1" dirty="0">
                          <a:solidFill>
                            <a:srgbClr val="1E2227"/>
                          </a:solidFill>
                          <a:latin typeface="맑은 고딕"/>
                          <a:ea typeface="맑은 고딕"/>
                        </a:rPr>
                        <a:t>① 라벨 확보</a:t>
                      </a:r>
                    </a:p>
                  </a:txBody>
                  <a:tcPr anchor="ctr">
                    <a:solidFill>
                      <a:srgbClr val="FFFFFF"/>
                    </a:solidFill>
                  </a:tcPr>
                </a:tc>
                <a:tc>
                  <a:txBody>
                    <a:bodyPr/>
                    <a:lstStyle/>
                    <a:p>
                      <a:pPr algn="l">
                        <a:lnSpc>
                          <a:spcPct val="114000"/>
                        </a:lnSpc>
                        <a:spcAft>
                          <a:spcPts val="200"/>
                        </a:spcAft>
                      </a:pPr>
                      <a:r>
                        <a:rPr sz="1100" b="0" dirty="0" err="1">
                          <a:solidFill>
                            <a:srgbClr val="1E2227"/>
                          </a:solidFill>
                          <a:latin typeface="맑은 고딕"/>
                          <a:ea typeface="맑은 고딕"/>
                        </a:rPr>
                        <a:t>QACC엔</a:t>
                      </a:r>
                      <a:r>
                        <a:rPr sz="1100" b="0" dirty="0">
                          <a:solidFill>
                            <a:srgbClr val="1E2227"/>
                          </a:solidFill>
                          <a:latin typeface="맑은 고딕"/>
                          <a:ea typeface="맑은 고딕"/>
                        </a:rPr>
                        <a:t> </a:t>
                      </a:r>
                      <a:r>
                        <a:rPr sz="1100" b="0" dirty="0" err="1">
                          <a:solidFill>
                            <a:srgbClr val="1E2227"/>
                          </a:solidFill>
                          <a:latin typeface="맑은 고딕"/>
                          <a:ea typeface="맑은 고딕"/>
                        </a:rPr>
                        <a:t>충돌</a:t>
                      </a:r>
                      <a:r>
                        <a:rPr sz="1100" b="0" dirty="0">
                          <a:solidFill>
                            <a:srgbClr val="1E2227"/>
                          </a:solidFill>
                          <a:latin typeface="맑은 고딕"/>
                          <a:ea typeface="맑은 고딕"/>
                        </a:rPr>
                        <a:t> </a:t>
                      </a:r>
                      <a:r>
                        <a:rPr sz="1100" b="0" dirty="0" err="1">
                          <a:solidFill>
                            <a:srgbClr val="1E2227"/>
                          </a:solidFill>
                          <a:latin typeface="맑은 고딕"/>
                          <a:ea typeface="맑은 고딕"/>
                        </a:rPr>
                        <a:t>유형이</a:t>
                      </a:r>
                      <a:r>
                        <a:rPr sz="1100" b="0" dirty="0">
                          <a:solidFill>
                            <a:srgbClr val="1E2227"/>
                          </a:solidFill>
                          <a:latin typeface="맑은 고딕"/>
                          <a:ea typeface="맑은 고딕"/>
                        </a:rPr>
                        <a:t> </a:t>
                      </a:r>
                      <a:r>
                        <a:rPr sz="1100" b="0" dirty="0" err="1">
                          <a:solidFill>
                            <a:srgbClr val="1E2227"/>
                          </a:solidFill>
                          <a:latin typeface="맑은 고딕"/>
                          <a:ea typeface="맑은 고딕"/>
                        </a:rPr>
                        <a:t>없어</a:t>
                      </a:r>
                      <a:r>
                        <a:rPr sz="1100" b="0" dirty="0">
                          <a:solidFill>
                            <a:srgbClr val="1E2227"/>
                          </a:solidFill>
                          <a:latin typeface="맑은 고딕"/>
                          <a:ea typeface="맑은 고딕"/>
                        </a:rPr>
                        <a:t> </a:t>
                      </a:r>
                      <a:r>
                        <a:rPr sz="1100" b="0" dirty="0" err="1">
                          <a:solidFill>
                            <a:srgbClr val="1E2227"/>
                          </a:solidFill>
                          <a:latin typeface="맑은 고딕"/>
                          <a:ea typeface="맑은 고딕"/>
                        </a:rPr>
                        <a:t>LLM이</a:t>
                      </a:r>
                      <a:r>
                        <a:rPr sz="1100" b="0" dirty="0">
                          <a:solidFill>
                            <a:srgbClr val="1E2227"/>
                          </a:solidFill>
                          <a:latin typeface="맑은 고딕"/>
                          <a:ea typeface="맑은 고딕"/>
                        </a:rPr>
                        <a:t> </a:t>
                      </a:r>
                      <a:r>
                        <a:rPr sz="1100" b="0" dirty="0" err="1">
                          <a:solidFill>
                            <a:srgbClr val="1E2227"/>
                          </a:solidFill>
                          <a:latin typeface="맑은 고딕"/>
                          <a:ea typeface="맑은 고딕"/>
                        </a:rPr>
                        <a:t>먼저</a:t>
                      </a:r>
                      <a:r>
                        <a:rPr sz="1100" b="0" dirty="0">
                          <a:solidFill>
                            <a:srgbClr val="1E2227"/>
                          </a:solidFill>
                          <a:latin typeface="맑은 고딕"/>
                          <a:ea typeface="맑은 고딕"/>
                        </a:rPr>
                        <a:t> </a:t>
                      </a:r>
                      <a:r>
                        <a:rPr sz="1100" b="0" dirty="0" err="1">
                          <a:solidFill>
                            <a:srgbClr val="1E2227"/>
                          </a:solidFill>
                          <a:latin typeface="맑은 고딕"/>
                          <a:ea typeface="맑은 고딕"/>
                        </a:rPr>
                        <a:t>나누고</a:t>
                      </a:r>
                      <a:r>
                        <a:rPr sz="1100" b="0" dirty="0">
                          <a:solidFill>
                            <a:srgbClr val="1E2227"/>
                          </a:solidFill>
                          <a:latin typeface="맑은 고딕"/>
                          <a:ea typeface="맑은 고딕"/>
                        </a:rPr>
                        <a:t> </a:t>
                      </a:r>
                      <a:r>
                        <a:rPr sz="1100" b="0" dirty="0" err="1">
                          <a:solidFill>
                            <a:srgbClr val="1E2227"/>
                          </a:solidFill>
                          <a:latin typeface="맑은 고딕"/>
                          <a:ea typeface="맑은 고딕"/>
                        </a:rPr>
                        <a:t>사람이</a:t>
                      </a:r>
                      <a:r>
                        <a:rPr sz="1100" b="0" dirty="0">
                          <a:solidFill>
                            <a:srgbClr val="1E2227"/>
                          </a:solidFill>
                          <a:latin typeface="맑은 고딕"/>
                          <a:ea typeface="맑은 고딕"/>
                        </a:rPr>
                        <a:t> </a:t>
                      </a:r>
                      <a:r>
                        <a:rPr sz="1100" b="0" dirty="0" err="1">
                          <a:solidFill>
                            <a:srgbClr val="1E2227"/>
                          </a:solidFill>
                          <a:latin typeface="맑은 고딕"/>
                          <a:ea typeface="맑은 고딕"/>
                        </a:rPr>
                        <a:t>검수합니다</a:t>
                      </a:r>
                      <a:r>
                        <a:rPr lang="en-US" altLang="ko-KR" sz="1100" b="0" dirty="0">
                          <a:solidFill>
                            <a:srgbClr val="1E2227"/>
                          </a:solidFill>
                          <a:latin typeface="맑은 고딕"/>
                          <a:ea typeface="맑은 고딕"/>
                        </a:rPr>
                        <a:t>.</a:t>
                      </a:r>
                      <a:endParaRPr sz="1100" b="0" dirty="0">
                        <a:solidFill>
                          <a:srgbClr val="1E2227"/>
                        </a:solidFill>
                        <a:latin typeface="맑은 고딕"/>
                        <a:ea typeface="맑은 고딕"/>
                      </a:endParaRPr>
                    </a:p>
                  </a:txBody>
                  <a:tcPr anchor="ctr">
                    <a:solidFill>
                      <a:srgbClr val="FFFFFF"/>
                    </a:solidFill>
                  </a:tcPr>
                </a:tc>
                <a:extLst>
                  <a:ext uri="{0D108BD9-81ED-4DB2-BD59-A6C34878D82A}">
                    <a16:rowId xmlns:a16="http://schemas.microsoft.com/office/drawing/2014/main" val="10001"/>
                  </a:ext>
                </a:extLst>
              </a:tr>
              <a:tr h="380000">
                <a:tc>
                  <a:txBody>
                    <a:bodyPr/>
                    <a:lstStyle/>
                    <a:p>
                      <a:pPr algn="l">
                        <a:lnSpc>
                          <a:spcPct val="114000"/>
                        </a:lnSpc>
                        <a:spcAft>
                          <a:spcPts val="200"/>
                        </a:spcAft>
                      </a:pPr>
                      <a:r>
                        <a:rPr lang="ko-KR" sz="1100" b="1" dirty="0">
                          <a:solidFill>
                            <a:srgbClr val="1E2227"/>
                          </a:solidFill>
                          <a:latin typeface="맑은 고딕"/>
                          <a:ea typeface="맑은 고딕"/>
                        </a:rPr>
                        <a:t>② 정답 확정·검증</a:t>
                      </a:r>
                    </a:p>
                  </a:txBody>
                  <a:tcPr anchor="ctr">
                    <a:solidFill>
                      <a:srgbClr val="EEF2F7"/>
                    </a:solidFill>
                  </a:tcPr>
                </a:tc>
                <a:tc>
                  <a:txBody>
                    <a:bodyPr/>
                    <a:lstStyle/>
                    <a:p>
                      <a:pPr algn="l">
                        <a:lnSpc>
                          <a:spcPct val="114000"/>
                        </a:lnSpc>
                        <a:spcAft>
                          <a:spcPts val="200"/>
                        </a:spcAft>
                      </a:pPr>
                      <a:r>
                        <a:rPr sz="1100" b="0">
                          <a:solidFill>
                            <a:srgbClr val="1E2227"/>
                          </a:solidFill>
                          <a:latin typeface="맑은 고딕"/>
                          <a:ea typeface="맑은 고딕"/>
                        </a:rPr>
                        <a:t>각 문항의 정답이 맞는지 LLM과 사람이 다시 확인합니다.</a:t>
                      </a:r>
                    </a:p>
                  </a:txBody>
                  <a:tcPr anchor="ctr">
                    <a:solidFill>
                      <a:srgbClr val="EEF2F7"/>
                    </a:solidFill>
                  </a:tcPr>
                </a:tc>
                <a:extLst>
                  <a:ext uri="{0D108BD9-81ED-4DB2-BD59-A6C34878D82A}">
                    <a16:rowId xmlns:a16="http://schemas.microsoft.com/office/drawing/2014/main" val="10003"/>
                  </a:ext>
                </a:extLst>
              </a:tr>
              <a:tr h="380000">
                <a:tc>
                  <a:txBody>
                    <a:bodyPr/>
                    <a:lstStyle/>
                    <a:p>
                      <a:pPr algn="l">
                        <a:lnSpc>
                          <a:spcPct val="114000"/>
                        </a:lnSpc>
                        <a:spcAft>
                          <a:spcPts val="200"/>
                        </a:spcAft>
                      </a:pPr>
                      <a:r>
                        <a:rPr sz="1100" b="1">
                          <a:solidFill>
                            <a:srgbClr val="1E2227"/>
                          </a:solidFill>
                          <a:latin typeface="맑은 고딕"/>
                          <a:ea typeface="맑은 고딕"/>
                        </a:rPr>
                        <a:t>③ 공통 구조 매핑</a:t>
                      </a:r>
                    </a:p>
                  </a:txBody>
                  <a:tcPr anchor="ctr">
                    <a:solidFill>
                      <a:srgbClr val="FFFFFF"/>
                    </a:solidFill>
                  </a:tcPr>
                </a:tc>
                <a:tc>
                  <a:txBody>
                    <a:bodyPr/>
                    <a:lstStyle/>
                    <a:p>
                      <a:pPr algn="l">
                        <a:lnSpc>
                          <a:spcPct val="114000"/>
                        </a:lnSpc>
                        <a:spcAft>
                          <a:spcPts val="200"/>
                        </a:spcAft>
                      </a:pPr>
                      <a:r>
                        <a:rPr sz="1100" b="0" dirty="0" err="1">
                          <a:solidFill>
                            <a:srgbClr val="1E2227"/>
                          </a:solidFill>
                          <a:latin typeface="맑은 고딕"/>
                          <a:ea typeface="맑은 고딕"/>
                        </a:rPr>
                        <a:t>검색 조각과 출처를 청크로 묶고, 정답 지지는 </a:t>
                      </a:r>
                      <a:r>
                        <a:rPr sz="1100" b="1" dirty="0" err="1">
                          <a:solidFill>
                            <a:srgbClr val="C2410C"/>
                          </a:solidFill>
                          <a:latin typeface="맑은 고딕"/>
                          <a:ea typeface="맑은 고딕"/>
                        </a:rPr>
                        <a:t>correct</a:t>
                      </a:r>
                      <a:r>
                        <a:rPr sz="1100" b="0" dirty="0" err="1">
                          <a:solidFill>
                            <a:srgbClr val="1E2227"/>
                          </a:solidFill>
                          <a:latin typeface="맑은 고딕"/>
                          <a:ea typeface="맑은 고딕"/>
                        </a:rPr>
                        <a:t>·반대 답은 </a:t>
                      </a:r>
                      <a:r>
                        <a:rPr sz="1100" b="1" dirty="0" err="1">
                          <a:solidFill>
                            <a:srgbClr val="C2410C"/>
                          </a:solidFill>
                          <a:latin typeface="맑은 고딕"/>
                          <a:ea typeface="맑은 고딕"/>
                        </a:rPr>
                        <a:t>conflict</a:t>
                      </a:r>
                      <a:r>
                        <a:rPr sz="1100" b="0" dirty="0" err="1">
                          <a:solidFill>
                            <a:srgbClr val="1E2227"/>
                          </a:solidFill>
                          <a:latin typeface="맑은 고딕"/>
                          <a:ea typeface="맑은 고딕"/>
                        </a:rPr>
                        <a:t>·무관은 </a:t>
                      </a:r>
                      <a:r>
                        <a:rPr sz="1100" b="1" dirty="0" err="1">
                          <a:solidFill>
                            <a:srgbClr val="C2410C"/>
                          </a:solidFill>
                          <a:latin typeface="맑은 고딕"/>
                          <a:ea typeface="맑은 고딕"/>
                        </a:rPr>
                        <a:t>noise</a:t>
                      </a:r>
                      <a:r>
                        <a:rPr sz="1100" b="0" dirty="0" err="1">
                          <a:solidFill>
                            <a:srgbClr val="1E2227"/>
                          </a:solidFill>
                          <a:latin typeface="맑은 고딕"/>
                          <a:ea typeface="맑은 고딕"/>
                        </a:rPr>
                        <a:t>로 라벨링.</a:t>
                      </a:r>
                    </a:p>
                  </a:txBody>
                  <a:tcPr anchor="ctr">
                    <a:solidFill>
                      <a:srgbClr val="FFFFFF"/>
                    </a:solidFill>
                  </a:tcPr>
                </a:tc>
                <a:extLst>
                  <a:ext uri="{0D108BD9-81ED-4DB2-BD59-A6C34878D82A}">
                    <a16:rowId xmlns:a16="http://schemas.microsoft.com/office/drawing/2014/main" val="2524276455"/>
                  </a:ext>
                </a:extLst>
              </a:tr>
            </a:tbl>
          </a:graphicData>
        </a:graphic>
      </p:graphicFrame>
      <p:sp>
        <p:nvSpPr>
          <p:cNvPr id="89" name="TextBox Sub13"/>
          <p:cNvSpPr txBox="1"/>
          <p:nvPr/>
        </p:nvSpPr>
        <p:spPr>
          <a:xfrm>
            <a:off x="546100" y="4119440"/>
            <a:ext cx="10922000" cy="279400"/>
          </a:xfrm>
          <a:prstGeom prst="rect">
            <a:avLst/>
          </a:prstGeom>
          <a:noFill/>
        </p:spPr>
        <p:txBody>
          <a:bodyPr wrap="square" rtlCol="0" anchor="ctr">
            <a:noAutofit/>
          </a:bodyPr>
          <a:lstStyle/>
          <a:p>
            <a:pPr algn="l"/>
            <a:r>
              <a:rPr lang="ko-KR" sz="1150" b="1" dirty="0">
                <a:solidFill>
                  <a:srgbClr val="273A52"/>
                </a:solidFill>
                <a:latin typeface="맑은 고딕"/>
                <a:ea typeface="맑은 고딕"/>
              </a:rPr>
              <a:t>스크리닝 게이트</a:t>
            </a:r>
            <a:r>
              <a:rPr lang="ko-KR" sz="1050" b="0" dirty="0">
                <a:solidFill>
                  <a:srgbClr val="6B7480"/>
                </a:solidFill>
                <a:latin typeface="맑은 고딕"/>
                <a:ea typeface="맑은 고딕"/>
              </a:rPr>
              <a:t> — 정답·상충 답 쌍은 원본에 이미 내장돼 있어, </a:t>
            </a:r>
            <a:r>
              <a:rPr lang="ko-KR" sz="1050" b="1" dirty="0">
                <a:solidFill>
                  <a:srgbClr val="C2410C"/>
                </a:solidFill>
                <a:latin typeface="맑은 고딕"/>
                <a:ea typeface="맑은 고딕"/>
              </a:rPr>
              <a:t>conflict_type</a:t>
            </a:r>
            <a:r>
              <a:rPr lang="ko-KR" sz="1050" b="0" dirty="0">
                <a:solidFill>
                  <a:srgbClr val="6B7480"/>
                </a:solidFill>
                <a:latin typeface="맑은 고딕"/>
                <a:ea typeface="맑은 고딕"/>
              </a:rPr>
              <a:t>을 새로 부여하고 표기만 다른 가짜 충돌을 걸러내는 것이 목적.</a:t>
            </a:r>
          </a:p>
        </p:txBody>
      </p:sp>
    </p:spTree>
    <p:extLst>
      <p:ext uri="{BB962C8B-B14F-4D97-AF65-F5344CB8AC3E}">
        <p14:creationId xmlns:p14="http://schemas.microsoft.com/office/powerpoint/2010/main" val="356375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0" dirty="0">
                <a:solidFill>
                  <a:srgbClr val="6B7480"/>
                </a:solidFill>
                <a:latin typeface="맑은 고딕"/>
                <a:ea typeface="맑은 고딕"/>
              </a:rPr>
              <a:t>§3 방법론</a:t>
            </a:r>
            <a:r>
              <a:rPr lang="en-US" sz="1250" b="0" dirty="0">
                <a:solidFill>
                  <a:srgbClr val="B0B7C0"/>
                </a:solidFill>
                <a:latin typeface="맑은 고딕"/>
                <a:ea typeface="맑은 고딕"/>
              </a:rPr>
              <a:t>   ›   </a:t>
            </a:r>
            <a:r>
              <a:rPr lang="en-US" sz="1250" b="1" dirty="0">
                <a:solidFill>
                  <a:srgbClr val="273A52"/>
                </a:solidFill>
                <a:latin typeface="맑은 고딕"/>
                <a:ea typeface="맑은 고딕"/>
              </a:rPr>
              <a:t>§3.1 데이터</a:t>
            </a:r>
          </a:p>
        </p:txBody>
      </p:sp>
      <p:sp>
        <p:nvSpPr>
          <p:cNvPr id="3" name="TextBox 2"/>
          <p:cNvSpPr txBox="1"/>
          <p:nvPr/>
        </p:nvSpPr>
        <p:spPr>
          <a:xfrm>
            <a:off x="548640" y="585216"/>
            <a:ext cx="11091672" cy="396647"/>
          </a:xfrm>
          <a:prstGeom prst="rect">
            <a:avLst/>
          </a:prstGeom>
          <a:noFill/>
        </p:spPr>
        <p:txBody>
          <a:bodyPr wrap="square" lIns="0" tIns="0" rIns="0" bIns="0">
            <a:spAutoFit/>
          </a:bodyPr>
          <a:lstStyle/>
          <a:p>
            <a:pPr>
              <a:lnSpc>
                <a:spcPct val="122000"/>
              </a:lnSpc>
              <a:spcAft>
                <a:spcPts val="450"/>
              </a:spcAft>
            </a:pPr>
            <a:r>
              <a:rPr sz="2350" b="1" dirty="0" err="1">
                <a:solidFill>
                  <a:srgbClr val="273A52"/>
                </a:solidFill>
                <a:latin typeface="맑은 고딕"/>
                <a:ea typeface="맑은 고딕"/>
              </a:rPr>
              <a:t>RAMDocs</a:t>
            </a:r>
            <a:r>
              <a:rPr lang="en-US" altLang="ko-KR" sz="2350" b="1" dirty="0">
                <a:solidFill>
                  <a:srgbClr val="273A52"/>
                </a:solidFill>
                <a:latin typeface="맑은 고딕"/>
                <a:ea typeface="맑은 고딕"/>
              </a:rPr>
              <a:t>:</a:t>
            </a:r>
            <a:r>
              <a:rPr lang="ko-KR" altLang="en-US" sz="2350" b="1" dirty="0">
                <a:solidFill>
                  <a:srgbClr val="273A52"/>
                </a:solidFill>
                <a:latin typeface="맑은 고딕"/>
                <a:ea typeface="맑은 고딕"/>
              </a:rPr>
              <a:t> 원본 구조와 </a:t>
            </a:r>
            <a:r>
              <a:rPr lang="ko-KR" altLang="en-US" sz="2350" b="1" dirty="0" err="1">
                <a:solidFill>
                  <a:srgbClr val="273A52"/>
                </a:solidFill>
                <a:latin typeface="맑은 고딕"/>
                <a:ea typeface="맑은 고딕"/>
              </a:rPr>
              <a:t>전처리</a:t>
            </a:r>
            <a:r>
              <a:rPr lang="ko-KR" altLang="en-US" sz="2350" b="1" dirty="0">
                <a:solidFill>
                  <a:srgbClr val="273A52"/>
                </a:solidFill>
                <a:latin typeface="맑은 고딕"/>
                <a:ea typeface="맑은 고딕"/>
              </a:rPr>
              <a:t> 방법</a:t>
            </a:r>
            <a:endParaRPr sz="2350" b="1" dirty="0">
              <a:solidFill>
                <a:srgbClr val="273A52"/>
              </a:solidFill>
              <a:latin typeface="맑은 고딕"/>
              <a:ea typeface="맑은 고딕"/>
            </a:endParaRP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274320"/>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14</a:t>
            </a:fld>
            <a:endParaRPr lang="en-US" altLang="ko-KR" sz="950">
              <a:solidFill>
                <a:srgbClr val="6B7480"/>
              </a:solidFill>
              <a:latin typeface="맑은 고딕"/>
              <a:ea typeface="맑은 고딕"/>
            </a:endParaRPr>
          </a:p>
        </p:txBody>
      </p:sp>
      <p:sp>
        <p:nvSpPr>
          <p:cNvPr id="7" name="Rectangle 6"/>
          <p:cNvSpPr/>
          <p:nvPr/>
        </p:nvSpPr>
        <p:spPr>
          <a:xfrm>
            <a:off x="548640" y="1270000"/>
            <a:ext cx="11087100" cy="2194560"/>
          </a:xfrm>
          <a:prstGeom prst="rect">
            <a:avLst/>
          </a:prstGeom>
          <a:solidFill>
            <a:srgbClr val="F0F2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3000"/>
              </a:lnSpc>
              <a:spcAft>
                <a:spcPts val="120"/>
              </a:spcAft>
            </a:pPr>
            <a:r>
              <a:rPr sz="1117" b="0" dirty="0">
                <a:solidFill>
                  <a:srgbClr val="1E2227"/>
                </a:solidFill>
                <a:latin typeface="Consolas"/>
                <a:ea typeface="맑은 고딕"/>
              </a:rPr>
              <a:t>{</a:t>
            </a:r>
          </a:p>
          <a:p>
            <a:pPr algn="l">
              <a:lnSpc>
                <a:spcPct val="113000"/>
              </a:lnSpc>
              <a:spcAft>
                <a:spcPts val="120"/>
              </a:spcAft>
            </a:pPr>
            <a:r>
              <a:rPr sz="1117" b="0" dirty="0">
                <a:solidFill>
                  <a:srgbClr val="1E2227"/>
                </a:solidFill>
                <a:latin typeface="Consolas"/>
                <a:ea typeface="맑은 고딕"/>
              </a:rPr>
              <a:t>  </a:t>
            </a:r>
            <a:r>
              <a:rPr sz="1117" b="1" dirty="0">
                <a:solidFill>
                  <a:srgbClr val="273A52"/>
                </a:solidFill>
                <a:latin typeface="Consolas"/>
                <a:ea typeface="맑은 고딕"/>
              </a:rPr>
              <a:t>"question"</a:t>
            </a:r>
            <a:r>
              <a:rPr sz="1117" b="0" dirty="0">
                <a:solidFill>
                  <a:srgbClr val="1E2227"/>
                </a:solidFill>
                <a:latin typeface="Consolas"/>
                <a:ea typeface="맑은 고딕"/>
              </a:rPr>
              <a:t>: "What is the population of Broken Bow?",</a:t>
            </a:r>
            <a:r>
              <a:rPr sz="1117" b="0" dirty="0">
                <a:solidFill>
                  <a:srgbClr val="6B7480"/>
                </a:solidFill>
                <a:latin typeface="Consolas"/>
                <a:ea typeface="맑은 고딕"/>
              </a:rPr>
              <a:t>   // 질의(사용자 질문)</a:t>
            </a:r>
          </a:p>
          <a:p>
            <a:pPr algn="l">
              <a:lnSpc>
                <a:spcPct val="113000"/>
              </a:lnSpc>
              <a:spcAft>
                <a:spcPts val="120"/>
              </a:spcAft>
            </a:pPr>
            <a:r>
              <a:rPr sz="1117" b="0" dirty="0">
                <a:solidFill>
                  <a:srgbClr val="1E2227"/>
                </a:solidFill>
                <a:latin typeface="Consolas"/>
                <a:ea typeface="맑은 고딕"/>
              </a:rPr>
              <a:t>  </a:t>
            </a:r>
            <a:r>
              <a:rPr sz="1117" b="1" dirty="0">
                <a:solidFill>
                  <a:srgbClr val="273A52"/>
                </a:solidFill>
                <a:latin typeface="Consolas"/>
                <a:ea typeface="맑은 고딕"/>
              </a:rPr>
              <a:t>"documents"</a:t>
            </a:r>
            <a:r>
              <a:rPr sz="1117" b="0" dirty="0">
                <a:solidFill>
                  <a:srgbClr val="1E2227"/>
                </a:solidFill>
                <a:latin typeface="Consolas"/>
                <a:ea typeface="맑은 고딕"/>
              </a:rPr>
              <a:t>: [</a:t>
            </a:r>
            <a:r>
              <a:rPr sz="1117" b="0" dirty="0">
                <a:solidFill>
                  <a:srgbClr val="6B7480"/>
                </a:solidFill>
                <a:latin typeface="Consolas"/>
                <a:ea typeface="맑은 고딕"/>
              </a:rPr>
              <a:t>   // 문서들 · 각 문서에 라벨 내장</a:t>
            </a:r>
          </a:p>
          <a:p>
            <a:pPr algn="l">
              <a:lnSpc>
                <a:spcPct val="113000"/>
              </a:lnSpc>
              <a:spcAft>
                <a:spcPts val="120"/>
              </a:spcAft>
            </a:pPr>
            <a:r>
              <a:rPr sz="1117" b="0" dirty="0">
                <a:solidFill>
                  <a:srgbClr val="1E2227"/>
                </a:solidFill>
                <a:latin typeface="Consolas"/>
                <a:ea typeface="맑은 고딕"/>
              </a:rPr>
              <a:t>    { "text": "...total area...", </a:t>
            </a:r>
            <a:r>
              <a:rPr sz="1117" b="1" dirty="0">
                <a:solidFill>
                  <a:srgbClr val="273A52"/>
                </a:solidFill>
                <a:latin typeface="Consolas"/>
                <a:ea typeface="맑은 고딕"/>
              </a:rPr>
              <a:t>"type"</a:t>
            </a:r>
            <a:r>
              <a:rPr sz="1117" b="0" dirty="0">
                <a:solidFill>
                  <a:srgbClr val="1E2227"/>
                </a:solidFill>
                <a:latin typeface="Consolas"/>
                <a:ea typeface="맑은 고딕"/>
              </a:rPr>
              <a:t>: "correct", "answer": "3,559" },</a:t>
            </a:r>
            <a:r>
              <a:rPr sz="1117" b="0" dirty="0">
                <a:solidFill>
                  <a:srgbClr val="6B7480"/>
                </a:solidFill>
                <a:latin typeface="Consolas"/>
                <a:ea typeface="맑은 고딕"/>
              </a:rPr>
              <a:t>   // type = correct·misinfo·noise</a:t>
            </a:r>
          </a:p>
          <a:p>
            <a:pPr algn="l">
              <a:lnSpc>
                <a:spcPct val="113000"/>
              </a:lnSpc>
              <a:spcAft>
                <a:spcPts val="120"/>
              </a:spcAft>
            </a:pPr>
            <a:r>
              <a:rPr sz="1117" b="0" dirty="0">
                <a:solidFill>
                  <a:srgbClr val="1E2227"/>
                </a:solidFill>
                <a:latin typeface="Consolas"/>
                <a:ea typeface="맑은 고딕"/>
              </a:rPr>
              <a:t>    { "text": "...historical...", </a:t>
            </a:r>
            <a:r>
              <a:rPr sz="1117" b="1" dirty="0">
                <a:solidFill>
                  <a:srgbClr val="273A52"/>
                </a:solidFill>
                <a:latin typeface="Consolas"/>
                <a:ea typeface="맑은 고딕"/>
              </a:rPr>
              <a:t>"type"</a:t>
            </a:r>
            <a:r>
              <a:rPr sz="1117" b="0" dirty="0">
                <a:solidFill>
                  <a:srgbClr val="1E2227"/>
                </a:solidFill>
                <a:latin typeface="Consolas"/>
                <a:ea typeface="맑은 고딕"/>
              </a:rPr>
              <a:t>: "misinfo", "answer": "10,000" },</a:t>
            </a:r>
            <a:r>
              <a:rPr sz="1117" b="0" dirty="0">
                <a:solidFill>
                  <a:srgbClr val="6B7480"/>
                </a:solidFill>
                <a:latin typeface="Consolas"/>
                <a:ea typeface="맑은 고딕"/>
              </a:rPr>
              <a:t>   // answer = 그 문서가 주장하는 답</a:t>
            </a:r>
          </a:p>
          <a:p>
            <a:pPr algn="l">
              <a:lnSpc>
                <a:spcPct val="113000"/>
              </a:lnSpc>
              <a:spcAft>
                <a:spcPts val="120"/>
              </a:spcAft>
            </a:pPr>
            <a:r>
              <a:rPr sz="1117" b="0" dirty="0">
                <a:solidFill>
                  <a:srgbClr val="1E2227"/>
                </a:solidFill>
                <a:latin typeface="Consolas"/>
                <a:ea typeface="맑은 고딕"/>
              </a:rPr>
              <a:t>    { "text": "...census...",     </a:t>
            </a:r>
            <a:r>
              <a:rPr sz="1117" b="1" dirty="0">
                <a:solidFill>
                  <a:srgbClr val="273A52"/>
                </a:solidFill>
                <a:latin typeface="Consolas"/>
                <a:ea typeface="맑은 고딕"/>
              </a:rPr>
              <a:t>"type"</a:t>
            </a:r>
            <a:r>
              <a:rPr sz="1117" b="0" dirty="0">
                <a:solidFill>
                  <a:srgbClr val="1E2227"/>
                </a:solidFill>
                <a:latin typeface="Consolas"/>
                <a:ea typeface="맑은 고딕"/>
              </a:rPr>
              <a:t>: "noise"   } ],</a:t>
            </a:r>
          </a:p>
          <a:p>
            <a:pPr algn="l">
              <a:lnSpc>
                <a:spcPct val="113000"/>
              </a:lnSpc>
              <a:spcAft>
                <a:spcPts val="120"/>
              </a:spcAft>
            </a:pPr>
            <a:r>
              <a:rPr sz="1117" b="0" dirty="0">
                <a:solidFill>
                  <a:srgbClr val="1E2227"/>
                </a:solidFill>
                <a:latin typeface="Consolas"/>
                <a:ea typeface="맑은 고딕"/>
              </a:rPr>
              <a:t>  </a:t>
            </a:r>
            <a:r>
              <a:rPr sz="1117" b="1" dirty="0">
                <a:solidFill>
                  <a:srgbClr val="273A52"/>
                </a:solidFill>
                <a:latin typeface="Consolas"/>
                <a:ea typeface="맑은 고딕"/>
              </a:rPr>
              <a:t>"gold_answers"</a:t>
            </a:r>
            <a:r>
              <a:rPr sz="1117" b="0" dirty="0">
                <a:solidFill>
                  <a:srgbClr val="1E2227"/>
                </a:solidFill>
                <a:latin typeface="Consolas"/>
                <a:ea typeface="맑은 고딕"/>
              </a:rPr>
              <a:t>: ["3,559"], </a:t>
            </a:r>
            <a:r>
              <a:rPr sz="1117" b="1" dirty="0">
                <a:solidFill>
                  <a:srgbClr val="273A52"/>
                </a:solidFill>
                <a:latin typeface="Consolas"/>
                <a:ea typeface="맑은 고딕"/>
              </a:rPr>
              <a:t>"wrong_answers"</a:t>
            </a:r>
            <a:r>
              <a:rPr sz="1117" b="0" dirty="0">
                <a:solidFill>
                  <a:srgbClr val="1E2227"/>
                </a:solidFill>
                <a:latin typeface="Consolas"/>
                <a:ea typeface="맑은 고딕"/>
              </a:rPr>
              <a:t>: ["10,000"] }</a:t>
            </a:r>
            <a:r>
              <a:rPr sz="1117" b="0" dirty="0">
                <a:solidFill>
                  <a:srgbClr val="6B7480"/>
                </a:solidFill>
                <a:latin typeface="Consolas"/>
                <a:ea typeface="맑은 고딕"/>
              </a:rPr>
              <a:t>   // 유효 정답 / 오답</a:t>
            </a:r>
          </a:p>
          <a:p>
            <a:pPr algn="l">
              <a:lnSpc>
                <a:spcPct val="113000"/>
              </a:lnSpc>
              <a:spcAft>
                <a:spcPts val="120"/>
              </a:spcAft>
            </a:pPr>
            <a:r>
              <a:rPr sz="1117" b="0" dirty="0">
                <a:solidFill>
                  <a:srgbClr val="6B7480"/>
                </a:solidFill>
                <a:latin typeface="Consolas"/>
                <a:ea typeface="맑은 고딕"/>
              </a:rPr>
              <a:t>  // → type·correct 라벨이 내장돼 있어 별도의 정답 문서 매핑이 불필요</a:t>
            </a:r>
          </a:p>
          <a:p>
            <a:pPr algn="l">
              <a:lnSpc>
                <a:spcPct val="113000"/>
              </a:lnSpc>
              <a:spcAft>
                <a:spcPts val="120"/>
              </a:spcAft>
            </a:pPr>
            <a:endParaRPr lang="en-US" altLang="en-US" sz="1117" b="0" dirty="0">
              <a:solidFill>
                <a:srgbClr val="6B7480"/>
              </a:solidFill>
              <a:latin typeface="Consolas"/>
              <a:ea typeface="맑은 고딕"/>
            </a:endParaRPr>
          </a:p>
          <a:p>
            <a:pPr algn="l">
              <a:lnSpc>
                <a:spcPct val="113000"/>
              </a:lnSpc>
              <a:spcAft>
                <a:spcPts val="120"/>
              </a:spcAft>
            </a:pPr>
            <a:r>
              <a:rPr sz="1117" b="0" dirty="0">
                <a:solidFill>
                  <a:srgbClr val="6B7480"/>
                </a:solidFill>
                <a:latin typeface="Consolas"/>
                <a:ea typeface="맑은 고딕"/>
              </a:rPr>
              <a:t>※ 한 문항에 정답 지지 · 오정보 · 노이즈 문서가 함께 섞여 있음.</a:t>
            </a:r>
          </a:p>
        </p:txBody>
      </p:sp>
      <p:sp>
        <p:nvSpPr>
          <p:cNvPr id="12" name="TextBox 11">
            <a:extLst>
              <a:ext uri="{FF2B5EF4-FFF2-40B4-BE49-F238E27FC236}">
                <a16:creationId xmlns:a16="http://schemas.microsoft.com/office/drawing/2014/main" id="{FDD139A6-601D-3B40-B0E5-FF7857CFE463}"/>
              </a:ext>
            </a:extLst>
          </p:cNvPr>
          <p:cNvSpPr txBox="1"/>
          <p:nvPr/>
        </p:nvSpPr>
        <p:spPr>
          <a:xfrm>
            <a:off x="548640" y="3565652"/>
            <a:ext cx="11087100" cy="304800"/>
          </a:xfrm>
          <a:prstGeom prst="rect">
            <a:avLst/>
          </a:prstGeom>
          <a:noFill/>
        </p:spPr>
        <p:txBody>
          <a:bodyPr vertOverflow="overflow" vert="horz" wrap="square" lIns="91440" tIns="45720" rIns="91440" bIns="45720" rtlCol="0" anchor="ctr" anchorCtr="0">
            <a:noAutofit/>
          </a:bodyPr>
          <a:lstStyle/>
          <a:p>
            <a:pPr algn="l"/>
            <a:r>
              <a:rPr lang="ko-KR" sz="1300" b="1" dirty="0">
                <a:solidFill>
                  <a:srgbClr val="273A52"/>
                </a:solidFill>
                <a:latin typeface="맑은 고딕"/>
                <a:ea typeface="맑은 고딕"/>
              </a:rPr>
              <a:t>데이터 전처리 방법</a:t>
            </a:r>
          </a:p>
        </p:txBody>
      </p:sp>
      <p:graphicFrame>
        <p:nvGraphicFramePr>
          <p:cNvPr id="40" name="Pipeline Table"/>
          <p:cNvGraphicFramePr>
            <a:graphicFrameLocks noGrp="1"/>
          </p:cNvGraphicFramePr>
          <p:nvPr/>
        </p:nvGraphicFramePr>
        <p:xfrm>
          <a:off x="548640" y="4266542"/>
          <a:ext cx="11086800" cy="1840000"/>
        </p:xfrm>
        <a:graphic>
          <a:graphicData uri="http://schemas.openxmlformats.org/drawingml/2006/table">
            <a:tbl>
              <a:tblPr firstRow="1" bandRow="1">
                <a:tableStyleId>{5C22544A-7EE6-4342-B048-85BDC9FD1C3A}</a:tableStyleId>
              </a:tblPr>
              <a:tblGrid>
                <a:gridCol w="1900000">
                  <a:extLst>
                    <a:ext uri="{9D8B030D-6E8A-4147-A177-3AD203B41FA5}">
                      <a16:colId xmlns:a16="http://schemas.microsoft.com/office/drawing/2014/main" val="20000"/>
                    </a:ext>
                  </a:extLst>
                </a:gridCol>
                <a:gridCol w="9186800">
                  <a:extLst>
                    <a:ext uri="{9D8B030D-6E8A-4147-A177-3AD203B41FA5}">
                      <a16:colId xmlns:a16="http://schemas.microsoft.com/office/drawing/2014/main" val="20001"/>
                    </a:ext>
                  </a:extLst>
                </a:gridCol>
              </a:tblGrid>
              <a:tr h="320000">
                <a:tc>
                  <a:txBody>
                    <a:bodyPr/>
                    <a:lstStyle/>
                    <a:p>
                      <a:pPr algn="ctr">
                        <a:lnSpc>
                          <a:spcPct val="112000"/>
                        </a:lnSpc>
                        <a:spcAft>
                          <a:spcPts val="200"/>
                        </a:spcAft>
                      </a:pPr>
                      <a:r>
                        <a:rPr lang="ko-KR" sz="1150" b="1" dirty="0">
                          <a:solidFill>
                            <a:srgbClr val="FFFFFF"/>
                          </a:solidFill>
                          <a:latin typeface="맑은 고딕"/>
                          <a:ea typeface="맑은 고딕"/>
                        </a:rPr>
                        <a:t>단계</a:t>
                      </a:r>
                    </a:p>
                  </a:txBody>
                  <a:tcPr anchor="ctr">
                    <a:solidFill>
                      <a:srgbClr val="273A52"/>
                    </a:solidFill>
                  </a:tcPr>
                </a:tc>
                <a:tc>
                  <a:txBody>
                    <a:bodyPr/>
                    <a:lstStyle/>
                    <a:p>
                      <a:pPr algn="ctr">
                        <a:lnSpc>
                          <a:spcPct val="112000"/>
                        </a:lnSpc>
                        <a:spcAft>
                          <a:spcPts val="200"/>
                        </a:spcAft>
                      </a:pPr>
                      <a:r>
                        <a:rPr lang="ko-KR" sz="1150" b="1" dirty="0">
                          <a:solidFill>
                            <a:srgbClr val="FFFFFF"/>
                          </a:solidFill>
                          <a:latin typeface="맑은 고딕"/>
                          <a:ea typeface="맑은 고딕"/>
                        </a:rPr>
                        <a:t>내용</a:t>
                      </a:r>
                    </a:p>
                  </a:txBody>
                  <a:tcPr anchor="ctr">
                    <a:solidFill>
                      <a:srgbClr val="273A52"/>
                    </a:solidFill>
                  </a:tcPr>
                </a:tc>
                <a:extLst>
                  <a:ext uri="{0D108BD9-81ED-4DB2-BD59-A6C34878D82A}">
                    <a16:rowId xmlns:a16="http://schemas.microsoft.com/office/drawing/2014/main" val="10000"/>
                  </a:ext>
                </a:extLst>
              </a:tr>
              <a:tr h="380000">
                <a:tc>
                  <a:txBody>
                    <a:bodyPr/>
                    <a:lstStyle/>
                    <a:p>
                      <a:pPr algn="l">
                        <a:lnSpc>
                          <a:spcPct val="112000"/>
                        </a:lnSpc>
                        <a:spcAft>
                          <a:spcPts val="200"/>
                        </a:spcAft>
                      </a:pPr>
                      <a:r>
                        <a:rPr lang="ko-KR" sz="1100" b="1" dirty="0">
                          <a:solidFill>
                            <a:srgbClr val="1E2227"/>
                          </a:solidFill>
                          <a:latin typeface="맑은 고딕"/>
                          <a:ea typeface="맑은 고딕"/>
                        </a:rPr>
                        <a:t>① 라벨 확보</a:t>
                      </a:r>
                    </a:p>
                  </a:txBody>
                  <a:tcPr anchor="ctr">
                    <a:solidFill>
                      <a:srgbClr val="FFFFFF"/>
                    </a:solidFill>
                  </a:tcPr>
                </a:tc>
                <a:tc>
                  <a:txBody>
                    <a:bodyPr/>
                    <a:lstStyle/>
                    <a:p>
                      <a:pPr algn="l">
                        <a:lnSpc>
                          <a:spcPct val="112000"/>
                        </a:lnSpc>
                        <a:spcAft>
                          <a:spcPts val="200"/>
                        </a:spcAft>
                      </a:pPr>
                      <a:r>
                        <a:rPr lang="ko-KR" sz="1100" b="0" dirty="0">
                          <a:solidFill>
                            <a:srgbClr val="1E2227"/>
                          </a:solidFill>
                          <a:latin typeface="맑은 고딕"/>
                          <a:ea typeface="맑은 고딕"/>
                        </a:rPr>
                        <a:t>문서별 </a:t>
                      </a:r>
                      <a:r>
                        <a:rPr lang="ko-KR" sz="1100" b="1" dirty="0">
                          <a:solidFill>
                            <a:srgbClr val="C2410C"/>
                          </a:solidFill>
                          <a:latin typeface="맑은 고딕"/>
                          <a:ea typeface="맑은 고딕"/>
                        </a:rPr>
                        <a:t>type(correct/misinfo/noise)</a:t>
                      </a:r>
                      <a:r>
                        <a:rPr lang="ko-KR" sz="1100" b="0" dirty="0">
                          <a:solidFill>
                            <a:srgbClr val="1E2227"/>
                          </a:solidFill>
                          <a:latin typeface="맑은 고딕"/>
                          <a:ea typeface="맑은 고딕"/>
                        </a:rPr>
                        <a:t>이 합성 단계에서 이미 부여돼 있어 그대로 승계.</a:t>
                      </a:r>
                    </a:p>
                  </a:txBody>
                  <a:tcPr anchor="ctr">
                    <a:solidFill>
                      <a:srgbClr val="FFFFFF"/>
                    </a:solidFill>
                  </a:tcPr>
                </a:tc>
                <a:extLst>
                  <a:ext uri="{0D108BD9-81ED-4DB2-BD59-A6C34878D82A}">
                    <a16:rowId xmlns:a16="http://schemas.microsoft.com/office/drawing/2014/main" val="10001"/>
                  </a:ext>
                </a:extLst>
              </a:tr>
              <a:tr h="380000">
                <a:tc>
                  <a:txBody>
                    <a:bodyPr/>
                    <a:lstStyle/>
                    <a:p>
                      <a:pPr algn="l">
                        <a:lnSpc>
                          <a:spcPct val="112000"/>
                        </a:lnSpc>
                        <a:spcAft>
                          <a:spcPts val="200"/>
                        </a:spcAft>
                      </a:pPr>
                      <a:r>
                        <a:rPr lang="ko-KR" sz="1100" b="1" dirty="0">
                          <a:solidFill>
                            <a:srgbClr val="1E2227"/>
                          </a:solidFill>
                          <a:latin typeface="맑은 고딕"/>
                          <a:ea typeface="맑은 고딕"/>
                        </a:rPr>
                        <a:t>② 정답 확정·검증</a:t>
                      </a:r>
                    </a:p>
                  </a:txBody>
                  <a:tcPr anchor="ctr">
                    <a:solidFill>
                      <a:srgbClr val="EEF2F7"/>
                    </a:solidFill>
                  </a:tcPr>
                </a:tc>
                <a:tc>
                  <a:txBody>
                    <a:bodyPr/>
                    <a:lstStyle/>
                    <a:p>
                      <a:pPr algn="l">
                        <a:lnSpc>
                          <a:spcPct val="112000"/>
                        </a:lnSpc>
                        <a:spcAft>
                          <a:spcPts val="200"/>
                        </a:spcAft>
                      </a:pPr>
                      <a:r>
                        <a:rPr lang="ko-KR" sz="1100" b="0" dirty="0">
                          <a:solidFill>
                            <a:srgbClr val="1E2227"/>
                          </a:solidFill>
                          <a:latin typeface="맑은 고딕"/>
                          <a:ea typeface="맑은 고딕"/>
                        </a:rPr>
                        <a:t>gold·wrong answers가 원본에 포함돼 있어 그대로 사용.</a:t>
                      </a:r>
                    </a:p>
                  </a:txBody>
                  <a:tcPr anchor="ctr">
                    <a:solidFill>
                      <a:srgbClr val="EEF2F7"/>
                    </a:solidFill>
                  </a:tcPr>
                </a:tc>
                <a:extLst>
                  <a:ext uri="{0D108BD9-81ED-4DB2-BD59-A6C34878D82A}">
                    <a16:rowId xmlns:a16="http://schemas.microsoft.com/office/drawing/2014/main" val="10002"/>
                  </a:ext>
                </a:extLst>
              </a:tr>
              <a:tr h="380000">
                <a:tc>
                  <a:txBody>
                    <a:bodyPr/>
                    <a:lstStyle/>
                    <a:p>
                      <a:pPr algn="l">
                        <a:lnSpc>
                          <a:spcPct val="112000"/>
                        </a:lnSpc>
                        <a:spcAft>
                          <a:spcPts val="200"/>
                        </a:spcAft>
                      </a:pPr>
                      <a:r>
                        <a:rPr lang="ko-KR" sz="1100" b="1" dirty="0">
                          <a:solidFill>
                            <a:srgbClr val="1E2227"/>
                          </a:solidFill>
                          <a:latin typeface="맑은 고딕"/>
                          <a:ea typeface="맑은 고딕"/>
                        </a:rPr>
                        <a:t>③ 공통 구조 매핑</a:t>
                      </a:r>
                    </a:p>
                  </a:txBody>
                  <a:tcPr anchor="ctr">
                    <a:solidFill>
                      <a:srgbClr val="FFFFFF"/>
                    </a:solidFill>
                  </a:tcPr>
                </a:tc>
                <a:tc>
                  <a:txBody>
                    <a:bodyPr/>
                    <a:lstStyle/>
                    <a:p>
                      <a:pPr algn="l">
                        <a:lnSpc>
                          <a:spcPct val="112000"/>
                        </a:lnSpc>
                        <a:spcAft>
                          <a:spcPts val="200"/>
                        </a:spcAft>
                      </a:pPr>
                      <a:r>
                        <a:rPr lang="ko-KR" sz="1100" b="0" dirty="0">
                          <a:solidFill>
                            <a:srgbClr val="1E2227"/>
                          </a:solidFill>
                          <a:latin typeface="맑은 고딕"/>
                          <a:ea typeface="맑은 고딕"/>
                        </a:rPr>
                        <a:t>type→공통 label 승계 — </a:t>
                      </a:r>
                      <a:r>
                        <a:rPr lang="ko-KR" sz="1100" b="1" dirty="0">
                          <a:solidFill>
                            <a:srgbClr val="C2410C"/>
                          </a:solidFill>
                          <a:latin typeface="맑은 고딕"/>
                          <a:ea typeface="맑은 고딕"/>
                        </a:rPr>
                        <a:t>correct→correct · misinfo→conflict · noise→noise</a:t>
                      </a:r>
                    </a:p>
                  </a:txBody>
                  <a:tcPr anchor="ctr">
                    <a:solidFill>
                      <a:srgbClr val="FFFFFF"/>
                    </a:solidFill>
                  </a:tcPr>
                </a:tc>
                <a:extLst>
                  <a:ext uri="{0D108BD9-81ED-4DB2-BD59-A6C34878D82A}">
                    <a16:rowId xmlns:a16="http://schemas.microsoft.com/office/drawing/2014/main" val="10003"/>
                  </a:ext>
                </a:extLst>
              </a:tr>
              <a:tr h="380000">
                <a:tc>
                  <a:txBody>
                    <a:bodyPr/>
                    <a:lstStyle/>
                    <a:p>
                      <a:pPr algn="l">
                        <a:lnSpc>
                          <a:spcPct val="112000"/>
                        </a:lnSpc>
                        <a:spcAft>
                          <a:spcPts val="200"/>
                        </a:spcAft>
                      </a:pPr>
                      <a:r>
                        <a:rPr lang="ko-KR" sz="1100" b="1" dirty="0">
                          <a:solidFill>
                            <a:srgbClr val="1E2227"/>
                          </a:solidFill>
                          <a:latin typeface="맑은 고딕"/>
                          <a:ea typeface="맑은 고딕"/>
                        </a:rPr>
                        <a:t>④ 데이터셋 2개 분리</a:t>
                      </a:r>
                    </a:p>
                  </a:txBody>
                  <a:tcPr anchor="ctr">
                    <a:solidFill>
                      <a:srgbClr val="EEF2F7"/>
                    </a:solidFill>
                  </a:tcPr>
                </a:tc>
                <a:tc>
                  <a:txBody>
                    <a:bodyPr/>
                    <a:lstStyle/>
                    <a:p>
                      <a:pPr algn="l">
                        <a:lnSpc>
                          <a:spcPct val="112000"/>
                        </a:lnSpc>
                        <a:spcAft>
                          <a:spcPts val="200"/>
                        </a:spcAft>
                      </a:pPr>
                      <a:r>
                        <a:rPr lang="ko-KR" sz="1100" b="0" dirty="0">
                          <a:solidFill>
                            <a:srgbClr val="1E2227"/>
                          </a:solidFill>
                          <a:latin typeface="맑은 고딕"/>
                          <a:ea typeface="맑은 고딕"/>
                        </a:rPr>
                        <a:t>3요인이 한 문항에 겹쳐 2개로 분리 — </a:t>
                      </a:r>
                      <a:r>
                        <a:rPr lang="ko-KR" sz="1100" b="1" dirty="0">
                          <a:solidFill>
                            <a:srgbClr val="C2410C"/>
                          </a:solidFill>
                          <a:latin typeface="맑은 고딕"/>
                          <a:ea typeface="맑은 고딕"/>
                        </a:rPr>
                        <a:t>(A) 충돌 1개만 남긴 분해형</a:t>
                      </a:r>
                      <a:r>
                        <a:rPr lang="ko-KR" sz="1100" b="0" dirty="0">
                          <a:solidFill>
                            <a:srgbClr val="1E2227"/>
                          </a:solidFill>
                          <a:latin typeface="맑은 고딕"/>
                          <a:ea typeface="맑은 고딕"/>
                        </a:rPr>
                        <a:t> = 본 실험 사용 / </a:t>
                      </a:r>
                      <a:r>
                        <a:rPr lang="ko-KR" sz="1100" b="1" dirty="0">
                          <a:solidFill>
                            <a:srgbClr val="1E2227"/>
                          </a:solidFill>
                          <a:latin typeface="맑은 고딕"/>
                          <a:ea typeface="맑은 고딕"/>
                        </a:rPr>
                        <a:t>(B) 원본 결합형</a:t>
                      </a:r>
                      <a:r>
                        <a:rPr lang="ko-KR" sz="1100" b="0" dirty="0">
                          <a:solidFill>
                            <a:srgbClr val="1E2227"/>
                          </a:solidFill>
                          <a:latin typeface="맑은 고딕"/>
                          <a:ea typeface="맑은 고딕"/>
                        </a:rPr>
                        <a:t> = 향후 과제용 보관.</a:t>
                      </a:r>
                    </a:p>
                  </a:txBody>
                  <a:tcPr anchor="ctr">
                    <a:solidFill>
                      <a:srgbClr val="EEF2F7"/>
                    </a:solidFill>
                  </a:tcPr>
                </a:tc>
                <a:extLst>
                  <a:ext uri="{0D108BD9-81ED-4DB2-BD59-A6C34878D82A}">
                    <a16:rowId xmlns:a16="http://schemas.microsoft.com/office/drawing/2014/main" val="1440316594"/>
                  </a:ext>
                </a:extLst>
              </a:tr>
            </a:tbl>
          </a:graphicData>
        </a:graphic>
      </p:graphicFrame>
      <p:sp>
        <p:nvSpPr>
          <p:cNvPr id="88" name="TextBox Sub12"/>
          <p:cNvSpPr txBox="1"/>
          <p:nvPr/>
        </p:nvSpPr>
        <p:spPr>
          <a:xfrm>
            <a:off x="546100" y="3860800"/>
            <a:ext cx="10922000" cy="279400"/>
          </a:xfrm>
          <a:prstGeom prst="rect">
            <a:avLst/>
          </a:prstGeom>
          <a:noFill/>
        </p:spPr>
        <p:txBody>
          <a:bodyPr wrap="square" rtlCol="0">
            <a:noAutofit/>
          </a:bodyPr>
          <a:lstStyle/>
          <a:p>
            <a:pPr algn="l"/>
            <a:r>
              <a:rPr lang="ko-KR" sz="1150" b="1" dirty="0">
                <a:solidFill>
                  <a:srgbClr val="273A52"/>
                </a:solidFill>
                <a:latin typeface="맑은 고딕"/>
                <a:ea typeface="맑은 고딕"/>
              </a:rPr>
              <a:t>라벨 승계</a:t>
            </a:r>
            <a:r>
              <a:rPr lang="ko-KR" sz="1050" b="0" dirty="0">
                <a:solidFill>
                  <a:srgbClr val="6B7480"/>
                </a:solidFill>
                <a:latin typeface="맑은 고딕"/>
                <a:ea typeface="맑은 고딕"/>
              </a:rPr>
              <a:t> — 문서별 라벨·정답이 원본에 이미 있어 그대로 승계하되, </a:t>
            </a:r>
            <a:r>
              <a:rPr lang="ko-KR" sz="1050" b="1" dirty="0">
                <a:solidFill>
                  <a:srgbClr val="C2410C"/>
                </a:solidFill>
                <a:latin typeface="맑은 고딕"/>
                <a:ea typeface="맑은 고딕"/>
              </a:rPr>
              <a:t>3요인이 겹쳐 있어 데이터셋을 2개로 나누는</a:t>
            </a:r>
            <a:r>
              <a:rPr lang="ko-KR" sz="1050" b="0" dirty="0">
                <a:solidFill>
                  <a:srgbClr val="6B7480"/>
                </a:solidFill>
                <a:latin typeface="맑은 고딕"/>
                <a:ea typeface="맑은 고딕"/>
              </a:rPr>
              <a:t> 것이 특징.</a:t>
            </a:r>
          </a:p>
        </p:txBody>
      </p:sp>
    </p:spTree>
    <p:extLst>
      <p:ext uri="{BB962C8B-B14F-4D97-AF65-F5344CB8AC3E}">
        <p14:creationId xmlns:p14="http://schemas.microsoft.com/office/powerpoint/2010/main" val="3596475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0" dirty="0">
                <a:solidFill>
                  <a:srgbClr val="6B7480"/>
                </a:solidFill>
                <a:latin typeface="맑은 고딕"/>
                <a:ea typeface="맑은 고딕"/>
              </a:rPr>
              <a:t>§3 방법론</a:t>
            </a:r>
            <a:r>
              <a:rPr lang="en-US" sz="1250" b="0" dirty="0">
                <a:solidFill>
                  <a:srgbClr val="B0B7C0"/>
                </a:solidFill>
                <a:latin typeface="맑은 고딕"/>
                <a:ea typeface="맑은 고딕"/>
              </a:rPr>
              <a:t>   ›   </a:t>
            </a:r>
            <a:r>
              <a:rPr lang="en-US" sz="1250" b="1" dirty="0">
                <a:solidFill>
                  <a:srgbClr val="273A52"/>
                </a:solidFill>
                <a:latin typeface="맑은 고딕"/>
                <a:ea typeface="맑은 고딕"/>
              </a:rPr>
              <a:t>§3.2 진단 프로토콜</a:t>
            </a:r>
          </a:p>
        </p:txBody>
      </p:sp>
      <p:sp>
        <p:nvSpPr>
          <p:cNvPr id="3" name="TextBox 2"/>
          <p:cNvSpPr txBox="1"/>
          <p:nvPr/>
        </p:nvSpPr>
        <p:spPr>
          <a:xfrm>
            <a:off x="548640" y="585216"/>
            <a:ext cx="11091672" cy="502920"/>
          </a:xfrm>
          <a:prstGeom prst="rect">
            <a:avLst/>
          </a:prstGeom>
          <a:noFill/>
        </p:spPr>
        <p:txBody>
          <a:bodyPr wrap="square" lIns="0" tIns="0" rIns="0" bIns="0">
            <a:spAutoFit/>
          </a:bodyPr>
          <a:lstStyle/>
          <a:p>
            <a:pPr algn="l">
              <a:lnSpc>
                <a:spcPct val="122000"/>
              </a:lnSpc>
              <a:spcAft>
                <a:spcPts val="450"/>
              </a:spcAft>
            </a:pPr>
            <a:r>
              <a:rPr sz="2350" b="1">
                <a:solidFill>
                  <a:srgbClr val="273A52"/>
                </a:solidFill>
                <a:latin typeface="맑은 고딕"/>
                <a:ea typeface="맑은 고딕"/>
              </a:rPr>
              <a:t>다단계 진단 프로토콜: 3단계 궤적 라벨링</a:t>
            </a: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274320"/>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15</a:t>
            </a:fld>
            <a:endParaRPr lang="en-US" altLang="ko-KR" sz="950">
              <a:solidFill>
                <a:srgbClr val="6B7480"/>
              </a:solidFill>
              <a:latin typeface="맑은 고딕"/>
              <a:ea typeface="맑은 고딕"/>
            </a:endParaRPr>
          </a:p>
        </p:txBody>
      </p:sp>
      <p:sp>
        <p:nvSpPr>
          <p:cNvPr id="7" name="Rectangle 6"/>
          <p:cNvSpPr/>
          <p:nvPr/>
        </p:nvSpPr>
        <p:spPr>
          <a:xfrm>
            <a:off x="548640" y="1574800"/>
            <a:ext cx="3401568" cy="33020"/>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612900"/>
            <a:ext cx="3401568" cy="170434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pPr>
            <a:r>
              <a:rPr lang="ko-KR" sz="1300" b="1" dirty="0">
                <a:solidFill>
                  <a:srgbClr val="273A52"/>
                </a:solidFill>
                <a:latin typeface="맑은 고딕"/>
                <a:ea typeface="맑은 고딕"/>
              </a:rPr>
              <a:t>Level 1 · 탐지</a:t>
            </a:r>
          </a:p>
          <a:p>
            <a:pPr algn="l">
              <a:lnSpc>
                <a:spcPct val="130000"/>
              </a:lnSpc>
              <a:spcAft>
                <a:spcPts val="450"/>
              </a:spcAft>
            </a:pPr>
            <a:r>
              <a:rPr lang="ko-KR" sz="1120" b="0" dirty="0">
                <a:solidFill>
                  <a:srgbClr val="1E2227"/>
                </a:solidFill>
                <a:latin typeface="맑은 고딕"/>
                <a:ea typeface="맑은 고딕"/>
              </a:rPr>
              <a:t>문서 간 불일치를 </a:t>
            </a:r>
            <a:r>
              <a:rPr lang="ko-KR" sz="1120" b="1" dirty="0">
                <a:solidFill>
                  <a:srgbClr val="1E2227"/>
                </a:solidFill>
                <a:latin typeface="맑은 고딕"/>
                <a:ea typeface="맑은 고딕"/>
              </a:rPr>
              <a:t>감지</a:t>
            </a:r>
            <a:r>
              <a:rPr lang="ko-KR" sz="1120" b="0" dirty="0">
                <a:solidFill>
                  <a:srgbClr val="1E2227"/>
                </a:solidFill>
                <a:latin typeface="맑은 고딕"/>
                <a:ea typeface="맑은 고딕"/>
              </a:rPr>
              <a:t>했는가?</a:t>
            </a:r>
          </a:p>
          <a:p>
            <a:pPr algn="l">
              <a:lnSpc>
                <a:spcPct val="130000"/>
              </a:lnSpc>
              <a:spcAft>
                <a:spcPts val="450"/>
              </a:spcAft>
            </a:pPr>
            <a:r>
              <a:rPr lang="ko-KR" sz="1120" b="1" dirty="0">
                <a:solidFill>
                  <a:srgbClr val="1E2227"/>
                </a:solidFill>
                <a:latin typeface="맑은 고딕"/>
                <a:ea typeface="맑은 고딕"/>
              </a:rPr>
              <a:t>{detected, unrecognized}</a:t>
            </a:r>
          </a:p>
          <a:p>
            <a:pPr algn="l">
              <a:lnSpc>
                <a:spcPct val="130000"/>
              </a:lnSpc>
              <a:spcAft>
                <a:spcPts val="450"/>
              </a:spcAft>
            </a:pPr>
            <a:r>
              <a:rPr lang="ko-KR" sz="1040" b="0" dirty="0">
                <a:solidFill>
                  <a:srgbClr val="6B7480"/>
                </a:solidFill>
                <a:latin typeface="맑은 고딕"/>
                <a:ea typeface="맑은 고딕"/>
              </a:rPr>
              <a:t>원인 유형(시간·오정보·관점)까지 짚었는지도 ‘유형 인지율’로 함께 봅니다.</a:t>
            </a:r>
          </a:p>
        </p:txBody>
      </p:sp>
      <p:sp>
        <p:nvSpPr>
          <p:cNvPr id="9" name="Right Arrow 8"/>
          <p:cNvSpPr/>
          <p:nvPr/>
        </p:nvSpPr>
        <p:spPr>
          <a:xfrm>
            <a:off x="4005072" y="2298700"/>
            <a:ext cx="329184" cy="292608"/>
          </a:xfrm>
          <a:prstGeom prst="rightArrow">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89120" y="1574800"/>
            <a:ext cx="3401568" cy="33020"/>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612900"/>
            <a:ext cx="3401568" cy="170434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pPr>
            <a:r>
              <a:rPr lang="ko-KR" sz="1300" b="1" dirty="0">
                <a:solidFill>
                  <a:srgbClr val="273A52"/>
                </a:solidFill>
                <a:latin typeface="맑은 고딕"/>
                <a:ea typeface="맑은 고딕"/>
              </a:rPr>
              <a:t>Level 2 · 해소</a:t>
            </a:r>
          </a:p>
          <a:p>
            <a:pPr algn="l">
              <a:lnSpc>
                <a:spcPct val="130000"/>
              </a:lnSpc>
              <a:spcAft>
                <a:spcPts val="450"/>
              </a:spcAft>
            </a:pPr>
            <a:r>
              <a:rPr lang="ko-KR" sz="1120" b="0" dirty="0">
                <a:solidFill>
                  <a:srgbClr val="1E2227"/>
                </a:solidFill>
                <a:latin typeface="맑은 고딕"/>
                <a:ea typeface="맑은 고딕"/>
              </a:rPr>
              <a:t>정답 지지 문서를 </a:t>
            </a:r>
            <a:r>
              <a:rPr lang="ko-KR" sz="1120" b="1" dirty="0">
                <a:solidFill>
                  <a:srgbClr val="1E2227"/>
                </a:solidFill>
                <a:latin typeface="맑은 고딕"/>
                <a:ea typeface="맑은 고딕"/>
              </a:rPr>
              <a:t>유효하다고 결론</a:t>
            </a:r>
            <a:r>
              <a:rPr lang="ko-KR" sz="1120" b="0" dirty="0">
                <a:solidFill>
                  <a:srgbClr val="1E2227"/>
                </a:solidFill>
                <a:latin typeface="맑은 고딕"/>
                <a:ea typeface="맑은 고딕"/>
              </a:rPr>
              <a:t>지었는가?</a:t>
            </a:r>
          </a:p>
          <a:p>
            <a:pPr algn="l">
              <a:lnSpc>
                <a:spcPct val="130000"/>
              </a:lnSpc>
              <a:spcAft>
                <a:spcPts val="450"/>
              </a:spcAft>
            </a:pPr>
            <a:r>
              <a:rPr lang="ko-KR" sz="1120" b="1" dirty="0">
                <a:solidFill>
                  <a:srgbClr val="1E2227"/>
                </a:solidFill>
                <a:latin typeface="맑은 고딕"/>
                <a:ea typeface="맑은 고딕"/>
              </a:rPr>
              <a:t>{correct, wrong, unresolved}</a:t>
            </a:r>
          </a:p>
          <a:p>
            <a:pPr algn="l">
              <a:lnSpc>
                <a:spcPct val="130000"/>
              </a:lnSpc>
              <a:spcAft>
                <a:spcPts val="450"/>
              </a:spcAft>
            </a:pPr>
            <a:r>
              <a:rPr lang="ko-KR" sz="1040" b="0" dirty="0">
                <a:solidFill>
                  <a:srgbClr val="6B7480"/>
                </a:solidFill>
                <a:latin typeface="맑은 고딕"/>
                <a:ea typeface="맑은 고딕"/>
              </a:rPr>
              <a:t>시간 충돌은 날짜 최신성으로, 오정보는 출처 권위로 판정합니다.</a:t>
            </a:r>
          </a:p>
        </p:txBody>
      </p:sp>
      <p:sp>
        <p:nvSpPr>
          <p:cNvPr id="12" name="Right Arrow 11"/>
          <p:cNvSpPr/>
          <p:nvPr/>
        </p:nvSpPr>
        <p:spPr>
          <a:xfrm>
            <a:off x="7845552" y="2298700"/>
            <a:ext cx="329184" cy="292608"/>
          </a:xfrm>
          <a:prstGeom prst="rightArrow">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229600" y="1574800"/>
            <a:ext cx="3401568" cy="33020"/>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29600" y="1612900"/>
            <a:ext cx="3401568" cy="170434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pPr>
            <a:r>
              <a:rPr lang="ko-KR" sz="1300" b="1" dirty="0">
                <a:solidFill>
                  <a:srgbClr val="273A52"/>
                </a:solidFill>
                <a:latin typeface="맑은 고딕"/>
                <a:ea typeface="맑은 고딕"/>
              </a:rPr>
              <a:t>Final Action · 표출</a:t>
            </a:r>
          </a:p>
          <a:p>
            <a:pPr algn="l">
              <a:lnSpc>
                <a:spcPct val="130000"/>
              </a:lnSpc>
              <a:spcAft>
                <a:spcPts val="450"/>
              </a:spcAft>
            </a:pPr>
            <a:r>
              <a:rPr lang="ko-KR" sz="1120" b="0" dirty="0">
                <a:solidFill>
                  <a:srgbClr val="1E2227"/>
                </a:solidFill>
                <a:latin typeface="맑은 고딕"/>
                <a:ea typeface="맑은 고딕"/>
              </a:rPr>
              <a:t>최종 답변에서 정답을 </a:t>
            </a:r>
            <a:r>
              <a:rPr lang="ko-KR" sz="1120" b="1" dirty="0">
                <a:solidFill>
                  <a:srgbClr val="1E2227"/>
                </a:solidFill>
                <a:latin typeface="맑은 고딕"/>
                <a:ea typeface="맑은 고딕"/>
              </a:rPr>
              <a:t>표출</a:t>
            </a:r>
            <a:r>
              <a:rPr lang="ko-KR" sz="1120" b="0" dirty="0">
                <a:solidFill>
                  <a:srgbClr val="1E2227"/>
                </a:solidFill>
                <a:latin typeface="맑은 고딕"/>
                <a:ea typeface="맑은 고딕"/>
              </a:rPr>
              <a:t>했는가? (동치 판정 정확도)</a:t>
            </a:r>
          </a:p>
          <a:p>
            <a:pPr algn="l">
              <a:lnSpc>
                <a:spcPct val="130000"/>
              </a:lnSpc>
              <a:spcAft>
                <a:spcPts val="450"/>
              </a:spcAft>
            </a:pPr>
            <a:r>
              <a:rPr lang="ko-KR" sz="1120" b="1" dirty="0">
                <a:solidFill>
                  <a:srgbClr val="1E2227"/>
                </a:solidFill>
                <a:latin typeface="맑은 고딕"/>
                <a:ea typeface="맑은 고딕"/>
              </a:rPr>
              <a:t>{correct, wrong, abstain}</a:t>
            </a:r>
          </a:p>
          <a:p>
            <a:pPr algn="l">
              <a:lnSpc>
                <a:spcPct val="130000"/>
              </a:lnSpc>
              <a:spcAft>
                <a:spcPts val="450"/>
              </a:spcAft>
            </a:pPr>
            <a:r>
              <a:rPr lang="ko-KR" sz="1040" b="0" dirty="0">
                <a:solidFill>
                  <a:srgbClr val="6B7480"/>
                </a:solidFill>
                <a:latin typeface="맑은 고딕"/>
                <a:ea typeface="맑은 고딕"/>
              </a:rPr>
              <a:t>이 순서는 규범 경로일 뿐이며, 벗어난 경우가 특이 경로입니다.</a:t>
            </a:r>
          </a:p>
        </p:txBody>
      </p:sp>
      <p:sp>
        <p:nvSpPr>
          <p:cNvPr id="16" name="Rectangle 15"/>
          <p:cNvSpPr/>
          <p:nvPr/>
        </p:nvSpPr>
        <p:spPr>
          <a:xfrm>
            <a:off x="548640" y="3528277"/>
            <a:ext cx="11091672" cy="306415"/>
          </a:xfrm>
          <a:prstGeom prst="rect">
            <a:avLst/>
          </a:prstGeom>
          <a:no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nSpc>
                <a:spcPct val="115000"/>
              </a:lnSpc>
              <a:spcAft>
                <a:spcPts val="300"/>
              </a:spcAft>
            </a:pPr>
            <a:r>
              <a:rPr sz="1300" b="1" dirty="0" err="1">
                <a:solidFill>
                  <a:srgbClr val="273A52"/>
                </a:solidFill>
                <a:latin typeface="맑은 고딕"/>
                <a:ea typeface="맑은 고딕"/>
              </a:rPr>
              <a:t>라벨링</a:t>
            </a:r>
            <a:r>
              <a:rPr sz="1300" b="1" dirty="0">
                <a:solidFill>
                  <a:srgbClr val="273A52"/>
                </a:solidFill>
                <a:latin typeface="맑은 고딕"/>
                <a:ea typeface="맑은 고딕"/>
              </a:rPr>
              <a:t> </a:t>
            </a:r>
            <a:r>
              <a:rPr sz="1300" b="1" dirty="0" err="1">
                <a:solidFill>
                  <a:srgbClr val="273A52"/>
                </a:solidFill>
                <a:latin typeface="맑은 고딕"/>
                <a:ea typeface="맑은 고딕"/>
              </a:rPr>
              <a:t>주의사항</a:t>
            </a:r>
            <a:endParaRPr sz="1150" b="0" dirty="0">
              <a:solidFill>
                <a:srgbClr val="6B7480"/>
              </a:solidFill>
              <a:latin typeface="맑은 고딕"/>
              <a:ea typeface="맑은 고딕"/>
            </a:endParaRPr>
          </a:p>
        </p:txBody>
      </p:sp>
      <p:graphicFrame>
        <p:nvGraphicFramePr>
          <p:cNvPr id="18" name="Labeling Rules Table">
            <a:extLst>
              <a:ext uri="{FF2B5EF4-FFF2-40B4-BE49-F238E27FC236}">
                <a16:creationId xmlns:a16="http://schemas.microsoft.com/office/drawing/2014/main" id="{EBD59D41-B313-C247-98BF-77B3659149D8}"/>
              </a:ext>
            </a:extLst>
          </p:cNvPr>
          <p:cNvGraphicFramePr>
            <a:graphicFrameLocks noGrp="1"/>
          </p:cNvGraphicFramePr>
          <p:nvPr/>
        </p:nvGraphicFramePr>
        <p:xfrm>
          <a:off x="548640" y="3942227"/>
          <a:ext cx="11087100" cy="2303055"/>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333936670"/>
                    </a:ext>
                  </a:extLst>
                </a:gridCol>
                <a:gridCol w="4864100">
                  <a:extLst>
                    <a:ext uri="{9D8B030D-6E8A-4147-A177-3AD203B41FA5}">
                      <a16:colId xmlns:a16="http://schemas.microsoft.com/office/drawing/2014/main" val="571315354"/>
                    </a:ext>
                  </a:extLst>
                </a:gridCol>
                <a:gridCol w="4699000">
                  <a:extLst>
                    <a:ext uri="{9D8B030D-6E8A-4147-A177-3AD203B41FA5}">
                      <a16:colId xmlns:a16="http://schemas.microsoft.com/office/drawing/2014/main" val="562860123"/>
                    </a:ext>
                  </a:extLst>
                </a:gridCol>
              </a:tblGrid>
              <a:tr h="311223">
                <a:tc>
                  <a:txBody>
                    <a:bodyPr/>
                    <a:lstStyle/>
                    <a:p>
                      <a:pPr algn="ctr"/>
                      <a:r>
                        <a:rPr lang="ko-KR" altLang="en-US" sz="1100" b="1" dirty="0">
                          <a:solidFill>
                            <a:srgbClr val="FFFFFF"/>
                          </a:solidFill>
                          <a:latin typeface="맑은 고딕"/>
                          <a:ea typeface="맑은 고딕"/>
                        </a:rPr>
                        <a:t>규칙</a:t>
                      </a:r>
                    </a:p>
                  </a:txBody>
                  <a:tcPr anchor="ctr">
                    <a:solidFill>
                      <a:srgbClr val="273A52"/>
                    </a:solidFill>
                  </a:tcPr>
                </a:tc>
                <a:tc>
                  <a:txBody>
                    <a:bodyPr/>
                    <a:lstStyle/>
                    <a:p>
                      <a:pPr algn="ctr"/>
                      <a:r>
                        <a:rPr lang="ko-KR" altLang="en-US" sz="1100" b="1" dirty="0">
                          <a:solidFill>
                            <a:srgbClr val="FFFFFF"/>
                          </a:solidFill>
                          <a:latin typeface="맑은 고딕"/>
                          <a:ea typeface="맑은 고딕"/>
                        </a:rPr>
                        <a:t>오염 요인 (왜 필요한가)</a:t>
                      </a:r>
                    </a:p>
                  </a:txBody>
                  <a:tcPr anchor="ctr">
                    <a:solidFill>
                      <a:srgbClr val="273A52"/>
                    </a:solidFill>
                  </a:tcPr>
                </a:tc>
                <a:tc>
                  <a:txBody>
                    <a:bodyPr/>
                    <a:lstStyle/>
                    <a:p>
                      <a:pPr algn="ctr"/>
                      <a:r>
                        <a:rPr lang="ko-KR" altLang="en-US" sz="1100" b="1" dirty="0">
                          <a:solidFill>
                            <a:srgbClr val="FFFFFF"/>
                          </a:solidFill>
                          <a:latin typeface="맑은 고딕"/>
                          <a:ea typeface="맑은 고딕"/>
                        </a:rPr>
                        <a:t>사전등록 조치 (어떻게)</a:t>
                      </a:r>
                    </a:p>
                  </a:txBody>
                  <a:tcPr anchor="ctr">
                    <a:solidFill>
                      <a:srgbClr val="273A52"/>
                    </a:solidFill>
                  </a:tcPr>
                </a:tc>
                <a:extLst>
                  <a:ext uri="{0D108BD9-81ED-4DB2-BD59-A6C34878D82A}">
                    <a16:rowId xmlns:a16="http://schemas.microsoft.com/office/drawing/2014/main" val="1699144086"/>
                  </a:ext>
                </a:extLst>
              </a:tr>
              <a:tr h="497958">
                <a:tc>
                  <a:txBody>
                    <a:bodyPr/>
                    <a:lstStyle/>
                    <a:p>
                      <a:pPr algn="ctr"/>
                      <a:r>
                        <a:rPr lang="ko-KR" altLang="en-US" sz="1100" b="1">
                          <a:solidFill>
                            <a:srgbClr val="273A52"/>
                          </a:solidFill>
                          <a:latin typeface="맑은 고딕"/>
                          <a:ea typeface="맑은 고딕"/>
                        </a:rPr>
                        <a:t>결론 확정</a:t>
                      </a:r>
                    </a:p>
                  </a:txBody>
                  <a:tcPr anchor="ctr">
                    <a:solidFill>
                      <a:srgbClr val="FFFFFF"/>
                    </a:solidFill>
                  </a:tcPr>
                </a:tc>
                <a:tc>
                  <a:txBody>
                    <a:bodyPr/>
                    <a:lstStyle/>
                    <a:p>
                      <a:pPr algn="l"/>
                      <a:r>
                        <a:rPr lang="ko-KR" altLang="en-US" sz="1100" b="0" dirty="0">
                          <a:solidFill>
                            <a:srgbClr val="1E2227"/>
                          </a:solidFill>
                          <a:latin typeface="맑은 고딕"/>
                          <a:ea typeface="맑은 고딕"/>
                        </a:rPr>
                        <a:t>긴 트레이스는 </a:t>
                      </a:r>
                      <a:r>
                        <a:rPr lang="ko-KR" altLang="en-US" sz="1100" b="1" dirty="0">
                          <a:solidFill>
                            <a:srgbClr val="1E2227"/>
                          </a:solidFill>
                          <a:latin typeface="맑은 고딕"/>
                          <a:ea typeface="맑은 고딕"/>
                        </a:rPr>
                        <a:t>결론이 계속 흔들려 사람마다 다르게 읽힐 수</a:t>
                      </a:r>
                      <a:r>
                        <a:rPr lang="ko-KR" altLang="en-US" sz="1100" b="0" dirty="0">
                          <a:solidFill>
                            <a:srgbClr val="1E2227"/>
                          </a:solidFill>
                          <a:latin typeface="맑은 고딕"/>
                          <a:ea typeface="맑은 고딕"/>
                        </a:rPr>
                        <a:t> 있음</a:t>
                      </a:r>
                    </a:p>
                  </a:txBody>
                  <a:tcPr anchor="ctr">
                    <a:solidFill>
                      <a:srgbClr val="FFFFFF"/>
                    </a:solidFill>
                  </a:tcPr>
                </a:tc>
                <a:tc>
                  <a:txBody>
                    <a:bodyPr/>
                    <a:lstStyle/>
                    <a:p>
                      <a:pPr algn="l"/>
                      <a:r>
                        <a:rPr lang="ko-KR" altLang="en-US" sz="1100" b="1" dirty="0">
                          <a:solidFill>
                            <a:srgbClr val="1E2227"/>
                          </a:solidFill>
                          <a:latin typeface="맑은 고딕"/>
                          <a:ea typeface="맑은 고딕"/>
                        </a:rPr>
                        <a:t>마지막으로 문서를 명시적으로 지지한 지점</a:t>
                      </a:r>
                      <a:r>
                        <a:rPr lang="ko-KR" altLang="en-US" sz="1100" b="0" dirty="0">
                          <a:solidFill>
                            <a:srgbClr val="1E2227"/>
                          </a:solidFill>
                          <a:latin typeface="맑은 고딕"/>
                          <a:ea typeface="맑은 고딕"/>
                        </a:rPr>
                        <a:t>을 결론으로 확정, 없으면 </a:t>
                      </a:r>
                      <a:r>
                        <a:rPr lang="ko-KR" altLang="en-US" sz="1100" b="1" dirty="0">
                          <a:solidFill>
                            <a:srgbClr val="1E2227"/>
                          </a:solidFill>
                          <a:latin typeface="맑은 고딕"/>
                          <a:ea typeface="맑은 고딕"/>
                        </a:rPr>
                        <a:t>unresolved</a:t>
                      </a:r>
                      <a:r>
                        <a:rPr lang="ko-KR" altLang="en-US" sz="1100" b="0" dirty="0">
                          <a:solidFill>
                            <a:srgbClr val="1E2227"/>
                          </a:solidFill>
                          <a:latin typeface="맑은 고딕"/>
                          <a:ea typeface="맑은 고딕"/>
                        </a:rPr>
                        <a:t>로 분류</a:t>
                      </a:r>
                    </a:p>
                  </a:txBody>
                  <a:tcPr anchor="ctr">
                    <a:solidFill>
                      <a:srgbClr val="FFFFFF"/>
                    </a:solidFill>
                  </a:tcPr>
                </a:tc>
                <a:extLst>
                  <a:ext uri="{0D108BD9-81ED-4DB2-BD59-A6C34878D82A}">
                    <a16:rowId xmlns:a16="http://schemas.microsoft.com/office/drawing/2014/main" val="2079012613"/>
                  </a:ext>
                </a:extLst>
              </a:tr>
              <a:tr h="497958">
                <a:tc>
                  <a:txBody>
                    <a:bodyPr/>
                    <a:lstStyle/>
                    <a:p>
                      <a:pPr algn="ctr"/>
                      <a:r>
                        <a:rPr lang="ko-KR" altLang="en-US" sz="1100" b="1">
                          <a:solidFill>
                            <a:srgbClr val="273A52"/>
                          </a:solidFill>
                          <a:latin typeface="맑은 고딕"/>
                          <a:ea typeface="맑은 고딕"/>
                        </a:rPr>
                        <a:t>기권 분리</a:t>
                      </a:r>
                    </a:p>
                  </a:txBody>
                  <a:tcPr anchor="ctr">
                    <a:solidFill>
                      <a:srgbClr val="EEF2F7"/>
                    </a:solidFill>
                  </a:tcPr>
                </a:tc>
                <a:tc>
                  <a:txBody>
                    <a:bodyPr/>
                    <a:lstStyle/>
                    <a:p>
                      <a:pPr algn="l"/>
                      <a:r>
                        <a:rPr lang="ko-KR" altLang="en-US" sz="1100" b="0" dirty="0">
                          <a:solidFill>
                            <a:srgbClr val="1E2227"/>
                          </a:solidFill>
                          <a:latin typeface="맑은 고딕"/>
                          <a:ea typeface="맑은 고딕"/>
                        </a:rPr>
                        <a:t>'판단 불가' 기권을 오답으로 세면 </a:t>
                      </a:r>
                      <a:r>
                        <a:rPr lang="ko-KR" altLang="en-US" sz="1100" b="1" dirty="0">
                          <a:solidFill>
                            <a:srgbClr val="1E2227"/>
                          </a:solidFill>
                          <a:latin typeface="맑은 고딕"/>
                          <a:ea typeface="맑은 고딕"/>
                        </a:rPr>
                        <a:t>기권 유도만으로 지표가 좋아 보이는 착시</a:t>
                      </a:r>
                      <a:r>
                        <a:rPr lang="ko-KR" altLang="en-US" sz="1100" b="0" dirty="0">
                          <a:solidFill>
                            <a:srgbClr val="1E2227"/>
                          </a:solidFill>
                          <a:latin typeface="맑은 고딕"/>
                          <a:ea typeface="맑은 고딕"/>
                        </a:rPr>
                        <a:t> 발생</a:t>
                      </a:r>
                    </a:p>
                  </a:txBody>
                  <a:tcPr anchor="ctr">
                    <a:solidFill>
                      <a:srgbClr val="EEF2F7"/>
                    </a:solidFill>
                  </a:tcPr>
                </a:tc>
                <a:tc>
                  <a:txBody>
                    <a:bodyPr/>
                    <a:lstStyle/>
                    <a:p>
                      <a:pPr algn="l"/>
                      <a:r>
                        <a:rPr lang="ko-KR" altLang="en-US" sz="1100" b="0" dirty="0">
                          <a:solidFill>
                            <a:srgbClr val="1E2227"/>
                          </a:solidFill>
                          <a:latin typeface="맑은 고딕"/>
                          <a:ea typeface="맑은 고딕"/>
                        </a:rPr>
                        <a:t>기권은 </a:t>
                      </a:r>
                      <a:r>
                        <a:rPr lang="ko-KR" altLang="en-US" sz="1100" b="1" dirty="0">
                          <a:solidFill>
                            <a:srgbClr val="1E2227"/>
                          </a:solidFill>
                          <a:latin typeface="맑은 고딕"/>
                          <a:ea typeface="맑은 고딕"/>
                        </a:rPr>
                        <a:t>판정 시 제외</a:t>
                      </a:r>
                      <a:r>
                        <a:rPr lang="ko-KR" altLang="en-US" sz="1100" b="0" dirty="0">
                          <a:solidFill>
                            <a:srgbClr val="1E2227"/>
                          </a:solidFill>
                          <a:latin typeface="맑은 고딕"/>
                          <a:ea typeface="맑은 고딕"/>
                        </a:rPr>
                        <a:t>, 기권율은 </a:t>
                      </a:r>
                      <a:r>
                        <a:rPr lang="ko-KR" altLang="en-US" sz="1100" b="1" dirty="0">
                          <a:solidFill>
                            <a:srgbClr val="1E2227"/>
                          </a:solidFill>
                          <a:latin typeface="맑은 고딕"/>
                          <a:ea typeface="맑은 고딕"/>
                        </a:rPr>
                        <a:t>별도로 의무 보고</a:t>
                      </a:r>
                    </a:p>
                  </a:txBody>
                  <a:tcPr anchor="ctr">
                    <a:solidFill>
                      <a:srgbClr val="EEF2F7"/>
                    </a:solidFill>
                  </a:tcPr>
                </a:tc>
                <a:extLst>
                  <a:ext uri="{0D108BD9-81ED-4DB2-BD59-A6C34878D82A}">
                    <a16:rowId xmlns:a16="http://schemas.microsoft.com/office/drawing/2014/main" val="91446689"/>
                  </a:ext>
                </a:extLst>
              </a:tr>
              <a:tr h="497958">
                <a:tc>
                  <a:txBody>
                    <a:bodyPr/>
                    <a:lstStyle/>
                    <a:p>
                      <a:pPr algn="ctr"/>
                      <a:r>
                        <a:rPr lang="ko-KR" altLang="en-US" sz="1100" b="1">
                          <a:solidFill>
                            <a:srgbClr val="273A52"/>
                          </a:solidFill>
                          <a:latin typeface="맑은 고딕"/>
                          <a:ea typeface="맑은 고딕"/>
                        </a:rPr>
                        <a:t>동치 채점</a:t>
                      </a:r>
                    </a:p>
                  </a:txBody>
                  <a:tcPr anchor="ctr">
                    <a:solidFill>
                      <a:srgbClr val="FFFFFF"/>
                    </a:solidFill>
                  </a:tcPr>
                </a:tc>
                <a:tc>
                  <a:txBody>
                    <a:bodyPr/>
                    <a:lstStyle/>
                    <a:p>
                      <a:pPr algn="l"/>
                      <a:r>
                        <a:rPr lang="ko-KR" altLang="en-US" sz="1100" b="0" dirty="0">
                          <a:solidFill>
                            <a:srgbClr val="1E2227"/>
                          </a:solidFill>
                          <a:latin typeface="맑은 고딕"/>
                          <a:ea typeface="맑은 고딕"/>
                        </a:rPr>
                        <a:t>표기만 달라도(‘1970년 4월 10일’ vs ‘April 10, 1970’) 오답 처리하면 </a:t>
                      </a:r>
                      <a:r>
                        <a:rPr lang="ko-KR" altLang="en-US" sz="1100" b="1" dirty="0">
                          <a:solidFill>
                            <a:srgbClr val="1E2227"/>
                          </a:solidFill>
                          <a:latin typeface="맑은 고딕"/>
                          <a:ea typeface="맑은 고딕"/>
                        </a:rPr>
                        <a:t>노이즈가 지표에 혼입</a:t>
                      </a:r>
                    </a:p>
                  </a:txBody>
                  <a:tcPr anchor="ctr">
                    <a:solidFill>
                      <a:srgbClr val="FFFFFF"/>
                    </a:solidFill>
                  </a:tcPr>
                </a:tc>
                <a:tc>
                  <a:txBody>
                    <a:bodyPr/>
                    <a:lstStyle/>
                    <a:p>
                      <a:pPr algn="l"/>
                      <a:r>
                        <a:rPr lang="ko-KR" altLang="en-US" sz="1100" b="0" dirty="0">
                          <a:solidFill>
                            <a:srgbClr val="1E2227"/>
                          </a:solidFill>
                          <a:latin typeface="맑은 고딕"/>
                          <a:ea typeface="맑은 고딕"/>
                        </a:rPr>
                        <a:t>문자열 일치가 아닌 </a:t>
                      </a:r>
                      <a:r>
                        <a:rPr lang="ko-KR" altLang="en-US" sz="1100" b="1" dirty="0">
                          <a:solidFill>
                            <a:srgbClr val="1E2227"/>
                          </a:solidFill>
                          <a:latin typeface="맑은 고딕"/>
                          <a:ea typeface="맑은 고딕"/>
                        </a:rPr>
                        <a:t>정규화·동치 판정</a:t>
                      </a:r>
                      <a:r>
                        <a:rPr lang="ko-KR" altLang="en-US" sz="1100" b="0" dirty="0">
                          <a:solidFill>
                            <a:srgbClr val="1E2227"/>
                          </a:solidFill>
                          <a:latin typeface="맑은 고딕"/>
                          <a:ea typeface="맑은 고딕"/>
                        </a:rPr>
                        <a:t>으로 채점</a:t>
                      </a:r>
                    </a:p>
                  </a:txBody>
                  <a:tcPr anchor="ctr">
                    <a:solidFill>
                      <a:srgbClr val="FFFFFF"/>
                    </a:solidFill>
                  </a:tcPr>
                </a:tc>
                <a:extLst>
                  <a:ext uri="{0D108BD9-81ED-4DB2-BD59-A6C34878D82A}">
                    <a16:rowId xmlns:a16="http://schemas.microsoft.com/office/drawing/2014/main" val="868472585"/>
                  </a:ext>
                </a:extLst>
              </a:tr>
              <a:tr h="497958">
                <a:tc>
                  <a:txBody>
                    <a:bodyPr/>
                    <a:lstStyle/>
                    <a:p>
                      <a:pPr algn="ctr"/>
                      <a:r>
                        <a:rPr lang="ko-KR" altLang="en-US" sz="1100" b="1">
                          <a:solidFill>
                            <a:srgbClr val="273A52"/>
                          </a:solidFill>
                          <a:latin typeface="맑은 고딕"/>
                          <a:ea typeface="맑은 고딕"/>
                        </a:rPr>
                        <a:t>복수 정답 채점</a:t>
                      </a:r>
                    </a:p>
                  </a:txBody>
                  <a:tcPr anchor="ctr">
                    <a:solidFill>
                      <a:srgbClr val="EEF2F7"/>
                    </a:solidFill>
                  </a:tcPr>
                </a:tc>
                <a:tc>
                  <a:txBody>
                    <a:bodyPr/>
                    <a:lstStyle/>
                    <a:p>
                      <a:pPr algn="l"/>
                      <a:r>
                        <a:rPr lang="ko-KR" altLang="en-US" sz="1100" b="0" dirty="0">
                          <a:solidFill>
                            <a:srgbClr val="1E2227"/>
                          </a:solidFill>
                          <a:latin typeface="맑은 고딕"/>
                          <a:ea typeface="맑은 고딕"/>
                        </a:rPr>
                        <a:t>정답이 여럿인 문항(QACC·RAMDocs)에서 </a:t>
                      </a:r>
                      <a:r>
                        <a:rPr lang="ko-KR" altLang="en-US" sz="1100" b="1" dirty="0">
                          <a:solidFill>
                            <a:srgbClr val="1E2227"/>
                          </a:solidFill>
                          <a:latin typeface="맑은 고딕"/>
                          <a:ea typeface="맑은 고딕"/>
                        </a:rPr>
                        <a:t>하나만 맞혀도 오답 처리하면 채점이 부당하게 불리</a:t>
                      </a:r>
                    </a:p>
                  </a:txBody>
                  <a:tcPr anchor="ctr">
                    <a:solidFill>
                      <a:srgbClr val="EEF2F7"/>
                    </a:solidFill>
                  </a:tcPr>
                </a:tc>
                <a:tc>
                  <a:txBody>
                    <a:bodyPr/>
                    <a:lstStyle/>
                    <a:p>
                      <a:pPr algn="l"/>
                      <a:r>
                        <a:rPr lang="ko-KR" altLang="en-US" sz="1100" b="0" dirty="0">
                          <a:solidFill>
                            <a:srgbClr val="1E2227"/>
                          </a:solidFill>
                          <a:latin typeface="맑은 고딕"/>
                          <a:ea typeface="맑은 고딕"/>
                        </a:rPr>
                        <a:t>복수 유효 정답 중 </a:t>
                      </a:r>
                      <a:r>
                        <a:rPr lang="ko-KR" altLang="en-US" sz="1100" b="1" dirty="0">
                          <a:solidFill>
                            <a:srgbClr val="1E2227"/>
                          </a:solidFill>
                          <a:latin typeface="맑은 고딕"/>
                          <a:ea typeface="맑은 고딕"/>
                        </a:rPr>
                        <a:t>하나를 지지·표출하면 correct로 채점</a:t>
                      </a:r>
                      <a:r>
                        <a:rPr lang="ko-KR" altLang="en-US" sz="1100" b="0" dirty="0">
                          <a:solidFill>
                            <a:srgbClr val="1E2227"/>
                          </a:solidFill>
                          <a:latin typeface="맑은 고딕"/>
                          <a:ea typeface="맑은 고딕"/>
                        </a:rPr>
                        <a:t> (any-gold)</a:t>
                      </a:r>
                    </a:p>
                  </a:txBody>
                  <a:tcPr anchor="ctr">
                    <a:solidFill>
                      <a:srgbClr val="EEF2F7"/>
                    </a:solidFill>
                  </a:tcPr>
                </a:tc>
                <a:extLst>
                  <a:ext uri="{0D108BD9-81ED-4DB2-BD59-A6C34878D82A}">
                    <a16:rowId xmlns:a16="http://schemas.microsoft.com/office/drawing/2014/main" val="4179800179"/>
                  </a:ext>
                </a:extLst>
              </a:tr>
            </a:tbl>
          </a:graphicData>
        </a:graphic>
      </p:graphicFrame>
      <p:sp>
        <p:nvSpPr>
          <p:cNvPr id="40" name="Signpost"/>
          <p:cNvSpPr txBox="1"/>
          <p:nvPr/>
        </p:nvSpPr>
        <p:spPr>
          <a:xfrm>
            <a:off x="546100" y="1244600"/>
            <a:ext cx="11087100" cy="199735"/>
          </a:xfrm>
          <a:prstGeom prst="rect">
            <a:avLst/>
          </a:prstGeom>
          <a:noFill/>
        </p:spPr>
        <p:txBody>
          <a:bodyPr wrap="square" lIns="0" tIns="0" rIns="0" bIns="0" rtlCol="0">
            <a:spAutoFit/>
          </a:bodyPr>
          <a:lstStyle/>
          <a:p>
            <a:pPr algn="l">
              <a:lnSpc>
                <a:spcPct val="120000"/>
              </a:lnSpc>
            </a:pPr>
            <a:r>
              <a:rPr lang="ko-KR" sz="1200" b="0" dirty="0">
                <a:solidFill>
                  <a:srgbClr val="6B7480"/>
                </a:solidFill>
                <a:latin typeface="맑은 고딕"/>
                <a:ea typeface="맑은 고딕"/>
              </a:rPr>
              <a:t>이 프로토콜은 </a:t>
            </a:r>
            <a:r>
              <a:rPr lang="ko-KR" sz="1200" b="1" dirty="0">
                <a:solidFill>
                  <a:srgbClr val="273A52"/>
                </a:solidFill>
                <a:latin typeface="맑은 고딕"/>
                <a:ea typeface="맑은 고딕"/>
              </a:rPr>
              <a:t>§3.3 실험 1–3이 공통으로 쓰는 측정 도구</a:t>
            </a:r>
            <a:r>
              <a:rPr lang="ko-KR" sz="1200" b="0" dirty="0">
                <a:solidFill>
                  <a:srgbClr val="6B7480"/>
                </a:solidFill>
                <a:latin typeface="맑은 고딕"/>
                <a:ea typeface="맑은 고딕"/>
              </a:rPr>
              <a:t>입니다 — 각 실험은 여기서 정의한 라벨·지표로 RQ를 판정합니다.</a:t>
            </a:r>
          </a:p>
        </p:txBody>
      </p:sp>
    </p:spTree>
    <p:extLst>
      <p:ext uri="{BB962C8B-B14F-4D97-AF65-F5344CB8AC3E}">
        <p14:creationId xmlns:p14="http://schemas.microsoft.com/office/powerpoint/2010/main" val="464343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0" dirty="0">
                <a:solidFill>
                  <a:srgbClr val="6B7480"/>
                </a:solidFill>
                <a:latin typeface="맑은 고딕"/>
                <a:ea typeface="맑은 고딕"/>
              </a:rPr>
              <a:t>§3 방법론</a:t>
            </a:r>
            <a:r>
              <a:rPr lang="en-US" sz="1250" b="0" dirty="0">
                <a:solidFill>
                  <a:srgbClr val="B0B7C0"/>
                </a:solidFill>
                <a:latin typeface="맑은 고딕"/>
                <a:ea typeface="맑은 고딕"/>
              </a:rPr>
              <a:t>   ›   </a:t>
            </a:r>
            <a:r>
              <a:rPr lang="en-US" sz="1250" b="1" dirty="0">
                <a:solidFill>
                  <a:srgbClr val="273A52"/>
                </a:solidFill>
                <a:latin typeface="맑은 고딕"/>
                <a:ea typeface="맑은 고딕"/>
              </a:rPr>
              <a:t>§3.2 진단 프로토콜</a:t>
            </a:r>
          </a:p>
        </p:txBody>
      </p:sp>
      <p:sp>
        <p:nvSpPr>
          <p:cNvPr id="3" name="TextBox 2"/>
          <p:cNvSpPr txBox="1"/>
          <p:nvPr/>
        </p:nvSpPr>
        <p:spPr>
          <a:xfrm>
            <a:off x="548640" y="585216"/>
            <a:ext cx="11091672" cy="396647"/>
          </a:xfrm>
          <a:prstGeom prst="rect">
            <a:avLst/>
          </a:prstGeom>
          <a:noFill/>
        </p:spPr>
        <p:txBody>
          <a:bodyPr wrap="square" lIns="0" tIns="0" rIns="0" bIns="0">
            <a:spAutoFit/>
          </a:bodyPr>
          <a:lstStyle/>
          <a:p>
            <a:pPr algn="l">
              <a:lnSpc>
                <a:spcPct val="122000"/>
              </a:lnSpc>
              <a:spcAft>
                <a:spcPts val="450"/>
              </a:spcAft>
            </a:pPr>
            <a:r>
              <a:rPr lang="ko-KR" sz="2350" b="1" dirty="0">
                <a:solidFill>
                  <a:srgbClr val="273A52"/>
                </a:solidFill>
                <a:latin typeface="맑은 고딕"/>
                <a:ea typeface="맑은 고딕"/>
              </a:rPr>
              <a:t>진단 지표 체계: 단계별 손실 지표와 4경로 분해</a:t>
            </a:r>
          </a:p>
        </p:txBody>
      </p:sp>
      <p:sp>
        <p:nvSpPr>
          <p:cNvPr id="4" name="Rectangle 3"/>
          <p:cNvSpPr/>
          <p:nvPr/>
        </p:nvSpPr>
        <p:spPr>
          <a:xfrm>
            <a:off x="560832" y="1146048"/>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274320"/>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16</a:t>
            </a:fld>
            <a:endParaRPr lang="en-US" altLang="ko-KR" sz="950">
              <a:solidFill>
                <a:srgbClr val="6B7480"/>
              </a:solidFill>
              <a:latin typeface="맑은 고딕"/>
              <a:ea typeface="맑은 고딕"/>
            </a:endParaRPr>
          </a:p>
        </p:txBody>
      </p:sp>
      <p:sp>
        <p:nvSpPr>
          <p:cNvPr id="7" name="TextBox 6"/>
          <p:cNvSpPr txBox="1"/>
          <p:nvPr/>
        </p:nvSpPr>
        <p:spPr>
          <a:xfrm>
            <a:off x="548640" y="1270000"/>
            <a:ext cx="11091672" cy="301236"/>
          </a:xfrm>
          <a:prstGeom prst="rect">
            <a:avLst/>
          </a:prstGeom>
          <a:noFill/>
        </p:spPr>
        <p:txBody>
          <a:bodyPr wrap="square" lIns="91440" tIns="45720" rIns="91440" bIns="45720" anchor="t" anchorCtr="0">
            <a:spAutoFit/>
          </a:bodyPr>
          <a:lstStyle/>
          <a:p>
            <a:pPr algn="l">
              <a:lnSpc>
                <a:spcPct val="115000"/>
              </a:lnSpc>
            </a:pPr>
            <a:r>
              <a:rPr lang="ko-KR" sz="1300" b="1" dirty="0">
                <a:solidFill>
                  <a:srgbClr val="273A52"/>
                </a:solidFill>
                <a:latin typeface="맑은 고딕"/>
                <a:ea typeface="맑은 고딕"/>
              </a:rPr>
              <a:t>① </a:t>
            </a:r>
            <a:r>
              <a:rPr lang="ko-KR" sz="1300" b="1" dirty="0">
                <a:solidFill>
                  <a:srgbClr val="1E7A6F"/>
                </a:solidFill>
                <a:latin typeface="맑은 고딕"/>
                <a:ea typeface="맑은 고딕"/>
              </a:rPr>
              <a:t>정답을 맞혔을 때</a:t>
            </a:r>
            <a:r>
              <a:rPr lang="ko-KR" sz="1300" b="1" dirty="0">
                <a:solidFill>
                  <a:srgbClr val="273A52"/>
                </a:solidFill>
                <a:latin typeface="맑은 고딕"/>
                <a:ea typeface="맑은 고딕"/>
              </a:rPr>
              <a:t> · 4경로 분해   </a:t>
            </a:r>
            <a:r>
              <a:rPr lang="ko-KR" sz="1200" b="0" dirty="0">
                <a:solidFill>
                  <a:srgbClr val="6B7480"/>
                </a:solidFill>
                <a:latin typeface="맑은 고딕"/>
                <a:ea typeface="맑은 고딕"/>
              </a:rPr>
              <a:t>— L1·L2 라벨로 맞힌 정답</a:t>
            </a:r>
            <a:r>
              <a:rPr lang="ko-KR" altLang="en-US" sz="1200" b="0" dirty="0">
                <a:solidFill>
                  <a:srgbClr val="6B7480"/>
                </a:solidFill>
                <a:latin typeface="맑은 고딕"/>
                <a:ea typeface="맑은 고딕"/>
              </a:rPr>
              <a:t>을</a:t>
            </a:r>
            <a:r>
              <a:rPr lang="ko-KR" sz="1200" b="0" dirty="0">
                <a:solidFill>
                  <a:srgbClr val="6B7480"/>
                </a:solidFill>
                <a:latin typeface="맑은 고딕"/>
                <a:ea typeface="맑은 고딕"/>
              </a:rPr>
              <a:t> 4경로로 분해</a:t>
            </a:r>
          </a:p>
        </p:txBody>
      </p:sp>
      <p:graphicFrame>
        <p:nvGraphicFramePr>
          <p:cNvPr id="8" name="Table 7"/>
          <p:cNvGraphicFramePr>
            <a:graphicFrameLocks noGrp="1"/>
          </p:cNvGraphicFramePr>
          <p:nvPr/>
        </p:nvGraphicFramePr>
        <p:xfrm>
          <a:off x="548640" y="1672336"/>
          <a:ext cx="11087100" cy="2055750"/>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20000"/>
                    </a:ext>
                  </a:extLst>
                </a:gridCol>
                <a:gridCol w="1206500">
                  <a:extLst>
                    <a:ext uri="{9D8B030D-6E8A-4147-A177-3AD203B41FA5}">
                      <a16:colId xmlns:a16="http://schemas.microsoft.com/office/drawing/2014/main" val="20001"/>
                    </a:ext>
                  </a:extLst>
                </a:gridCol>
                <a:gridCol w="1206500">
                  <a:extLst>
                    <a:ext uri="{9D8B030D-6E8A-4147-A177-3AD203B41FA5}">
                      <a16:colId xmlns:a16="http://schemas.microsoft.com/office/drawing/2014/main" val="20002"/>
                    </a:ext>
                  </a:extLst>
                </a:gridCol>
                <a:gridCol w="952500">
                  <a:extLst>
                    <a:ext uri="{9D8B030D-6E8A-4147-A177-3AD203B41FA5}">
                      <a16:colId xmlns:a16="http://schemas.microsoft.com/office/drawing/2014/main" val="3206048773"/>
                    </a:ext>
                  </a:extLst>
                </a:gridCol>
                <a:gridCol w="5181600">
                  <a:extLst>
                    <a:ext uri="{9D8B030D-6E8A-4147-A177-3AD203B41FA5}">
                      <a16:colId xmlns:a16="http://schemas.microsoft.com/office/drawing/2014/main" val="20003"/>
                    </a:ext>
                  </a:extLst>
                </a:gridCol>
              </a:tblGrid>
              <a:tr h="411150">
                <a:tc>
                  <a:txBody>
                    <a:bodyPr/>
                    <a:lstStyle/>
                    <a:p>
                      <a:pPr algn="ctr">
                        <a:lnSpc>
                          <a:spcPct val="114000"/>
                        </a:lnSpc>
                        <a:spcAft>
                          <a:spcPts val="200"/>
                        </a:spcAft>
                      </a:pPr>
                      <a:r>
                        <a:rPr sz="1120" b="1" dirty="0" err="1">
                          <a:solidFill>
                            <a:srgbClr val="FFFFFF"/>
                          </a:solidFill>
                          <a:latin typeface="맑은 고딕"/>
                          <a:ea typeface="맑은 고딕"/>
                        </a:rPr>
                        <a:t>경로</a:t>
                      </a:r>
                      <a:endParaRPr sz="1120" b="1" dirty="0">
                        <a:solidFill>
                          <a:srgbClr val="FFFFFF"/>
                        </a:solidFill>
                        <a:latin typeface="맑은 고딕"/>
                        <a:ea typeface="맑은 고딕"/>
                      </a:endParaRPr>
                    </a:p>
                  </a:txBody>
                  <a:tcPr marL="82296" marR="82296" marT="36576" marB="36576" anchor="ctr">
                    <a:solidFill>
                      <a:srgbClr val="273A52"/>
                    </a:solidFill>
                  </a:tcPr>
                </a:tc>
                <a:tc>
                  <a:txBody>
                    <a:bodyPr/>
                    <a:lstStyle/>
                    <a:p>
                      <a:pPr algn="ctr">
                        <a:lnSpc>
                          <a:spcPct val="114000"/>
                        </a:lnSpc>
                        <a:spcAft>
                          <a:spcPts val="200"/>
                        </a:spcAft>
                      </a:pPr>
                      <a:r>
                        <a:rPr sz="1120" b="1" dirty="0">
                          <a:solidFill>
                            <a:srgbClr val="FFFFFF"/>
                          </a:solidFill>
                          <a:latin typeface="맑은 고딕"/>
                          <a:ea typeface="맑은 고딕"/>
                        </a:rPr>
                        <a:t>L1</a:t>
                      </a:r>
                    </a:p>
                  </a:txBody>
                  <a:tcPr marL="82296" marR="82296" marT="36576" marB="36576" anchor="ctr">
                    <a:solidFill>
                      <a:srgbClr val="273A52"/>
                    </a:solidFill>
                  </a:tcPr>
                </a:tc>
                <a:tc>
                  <a:txBody>
                    <a:bodyPr/>
                    <a:lstStyle/>
                    <a:p>
                      <a:pPr algn="ctr">
                        <a:lnSpc>
                          <a:spcPct val="114000"/>
                        </a:lnSpc>
                        <a:spcAft>
                          <a:spcPts val="200"/>
                        </a:spcAft>
                      </a:pPr>
                      <a:r>
                        <a:rPr sz="1120" b="1" dirty="0">
                          <a:solidFill>
                            <a:srgbClr val="FFFFFF"/>
                          </a:solidFill>
                          <a:latin typeface="맑은 고딕"/>
                          <a:ea typeface="맑은 고딕"/>
                        </a:rPr>
                        <a:t>L2</a:t>
                      </a:r>
                    </a:p>
                  </a:txBody>
                  <a:tcPr marL="82296" marR="82296" marT="36576" marB="36576" anchor="ctr">
                    <a:solidFill>
                      <a:srgbClr val="273A52"/>
                    </a:solidFill>
                  </a:tcPr>
                </a:tc>
                <a:tc>
                  <a:txBody>
                    <a:bodyPr/>
                    <a:lstStyle/>
                    <a:p>
                      <a:pPr algn="ctr">
                        <a:lnSpc>
                          <a:spcPct val="114000"/>
                        </a:lnSpc>
                        <a:spcAft>
                          <a:spcPts val="200"/>
                        </a:spcAft>
                      </a:pPr>
                      <a:r>
                        <a:rPr sz="1120" b="1" dirty="0">
                          <a:solidFill>
                            <a:srgbClr val="FFFFFF"/>
                          </a:solidFill>
                          <a:latin typeface="맑은 고딕"/>
                          <a:ea typeface="맑은 고딕"/>
                        </a:rPr>
                        <a:t>FA</a:t>
                      </a:r>
                    </a:p>
                  </a:txBody>
                  <a:tcPr marL="82296" marR="82296" marT="36576" marB="36576" anchor="ctr">
                    <a:solidFill>
                      <a:srgbClr val="273A52"/>
                    </a:solidFill>
                  </a:tcPr>
                </a:tc>
                <a:tc>
                  <a:txBody>
                    <a:bodyPr/>
                    <a:lstStyle/>
                    <a:p>
                      <a:pPr algn="ctr">
                        <a:lnSpc>
                          <a:spcPct val="114000"/>
                        </a:lnSpc>
                        <a:spcAft>
                          <a:spcPts val="200"/>
                        </a:spcAft>
                      </a:pPr>
                      <a:r>
                        <a:rPr sz="1120" b="1" dirty="0" err="1">
                          <a:solidFill>
                            <a:srgbClr val="FFFFFF"/>
                          </a:solidFill>
                          <a:latin typeface="맑은 고딕"/>
                          <a:ea typeface="맑은 고딕"/>
                        </a:rPr>
                        <a:t>해석</a:t>
                      </a:r>
                      <a:endParaRPr sz="1120" b="1" dirty="0">
                        <a:solidFill>
                          <a:srgbClr val="FFFFFF"/>
                        </a:solidFill>
                        <a:latin typeface="맑은 고딕"/>
                        <a:ea typeface="맑은 고딕"/>
                      </a:endParaRPr>
                    </a:p>
                  </a:txBody>
                  <a:tcPr marL="82296" marR="82296" marT="36576" marB="36576" anchor="ctr">
                    <a:solidFill>
                      <a:srgbClr val="273A52"/>
                    </a:solidFill>
                  </a:tcPr>
                </a:tc>
                <a:extLst>
                  <a:ext uri="{0D108BD9-81ED-4DB2-BD59-A6C34878D82A}">
                    <a16:rowId xmlns:a16="http://schemas.microsoft.com/office/drawing/2014/main" val="10000"/>
                  </a:ext>
                </a:extLst>
              </a:tr>
              <a:tr h="411150">
                <a:tc>
                  <a:txBody>
                    <a:bodyPr/>
                    <a:lstStyle/>
                    <a:p>
                      <a:pPr algn="l">
                        <a:lnSpc>
                          <a:spcPct val="114000"/>
                        </a:lnSpc>
                        <a:spcAft>
                          <a:spcPts val="200"/>
                        </a:spcAft>
                      </a:pPr>
                      <a:r>
                        <a:rPr sz="1120" b="1">
                          <a:solidFill>
                            <a:srgbClr val="1E2227"/>
                          </a:solidFill>
                          <a:latin typeface="맑은 고딕"/>
                          <a:ea typeface="맑은 고딕"/>
                        </a:rPr>
                        <a:t>Legitimate (정상)</a:t>
                      </a:r>
                    </a:p>
                  </a:txBody>
                  <a:tcPr marL="82296" marR="82296" marT="36576" marB="36576" anchor="ctr">
                    <a:solidFill>
                      <a:srgbClr val="FFFFFF"/>
                    </a:solidFill>
                  </a:tcPr>
                </a:tc>
                <a:tc>
                  <a:txBody>
                    <a:bodyPr/>
                    <a:lstStyle/>
                    <a:p>
                      <a:pPr algn="l">
                        <a:lnSpc>
                          <a:spcPct val="114000"/>
                        </a:lnSpc>
                        <a:spcAft>
                          <a:spcPts val="200"/>
                        </a:spcAft>
                      </a:pPr>
                      <a:r>
                        <a:rPr sz="1120" b="0" dirty="0">
                          <a:solidFill>
                            <a:srgbClr val="1E2227"/>
                          </a:solidFill>
                          <a:latin typeface="맑은 고딕"/>
                          <a:ea typeface="맑은 고딕"/>
                        </a:rPr>
                        <a:t>detected</a:t>
                      </a:r>
                    </a:p>
                  </a:txBody>
                  <a:tcPr marL="82296" marR="82296" marT="36576" marB="36576" anchor="ctr">
                    <a:solidFill>
                      <a:srgbClr val="FFFFFF"/>
                    </a:solidFill>
                  </a:tcPr>
                </a:tc>
                <a:tc>
                  <a:txBody>
                    <a:bodyPr/>
                    <a:lstStyle/>
                    <a:p>
                      <a:pPr algn="l">
                        <a:lnSpc>
                          <a:spcPct val="114000"/>
                        </a:lnSpc>
                        <a:spcAft>
                          <a:spcPts val="200"/>
                        </a:spcAft>
                      </a:pPr>
                      <a:r>
                        <a:rPr sz="1120" b="0" dirty="0">
                          <a:solidFill>
                            <a:srgbClr val="1E2227"/>
                          </a:solidFill>
                          <a:latin typeface="맑은 고딕"/>
                          <a:ea typeface="맑은 고딕"/>
                        </a:rPr>
                        <a:t>correct</a:t>
                      </a:r>
                    </a:p>
                  </a:txBody>
                  <a:tcPr marL="82296" marR="82296" marT="36576" marB="36576" anchor="ctr">
                    <a:solidFill>
                      <a:srgbClr val="FFFFFF"/>
                    </a:solidFill>
                  </a:tcPr>
                </a:tc>
                <a:tc>
                  <a:txBody>
                    <a:bodyPr/>
                    <a:lstStyle/>
                    <a:p>
                      <a:pPr algn="l">
                        <a:lnSpc>
                          <a:spcPct val="114000"/>
                        </a:lnSpc>
                        <a:spcAft>
                          <a:spcPts val="200"/>
                        </a:spcAft>
                      </a:pPr>
                      <a:r>
                        <a:rPr sz="1120" b="0" dirty="0">
                          <a:solidFill>
                            <a:srgbClr val="1E2227"/>
                          </a:solidFill>
                          <a:latin typeface="맑은 고딕"/>
                          <a:ea typeface="맑은 고딕"/>
                        </a:rPr>
                        <a:t>correct</a:t>
                      </a:r>
                    </a:p>
                  </a:txBody>
                  <a:tcPr marL="82296" marR="82296" marT="36576" marB="36576" anchor="ctr">
                    <a:solidFill>
                      <a:srgbClr val="FFFFFF"/>
                    </a:solidFill>
                  </a:tcPr>
                </a:tc>
                <a:tc>
                  <a:txBody>
                    <a:bodyPr/>
                    <a:lstStyle/>
                    <a:p>
                      <a:pPr algn="l">
                        <a:lnSpc>
                          <a:spcPct val="114000"/>
                        </a:lnSpc>
                        <a:spcAft>
                          <a:spcPts val="200"/>
                        </a:spcAft>
                      </a:pPr>
                      <a:r>
                        <a:rPr lang="ko-KR" sz="1120" b="0" dirty="0">
                          <a:solidFill>
                            <a:srgbClr val="1E2227"/>
                          </a:solidFill>
                          <a:latin typeface="맑은 고딕"/>
                          <a:ea typeface="맑은 고딕"/>
                        </a:rPr>
                        <a:t>인지와 해소를 제대로 거친 </a:t>
                      </a:r>
                      <a:r>
                        <a:rPr lang="ko-KR" sz="1120" b="1" dirty="0">
                          <a:solidFill>
                            <a:srgbClr val="1E7A6F"/>
                          </a:solidFill>
                          <a:latin typeface="맑은 고딕"/>
                          <a:ea typeface="맑은 고딕"/>
                        </a:rPr>
                        <a:t>견고한 정답</a:t>
                      </a:r>
                    </a:p>
                  </a:txBody>
                  <a:tcPr marL="82296" marR="82296" marT="36576" marB="36576" anchor="ctr">
                    <a:solidFill>
                      <a:srgbClr val="FFFFFF"/>
                    </a:solidFill>
                  </a:tcPr>
                </a:tc>
                <a:extLst>
                  <a:ext uri="{0D108BD9-81ED-4DB2-BD59-A6C34878D82A}">
                    <a16:rowId xmlns:a16="http://schemas.microsoft.com/office/drawing/2014/main" val="10001"/>
                  </a:ext>
                </a:extLst>
              </a:tr>
              <a:tr h="411150">
                <a:tc>
                  <a:txBody>
                    <a:bodyPr/>
                    <a:lstStyle/>
                    <a:p>
                      <a:pPr algn="l">
                        <a:lnSpc>
                          <a:spcPct val="114000"/>
                        </a:lnSpc>
                        <a:spcAft>
                          <a:spcPts val="200"/>
                        </a:spcAft>
                      </a:pPr>
                      <a:r>
                        <a:rPr sz="1120" b="1" dirty="0">
                          <a:solidFill>
                            <a:srgbClr val="1E2227"/>
                          </a:solidFill>
                          <a:latin typeface="맑은 고딕"/>
                          <a:ea typeface="맑은 고딕"/>
                        </a:rPr>
                        <a:t>Shortcut (</a:t>
                      </a:r>
                      <a:r>
                        <a:rPr sz="1120" b="1" dirty="0" err="1">
                          <a:solidFill>
                            <a:srgbClr val="1E2227"/>
                          </a:solidFill>
                          <a:latin typeface="맑은 고딕"/>
                          <a:ea typeface="맑은 고딕"/>
                        </a:rPr>
                        <a:t>암묵적</a:t>
                      </a:r>
                      <a:r>
                        <a:rPr sz="1120" b="1" dirty="0">
                          <a:solidFill>
                            <a:srgbClr val="1E2227"/>
                          </a:solidFill>
                          <a:latin typeface="맑은 고딕"/>
                          <a:ea typeface="맑은 고딕"/>
                        </a:rPr>
                        <a:t> </a:t>
                      </a:r>
                      <a:r>
                        <a:rPr sz="1120" b="1" dirty="0" err="1">
                          <a:solidFill>
                            <a:srgbClr val="1E2227"/>
                          </a:solidFill>
                          <a:latin typeface="맑은 고딕"/>
                          <a:ea typeface="맑은 고딕"/>
                        </a:rPr>
                        <a:t>도약</a:t>
                      </a:r>
                      <a:r>
                        <a:rPr sz="1120" b="1" dirty="0">
                          <a:solidFill>
                            <a:srgbClr val="1E2227"/>
                          </a:solidFill>
                          <a:latin typeface="맑은 고딕"/>
                          <a:ea typeface="맑은 고딕"/>
                        </a:rPr>
                        <a:t>)</a:t>
                      </a:r>
                    </a:p>
                  </a:txBody>
                  <a:tcPr marL="82296" marR="82296" marT="36576" marB="36576" anchor="ctr">
                    <a:solidFill>
                      <a:srgbClr val="F6F7F9"/>
                    </a:solidFill>
                  </a:tcPr>
                </a:tc>
                <a:tc>
                  <a:txBody>
                    <a:bodyPr/>
                    <a:lstStyle/>
                    <a:p>
                      <a:pPr algn="l">
                        <a:lnSpc>
                          <a:spcPct val="114000"/>
                        </a:lnSpc>
                        <a:spcAft>
                          <a:spcPts val="200"/>
                        </a:spcAft>
                      </a:pPr>
                      <a:r>
                        <a:rPr sz="1120" b="0" dirty="0">
                          <a:solidFill>
                            <a:srgbClr val="1E2227"/>
                          </a:solidFill>
                          <a:latin typeface="맑은 고딕"/>
                          <a:ea typeface="맑은 고딕"/>
                        </a:rPr>
                        <a:t>detected</a:t>
                      </a:r>
                    </a:p>
                  </a:txBody>
                  <a:tcPr marL="82296" marR="82296" marT="36576" marB="36576" anchor="ctr">
                    <a:solidFill>
                      <a:srgbClr val="F6F7F9"/>
                    </a:solidFill>
                  </a:tcPr>
                </a:tc>
                <a:tc>
                  <a:txBody>
                    <a:bodyPr/>
                    <a:lstStyle/>
                    <a:p>
                      <a:pPr algn="l">
                        <a:lnSpc>
                          <a:spcPct val="114000"/>
                        </a:lnSpc>
                        <a:spcAft>
                          <a:spcPts val="200"/>
                        </a:spcAft>
                      </a:pPr>
                      <a:r>
                        <a:rPr sz="1120" b="0" dirty="0">
                          <a:solidFill>
                            <a:srgbClr val="1E2227"/>
                          </a:solidFill>
                          <a:latin typeface="맑은 고딕"/>
                          <a:ea typeface="맑은 고딕"/>
                        </a:rPr>
                        <a:t>unresolved</a:t>
                      </a:r>
                    </a:p>
                  </a:txBody>
                  <a:tcPr marL="82296" marR="82296" marT="36576" marB="36576" anchor="ctr">
                    <a:solidFill>
                      <a:srgbClr val="F6F7F9"/>
                    </a:solidFill>
                  </a:tcPr>
                </a:tc>
                <a:tc>
                  <a:txBody>
                    <a:bodyPr/>
                    <a:lstStyle/>
                    <a:p>
                      <a:pPr algn="l">
                        <a:lnSpc>
                          <a:spcPct val="114000"/>
                        </a:lnSpc>
                        <a:spcAft>
                          <a:spcPts val="200"/>
                        </a:spcAft>
                      </a:pPr>
                      <a:r>
                        <a:rPr sz="1120" b="0" dirty="0">
                          <a:solidFill>
                            <a:srgbClr val="1E2227"/>
                          </a:solidFill>
                          <a:latin typeface="맑은 고딕"/>
                          <a:ea typeface="맑은 고딕"/>
                        </a:rPr>
                        <a:t>correct</a:t>
                      </a:r>
                    </a:p>
                  </a:txBody>
                  <a:tcPr marL="82296" marR="82296" marT="36576" marB="36576" anchor="ctr">
                    <a:solidFill>
                      <a:srgbClr val="F6F7F9"/>
                    </a:solidFill>
                  </a:tcPr>
                </a:tc>
                <a:tc>
                  <a:txBody>
                    <a:bodyPr/>
                    <a:lstStyle/>
                    <a:p>
                      <a:pPr algn="l">
                        <a:lnSpc>
                          <a:spcPct val="114000"/>
                        </a:lnSpc>
                        <a:spcAft>
                          <a:spcPts val="200"/>
                        </a:spcAft>
                      </a:pPr>
                      <a:r>
                        <a:rPr lang="ko-KR" sz="1120" b="0" dirty="0">
                          <a:solidFill>
                            <a:srgbClr val="1E2227"/>
                          </a:solidFill>
                          <a:latin typeface="맑은 고딕"/>
                          <a:ea typeface="맑은 고딕"/>
                        </a:rPr>
                        <a:t>명시적 해소 없이 건너뛴 경우로, </a:t>
                      </a:r>
                      <a:r>
                        <a:rPr lang="ko-KR" sz="1120" b="1" dirty="0">
                          <a:solidFill>
                            <a:srgbClr val="A4482A"/>
                          </a:solidFill>
                          <a:latin typeface="맑은 고딕"/>
                          <a:ea typeface="맑은 고딕"/>
                        </a:rPr>
                        <a:t>근거가 약한 취약 정답</a:t>
                      </a:r>
                    </a:p>
                  </a:txBody>
                  <a:tcPr marL="82296" marR="82296" marT="36576" marB="36576" anchor="ctr">
                    <a:solidFill>
                      <a:srgbClr val="F6F7F9"/>
                    </a:solidFill>
                  </a:tcPr>
                </a:tc>
                <a:extLst>
                  <a:ext uri="{0D108BD9-81ED-4DB2-BD59-A6C34878D82A}">
                    <a16:rowId xmlns:a16="http://schemas.microsoft.com/office/drawing/2014/main" val="10002"/>
                  </a:ext>
                </a:extLst>
              </a:tr>
              <a:tr h="411150">
                <a:tc>
                  <a:txBody>
                    <a:bodyPr/>
                    <a:lstStyle/>
                    <a:p>
                      <a:pPr algn="l">
                        <a:lnSpc>
                          <a:spcPct val="114000"/>
                        </a:lnSpc>
                        <a:spcAft>
                          <a:spcPts val="200"/>
                        </a:spcAft>
                      </a:pPr>
                      <a:r>
                        <a:rPr sz="1120" b="1" dirty="0">
                          <a:solidFill>
                            <a:srgbClr val="1E2227"/>
                          </a:solidFill>
                          <a:latin typeface="맑은 고딕"/>
                          <a:ea typeface="맑은 고딕"/>
                        </a:rPr>
                        <a:t>Discordant Hit (</a:t>
                      </a:r>
                      <a:r>
                        <a:rPr sz="1120" b="1" dirty="0" err="1">
                          <a:solidFill>
                            <a:srgbClr val="1E2227"/>
                          </a:solidFill>
                          <a:latin typeface="맑은 고딕"/>
                          <a:ea typeface="맑은 고딕"/>
                        </a:rPr>
                        <a:t>불협</a:t>
                      </a:r>
                      <a:r>
                        <a:rPr sz="1120" b="1" dirty="0">
                          <a:solidFill>
                            <a:srgbClr val="1E2227"/>
                          </a:solidFill>
                          <a:latin typeface="맑은 고딕"/>
                          <a:ea typeface="맑은 고딕"/>
                        </a:rPr>
                        <a:t> </a:t>
                      </a:r>
                      <a:r>
                        <a:rPr sz="1120" b="1" dirty="0" err="1">
                          <a:solidFill>
                            <a:srgbClr val="1E2227"/>
                          </a:solidFill>
                          <a:latin typeface="맑은 고딕"/>
                          <a:ea typeface="맑은 고딕"/>
                        </a:rPr>
                        <a:t>적중</a:t>
                      </a:r>
                      <a:r>
                        <a:rPr sz="1120" b="1" dirty="0">
                          <a:solidFill>
                            <a:srgbClr val="1E2227"/>
                          </a:solidFill>
                          <a:latin typeface="맑은 고딕"/>
                          <a:ea typeface="맑은 고딕"/>
                        </a:rPr>
                        <a:t>)</a:t>
                      </a:r>
                    </a:p>
                  </a:txBody>
                  <a:tcPr marL="82296" marR="82296" marT="36576" marB="36576" anchor="ctr">
                    <a:solidFill>
                      <a:srgbClr val="FFFFFF"/>
                    </a:solidFill>
                  </a:tcPr>
                </a:tc>
                <a:tc>
                  <a:txBody>
                    <a:bodyPr/>
                    <a:lstStyle/>
                    <a:p>
                      <a:pPr algn="l">
                        <a:lnSpc>
                          <a:spcPct val="114000"/>
                        </a:lnSpc>
                        <a:spcAft>
                          <a:spcPts val="200"/>
                        </a:spcAft>
                      </a:pPr>
                      <a:r>
                        <a:rPr sz="1120" b="0" dirty="0">
                          <a:solidFill>
                            <a:srgbClr val="1E2227"/>
                          </a:solidFill>
                          <a:latin typeface="맑은 고딕"/>
                          <a:ea typeface="맑은 고딕"/>
                        </a:rPr>
                        <a:t>detected</a:t>
                      </a:r>
                    </a:p>
                  </a:txBody>
                  <a:tcPr marL="82296" marR="82296" marT="36576" marB="36576" anchor="ctr">
                    <a:solidFill>
                      <a:srgbClr val="FFFFFF"/>
                    </a:solidFill>
                  </a:tcPr>
                </a:tc>
                <a:tc>
                  <a:txBody>
                    <a:bodyPr/>
                    <a:lstStyle/>
                    <a:p>
                      <a:pPr algn="l">
                        <a:lnSpc>
                          <a:spcPct val="114000"/>
                        </a:lnSpc>
                        <a:spcAft>
                          <a:spcPts val="200"/>
                        </a:spcAft>
                      </a:pPr>
                      <a:r>
                        <a:rPr sz="1120" b="0" dirty="0">
                          <a:solidFill>
                            <a:srgbClr val="1E2227"/>
                          </a:solidFill>
                          <a:latin typeface="맑은 고딕"/>
                          <a:ea typeface="맑은 고딕"/>
                        </a:rPr>
                        <a:t>wrong</a:t>
                      </a:r>
                    </a:p>
                  </a:txBody>
                  <a:tcPr marL="82296" marR="82296" marT="36576" marB="36576" anchor="ctr">
                    <a:solidFill>
                      <a:srgbClr val="FFFFFF"/>
                    </a:solidFill>
                  </a:tcPr>
                </a:tc>
                <a:tc>
                  <a:txBody>
                    <a:bodyPr/>
                    <a:lstStyle/>
                    <a:p>
                      <a:pPr algn="l">
                        <a:lnSpc>
                          <a:spcPct val="114000"/>
                        </a:lnSpc>
                        <a:spcAft>
                          <a:spcPts val="200"/>
                        </a:spcAft>
                      </a:pPr>
                      <a:r>
                        <a:rPr sz="1120" b="0" dirty="0">
                          <a:solidFill>
                            <a:srgbClr val="1E2227"/>
                          </a:solidFill>
                          <a:latin typeface="맑은 고딕"/>
                          <a:ea typeface="맑은 고딕"/>
                        </a:rPr>
                        <a:t>correct</a:t>
                      </a:r>
                    </a:p>
                  </a:txBody>
                  <a:tcPr marL="82296" marR="82296" marT="36576" marB="36576" anchor="ctr">
                    <a:solidFill>
                      <a:srgbClr val="FFFFFF"/>
                    </a:solidFill>
                  </a:tcPr>
                </a:tc>
                <a:tc>
                  <a:txBody>
                    <a:bodyPr/>
                    <a:lstStyle/>
                    <a:p>
                      <a:pPr algn="l">
                        <a:lnSpc>
                          <a:spcPct val="114000"/>
                        </a:lnSpc>
                        <a:spcAft>
                          <a:spcPts val="200"/>
                        </a:spcAft>
                      </a:pPr>
                      <a:r>
                        <a:rPr lang="ko-KR" sz="1120" b="0" dirty="0">
                          <a:solidFill>
                            <a:srgbClr val="1E2227"/>
                          </a:solidFill>
                          <a:latin typeface="맑은 고딕"/>
                          <a:ea typeface="맑은 고딕"/>
                        </a:rPr>
                        <a:t>오답 문서를 지지해 놓고 정답을 낸 경우</a:t>
                      </a:r>
                    </a:p>
                  </a:txBody>
                  <a:tcPr marL="82296" marR="82296" marT="36576" marB="36576" anchor="ctr">
                    <a:solidFill>
                      <a:srgbClr val="FFFFFF"/>
                    </a:solidFill>
                  </a:tcPr>
                </a:tc>
                <a:extLst>
                  <a:ext uri="{0D108BD9-81ED-4DB2-BD59-A6C34878D82A}">
                    <a16:rowId xmlns:a16="http://schemas.microsoft.com/office/drawing/2014/main" val="10003"/>
                  </a:ext>
                </a:extLst>
              </a:tr>
              <a:tr h="411150">
                <a:tc>
                  <a:txBody>
                    <a:bodyPr/>
                    <a:lstStyle/>
                    <a:p>
                      <a:pPr algn="l">
                        <a:lnSpc>
                          <a:spcPct val="114000"/>
                        </a:lnSpc>
                        <a:spcAft>
                          <a:spcPts val="200"/>
                        </a:spcAft>
                      </a:pPr>
                      <a:r>
                        <a:rPr sz="1120" b="1" dirty="0">
                          <a:solidFill>
                            <a:srgbClr val="1E2227"/>
                          </a:solidFill>
                          <a:latin typeface="맑은 고딕"/>
                          <a:ea typeface="맑은 고딕"/>
                        </a:rPr>
                        <a:t>Blind-Hit (</a:t>
                      </a:r>
                      <a:r>
                        <a:rPr sz="1120" b="1" dirty="0" err="1">
                          <a:solidFill>
                            <a:srgbClr val="1E2227"/>
                          </a:solidFill>
                          <a:latin typeface="맑은 고딕"/>
                          <a:ea typeface="맑은 고딕"/>
                        </a:rPr>
                        <a:t>맹목</a:t>
                      </a:r>
                      <a:r>
                        <a:rPr sz="1120" b="1" dirty="0">
                          <a:solidFill>
                            <a:srgbClr val="1E2227"/>
                          </a:solidFill>
                          <a:latin typeface="맑은 고딕"/>
                          <a:ea typeface="맑은 고딕"/>
                        </a:rPr>
                        <a:t> </a:t>
                      </a:r>
                      <a:r>
                        <a:rPr sz="1120" b="1" dirty="0" err="1">
                          <a:solidFill>
                            <a:srgbClr val="1E2227"/>
                          </a:solidFill>
                          <a:latin typeface="맑은 고딕"/>
                          <a:ea typeface="맑은 고딕"/>
                        </a:rPr>
                        <a:t>적중</a:t>
                      </a:r>
                      <a:r>
                        <a:rPr sz="1120" b="1" dirty="0">
                          <a:solidFill>
                            <a:srgbClr val="1E2227"/>
                          </a:solidFill>
                          <a:latin typeface="맑은 고딕"/>
                          <a:ea typeface="맑은 고딕"/>
                        </a:rPr>
                        <a:t>)</a:t>
                      </a:r>
                    </a:p>
                  </a:txBody>
                  <a:tcPr marL="82296" marR="82296" marT="36576" marB="36576" anchor="ctr">
                    <a:solidFill>
                      <a:srgbClr val="F6F7F9"/>
                    </a:solidFill>
                  </a:tcPr>
                </a:tc>
                <a:tc>
                  <a:txBody>
                    <a:bodyPr/>
                    <a:lstStyle/>
                    <a:p>
                      <a:pPr algn="l">
                        <a:lnSpc>
                          <a:spcPct val="114000"/>
                        </a:lnSpc>
                        <a:spcAft>
                          <a:spcPts val="200"/>
                        </a:spcAft>
                      </a:pPr>
                      <a:r>
                        <a:rPr sz="1120" b="0" dirty="0">
                          <a:solidFill>
                            <a:srgbClr val="1E2227"/>
                          </a:solidFill>
                          <a:latin typeface="맑은 고딕"/>
                          <a:ea typeface="맑은 고딕"/>
                        </a:rPr>
                        <a:t>unrecognized</a:t>
                      </a:r>
                    </a:p>
                  </a:txBody>
                  <a:tcPr marL="82296" marR="82296" marT="36576" marB="36576" anchor="ctr">
                    <a:solidFill>
                      <a:srgbClr val="F6F7F9"/>
                    </a:solidFill>
                  </a:tcPr>
                </a:tc>
                <a:tc>
                  <a:txBody>
                    <a:bodyPr/>
                    <a:lstStyle/>
                    <a:p>
                      <a:pPr algn="l">
                        <a:lnSpc>
                          <a:spcPct val="114000"/>
                        </a:lnSpc>
                        <a:spcAft>
                          <a:spcPts val="200"/>
                        </a:spcAft>
                      </a:pPr>
                      <a:r>
                        <a:rPr sz="1120" b="0">
                          <a:solidFill>
                            <a:srgbClr val="1E2227"/>
                          </a:solidFill>
                          <a:latin typeface="맑은 고딕"/>
                          <a:ea typeface="맑은 고딕"/>
                        </a:rPr>
                        <a:t>—</a:t>
                      </a:r>
                    </a:p>
                  </a:txBody>
                  <a:tcPr marL="82296" marR="82296" marT="36576" marB="36576" anchor="ctr">
                    <a:solidFill>
                      <a:srgbClr val="F6F7F9"/>
                    </a:solidFill>
                  </a:tcPr>
                </a:tc>
                <a:tc>
                  <a:txBody>
                    <a:bodyPr/>
                    <a:lstStyle/>
                    <a:p>
                      <a:pPr algn="l">
                        <a:lnSpc>
                          <a:spcPct val="114000"/>
                        </a:lnSpc>
                        <a:spcAft>
                          <a:spcPts val="200"/>
                        </a:spcAft>
                      </a:pPr>
                      <a:r>
                        <a:rPr sz="1120" b="0">
                          <a:solidFill>
                            <a:srgbClr val="1E2227"/>
                          </a:solidFill>
                          <a:latin typeface="맑은 고딕"/>
                          <a:ea typeface="맑은 고딕"/>
                        </a:rPr>
                        <a:t>correct</a:t>
                      </a:r>
                    </a:p>
                  </a:txBody>
                  <a:tcPr marL="82296" marR="82296" marT="36576" marB="36576" anchor="ctr">
                    <a:solidFill>
                      <a:srgbClr val="F6F7F9"/>
                    </a:solidFill>
                  </a:tcPr>
                </a:tc>
                <a:tc>
                  <a:txBody>
                    <a:bodyPr/>
                    <a:lstStyle/>
                    <a:p>
                      <a:pPr algn="l">
                        <a:lnSpc>
                          <a:spcPct val="114000"/>
                        </a:lnSpc>
                        <a:spcAft>
                          <a:spcPts val="200"/>
                        </a:spcAft>
                      </a:pPr>
                      <a:r>
                        <a:rPr lang="ko-KR" sz="1120" b="0" dirty="0">
                          <a:solidFill>
                            <a:srgbClr val="1E2227"/>
                          </a:solidFill>
                          <a:latin typeface="맑은 고딕"/>
                          <a:ea typeface="맑은 고딕"/>
                        </a:rPr>
                        <a:t>충돌을 인지조차 못한 채 도달한 경우로, </a:t>
                      </a:r>
                      <a:r>
                        <a:rPr lang="ko-KR" sz="1120" b="1" dirty="0">
                          <a:solidFill>
                            <a:srgbClr val="A4482A"/>
                          </a:solidFill>
                          <a:latin typeface="맑은 고딕"/>
                          <a:ea typeface="맑은 고딕"/>
                        </a:rPr>
                        <a:t>파라메트릭 </a:t>
                      </a:r>
                      <a:r>
                        <a:rPr lang="ko-KR" sz="1120" b="1" dirty="0" err="1">
                          <a:solidFill>
                            <a:srgbClr val="A4482A"/>
                          </a:solidFill>
                          <a:latin typeface="맑은 고딕"/>
                          <a:ea typeface="맑은 고딕"/>
                        </a:rPr>
                        <a:t>지식·우연</a:t>
                      </a:r>
                      <a:r>
                        <a:rPr lang="ko-KR" sz="1120" b="0" dirty="0">
                          <a:solidFill>
                            <a:srgbClr val="6B7480"/>
                          </a:solidFill>
                          <a:latin typeface="맑은 고딕"/>
                          <a:ea typeface="맑은 고딕"/>
                        </a:rPr>
                        <a:t> </a:t>
                      </a:r>
                    </a:p>
                  </a:txBody>
                  <a:tcPr marL="82296" marR="82296" marT="36576" marB="36576" anchor="ctr">
                    <a:solidFill>
                      <a:srgbClr val="F6F7F9"/>
                    </a:solidFill>
                  </a:tcPr>
                </a:tc>
                <a:extLst>
                  <a:ext uri="{0D108BD9-81ED-4DB2-BD59-A6C34878D82A}">
                    <a16:rowId xmlns:a16="http://schemas.microsoft.com/office/drawing/2014/main" val="10004"/>
                  </a:ext>
                </a:extLst>
              </a:tr>
            </a:tbl>
          </a:graphicData>
        </a:graphic>
      </p:graphicFrame>
      <p:sp>
        <p:nvSpPr>
          <p:cNvPr id="14" name="TextBox 13">
            <a:extLst>
              <a:ext uri="{FF2B5EF4-FFF2-40B4-BE49-F238E27FC236}">
                <a16:creationId xmlns:a16="http://schemas.microsoft.com/office/drawing/2014/main" id="{BEF45171-FA6E-6147-AC27-1419FAA9BE59}"/>
              </a:ext>
            </a:extLst>
          </p:cNvPr>
          <p:cNvSpPr txBox="1"/>
          <p:nvPr/>
        </p:nvSpPr>
        <p:spPr>
          <a:xfrm>
            <a:off x="548640" y="4097528"/>
            <a:ext cx="11087100" cy="279400"/>
          </a:xfrm>
          <a:prstGeom prst="rect">
            <a:avLst/>
          </a:prstGeom>
          <a:noFill/>
        </p:spPr>
        <p:txBody>
          <a:bodyPr vertOverflow="overflow" vert="horz" wrap="square" lIns="91440" tIns="45720" rIns="91440" bIns="45720" rtlCol="0" anchor="t" anchorCtr="0">
            <a:noAutofit/>
          </a:bodyPr>
          <a:lstStyle/>
          <a:p>
            <a:pPr algn="l"/>
            <a:r>
              <a:rPr lang="ko-KR" sz="1300" b="1" dirty="0">
                <a:solidFill>
                  <a:srgbClr val="273A52"/>
                </a:solidFill>
                <a:latin typeface="맑은 고딕"/>
                <a:ea typeface="맑은 고딕"/>
              </a:rPr>
              <a:t>② </a:t>
            </a:r>
            <a:r>
              <a:rPr lang="ko-KR" sz="1300" b="1" dirty="0">
                <a:solidFill>
                  <a:srgbClr val="C2410C"/>
                </a:solidFill>
                <a:latin typeface="맑은 고딕"/>
                <a:ea typeface="맑은 고딕"/>
              </a:rPr>
              <a:t>정답을 틀렸을 때</a:t>
            </a:r>
            <a:r>
              <a:rPr lang="ko-KR" sz="1300" b="1" dirty="0">
                <a:solidFill>
                  <a:srgbClr val="273A52"/>
                </a:solidFill>
                <a:latin typeface="맑은 고딕"/>
                <a:ea typeface="맑은 고딕"/>
              </a:rPr>
              <a:t> · 단계별 손실 지표   </a:t>
            </a:r>
            <a:r>
              <a:rPr lang="ko-KR" sz="1200" b="0" dirty="0">
                <a:solidFill>
                  <a:srgbClr val="6B7480"/>
                </a:solidFill>
                <a:latin typeface="맑은 고딕"/>
                <a:ea typeface="맑은 고딕"/>
              </a:rPr>
              <a:t>— 과정이 어디서 정답을 잃는가</a:t>
            </a:r>
          </a:p>
        </p:txBody>
      </p:sp>
      <p:graphicFrame>
        <p:nvGraphicFramePr>
          <p:cNvPr id="16" name="표 15">
            <a:extLst>
              <a:ext uri="{FF2B5EF4-FFF2-40B4-BE49-F238E27FC236}">
                <a16:creationId xmlns:a16="http://schemas.microsoft.com/office/drawing/2014/main" id="{56F0C566-20D2-AE4B-9635-7A128E5B68D9}"/>
              </a:ext>
            </a:extLst>
          </p:cNvPr>
          <p:cNvGraphicFramePr>
            <a:graphicFrameLocks noGrp="1"/>
          </p:cNvGraphicFramePr>
          <p:nvPr/>
        </p:nvGraphicFramePr>
        <p:xfrm>
          <a:off x="548640" y="4440936"/>
          <a:ext cx="11087100" cy="1326706"/>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4210758629"/>
                    </a:ext>
                  </a:extLst>
                </a:gridCol>
                <a:gridCol w="4191000">
                  <a:extLst>
                    <a:ext uri="{9D8B030D-6E8A-4147-A177-3AD203B41FA5}">
                      <a16:colId xmlns:a16="http://schemas.microsoft.com/office/drawing/2014/main" val="146617512"/>
                    </a:ext>
                  </a:extLst>
                </a:gridCol>
                <a:gridCol w="4102100">
                  <a:extLst>
                    <a:ext uri="{9D8B030D-6E8A-4147-A177-3AD203B41FA5}">
                      <a16:colId xmlns:a16="http://schemas.microsoft.com/office/drawing/2014/main" val="731700596"/>
                    </a:ext>
                  </a:extLst>
                </a:gridCol>
              </a:tblGrid>
              <a:tr h="304800">
                <a:tc>
                  <a:txBody>
                    <a:bodyPr/>
                    <a:lstStyle/>
                    <a:p>
                      <a:pPr algn="ctr"/>
                      <a:r>
                        <a:rPr lang="ko-KR" altLang="en-US" sz="1120" b="1">
                          <a:solidFill>
                            <a:srgbClr val="FFFFFF"/>
                          </a:solidFill>
                          <a:latin typeface="맑은 고딕"/>
                          <a:ea typeface="맑은 고딕"/>
                        </a:rPr>
                        <a:t>지표</a:t>
                      </a:r>
                    </a:p>
                  </a:txBody>
                  <a:tcPr marT="31750" marB="31750" anchor="ctr">
                    <a:lnTlToBr w="0"/>
                    <a:lnBlToTr w="0"/>
                    <a:solidFill>
                      <a:srgbClr val="273A52"/>
                    </a:solidFill>
                  </a:tcPr>
                </a:tc>
                <a:tc>
                  <a:txBody>
                    <a:bodyPr/>
                    <a:lstStyle/>
                    <a:p>
                      <a:pPr algn="ctr"/>
                      <a:r>
                        <a:rPr lang="ko-KR" altLang="en-US" sz="1120" b="1">
                          <a:solidFill>
                            <a:srgbClr val="FFFFFF"/>
                          </a:solidFill>
                          <a:latin typeface="맑은 고딕"/>
                          <a:ea typeface="맑은 고딕"/>
                        </a:rPr>
                        <a:t>정의</a:t>
                      </a:r>
                    </a:p>
                  </a:txBody>
                  <a:tcPr marT="31750" marB="31750" anchor="ctr">
                    <a:lnTlToBr w="0"/>
                    <a:lnBlToTr w="0"/>
                    <a:solidFill>
                      <a:srgbClr val="273A52"/>
                    </a:solidFill>
                  </a:tcPr>
                </a:tc>
                <a:tc>
                  <a:txBody>
                    <a:bodyPr/>
                    <a:lstStyle/>
                    <a:p>
                      <a:pPr algn="ctr"/>
                      <a:r>
                        <a:rPr lang="ko-KR" altLang="en-US" sz="1120" b="1">
                          <a:solidFill>
                            <a:srgbClr val="FFFFFF"/>
                          </a:solidFill>
                          <a:latin typeface="맑은 고딕"/>
                          <a:ea typeface="맑은 고딕"/>
                        </a:rPr>
                        <a:t>의미</a:t>
                      </a:r>
                    </a:p>
                  </a:txBody>
                  <a:tcPr marT="31750" marB="31750" anchor="ctr">
                    <a:lnTlToBr w="0"/>
                    <a:lnBlToTr w="0"/>
                    <a:solidFill>
                      <a:srgbClr val="273A52"/>
                    </a:solidFill>
                  </a:tcPr>
                </a:tc>
                <a:extLst>
                  <a:ext uri="{0D108BD9-81ED-4DB2-BD59-A6C34878D82A}">
                    <a16:rowId xmlns:a16="http://schemas.microsoft.com/office/drawing/2014/main" val="3578545647"/>
                  </a:ext>
                </a:extLst>
              </a:tr>
              <a:tr h="304800">
                <a:tc>
                  <a:txBody>
                    <a:bodyPr/>
                    <a:lstStyle/>
                    <a:p>
                      <a:pPr algn="l"/>
                      <a:r>
                        <a:rPr lang="ko-KR" altLang="en-US" sz="1120" b="1" dirty="0">
                          <a:solidFill>
                            <a:srgbClr val="1E2227"/>
                          </a:solidFill>
                          <a:latin typeface="Cambria Math"/>
                          <a:ea typeface="맑은 고딕"/>
                        </a:rPr>
                        <a:t>Loss_L1</a:t>
                      </a:r>
                    </a:p>
                  </a:txBody>
                  <a:tcPr marT="31750" marB="31750" anchor="ctr">
                    <a:lnTlToBr w="0"/>
                    <a:lnBlToTr w="0"/>
                    <a:solidFill>
                      <a:srgbClr val="FFFFFF"/>
                    </a:solidFill>
                  </a:tcPr>
                </a:tc>
                <a:tc>
                  <a:txBody>
                    <a:bodyPr/>
                    <a:lstStyle/>
                    <a:p>
                      <a:pPr algn="l"/>
                      <a:r>
                        <a:rPr lang="ko-KR" altLang="en-US" sz="1120" b="0">
                          <a:solidFill>
                            <a:srgbClr val="1E2227"/>
                          </a:solidFill>
                          <a:latin typeface="Cambria Math"/>
                          <a:ea typeface="맑은 고딕"/>
                        </a:rPr>
                        <a:t>P(L1 = unrecognized)</a:t>
                      </a:r>
                    </a:p>
                  </a:txBody>
                  <a:tcPr marT="31750" marB="31750" anchor="ctr">
                    <a:lnTlToBr w="0"/>
                    <a:lnBlToTr w="0"/>
                    <a:solidFill>
                      <a:srgbClr val="FFFFFF"/>
                    </a:solidFill>
                  </a:tcPr>
                </a:tc>
                <a:tc>
                  <a:txBody>
                    <a:bodyPr/>
                    <a:lstStyle/>
                    <a:p>
                      <a:pPr algn="l"/>
                      <a:r>
                        <a:rPr lang="ko-KR" altLang="en-US" sz="1120" b="1" dirty="0">
                          <a:solidFill>
                            <a:srgbClr val="273A52"/>
                          </a:solidFill>
                          <a:latin typeface="맑은 고딕"/>
                          <a:ea typeface="맑은 고딕"/>
                        </a:rPr>
                        <a:t>탐지</a:t>
                      </a:r>
                      <a:r>
                        <a:rPr lang="ko-KR" altLang="en-US" sz="1120" b="0" dirty="0">
                          <a:solidFill>
                            <a:srgbClr val="1E2227"/>
                          </a:solidFill>
                          <a:latin typeface="맑은 고딕"/>
                          <a:ea typeface="맑은 고딕"/>
                        </a:rPr>
                        <a:t> — 충돌을 인지하지 못함</a:t>
                      </a:r>
                    </a:p>
                  </a:txBody>
                  <a:tcPr marT="31750" marB="31750" anchor="ctr">
                    <a:lnTlToBr w="0"/>
                    <a:lnBlToTr w="0"/>
                    <a:solidFill>
                      <a:srgbClr val="FFFFFF"/>
                    </a:solidFill>
                  </a:tcPr>
                </a:tc>
                <a:extLst>
                  <a:ext uri="{0D108BD9-81ED-4DB2-BD59-A6C34878D82A}">
                    <a16:rowId xmlns:a16="http://schemas.microsoft.com/office/drawing/2014/main" val="1999094085"/>
                  </a:ext>
                </a:extLst>
              </a:tr>
              <a:tr h="304800">
                <a:tc>
                  <a:txBody>
                    <a:bodyPr/>
                    <a:lstStyle/>
                    <a:p>
                      <a:pPr algn="l"/>
                      <a:r>
                        <a:rPr lang="ko-KR" altLang="en-US" sz="1120" b="1" dirty="0">
                          <a:solidFill>
                            <a:srgbClr val="1E2227"/>
                          </a:solidFill>
                          <a:latin typeface="Cambria Math"/>
                          <a:ea typeface="맑은 고딕"/>
                        </a:rPr>
                        <a:t>Loss_L2</a:t>
                      </a:r>
                    </a:p>
                  </a:txBody>
                  <a:tcPr marT="31750" marB="31750" anchor="ctr">
                    <a:lnTlToBr w="0"/>
                    <a:lnBlToTr w="0"/>
                    <a:solidFill>
                      <a:srgbClr val="F6F7F9"/>
                    </a:solidFill>
                  </a:tcPr>
                </a:tc>
                <a:tc>
                  <a:txBody>
                    <a:bodyPr/>
                    <a:lstStyle/>
                    <a:p>
                      <a:pPr algn="l"/>
                      <a:r>
                        <a:rPr lang="ko-KR" altLang="en-US" sz="1120" b="0" dirty="0" err="1">
                          <a:solidFill>
                            <a:srgbClr val="1E2227"/>
                          </a:solidFill>
                          <a:latin typeface="Cambria Math"/>
                          <a:ea typeface="맑은 고딕"/>
                        </a:rPr>
                        <a:t>P</a:t>
                      </a:r>
                      <a:r>
                        <a:rPr lang="ko-KR" altLang="en-US" sz="1120" b="0" dirty="0">
                          <a:solidFill>
                            <a:srgbClr val="1E2227"/>
                          </a:solidFill>
                          <a:latin typeface="Cambria Math"/>
                          <a:ea typeface="맑은 고딕"/>
                        </a:rPr>
                        <a:t>(L2 ≠ </a:t>
                      </a:r>
                      <a:r>
                        <a:rPr lang="ko-KR" altLang="en-US" sz="1120" b="0" dirty="0" err="1">
                          <a:solidFill>
                            <a:srgbClr val="1E2227"/>
                          </a:solidFill>
                          <a:latin typeface="Cambria Math"/>
                          <a:ea typeface="맑은 고딕"/>
                        </a:rPr>
                        <a:t>correct</a:t>
                      </a:r>
                      <a:r>
                        <a:rPr lang="ko-KR" altLang="en-US" sz="1120" b="0" dirty="0">
                          <a:solidFill>
                            <a:srgbClr val="1E2227"/>
                          </a:solidFill>
                          <a:latin typeface="Cambria Math"/>
                          <a:ea typeface="맑은 고딕"/>
                        </a:rPr>
                        <a:t> | L1 = </a:t>
                      </a:r>
                      <a:r>
                        <a:rPr lang="ko-KR" altLang="en-US" sz="1120" b="0" dirty="0" err="1">
                          <a:solidFill>
                            <a:srgbClr val="1E2227"/>
                          </a:solidFill>
                          <a:latin typeface="Cambria Math"/>
                          <a:ea typeface="맑은 고딕"/>
                        </a:rPr>
                        <a:t>detected</a:t>
                      </a:r>
                      <a:r>
                        <a:rPr lang="ko-KR" altLang="en-US" sz="1120" b="0" dirty="0">
                          <a:solidFill>
                            <a:srgbClr val="1E2227"/>
                          </a:solidFill>
                          <a:latin typeface="Cambria Math"/>
                          <a:ea typeface="맑은 고딕"/>
                        </a:rPr>
                        <a:t>)</a:t>
                      </a:r>
                    </a:p>
                  </a:txBody>
                  <a:tcPr marT="31750" marB="31750" anchor="ctr">
                    <a:lnTlToBr w="0"/>
                    <a:lnBlToTr w="0"/>
                    <a:solidFill>
                      <a:srgbClr val="F6F7F9"/>
                    </a:solidFill>
                  </a:tcPr>
                </a:tc>
                <a:tc>
                  <a:txBody>
                    <a:bodyPr/>
                    <a:lstStyle/>
                    <a:p>
                      <a:pPr algn="l"/>
                      <a:r>
                        <a:rPr lang="ko-KR" altLang="en-US" sz="1120" b="1" dirty="0">
                          <a:solidFill>
                            <a:srgbClr val="273A52"/>
                          </a:solidFill>
                          <a:latin typeface="맑은 고딕"/>
                          <a:ea typeface="맑은 고딕"/>
                        </a:rPr>
                        <a:t>해소</a:t>
                      </a:r>
                      <a:r>
                        <a:rPr lang="ko-KR" altLang="en-US" sz="1120" b="0" dirty="0">
                          <a:solidFill>
                            <a:srgbClr val="1E2227"/>
                          </a:solidFill>
                          <a:latin typeface="맑은 고딕"/>
                          <a:ea typeface="맑은 고딕"/>
                        </a:rPr>
                        <a:t> — 인지했으나 올바른 근거 선택에 실패</a:t>
                      </a:r>
                    </a:p>
                  </a:txBody>
                  <a:tcPr marT="31750" marB="31750" anchor="ctr">
                    <a:lnTlToBr w="0"/>
                    <a:lnBlToTr w="0"/>
                    <a:solidFill>
                      <a:srgbClr val="F6F7F9"/>
                    </a:solidFill>
                  </a:tcPr>
                </a:tc>
                <a:extLst>
                  <a:ext uri="{0D108BD9-81ED-4DB2-BD59-A6C34878D82A}">
                    <a16:rowId xmlns:a16="http://schemas.microsoft.com/office/drawing/2014/main" val="181509093"/>
                  </a:ext>
                </a:extLst>
              </a:tr>
              <a:tr h="304800">
                <a:tc>
                  <a:txBody>
                    <a:bodyPr/>
                    <a:lstStyle/>
                    <a:p>
                      <a:pPr algn="l"/>
                      <a:r>
                        <a:rPr lang="en-US" altLang="en-US" sz="1120" b="1" dirty="0">
                          <a:solidFill>
                            <a:srgbClr val="1E2227"/>
                          </a:solidFill>
                          <a:latin typeface="Cambria Math"/>
                          <a:ea typeface="맑은 고딕"/>
                        </a:rPr>
                        <a:t>AIR</a:t>
                      </a:r>
                    </a:p>
                    <a:p>
                      <a:pPr algn="l">
                        <a:lnSpc>
                          <a:spcPct val="105000"/>
                        </a:lnSpc>
                        <a:spcBef>
                          <a:spcPts val="100"/>
                        </a:spcBef>
                      </a:pPr>
                      <a:r>
                        <a:rPr lang="ko-KR" altLang="en-US" sz="1120" b="0" dirty="0">
                          <a:solidFill>
                            <a:srgbClr val="6B7480"/>
                          </a:solidFill>
                          <a:latin typeface="맑은 고딕"/>
                          <a:ea typeface="맑은 고딕"/>
                        </a:rPr>
                        <a:t>Answer Inversion Rate · 정답 역전율</a:t>
                      </a:r>
                    </a:p>
                  </a:txBody>
                  <a:tcPr marT="31750" marB="31750" anchor="ctr">
                    <a:lnTlToBr w="0"/>
                    <a:lnBlToTr w="0"/>
                    <a:solidFill>
                      <a:srgbClr val="FFFFFF"/>
                    </a:solidFill>
                  </a:tcPr>
                </a:tc>
                <a:tc>
                  <a:txBody>
                    <a:bodyPr/>
                    <a:lstStyle/>
                    <a:p>
                      <a:pPr algn="l"/>
                      <a:r>
                        <a:rPr lang="ko-KR" altLang="en-US" sz="1120" b="0">
                          <a:solidFill>
                            <a:srgbClr val="1E2227"/>
                          </a:solidFill>
                          <a:latin typeface="Cambria Math"/>
                          <a:ea typeface="맑은 고딕"/>
                        </a:rPr>
                        <a:t>P(FA = wrong | L1 = detected, L2 = correct)</a:t>
                      </a:r>
                    </a:p>
                  </a:txBody>
                  <a:tcPr marT="31750" marB="31750" anchor="ctr">
                    <a:lnTlToBr w="0"/>
                    <a:lnBlToTr w="0"/>
                    <a:solidFill>
                      <a:srgbClr val="FFFFFF"/>
                    </a:solidFill>
                  </a:tcPr>
                </a:tc>
                <a:tc>
                  <a:txBody>
                    <a:bodyPr/>
                    <a:lstStyle/>
                    <a:p>
                      <a:pPr algn="l"/>
                      <a:r>
                        <a:rPr lang="ko-KR" altLang="en-US" sz="1120" b="1" dirty="0">
                          <a:solidFill>
                            <a:srgbClr val="273A52"/>
                          </a:solidFill>
                          <a:latin typeface="맑은 고딕"/>
                          <a:ea typeface="맑은 고딕"/>
                        </a:rPr>
                        <a:t>표출</a:t>
                      </a:r>
                      <a:r>
                        <a:rPr lang="ko-KR" altLang="en-US" sz="1120" b="0" dirty="0">
                          <a:solidFill>
                            <a:srgbClr val="1E2227"/>
                          </a:solidFill>
                          <a:latin typeface="맑은 고딕"/>
                          <a:ea typeface="맑은 고딕"/>
                        </a:rPr>
                        <a:t> — 올바로 판단하고도 최종 답에서 뒤집힘</a:t>
                      </a:r>
                    </a:p>
                  </a:txBody>
                  <a:tcPr marT="31750" marB="31750" anchor="ctr">
                    <a:lnTlToBr w="0"/>
                    <a:lnBlToTr w="0"/>
                    <a:solidFill>
                      <a:srgbClr val="FFFFFF"/>
                    </a:solidFill>
                  </a:tcPr>
                </a:tc>
                <a:extLst>
                  <a:ext uri="{0D108BD9-81ED-4DB2-BD59-A6C34878D82A}">
                    <a16:rowId xmlns:a16="http://schemas.microsoft.com/office/drawing/2014/main" val="3600827754"/>
                  </a:ext>
                </a:extLst>
              </a:tr>
            </a:tbl>
          </a:graphicData>
        </a:graphic>
      </p:graphicFrame>
      <p:sp>
        <p:nvSpPr>
          <p:cNvPr id="17" name="TextBox 16">
            <a:extLst>
              <a:ext uri="{FF2B5EF4-FFF2-40B4-BE49-F238E27FC236}">
                <a16:creationId xmlns:a16="http://schemas.microsoft.com/office/drawing/2014/main" id="{0BEBD820-4E76-F74A-8D5C-AD5EF6E6964C}"/>
              </a:ext>
            </a:extLst>
          </p:cNvPr>
          <p:cNvSpPr txBox="1"/>
          <p:nvPr/>
        </p:nvSpPr>
        <p:spPr>
          <a:xfrm>
            <a:off x="548640" y="5901308"/>
            <a:ext cx="11087100" cy="203200"/>
          </a:xfrm>
          <a:prstGeom prst="rect">
            <a:avLst/>
          </a:prstGeom>
          <a:noFill/>
        </p:spPr>
        <p:txBody>
          <a:bodyPr vertOverflow="overflow" vert="horz" wrap="square" lIns="91440" tIns="45720" rIns="91440" bIns="45720" rtlCol="0" anchor="t" anchorCtr="0">
            <a:noAutofit/>
          </a:bodyPr>
          <a:lstStyle/>
          <a:p>
            <a:pPr algn="l"/>
            <a:r>
              <a:rPr lang="ko-KR" sz="1000" dirty="0">
                <a:solidFill>
                  <a:srgbClr val="6B7480"/>
                </a:solidFill>
                <a:latin typeface="맑은 고딕"/>
                <a:ea typeface="맑은 고딕"/>
              </a:rPr>
              <a:t>추론에선 정답에 도달했는데 최종 답은 틀린 비율을 전체 사례 수와 함께 적으면, 누구나 같은 값을 다시 계산해 확인할 수 있음  (</a:t>
            </a:r>
            <a:r>
              <a:rPr lang="en-US" sz="1000" dirty="0">
                <a:solidFill>
                  <a:srgbClr val="6B7480"/>
                </a:solidFill>
                <a:latin typeface="Cambria Math"/>
                <a:ea typeface="맑은 고딕"/>
              </a:rPr>
              <a:t>P(L2 = correct ∧ FA = wrong)</a:t>
            </a:r>
            <a:r>
              <a:rPr lang="ko-KR" sz="1000" dirty="0">
                <a:solidFill>
                  <a:srgbClr val="6B7480"/>
                </a:solidFill>
                <a:latin typeface="맑은 고딕"/>
                <a:ea typeface="맑은 고딕"/>
              </a:rPr>
              <a:t>, 분모 </a:t>
            </a:r>
            <a:r>
              <a:rPr lang="en-US" sz="1000" dirty="0">
                <a:solidFill>
                  <a:srgbClr val="6B7480"/>
                </a:solidFill>
                <a:latin typeface="Cambria Math"/>
                <a:ea typeface="맑은 고딕"/>
              </a:rPr>
              <a:t>N</a:t>
            </a:r>
            <a:r>
              <a:rPr lang="ko-KR" sz="1000" dirty="0">
                <a:solidFill>
                  <a:srgbClr val="6B7480"/>
                </a:solidFill>
                <a:latin typeface="맑은 고딕"/>
                <a:ea typeface="맑은 고딕"/>
              </a:rPr>
              <a:t> 병기)</a:t>
            </a:r>
          </a:p>
        </p:txBody>
      </p:sp>
    </p:spTree>
    <p:extLst>
      <p:ext uri="{BB962C8B-B14F-4D97-AF65-F5344CB8AC3E}">
        <p14:creationId xmlns:p14="http://schemas.microsoft.com/office/powerpoint/2010/main" val="1327478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0" dirty="0">
                <a:solidFill>
                  <a:srgbClr val="6B7480"/>
                </a:solidFill>
                <a:latin typeface="맑은 고딕"/>
                <a:ea typeface="맑은 고딕"/>
              </a:rPr>
              <a:t>§3 방법론</a:t>
            </a:r>
            <a:r>
              <a:rPr lang="en-US" sz="1250" b="0" dirty="0">
                <a:solidFill>
                  <a:srgbClr val="B0B7C0"/>
                </a:solidFill>
                <a:latin typeface="맑은 고딕"/>
                <a:ea typeface="맑은 고딕"/>
              </a:rPr>
              <a:t>   ›   </a:t>
            </a:r>
            <a:r>
              <a:rPr lang="ko-KR" sz="1250" b="1" dirty="0">
                <a:solidFill>
                  <a:srgbClr val="273A52"/>
                </a:solidFill>
                <a:latin typeface="맑은 고딕"/>
                <a:ea typeface="맑은 고딕"/>
              </a:rPr>
              <a:t>§3.3 실험 설계</a:t>
            </a:r>
          </a:p>
        </p:txBody>
      </p:sp>
      <p:sp>
        <p:nvSpPr>
          <p:cNvPr id="3" name="TextBox 2"/>
          <p:cNvSpPr txBox="1"/>
          <p:nvPr/>
        </p:nvSpPr>
        <p:spPr>
          <a:xfrm>
            <a:off x="548640" y="585216"/>
            <a:ext cx="11091672" cy="396647"/>
          </a:xfrm>
          <a:prstGeom prst="rect">
            <a:avLst/>
          </a:prstGeom>
          <a:noFill/>
        </p:spPr>
        <p:txBody>
          <a:bodyPr wrap="square" lIns="0" tIns="0" rIns="0" bIns="0">
            <a:spAutoFit/>
          </a:bodyPr>
          <a:lstStyle/>
          <a:p>
            <a:pPr algn="l">
              <a:lnSpc>
                <a:spcPct val="122000"/>
              </a:lnSpc>
              <a:spcAft>
                <a:spcPts val="450"/>
              </a:spcAft>
            </a:pPr>
            <a:r>
              <a:rPr lang="ko-KR" sz="2350" b="1" dirty="0">
                <a:solidFill>
                  <a:srgbClr val="273A52"/>
                </a:solidFill>
                <a:latin typeface="맑은 고딕"/>
                <a:ea typeface="맑은 고딕"/>
              </a:rPr>
              <a:t>가설별 판정 방법과 측정 지표</a:t>
            </a: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160365"/>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17</a:t>
            </a:fld>
            <a:endParaRPr lang="en-US" altLang="ko-KR" sz="950">
              <a:solidFill>
                <a:srgbClr val="6B7480"/>
              </a:solidFill>
              <a:latin typeface="맑은 고딕"/>
              <a:ea typeface="맑은 고딕"/>
            </a:endParaRPr>
          </a:p>
        </p:txBody>
      </p:sp>
      <p:graphicFrame>
        <p:nvGraphicFramePr>
          <p:cNvPr id="8" name="표 7">
            <a:extLst>
              <a:ext uri="{FF2B5EF4-FFF2-40B4-BE49-F238E27FC236}">
                <a16:creationId xmlns:a16="http://schemas.microsoft.com/office/drawing/2014/main" id="{A6FA96AE-89C5-D146-AB99-A904334AA9CE}"/>
              </a:ext>
            </a:extLst>
          </p:cNvPr>
          <p:cNvGraphicFramePr>
            <a:graphicFrameLocks noGrp="1"/>
          </p:cNvGraphicFramePr>
          <p:nvPr/>
        </p:nvGraphicFramePr>
        <p:xfrm>
          <a:off x="546100" y="1472183"/>
          <a:ext cx="11087100" cy="4563869"/>
        </p:xfrm>
        <a:graphic>
          <a:graphicData uri="http://schemas.openxmlformats.org/drawingml/2006/table">
            <a:tbl>
              <a:tblPr firstRow="1" bandRow="1">
                <a:tableStyleId>{5C22544A-7EE6-4342-B048-85BDC9FD1C3A}</a:tableStyleId>
              </a:tblPr>
              <a:tblGrid>
                <a:gridCol w="711200">
                  <a:extLst>
                    <a:ext uri="{9D8B030D-6E8A-4147-A177-3AD203B41FA5}">
                      <a16:colId xmlns:a16="http://schemas.microsoft.com/office/drawing/2014/main" val="415007109"/>
                    </a:ext>
                  </a:extLst>
                </a:gridCol>
                <a:gridCol w="609600">
                  <a:extLst>
                    <a:ext uri="{9D8B030D-6E8A-4147-A177-3AD203B41FA5}">
                      <a16:colId xmlns:a16="http://schemas.microsoft.com/office/drawing/2014/main" val="803809616"/>
                    </a:ext>
                  </a:extLst>
                </a:gridCol>
                <a:gridCol w="3175000">
                  <a:extLst>
                    <a:ext uri="{9D8B030D-6E8A-4147-A177-3AD203B41FA5}">
                      <a16:colId xmlns:a16="http://schemas.microsoft.com/office/drawing/2014/main" val="804025840"/>
                    </a:ext>
                  </a:extLst>
                </a:gridCol>
                <a:gridCol w="3556000">
                  <a:extLst>
                    <a:ext uri="{9D8B030D-6E8A-4147-A177-3AD203B41FA5}">
                      <a16:colId xmlns:a16="http://schemas.microsoft.com/office/drawing/2014/main" val="3567082291"/>
                    </a:ext>
                  </a:extLst>
                </a:gridCol>
                <a:gridCol w="3035300">
                  <a:extLst>
                    <a:ext uri="{9D8B030D-6E8A-4147-A177-3AD203B41FA5}">
                      <a16:colId xmlns:a16="http://schemas.microsoft.com/office/drawing/2014/main" val="2924446538"/>
                    </a:ext>
                  </a:extLst>
                </a:gridCol>
              </a:tblGrid>
              <a:tr h="483855">
                <a:tc>
                  <a:txBody>
                    <a:bodyPr/>
                    <a:lstStyle/>
                    <a:p>
                      <a:pPr algn="ctr"/>
                      <a:r>
                        <a:rPr lang="ko-KR" altLang="en-US" sz="1120" b="1">
                          <a:solidFill>
                            <a:srgbClr val="FFFFFF"/>
                          </a:solidFill>
                          <a:latin typeface="맑은 고딕"/>
                          <a:ea typeface="맑은 고딕"/>
                        </a:rPr>
                        <a:t>실험</a:t>
                      </a:r>
                    </a:p>
                  </a:txBody>
                  <a:tcPr anchor="ctr">
                    <a:solidFill>
                      <a:srgbClr val="273A52"/>
                    </a:solidFill>
                  </a:tcPr>
                </a:tc>
                <a:tc>
                  <a:txBody>
                    <a:bodyPr/>
                    <a:lstStyle/>
                    <a:p>
                      <a:pPr algn="ctr"/>
                      <a:r>
                        <a:rPr lang="ko-KR" altLang="en-US" sz="1120" b="1">
                          <a:solidFill>
                            <a:srgbClr val="FFFFFF"/>
                          </a:solidFill>
                          <a:latin typeface="맑은 고딕"/>
                          <a:ea typeface="맑은 고딕"/>
                        </a:rPr>
                        <a:t>RQ</a:t>
                      </a:r>
                    </a:p>
                  </a:txBody>
                  <a:tcPr anchor="ctr">
                    <a:solidFill>
                      <a:srgbClr val="273A52"/>
                    </a:solidFill>
                  </a:tcPr>
                </a:tc>
                <a:tc>
                  <a:txBody>
                    <a:bodyPr/>
                    <a:lstStyle/>
                    <a:p>
                      <a:pPr algn="ctr"/>
                      <a:r>
                        <a:rPr lang="ko-KR" altLang="en-US" sz="1120" b="1">
                          <a:solidFill>
                            <a:srgbClr val="FFFFFF"/>
                          </a:solidFill>
                          <a:latin typeface="맑은 고딕"/>
                          <a:ea typeface="맑은 고딕"/>
                        </a:rPr>
                        <a:t>핵심 질문 (가설)</a:t>
                      </a:r>
                    </a:p>
                  </a:txBody>
                  <a:tcPr anchor="ctr">
                    <a:solidFill>
                      <a:srgbClr val="273A52"/>
                    </a:solidFill>
                  </a:tcPr>
                </a:tc>
                <a:tc>
                  <a:txBody>
                    <a:bodyPr/>
                    <a:lstStyle/>
                    <a:p>
                      <a:pPr algn="ctr"/>
                      <a:r>
                        <a:rPr lang="ko-KR" altLang="en-US" sz="1120" b="1">
                          <a:solidFill>
                            <a:srgbClr val="FFFFFF"/>
                          </a:solidFill>
                          <a:latin typeface="맑은 고딕"/>
                          <a:ea typeface="맑은 고딕"/>
                        </a:rPr>
                        <a:t>판정 방법</a:t>
                      </a:r>
                    </a:p>
                  </a:txBody>
                  <a:tcPr anchor="ctr">
                    <a:solidFill>
                      <a:srgbClr val="273A52"/>
                    </a:solidFill>
                  </a:tcPr>
                </a:tc>
                <a:tc>
                  <a:txBody>
                    <a:bodyPr/>
                    <a:lstStyle/>
                    <a:p>
                      <a:pPr algn="ctr"/>
                      <a:r>
                        <a:rPr lang="ko-KR" altLang="en-US" sz="1120" b="1">
                          <a:solidFill>
                            <a:srgbClr val="FFFFFF"/>
                          </a:solidFill>
                          <a:latin typeface="맑은 고딕"/>
                          <a:ea typeface="맑은 고딕"/>
                        </a:rPr>
                        <a:t>측정 지표</a:t>
                      </a:r>
                    </a:p>
                  </a:txBody>
                  <a:tcPr anchor="ctr">
                    <a:solidFill>
                      <a:srgbClr val="273A52"/>
                    </a:solidFill>
                  </a:tcPr>
                </a:tc>
                <a:extLst>
                  <a:ext uri="{0D108BD9-81ED-4DB2-BD59-A6C34878D82A}">
                    <a16:rowId xmlns:a16="http://schemas.microsoft.com/office/drawing/2014/main" val="1339337003"/>
                  </a:ext>
                </a:extLst>
              </a:tr>
              <a:tr h="992304">
                <a:tc rowSpan="2">
                  <a:txBody>
                    <a:bodyPr/>
                    <a:lstStyle/>
                    <a:p>
                      <a:pPr algn="ctr"/>
                      <a:r>
                        <a:rPr lang="ko-KR" altLang="en-US" sz="1120" b="1">
                          <a:solidFill>
                            <a:srgbClr val="273A52"/>
                          </a:solidFill>
                          <a:latin typeface="맑은 고딕"/>
                          <a:ea typeface="맑은 고딕"/>
                        </a:rPr>
                        <a:t>실험 1</a:t>
                      </a:r>
                    </a:p>
                  </a:txBody>
                  <a:tcPr anchor="ctr">
                    <a:solidFill>
                      <a:srgbClr val="EEF1F5"/>
                    </a:solidFill>
                  </a:tcPr>
                </a:tc>
                <a:tc>
                  <a:txBody>
                    <a:bodyPr/>
                    <a:lstStyle/>
                    <a:p>
                      <a:pPr algn="ctr"/>
                      <a:r>
                        <a:rPr lang="ko-KR" altLang="en-US" sz="1120" b="1">
                          <a:solidFill>
                            <a:srgbClr val="273A52"/>
                          </a:solidFill>
                          <a:latin typeface="맑은 고딕"/>
                          <a:ea typeface="맑은 고딕"/>
                        </a:rPr>
                        <a:t>RQ1</a:t>
                      </a:r>
                    </a:p>
                  </a:txBody>
                  <a:tcPr anchor="ctr">
                    <a:solidFill>
                      <a:srgbClr val="EEF1F5"/>
                    </a:solidFill>
                  </a:tcPr>
                </a:tc>
                <a:tc>
                  <a:txBody>
                    <a:bodyPr/>
                    <a:lstStyle/>
                    <a:p>
                      <a:pPr algn="l"/>
                      <a:r>
                        <a:rPr lang="ko-KR" sz="1120" b="0" dirty="0">
                          <a:solidFill>
                            <a:srgbClr val="1E2227"/>
                          </a:solidFill>
                          <a:latin typeface="맑은 고딕"/>
                          <a:ea typeface="맑은 고딕"/>
                        </a:rPr>
                        <a:t>추론 결론과 최종 답변이 일치(L-a)하는가? 불일치는 어느 단계에서 생기나?</a:t>
                      </a:r>
                    </a:p>
                  </a:txBody>
                  <a:tcPr anchor="ctr">
                    <a:solidFill>
                      <a:srgbClr val="FFFFFF"/>
                    </a:solidFill>
                  </a:tcPr>
                </a:tc>
                <a:tc>
                  <a:txBody>
                    <a:bodyPr/>
                    <a:lstStyle/>
                    <a:p>
                      <a:pPr marL="171450" indent="-171450" algn="l">
                        <a:lnSpc>
                          <a:spcPct val="106000"/>
                        </a:lnSpc>
                        <a:spcAft>
                          <a:spcPts val="300"/>
                        </a:spcAft>
                        <a:buFont typeface="Arial"/>
                        <a:buChar char="•"/>
                      </a:pPr>
                      <a:r>
                        <a:rPr lang="ko-KR" sz="1120" b="0" dirty="0">
                          <a:solidFill>
                            <a:srgbClr val="1E2227"/>
                          </a:solidFill>
                          <a:latin typeface="맑은 고딕"/>
                          <a:ea typeface="맑은 고딕"/>
                        </a:rPr>
                        <a:t>문항마다 추론 결론과 최종 답의 라벨을 맞대어 </a:t>
                      </a:r>
                      <a:r>
                        <a:rPr lang="ko-KR" sz="1120" b="1" dirty="0">
                          <a:solidFill>
                            <a:srgbClr val="1E2227"/>
                          </a:solidFill>
                          <a:latin typeface="맑은 고딕"/>
                          <a:ea typeface="맑은 고딕"/>
                        </a:rPr>
                        <a:t>일치 여부 확인</a:t>
                      </a:r>
                    </a:p>
                    <a:p>
                      <a:pPr marL="171450" indent="-171450" algn="l">
                        <a:lnSpc>
                          <a:spcPct val="106000"/>
                        </a:lnSpc>
                        <a:spcAft>
                          <a:spcPts val="300"/>
                        </a:spcAft>
                        <a:buFont typeface="Arial"/>
                        <a:buChar char="•"/>
                      </a:pPr>
                      <a:r>
                        <a:rPr lang="ko-KR" sz="1120" b="0" dirty="0">
                          <a:solidFill>
                            <a:srgbClr val="1E2227"/>
                          </a:solidFill>
                          <a:latin typeface="맑은 고딕"/>
                          <a:ea typeface="맑은 고딕"/>
                        </a:rPr>
                        <a:t>충돌 유형을 얼마나 맞게 </a:t>
                      </a:r>
                      <a:r>
                        <a:rPr lang="ko-KR" sz="1120" b="1" dirty="0">
                          <a:solidFill>
                            <a:srgbClr val="1E2227"/>
                          </a:solidFill>
                          <a:latin typeface="맑은 고딕"/>
                          <a:ea typeface="맑은 고딕"/>
                        </a:rPr>
                        <a:t>알아차리는지 집계</a:t>
                      </a:r>
                    </a:p>
                  </a:txBody>
                  <a:tcPr anchor="ctr">
                    <a:solidFill>
                      <a:srgbClr val="FFFFFF"/>
                    </a:solidFill>
                  </a:tcPr>
                </a:tc>
                <a:tc>
                  <a:txBody>
                    <a:bodyPr/>
                    <a:lstStyle/>
                    <a:p>
                      <a:pPr algn="l"/>
                      <a:r>
                        <a:rPr lang="ko-KR" altLang="en-US" sz="1120" b="1" dirty="0">
                          <a:solidFill>
                            <a:srgbClr val="273A52"/>
                          </a:solidFill>
                          <a:latin typeface="맑은 고딕"/>
                          <a:ea typeface="맑은 고딕"/>
                        </a:rPr>
                        <a:t>AIR · 유형 인지율</a:t>
                      </a:r>
                      <a:endParaRPr lang="en-US" altLang="ko-KR" sz="1120" b="1" dirty="0">
                        <a:solidFill>
                          <a:srgbClr val="273A52"/>
                        </a:solidFill>
                        <a:latin typeface="맑은 고딕"/>
                        <a:ea typeface="맑은 고딕"/>
                      </a:endParaRPr>
                    </a:p>
                    <a:p>
                      <a:pPr marL="171450" marR="0" lvl="0" indent="-1714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ko-KR" sz="1000" b="1" dirty="0">
                          <a:solidFill>
                            <a:schemeClr val="tx1">
                              <a:lumMod val="50000"/>
                              <a:lumOff val="50000"/>
                            </a:schemeClr>
                          </a:solidFill>
                          <a:latin typeface="맑은 고딕"/>
                          <a:ea typeface="맑은 고딕"/>
                        </a:rPr>
                        <a:t>유형 인지율</a:t>
                      </a:r>
                      <a:r>
                        <a:rPr lang="ko-KR" altLang="ko-KR" sz="1000" b="0" dirty="0">
                          <a:solidFill>
                            <a:schemeClr val="tx1">
                              <a:lumMod val="50000"/>
                              <a:lumOff val="50000"/>
                            </a:schemeClr>
                          </a:solidFill>
                          <a:latin typeface="맑은 고딕"/>
                          <a:ea typeface="맑은 고딕"/>
                        </a:rPr>
                        <a:t> = 유형 적중 충돌문항 / 전체 충돌문항</a:t>
                      </a:r>
                    </a:p>
                  </a:txBody>
                  <a:tcPr anchor="ctr">
                    <a:solidFill>
                      <a:srgbClr val="FFFFFF"/>
                    </a:solidFill>
                  </a:tcPr>
                </a:tc>
                <a:extLst>
                  <a:ext uri="{0D108BD9-81ED-4DB2-BD59-A6C34878D82A}">
                    <a16:rowId xmlns:a16="http://schemas.microsoft.com/office/drawing/2014/main" val="825969484"/>
                  </a:ext>
                </a:extLst>
              </a:tr>
              <a:tr h="967710">
                <a:tc vMerge="1">
                  <a:txBody>
                    <a:bodyPr/>
                    <a:lstStyle/>
                    <a:p>
                      <a:pPr algn="ctr"/>
                      <a:endParaRPr lang="ko-KR" altLang="en-US" sz="1050" b="1">
                        <a:solidFill>
                          <a:srgbClr val="273A52"/>
                        </a:solidFill>
                        <a:latin typeface="맑은 고딕"/>
                        <a:ea typeface="맑은 고딕"/>
                      </a:endParaRPr>
                    </a:p>
                  </a:txBody>
                  <a:tcPr anchor="ctr">
                    <a:solidFill>
                      <a:srgbClr val="EEF1F5"/>
                    </a:solidFill>
                  </a:tcPr>
                </a:tc>
                <a:tc>
                  <a:txBody>
                    <a:bodyPr/>
                    <a:lstStyle/>
                    <a:p>
                      <a:pPr algn="ctr"/>
                      <a:r>
                        <a:rPr lang="ko-KR" altLang="en-US" sz="1120" b="1">
                          <a:solidFill>
                            <a:srgbClr val="273A52"/>
                          </a:solidFill>
                          <a:latin typeface="맑은 고딕"/>
                          <a:ea typeface="맑은 고딕"/>
                        </a:rPr>
                        <a:t>RQ2</a:t>
                      </a:r>
                    </a:p>
                  </a:txBody>
                  <a:tcPr anchor="ctr">
                    <a:solidFill>
                      <a:srgbClr val="EEF1F5"/>
                    </a:solidFill>
                  </a:tcPr>
                </a:tc>
                <a:tc>
                  <a:txBody>
                    <a:bodyPr/>
                    <a:lstStyle/>
                    <a:p>
                      <a:pPr algn="l"/>
                      <a:r>
                        <a:rPr lang="ko-KR" sz="1120" b="0" dirty="0">
                          <a:solidFill>
                            <a:srgbClr val="1E2227"/>
                          </a:solidFill>
                          <a:latin typeface="맑은 고딕"/>
                          <a:ea typeface="맑은 고딕"/>
                        </a:rPr>
                        <a:t>완화로 늘어난 정답, 진짜 추론으로 맞혔나 · 우연(우회 경로)인가?</a:t>
                      </a:r>
                    </a:p>
                  </a:txBody>
                  <a:tcPr anchor="ctr">
                    <a:solidFill>
                      <a:srgbClr val="FFFFFF"/>
                    </a:solidFill>
                  </a:tcPr>
                </a:tc>
                <a:tc>
                  <a:txBody>
                    <a:bodyPr/>
                    <a:lstStyle/>
                    <a:p>
                      <a:pPr marL="171450" indent="-171450" algn="l">
                        <a:lnSpc>
                          <a:spcPct val="106000"/>
                        </a:lnSpc>
                        <a:spcAft>
                          <a:spcPts val="300"/>
                        </a:spcAft>
                        <a:buFont typeface="Arial"/>
                        <a:buChar char="•"/>
                      </a:pPr>
                      <a:r>
                        <a:rPr lang="ko-KR" sz="1120" b="0" dirty="0">
                          <a:solidFill>
                            <a:srgbClr val="1E2227"/>
                          </a:solidFill>
                          <a:latin typeface="맑은 고딕"/>
                          <a:ea typeface="맑은 고딕"/>
                        </a:rPr>
                        <a:t>완화 전·후 같은 문항의 </a:t>
                      </a:r>
                      <a:r>
                        <a:rPr lang="ko-KR" sz="1120" b="1" dirty="0">
                          <a:solidFill>
                            <a:srgbClr val="1E2227"/>
                          </a:solidFill>
                          <a:latin typeface="맑은 고딕"/>
                          <a:ea typeface="맑은 고딕"/>
                        </a:rPr>
                        <a:t>정답 변화를 경로별로 분해</a:t>
                      </a:r>
                      <a:r>
                        <a:rPr lang="ko-KR" sz="1120" b="0" dirty="0">
                          <a:solidFill>
                            <a:srgbClr val="1E2227"/>
                          </a:solidFill>
                          <a:latin typeface="맑은 고딕"/>
                          <a:ea typeface="맑은 고딕"/>
                        </a:rPr>
                        <a:t> (신규 정답 · 숨은 퇴행 · 뒤집힘)</a:t>
                      </a:r>
                    </a:p>
                  </a:txBody>
                  <a:tcPr anchor="ctr">
                    <a:solidFill>
                      <a:srgbClr val="FFFFFF"/>
                    </a:solidFill>
                  </a:tcPr>
                </a:tc>
                <a:tc>
                  <a:txBody>
                    <a:bodyPr/>
                    <a:lstStyle/>
                    <a:p>
                      <a:pPr algn="l"/>
                      <a:r>
                        <a:rPr lang="ko-KR" altLang="en-US" sz="1120" b="1" dirty="0">
                          <a:solidFill>
                            <a:srgbClr val="273A52"/>
                          </a:solidFill>
                          <a:latin typeface="맑은 고딕"/>
                          <a:ea typeface="맑은 고딕"/>
                        </a:rPr>
                        <a:t>LGR · HR · </a:t>
                      </a:r>
                      <a:r>
                        <a:rPr lang="ko-KR" altLang="en-US" sz="1120" b="1" dirty="0" err="1">
                          <a:solidFill>
                            <a:srgbClr val="273A52"/>
                          </a:solidFill>
                          <a:latin typeface="맑은 고딕"/>
                          <a:ea typeface="맑은 고딕"/>
                        </a:rPr>
                        <a:t>Flip</a:t>
                      </a:r>
                      <a:endParaRPr lang="ko-KR" altLang="en-US" sz="1120" b="1" dirty="0">
                        <a:solidFill>
                          <a:srgbClr val="273A52"/>
                        </a:solidFill>
                        <a:latin typeface="맑은 고딕"/>
                        <a:ea typeface="맑은 고딕"/>
                      </a:endParaRPr>
                    </a:p>
                  </a:txBody>
                  <a:tcPr anchor="ctr">
                    <a:solidFill>
                      <a:srgbClr val="FFFFFF"/>
                    </a:solidFill>
                  </a:tcPr>
                </a:tc>
                <a:extLst>
                  <a:ext uri="{0D108BD9-81ED-4DB2-BD59-A6C34878D82A}">
                    <a16:rowId xmlns:a16="http://schemas.microsoft.com/office/drawing/2014/main" val="353854677"/>
                  </a:ext>
                </a:extLst>
              </a:tr>
              <a:tr h="992304">
                <a:tc>
                  <a:txBody>
                    <a:bodyPr/>
                    <a:lstStyle/>
                    <a:p>
                      <a:pPr algn="ctr"/>
                      <a:r>
                        <a:rPr lang="ko-KR" altLang="en-US" sz="1120" b="1">
                          <a:solidFill>
                            <a:srgbClr val="273A52"/>
                          </a:solidFill>
                          <a:latin typeface="맑은 고딕"/>
                          <a:ea typeface="맑은 고딕"/>
                        </a:rPr>
                        <a:t>실험 2</a:t>
                      </a:r>
                    </a:p>
                  </a:txBody>
                  <a:tcPr anchor="ctr">
                    <a:solidFill>
                      <a:srgbClr val="EEF1F5"/>
                    </a:solidFill>
                  </a:tcPr>
                </a:tc>
                <a:tc>
                  <a:txBody>
                    <a:bodyPr/>
                    <a:lstStyle/>
                    <a:p>
                      <a:pPr algn="ctr"/>
                      <a:r>
                        <a:rPr lang="ko-KR" altLang="en-US" sz="1120" b="1">
                          <a:solidFill>
                            <a:srgbClr val="273A52"/>
                          </a:solidFill>
                          <a:latin typeface="맑은 고딕"/>
                          <a:ea typeface="맑은 고딕"/>
                        </a:rPr>
                        <a:t>RQ3</a:t>
                      </a:r>
                    </a:p>
                  </a:txBody>
                  <a:tcPr anchor="ctr">
                    <a:solidFill>
                      <a:srgbClr val="EEF1F5"/>
                    </a:solidFill>
                  </a:tcPr>
                </a:tc>
                <a:tc>
                  <a:txBody>
                    <a:bodyPr/>
                    <a:lstStyle/>
                    <a:p>
                      <a:pPr algn="l"/>
                      <a:r>
                        <a:rPr lang="ko-KR" sz="1120" b="0" dirty="0">
                          <a:solidFill>
                            <a:srgbClr val="1E2227"/>
                          </a:solidFill>
                          <a:latin typeface="맑은 고딕"/>
                          <a:ea typeface="맑은 고딕"/>
                        </a:rPr>
                        <a:t>관측된 불일치는 충돌 고유의 실패인가, 난이도·문서 수 증가의 부수 효과인가?</a:t>
                      </a:r>
                    </a:p>
                  </a:txBody>
                  <a:tcPr anchor="ctr">
                    <a:solidFill>
                      <a:srgbClr val="FFFFFF"/>
                    </a:solidFill>
                  </a:tcPr>
                </a:tc>
                <a:tc>
                  <a:txBody>
                    <a:bodyPr/>
                    <a:lstStyle/>
                    <a:p>
                      <a:pPr marL="171450" indent="-171450" algn="l">
                        <a:lnSpc>
                          <a:spcPct val="106000"/>
                        </a:lnSpc>
                        <a:spcAft>
                          <a:spcPts val="300"/>
                        </a:spcAft>
                        <a:buFont typeface="Arial"/>
                        <a:buChar char="•"/>
                      </a:pPr>
                      <a:r>
                        <a:rPr lang="ko-KR" sz="1120" b="0" dirty="0">
                          <a:solidFill>
                            <a:srgbClr val="1E2227"/>
                          </a:solidFill>
                          <a:latin typeface="맑은 고딕"/>
                          <a:ea typeface="맑은 고딕"/>
                        </a:rPr>
                        <a:t>난이도·문서 수를 걷어낸 회귀로 </a:t>
                      </a:r>
                      <a:r>
                        <a:rPr lang="ko-KR" sz="1120" b="1" dirty="0">
                          <a:solidFill>
                            <a:srgbClr val="1E2227"/>
                          </a:solidFill>
                          <a:latin typeface="맑은 고딕"/>
                          <a:ea typeface="맑은 고딕"/>
                        </a:rPr>
                        <a:t>‘충돌 자체’의 효과만 추정</a:t>
                      </a:r>
                    </a:p>
                    <a:p>
                      <a:pPr marL="171450" indent="-171450" algn="l">
                        <a:lnSpc>
                          <a:spcPct val="106000"/>
                        </a:lnSpc>
                        <a:spcAft>
                          <a:spcPts val="300"/>
                        </a:spcAft>
                        <a:buFont typeface="Arial"/>
                        <a:buChar char="•"/>
                      </a:pPr>
                      <a:r>
                        <a:rPr lang="ko-KR" sz="1120" b="0" dirty="0">
                          <a:solidFill>
                            <a:srgbClr val="1E2227"/>
                          </a:solidFill>
                          <a:latin typeface="맑은 고딕"/>
                          <a:ea typeface="맑은 고딕"/>
                        </a:rPr>
                        <a:t>추론 과정을 켜고/꺼서 그 </a:t>
                      </a:r>
                      <a:r>
                        <a:rPr lang="ko-KR" sz="1120" b="1" dirty="0">
                          <a:solidFill>
                            <a:srgbClr val="1E2227"/>
                          </a:solidFill>
                          <a:latin typeface="맑은 고딕"/>
                          <a:ea typeface="맑은 고딕"/>
                        </a:rPr>
                        <a:t>기여분만 분리</a:t>
                      </a:r>
                    </a:p>
                  </a:txBody>
                  <a:tcPr anchor="ctr">
                    <a:solidFill>
                      <a:srgbClr val="FFFFFF"/>
                    </a:solidFill>
                  </a:tcPr>
                </a:tc>
                <a:tc>
                  <a:txBody>
                    <a:bodyPr/>
                    <a:lstStyle/>
                    <a:p>
                      <a:pPr algn="l"/>
                      <a:r>
                        <a:rPr lang="ko-KR" altLang="en-US" sz="1120" b="1" dirty="0">
                          <a:solidFill>
                            <a:srgbClr val="273A52"/>
                          </a:solidFill>
                          <a:latin typeface="맑은 고딕"/>
                          <a:ea typeface="맑은 고딕"/>
                        </a:rPr>
                        <a:t>충돌 </a:t>
                      </a:r>
                      <a:r>
                        <a:rPr lang="ko-KR" altLang="en-US" sz="1120" b="1" dirty="0" err="1">
                          <a:solidFill>
                            <a:srgbClr val="273A52"/>
                          </a:solidFill>
                          <a:latin typeface="맑은 고딕"/>
                          <a:ea typeface="맑은 고딕"/>
                        </a:rPr>
                        <a:t>순효과</a:t>
                      </a:r>
                      <a:r>
                        <a:rPr lang="ko-KR" altLang="en-US" sz="1120" b="1" dirty="0">
                          <a:solidFill>
                            <a:srgbClr val="273A52"/>
                          </a:solidFill>
                          <a:latin typeface="맑은 고딕"/>
                          <a:ea typeface="맑은 고딕"/>
                        </a:rPr>
                        <a:t> · AIR · </a:t>
                      </a:r>
                      <a:r>
                        <a:rPr lang="ko-KR" altLang="en-US" sz="1120" b="1" dirty="0" err="1">
                          <a:solidFill>
                            <a:srgbClr val="273A52"/>
                          </a:solidFill>
                          <a:latin typeface="맑은 고딕"/>
                          <a:ea typeface="맑은 고딕"/>
                        </a:rPr>
                        <a:t>Shortcut</a:t>
                      </a:r>
                      <a:endParaRPr lang="en-US" altLang="ko-KR" sz="1120" b="1" dirty="0">
                        <a:solidFill>
                          <a:srgbClr val="273A52"/>
                        </a:solidFill>
                        <a:latin typeface="맑은 고딕"/>
                        <a:ea typeface="맑은 고딕"/>
                      </a:endParaRPr>
                    </a:p>
                    <a:p>
                      <a:pPr marL="171450" marR="0" lvl="0" indent="-1714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ko-KR" sz="1000" b="1" dirty="0">
                          <a:solidFill>
                            <a:schemeClr val="tx1">
                              <a:lumMod val="50000"/>
                              <a:lumOff val="50000"/>
                            </a:schemeClr>
                          </a:solidFill>
                          <a:latin typeface="맑은 고딕"/>
                          <a:ea typeface="맑은 고딕"/>
                        </a:rPr>
                        <a:t>충돌 </a:t>
                      </a:r>
                      <a:r>
                        <a:rPr lang="ko-KR" altLang="ko-KR" sz="1000" b="1" dirty="0" err="1">
                          <a:solidFill>
                            <a:schemeClr val="tx1">
                              <a:lumMod val="50000"/>
                              <a:lumOff val="50000"/>
                            </a:schemeClr>
                          </a:solidFill>
                          <a:latin typeface="맑은 고딕"/>
                          <a:ea typeface="맑은 고딕"/>
                        </a:rPr>
                        <a:t>순효과</a:t>
                      </a:r>
                      <a:r>
                        <a:rPr lang="ko-KR" altLang="ko-KR" sz="1000" b="0" dirty="0">
                          <a:solidFill>
                            <a:schemeClr val="tx1">
                              <a:lumMod val="50000"/>
                              <a:lumOff val="50000"/>
                            </a:schemeClr>
                          </a:solidFill>
                          <a:latin typeface="맑은 고딕"/>
                          <a:ea typeface="맑은 고딕"/>
                        </a:rPr>
                        <a:t> = </a:t>
                      </a:r>
                      <a:r>
                        <a:rPr lang="ko-KR" altLang="ko-KR" sz="1000" b="0" dirty="0" err="1">
                          <a:solidFill>
                            <a:schemeClr val="tx1">
                              <a:lumMod val="50000"/>
                              <a:lumOff val="50000"/>
                            </a:schemeClr>
                          </a:solidFill>
                          <a:latin typeface="맑은 고딕"/>
                          <a:ea typeface="맑은 고딕"/>
                        </a:rPr>
                        <a:t>공변량</a:t>
                      </a:r>
                      <a:r>
                        <a:rPr lang="ko-KR" altLang="ko-KR" sz="1000" b="0" dirty="0">
                          <a:solidFill>
                            <a:schemeClr val="tx1">
                              <a:lumMod val="50000"/>
                              <a:lumOff val="50000"/>
                            </a:schemeClr>
                          </a:solidFill>
                          <a:latin typeface="맑은 고딕"/>
                          <a:ea typeface="맑은 고딕"/>
                        </a:rPr>
                        <a:t> 보정 회귀의 충돌 계수 </a:t>
                      </a:r>
                      <a:r>
                        <a:rPr lang="en-US" altLang="ko-KR" sz="1000" i="1" dirty="0">
                          <a:solidFill>
                            <a:schemeClr val="tx1">
                              <a:lumMod val="50000"/>
                              <a:lumOff val="50000"/>
                            </a:schemeClr>
                          </a:solidFill>
                          <a:latin typeface="Cambria Math"/>
                          <a:cs typeface="Cambria Math"/>
                        </a:rPr>
                        <a:t>β</a:t>
                      </a:r>
                    </a:p>
                    <a:p>
                      <a:pPr algn="l"/>
                      <a:endParaRPr lang="ko-KR" altLang="en-US" sz="1120" b="1" dirty="0">
                        <a:solidFill>
                          <a:srgbClr val="273A52"/>
                        </a:solidFill>
                        <a:latin typeface="맑은 고딕"/>
                        <a:ea typeface="맑은 고딕"/>
                      </a:endParaRPr>
                    </a:p>
                  </a:txBody>
                  <a:tcPr anchor="ctr">
                    <a:solidFill>
                      <a:srgbClr val="FFFFFF"/>
                    </a:solidFill>
                  </a:tcPr>
                </a:tc>
                <a:extLst>
                  <a:ext uri="{0D108BD9-81ED-4DB2-BD59-A6C34878D82A}">
                    <a16:rowId xmlns:a16="http://schemas.microsoft.com/office/drawing/2014/main" val="3264723641"/>
                  </a:ext>
                </a:extLst>
              </a:tr>
              <a:tr h="1127696">
                <a:tc>
                  <a:txBody>
                    <a:bodyPr/>
                    <a:lstStyle/>
                    <a:p>
                      <a:pPr algn="ctr"/>
                      <a:r>
                        <a:rPr lang="ko-KR" altLang="en-US" sz="1120" b="1">
                          <a:solidFill>
                            <a:srgbClr val="273A52"/>
                          </a:solidFill>
                          <a:latin typeface="맑은 고딕"/>
                          <a:ea typeface="맑은 고딕"/>
                        </a:rPr>
                        <a:t>실험 3</a:t>
                      </a:r>
                    </a:p>
                  </a:txBody>
                  <a:tcPr anchor="ctr">
                    <a:solidFill>
                      <a:srgbClr val="EEF1F5"/>
                    </a:solidFill>
                  </a:tcPr>
                </a:tc>
                <a:tc>
                  <a:txBody>
                    <a:bodyPr/>
                    <a:lstStyle/>
                    <a:p>
                      <a:pPr algn="ctr"/>
                      <a:r>
                        <a:rPr lang="ko-KR" altLang="en-US" sz="1120" b="1">
                          <a:solidFill>
                            <a:srgbClr val="273A52"/>
                          </a:solidFill>
                          <a:latin typeface="맑은 고딕"/>
                          <a:ea typeface="맑은 고딕"/>
                        </a:rPr>
                        <a:t>RQ4</a:t>
                      </a:r>
                    </a:p>
                  </a:txBody>
                  <a:tcPr anchor="ctr">
                    <a:solidFill>
                      <a:srgbClr val="EEF1F5"/>
                    </a:solidFill>
                  </a:tcPr>
                </a:tc>
                <a:tc>
                  <a:txBody>
                    <a:bodyPr/>
                    <a:lstStyle/>
                    <a:p>
                      <a:pPr algn="l"/>
                      <a:r>
                        <a:rPr lang="ko-KR" sz="1120" b="0" dirty="0">
                          <a:solidFill>
                            <a:srgbClr val="1E2227"/>
                          </a:solidFill>
                          <a:latin typeface="맑은 고딕"/>
                          <a:ea typeface="맑은 고딕"/>
                        </a:rPr>
                        <a:t>추론 결론이 최종 답변에 인과적으로 영향을 주는가(L-b)?</a:t>
                      </a:r>
                    </a:p>
                  </a:txBody>
                  <a:tcPr anchor="ctr">
                    <a:solidFill>
                      <a:srgbClr val="FFFFFF"/>
                    </a:solidFill>
                  </a:tcPr>
                </a:tc>
                <a:tc>
                  <a:txBody>
                    <a:bodyPr/>
                    <a:lstStyle/>
                    <a:p>
                      <a:pPr marL="171450" indent="-171450" algn="l">
                        <a:lnSpc>
                          <a:spcPct val="106000"/>
                        </a:lnSpc>
                        <a:spcAft>
                          <a:spcPts val="300"/>
                        </a:spcAft>
                        <a:buFont typeface="Arial"/>
                        <a:buChar char="•"/>
                      </a:pPr>
                      <a:r>
                        <a:rPr lang="ko-KR" sz="1120" b="0" dirty="0">
                          <a:solidFill>
                            <a:srgbClr val="1E2227"/>
                          </a:solidFill>
                          <a:latin typeface="맑은 고딕"/>
                          <a:ea typeface="맑은 고딕"/>
                        </a:rPr>
                        <a:t>맞힌 문항의 추론에 </a:t>
                      </a:r>
                      <a:r>
                        <a:rPr lang="ko-KR" sz="1120" b="1" dirty="0">
                          <a:solidFill>
                            <a:srgbClr val="1E2227"/>
                          </a:solidFill>
                          <a:latin typeface="맑은 고딕"/>
                          <a:ea typeface="맑은 고딕"/>
                        </a:rPr>
                        <a:t>개입(절단·재생성)</a:t>
                      </a:r>
                      <a:r>
                        <a:rPr lang="ko-KR" sz="1120" b="0" dirty="0">
                          <a:solidFill>
                            <a:srgbClr val="1E2227"/>
                          </a:solidFill>
                          <a:latin typeface="맑은 고딕"/>
                          <a:ea typeface="맑은 고딕"/>
                        </a:rPr>
                        <a:t>해 답이 바뀌는지 측정</a:t>
                      </a:r>
                    </a:p>
                    <a:p>
                      <a:pPr marL="171450" indent="-171450" algn="l">
                        <a:lnSpc>
                          <a:spcPct val="106000"/>
                        </a:lnSpc>
                        <a:spcAft>
                          <a:spcPts val="300"/>
                        </a:spcAft>
                        <a:buFont typeface="Arial"/>
                        <a:buChar char="•"/>
                      </a:pPr>
                      <a:r>
                        <a:rPr lang="ko-KR" sz="1120" b="0" dirty="0">
                          <a:solidFill>
                            <a:srgbClr val="1E2227"/>
                          </a:solidFill>
                          <a:latin typeface="맑은 고딕"/>
                          <a:ea typeface="맑은 고딕"/>
                        </a:rPr>
                        <a:t>개입 시 경로별로 답이 얼마나 </a:t>
                      </a:r>
                      <a:r>
                        <a:rPr lang="ko-KR" sz="1120" b="1" dirty="0">
                          <a:solidFill>
                            <a:srgbClr val="1E2227"/>
                          </a:solidFill>
                          <a:latin typeface="맑은 고딕"/>
                          <a:ea typeface="맑은 고딕"/>
                        </a:rPr>
                        <a:t>뒤집히는지 비교</a:t>
                      </a:r>
                    </a:p>
                  </a:txBody>
                  <a:tcPr anchor="ctr">
                    <a:solidFill>
                      <a:srgbClr val="FFFFFF"/>
                    </a:solidFill>
                  </a:tcPr>
                </a:tc>
                <a:tc>
                  <a:txBody>
                    <a:bodyPr/>
                    <a:lstStyle/>
                    <a:p>
                      <a:pPr algn="l"/>
                      <a:r>
                        <a:rPr lang="ko-KR" altLang="en-US" sz="1120" b="1" dirty="0">
                          <a:solidFill>
                            <a:srgbClr val="273A52"/>
                          </a:solidFill>
                          <a:latin typeface="맑은 고딕"/>
                          <a:ea typeface="맑은 고딕"/>
                        </a:rPr>
                        <a:t>정답 한정 답 변화율 · 경로별 취약성</a:t>
                      </a:r>
                      <a:endParaRPr lang="en-US" altLang="ko-KR" sz="1120" b="1" dirty="0">
                        <a:solidFill>
                          <a:srgbClr val="273A52"/>
                        </a:solidFill>
                        <a:latin typeface="맑은 고딕"/>
                        <a:ea typeface="맑은 고딕"/>
                      </a:endParaRPr>
                    </a:p>
                    <a:p>
                      <a:pPr marL="171450" indent="-171450" algn="l">
                        <a:lnSpc>
                          <a:spcPct val="118000"/>
                        </a:lnSpc>
                        <a:spcAft>
                          <a:spcPts val="260"/>
                        </a:spcAft>
                        <a:buFont typeface="Arial"/>
                        <a:buChar char="•"/>
                      </a:pPr>
                      <a:r>
                        <a:rPr lang="ko-KR" altLang="ko-KR" sz="1000" b="1" dirty="0">
                          <a:solidFill>
                            <a:schemeClr val="tx1">
                              <a:lumMod val="50000"/>
                              <a:lumOff val="50000"/>
                            </a:schemeClr>
                          </a:solidFill>
                          <a:latin typeface="맑은 고딕"/>
                          <a:ea typeface="맑은 고딕"/>
                        </a:rPr>
                        <a:t>정답 한정 답 변화율</a:t>
                      </a:r>
                      <a:r>
                        <a:rPr lang="ko-KR" altLang="ko-KR" sz="1000" b="0" dirty="0">
                          <a:solidFill>
                            <a:schemeClr val="tx1">
                              <a:lumMod val="50000"/>
                              <a:lumOff val="50000"/>
                            </a:schemeClr>
                          </a:solidFill>
                          <a:latin typeface="맑은 고딕"/>
                          <a:ea typeface="맑은 고딕"/>
                        </a:rPr>
                        <a:t> = 개입 후 바뀐 정답 / 정답 문항</a:t>
                      </a:r>
                    </a:p>
                    <a:p>
                      <a:pPr marL="171450" indent="-171450" algn="l">
                        <a:lnSpc>
                          <a:spcPct val="118000"/>
                        </a:lnSpc>
                        <a:spcAft>
                          <a:spcPts val="260"/>
                        </a:spcAft>
                        <a:buFont typeface="Arial"/>
                        <a:buChar char="•"/>
                      </a:pPr>
                      <a:r>
                        <a:rPr lang="ko-KR" altLang="ko-KR" sz="1000" b="1" dirty="0">
                          <a:solidFill>
                            <a:schemeClr val="tx1">
                              <a:lumMod val="50000"/>
                              <a:lumOff val="50000"/>
                            </a:schemeClr>
                          </a:solidFill>
                          <a:latin typeface="맑은 고딕"/>
                          <a:ea typeface="맑은 고딕"/>
                        </a:rPr>
                        <a:t>경로별 취약성(</a:t>
                      </a:r>
                      <a:r>
                        <a:rPr lang="ko-KR" altLang="ko-KR" sz="1000" b="1" dirty="0" err="1">
                          <a:solidFill>
                            <a:schemeClr val="tx1">
                              <a:lumMod val="50000"/>
                              <a:lumOff val="50000"/>
                            </a:schemeClr>
                          </a:solidFill>
                          <a:latin typeface="맑은 고딕"/>
                          <a:ea typeface="맑은 고딕"/>
                        </a:rPr>
                        <a:t>p</a:t>
                      </a:r>
                      <a:r>
                        <a:rPr lang="ko-KR" altLang="ko-KR" sz="1000" b="1" dirty="0">
                          <a:solidFill>
                            <a:schemeClr val="tx1">
                              <a:lumMod val="50000"/>
                              <a:lumOff val="50000"/>
                            </a:schemeClr>
                          </a:solidFill>
                          <a:latin typeface="맑은 고딕"/>
                          <a:ea typeface="맑은 고딕"/>
                        </a:rPr>
                        <a:t>)</a:t>
                      </a:r>
                      <a:r>
                        <a:rPr lang="ko-KR" altLang="ko-KR" sz="1000" b="0" dirty="0">
                          <a:solidFill>
                            <a:schemeClr val="tx1">
                              <a:lumMod val="50000"/>
                              <a:lumOff val="50000"/>
                            </a:schemeClr>
                          </a:solidFill>
                          <a:latin typeface="맑은 고딕"/>
                          <a:ea typeface="맑은 고딕"/>
                        </a:rPr>
                        <a:t> = 경로 </a:t>
                      </a:r>
                      <a:r>
                        <a:rPr lang="ko-KR" altLang="ko-KR" sz="1000" b="0" dirty="0" err="1">
                          <a:solidFill>
                            <a:schemeClr val="tx1">
                              <a:lumMod val="50000"/>
                              <a:lumOff val="50000"/>
                            </a:schemeClr>
                          </a:solidFill>
                          <a:latin typeface="맑은 고딕"/>
                          <a:ea typeface="맑은 고딕"/>
                        </a:rPr>
                        <a:t>p</a:t>
                      </a:r>
                      <a:r>
                        <a:rPr lang="ko-KR" altLang="ko-KR" sz="1000" b="0" dirty="0">
                          <a:solidFill>
                            <a:schemeClr val="tx1">
                              <a:lumMod val="50000"/>
                              <a:lumOff val="50000"/>
                            </a:schemeClr>
                          </a:solidFill>
                          <a:latin typeface="맑은 고딕"/>
                          <a:ea typeface="맑은 고딕"/>
                        </a:rPr>
                        <a:t> 뒤집힘 / 경로 </a:t>
                      </a:r>
                      <a:r>
                        <a:rPr lang="ko-KR" altLang="ko-KR" sz="1000" b="0" dirty="0" err="1">
                          <a:solidFill>
                            <a:schemeClr val="tx1">
                              <a:lumMod val="50000"/>
                              <a:lumOff val="50000"/>
                            </a:schemeClr>
                          </a:solidFill>
                          <a:latin typeface="맑은 고딕"/>
                          <a:ea typeface="맑은 고딕"/>
                        </a:rPr>
                        <a:t>p</a:t>
                      </a:r>
                      <a:r>
                        <a:rPr lang="ko-KR" altLang="ko-KR" sz="1000" b="0" dirty="0">
                          <a:solidFill>
                            <a:schemeClr val="tx1">
                              <a:lumMod val="50000"/>
                              <a:lumOff val="50000"/>
                            </a:schemeClr>
                          </a:solidFill>
                          <a:latin typeface="맑은 고딕"/>
                          <a:ea typeface="맑은 고딕"/>
                        </a:rPr>
                        <a:t> 정답</a:t>
                      </a:r>
                    </a:p>
                  </a:txBody>
                  <a:tcPr anchor="ctr">
                    <a:solidFill>
                      <a:srgbClr val="FFFFFF"/>
                    </a:solidFill>
                  </a:tcPr>
                </a:tc>
                <a:extLst>
                  <a:ext uri="{0D108BD9-81ED-4DB2-BD59-A6C34878D82A}">
                    <a16:rowId xmlns:a16="http://schemas.microsoft.com/office/drawing/2014/main" val="2942978917"/>
                  </a:ext>
                </a:extLst>
              </a:tr>
            </a:tbl>
          </a:graphicData>
        </a:graphic>
      </p:graphicFrame>
    </p:spTree>
    <p:extLst>
      <p:ext uri="{BB962C8B-B14F-4D97-AF65-F5344CB8AC3E}">
        <p14:creationId xmlns:p14="http://schemas.microsoft.com/office/powerpoint/2010/main" val="1546921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0" dirty="0">
                <a:solidFill>
                  <a:srgbClr val="6B7480"/>
                </a:solidFill>
                <a:latin typeface="맑은 고딕"/>
                <a:ea typeface="맑은 고딕"/>
              </a:rPr>
              <a:t>§3 방법론</a:t>
            </a:r>
            <a:r>
              <a:rPr lang="en-US" sz="1250" b="0" dirty="0">
                <a:solidFill>
                  <a:srgbClr val="B0B7C0"/>
                </a:solidFill>
                <a:latin typeface="맑은 고딕"/>
                <a:ea typeface="맑은 고딕"/>
              </a:rPr>
              <a:t>   ›   </a:t>
            </a:r>
            <a:r>
              <a:rPr lang="en-US" sz="1250" b="1" dirty="0">
                <a:solidFill>
                  <a:srgbClr val="273A52"/>
                </a:solidFill>
                <a:latin typeface="맑은 고딕"/>
                <a:ea typeface="맑은 고딕"/>
              </a:rPr>
              <a:t>§3.3 실험 설계</a:t>
            </a:r>
          </a:p>
        </p:txBody>
      </p:sp>
      <p:sp>
        <p:nvSpPr>
          <p:cNvPr id="3" name="TextBox 2"/>
          <p:cNvSpPr txBox="1"/>
          <p:nvPr/>
        </p:nvSpPr>
        <p:spPr>
          <a:xfrm>
            <a:off x="548640" y="585216"/>
            <a:ext cx="11091672" cy="396647"/>
          </a:xfrm>
          <a:prstGeom prst="rect">
            <a:avLst/>
          </a:prstGeom>
          <a:noFill/>
        </p:spPr>
        <p:txBody>
          <a:bodyPr wrap="square" lIns="0" tIns="0" rIns="0" bIns="0">
            <a:spAutoFit/>
          </a:bodyPr>
          <a:lstStyle/>
          <a:p>
            <a:pPr algn="l">
              <a:lnSpc>
                <a:spcPct val="122000"/>
              </a:lnSpc>
              <a:spcAft>
                <a:spcPts val="450"/>
              </a:spcAft>
            </a:pPr>
            <a:r>
              <a:rPr lang="ko-KR" sz="2350" b="1" dirty="0">
                <a:solidFill>
                  <a:srgbClr val="273A52"/>
                </a:solidFill>
                <a:latin typeface="맑은 고딕"/>
                <a:ea typeface="맑은 고딕"/>
              </a:rPr>
              <a:t>실험 공통 설정: 대상 모델</a:t>
            </a: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274320"/>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18</a:t>
            </a:fld>
            <a:endParaRPr lang="en-US" altLang="ko-KR" sz="950">
              <a:solidFill>
                <a:srgbClr val="6B7480"/>
              </a:solidFill>
              <a:latin typeface="맑은 고딕"/>
              <a:ea typeface="맑은 고딕"/>
            </a:endParaRPr>
          </a:p>
        </p:txBody>
      </p:sp>
      <p:graphicFrame>
        <p:nvGraphicFramePr>
          <p:cNvPr id="7" name="Table 6"/>
          <p:cNvGraphicFramePr>
            <a:graphicFrameLocks noGrp="1"/>
          </p:cNvGraphicFramePr>
          <p:nvPr/>
        </p:nvGraphicFramePr>
        <p:xfrm>
          <a:off x="548640" y="1270000"/>
          <a:ext cx="11091672" cy="2145284"/>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5971032">
                  <a:extLst>
                    <a:ext uri="{9D8B030D-6E8A-4147-A177-3AD203B41FA5}">
                      <a16:colId xmlns:a16="http://schemas.microsoft.com/office/drawing/2014/main" val="20003"/>
                    </a:ext>
                  </a:extLst>
                </a:gridCol>
              </a:tblGrid>
              <a:tr h="384048">
                <a:tc>
                  <a:txBody>
                    <a:bodyPr/>
                    <a:lstStyle/>
                    <a:p>
                      <a:pPr algn="l">
                        <a:lnSpc>
                          <a:spcPct val="114000"/>
                        </a:lnSpc>
                        <a:spcAft>
                          <a:spcPts val="200"/>
                        </a:spcAft>
                      </a:pPr>
                      <a:r>
                        <a:rPr sz="1150" b="1">
                          <a:solidFill>
                            <a:srgbClr val="FFFFFF"/>
                          </a:solidFill>
                          <a:latin typeface="맑은 고딕"/>
                          <a:ea typeface="맑은 고딕"/>
                        </a:rPr>
                        <a:t>모델</a:t>
                      </a:r>
                    </a:p>
                  </a:txBody>
                  <a:tcPr marL="82296" marR="82296" marT="36576" marB="36576" anchor="ctr">
                    <a:solidFill>
                      <a:srgbClr val="273A52"/>
                    </a:solidFill>
                  </a:tcPr>
                </a:tc>
                <a:tc>
                  <a:txBody>
                    <a:bodyPr/>
                    <a:lstStyle/>
                    <a:p>
                      <a:pPr algn="l">
                        <a:lnSpc>
                          <a:spcPct val="114000"/>
                        </a:lnSpc>
                        <a:spcAft>
                          <a:spcPts val="200"/>
                        </a:spcAft>
                      </a:pPr>
                      <a:r>
                        <a:rPr sz="1150" b="1">
                          <a:solidFill>
                            <a:srgbClr val="FFFFFF"/>
                          </a:solidFill>
                          <a:latin typeface="맑은 고딕"/>
                          <a:ea typeface="맑은 고딕"/>
                        </a:rPr>
                        <a:t>구조</a:t>
                      </a:r>
                    </a:p>
                  </a:txBody>
                  <a:tcPr marL="82296" marR="82296" marT="36576" marB="36576" anchor="ctr">
                    <a:solidFill>
                      <a:srgbClr val="273A52"/>
                    </a:solidFill>
                  </a:tcPr>
                </a:tc>
                <a:tc>
                  <a:txBody>
                    <a:bodyPr/>
                    <a:lstStyle/>
                    <a:p>
                      <a:pPr algn="l">
                        <a:lnSpc>
                          <a:spcPct val="114000"/>
                        </a:lnSpc>
                        <a:spcAft>
                          <a:spcPts val="200"/>
                        </a:spcAft>
                      </a:pPr>
                      <a:r>
                        <a:rPr sz="1150" b="1">
                          <a:solidFill>
                            <a:srgbClr val="FFFFFF"/>
                          </a:solidFill>
                          <a:latin typeface="맑은 고딕"/>
                          <a:ea typeface="맑은 고딕"/>
                        </a:rPr>
                        <a:t>추론 채널</a:t>
                      </a:r>
                    </a:p>
                  </a:txBody>
                  <a:tcPr marL="82296" marR="82296" marT="36576" marB="36576" anchor="ctr">
                    <a:solidFill>
                      <a:srgbClr val="273A52"/>
                    </a:solidFill>
                  </a:tcPr>
                </a:tc>
                <a:tc>
                  <a:txBody>
                    <a:bodyPr/>
                    <a:lstStyle/>
                    <a:p>
                      <a:pPr algn="l">
                        <a:lnSpc>
                          <a:spcPct val="114000"/>
                        </a:lnSpc>
                        <a:spcAft>
                          <a:spcPts val="200"/>
                        </a:spcAft>
                      </a:pPr>
                      <a:r>
                        <a:rPr sz="1150" b="1" dirty="0" err="1">
                          <a:solidFill>
                            <a:srgbClr val="FFFFFF"/>
                          </a:solidFill>
                          <a:latin typeface="맑은 고딕"/>
                          <a:ea typeface="맑은 고딕"/>
                        </a:rPr>
                        <a:t>역할</a:t>
                      </a:r>
                      <a:r>
                        <a:rPr sz="1150" b="1" dirty="0">
                          <a:solidFill>
                            <a:srgbClr val="FFFFFF"/>
                          </a:solidFill>
                          <a:latin typeface="맑은 고딕"/>
                          <a:ea typeface="맑은 고딕"/>
                        </a:rPr>
                        <a:t> </a:t>
                      </a:r>
                    </a:p>
                  </a:txBody>
                  <a:tcPr marL="82296" marR="82296" marT="36576" marB="36576" anchor="ctr">
                    <a:solidFill>
                      <a:srgbClr val="273A52"/>
                    </a:solidFill>
                  </a:tcPr>
                </a:tc>
                <a:extLst>
                  <a:ext uri="{0D108BD9-81ED-4DB2-BD59-A6C34878D82A}">
                    <a16:rowId xmlns:a16="http://schemas.microsoft.com/office/drawing/2014/main" val="10000"/>
                  </a:ext>
                </a:extLst>
              </a:tr>
              <a:tr h="585216">
                <a:tc>
                  <a:txBody>
                    <a:bodyPr/>
                    <a:lstStyle/>
                    <a:p>
                      <a:pPr algn="l">
                        <a:lnSpc>
                          <a:spcPct val="114000"/>
                        </a:lnSpc>
                        <a:spcAft>
                          <a:spcPts val="200"/>
                        </a:spcAft>
                      </a:pPr>
                      <a:r>
                        <a:rPr sz="1120" b="1" dirty="0">
                          <a:solidFill>
                            <a:srgbClr val="1E2227"/>
                          </a:solidFill>
                          <a:latin typeface="맑은 고딕"/>
                          <a:ea typeface="맑은 고딕"/>
                        </a:rPr>
                        <a:t>Qwen3.6-27B</a:t>
                      </a:r>
                    </a:p>
                    <a:p>
                      <a:pPr algn="l">
                        <a:lnSpc>
                          <a:spcPct val="114000"/>
                        </a:lnSpc>
                        <a:spcAft>
                          <a:spcPts val="200"/>
                        </a:spcAft>
                      </a:pPr>
                      <a:r>
                        <a:rPr sz="1040" b="0" dirty="0">
                          <a:solidFill>
                            <a:srgbClr val="6B7480"/>
                          </a:solidFill>
                          <a:latin typeface="맑은 고딕"/>
                          <a:ea typeface="맑은 고딕"/>
                        </a:rPr>
                        <a:t>2026-04</a:t>
                      </a:r>
                    </a:p>
                  </a:txBody>
                  <a:tcPr marL="82296" marR="82296" marT="36576" marB="36576" anchor="ctr">
                    <a:solidFill>
                      <a:srgbClr val="FFFFFF"/>
                    </a:solidFill>
                  </a:tcPr>
                </a:tc>
                <a:tc>
                  <a:txBody>
                    <a:bodyPr/>
                    <a:lstStyle/>
                    <a:p>
                      <a:pPr algn="l">
                        <a:lnSpc>
                          <a:spcPct val="114000"/>
                        </a:lnSpc>
                        <a:spcAft>
                          <a:spcPts val="200"/>
                        </a:spcAft>
                      </a:pPr>
                      <a:r>
                        <a:rPr sz="1120" b="0">
                          <a:solidFill>
                            <a:srgbClr val="1E2227"/>
                          </a:solidFill>
                          <a:latin typeface="맑은 고딕"/>
                          <a:ea typeface="맑은 고딕"/>
                        </a:rPr>
                        <a:t>27B Dense</a:t>
                      </a:r>
                    </a:p>
                  </a:txBody>
                  <a:tcPr marL="82296" marR="82296" marT="36576" marB="36576" anchor="ctr">
                    <a:solidFill>
                      <a:srgbClr val="FFFFFF"/>
                    </a:solidFill>
                  </a:tcPr>
                </a:tc>
                <a:tc>
                  <a:txBody>
                    <a:bodyPr/>
                    <a:lstStyle/>
                    <a:p>
                      <a:pPr algn="l">
                        <a:lnSpc>
                          <a:spcPct val="114000"/>
                        </a:lnSpc>
                        <a:spcAft>
                          <a:spcPts val="100"/>
                        </a:spcAft>
                      </a:pPr>
                      <a:r>
                        <a:rPr lang="ko-KR" sz="1120" b="0" dirty="0">
                          <a:solidFill>
                            <a:srgbClr val="1E2227"/>
                          </a:solidFill>
                          <a:latin typeface="맑은 고딕"/>
                          <a:ea typeface="맑은 고딕"/>
                        </a:rPr>
                        <a:t>&lt;think&gt;</a:t>
                      </a:r>
                    </a:p>
                    <a:p>
                      <a:pPr algn="l">
                        <a:lnSpc>
                          <a:spcPct val="106000"/>
                        </a:lnSpc>
                      </a:pPr>
                      <a:r>
                        <a:rPr lang="ko-KR" sz="1000" b="0" dirty="0">
                          <a:solidFill>
                            <a:srgbClr val="6B7480"/>
                          </a:solidFill>
                          <a:latin typeface="맑은 고딕"/>
                          <a:ea typeface="맑은 고딕"/>
                        </a:rPr>
                        <a:t>블록 내부 = 추론</a:t>
                      </a:r>
                    </a:p>
                  </a:txBody>
                  <a:tcPr marL="82296" marR="82296" marT="36576" marB="36576" anchor="ctr">
                    <a:solidFill>
                      <a:srgbClr val="FFFFFF"/>
                    </a:solidFill>
                  </a:tcPr>
                </a:tc>
                <a:tc>
                  <a:txBody>
                    <a:bodyPr/>
                    <a:lstStyle/>
                    <a:p>
                      <a:pPr algn="l">
                        <a:lnSpc>
                          <a:spcPct val="114000"/>
                        </a:lnSpc>
                        <a:spcAft>
                          <a:spcPts val="200"/>
                        </a:spcAft>
                      </a:pPr>
                      <a:r>
                        <a:rPr lang="ko-KR" sz="1120" b="1" dirty="0">
                          <a:solidFill>
                            <a:srgbClr val="1E2227"/>
                          </a:solidFill>
                          <a:latin typeface="맑은 고딕"/>
                          <a:ea typeface="맑은 고딕"/>
                        </a:rPr>
                        <a:t>주력 모델</a:t>
                      </a:r>
                      <a:r>
                        <a:rPr lang="ko-KR" sz="1120" b="0" dirty="0">
                          <a:solidFill>
                            <a:srgbClr val="1E2227"/>
                          </a:solidFill>
                          <a:latin typeface="맑은 고딕"/>
                          <a:ea typeface="맑은 고딕"/>
                        </a:rPr>
                        <a:t>. 가장 최신의 밀집(dense) 추론 모델로, </a:t>
                      </a:r>
                      <a:r>
                        <a:rPr lang="ko-KR" sz="1120" b="1" dirty="0">
                          <a:solidFill>
                            <a:srgbClr val="1E7A6F"/>
                          </a:solidFill>
                          <a:latin typeface="맑은 고딕"/>
                          <a:ea typeface="맑은 고딕"/>
                        </a:rPr>
                        <a:t>thinking on/off 하드 토글</a:t>
                      </a:r>
                      <a:r>
                        <a:rPr lang="ko-KR" sz="1120" b="0" dirty="0">
                          <a:solidFill>
                            <a:srgbClr val="1E2227"/>
                          </a:solidFill>
                          <a:latin typeface="맑은 고딕"/>
                          <a:ea typeface="맑은 고딕"/>
                        </a:rPr>
                        <a:t>로 추론 유무를 전환할 수 있어 비교의 기준으로 삼습니다.</a:t>
                      </a:r>
                    </a:p>
                  </a:txBody>
                  <a:tcPr marL="82296" marR="82296" marT="36576" marB="36576" anchor="ctr">
                    <a:solidFill>
                      <a:srgbClr val="FFFFFF"/>
                    </a:solidFill>
                  </a:tcPr>
                </a:tc>
                <a:extLst>
                  <a:ext uri="{0D108BD9-81ED-4DB2-BD59-A6C34878D82A}">
                    <a16:rowId xmlns:a16="http://schemas.microsoft.com/office/drawing/2014/main" val="10001"/>
                  </a:ext>
                </a:extLst>
              </a:tr>
              <a:tr h="585216">
                <a:tc>
                  <a:txBody>
                    <a:bodyPr/>
                    <a:lstStyle/>
                    <a:p>
                      <a:pPr algn="l">
                        <a:lnSpc>
                          <a:spcPct val="114000"/>
                        </a:lnSpc>
                        <a:spcAft>
                          <a:spcPts val="200"/>
                        </a:spcAft>
                      </a:pPr>
                      <a:r>
                        <a:rPr sz="1120" b="1">
                          <a:solidFill>
                            <a:srgbClr val="1E2227"/>
                          </a:solidFill>
                          <a:latin typeface="맑은 고딕"/>
                          <a:ea typeface="맑은 고딕"/>
                        </a:rPr>
                        <a:t>Gemma-3-27B</a:t>
                      </a:r>
                    </a:p>
                    <a:p>
                      <a:pPr algn="l">
                        <a:lnSpc>
                          <a:spcPct val="114000"/>
                        </a:lnSpc>
                        <a:spcAft>
                          <a:spcPts val="200"/>
                        </a:spcAft>
                      </a:pPr>
                      <a:r>
                        <a:rPr sz="1040" b="0">
                          <a:solidFill>
                            <a:srgbClr val="6B7480"/>
                          </a:solidFill>
                          <a:latin typeface="맑은 고딕"/>
                          <a:ea typeface="맑은 고딕"/>
                        </a:rPr>
                        <a:t>2025-03</a:t>
                      </a:r>
                    </a:p>
                  </a:txBody>
                  <a:tcPr marL="82296" marR="82296" marT="36576" marB="36576" anchor="ctr">
                    <a:solidFill>
                      <a:srgbClr val="F6F7F9"/>
                    </a:solidFill>
                  </a:tcPr>
                </a:tc>
                <a:tc>
                  <a:txBody>
                    <a:bodyPr/>
                    <a:lstStyle/>
                    <a:p>
                      <a:pPr algn="l">
                        <a:lnSpc>
                          <a:spcPct val="114000"/>
                        </a:lnSpc>
                        <a:spcAft>
                          <a:spcPts val="200"/>
                        </a:spcAft>
                      </a:pPr>
                      <a:r>
                        <a:rPr sz="1120" b="0">
                          <a:solidFill>
                            <a:srgbClr val="1E2227"/>
                          </a:solidFill>
                          <a:latin typeface="맑은 고딕"/>
                          <a:ea typeface="맑은 고딕"/>
                        </a:rPr>
                        <a:t>27B Dense</a:t>
                      </a:r>
                    </a:p>
                  </a:txBody>
                  <a:tcPr marL="82296" marR="82296" marT="36576" marB="36576" anchor="ctr">
                    <a:solidFill>
                      <a:srgbClr val="F6F7F9"/>
                    </a:solidFill>
                  </a:tcPr>
                </a:tc>
                <a:tc>
                  <a:txBody>
                    <a:bodyPr/>
                    <a:lstStyle/>
                    <a:p>
                      <a:pPr algn="l">
                        <a:lnSpc>
                          <a:spcPct val="114000"/>
                        </a:lnSpc>
                        <a:spcAft>
                          <a:spcPts val="100"/>
                        </a:spcAft>
                      </a:pPr>
                      <a:r>
                        <a:rPr lang="ko-KR" sz="1120" b="0" dirty="0">
                          <a:solidFill>
                            <a:srgbClr val="1E2227"/>
                          </a:solidFill>
                          <a:latin typeface="맑은 고딕"/>
                          <a:ea typeface="맑은 고딕"/>
                        </a:rPr>
                        <a:t>—</a:t>
                      </a:r>
                    </a:p>
                    <a:p>
                      <a:pPr algn="l">
                        <a:lnSpc>
                          <a:spcPct val="106000"/>
                        </a:lnSpc>
                      </a:pPr>
                      <a:r>
                        <a:rPr lang="ko-KR" sz="1000" b="0" dirty="0">
                          <a:solidFill>
                            <a:srgbClr val="6B7480"/>
                          </a:solidFill>
                          <a:latin typeface="맑은 고딕"/>
                          <a:ea typeface="맑은 고딕"/>
                        </a:rPr>
                        <a:t>추론 채널 없음</a:t>
                      </a:r>
                    </a:p>
                  </a:txBody>
                  <a:tcPr marL="82296" marR="82296" marT="36576" marB="36576" anchor="ctr">
                    <a:solidFill>
                      <a:srgbClr val="F6F7F9"/>
                    </a:solidFill>
                  </a:tcPr>
                </a:tc>
                <a:tc>
                  <a:txBody>
                    <a:bodyPr/>
                    <a:lstStyle/>
                    <a:p>
                      <a:pPr algn="l">
                        <a:lnSpc>
                          <a:spcPct val="114000"/>
                        </a:lnSpc>
                        <a:spcAft>
                          <a:spcPts val="200"/>
                        </a:spcAft>
                      </a:pPr>
                      <a:r>
                        <a:rPr lang="ko-KR" sz="1120" b="1" dirty="0">
                          <a:solidFill>
                            <a:srgbClr val="1E2227"/>
                          </a:solidFill>
                          <a:latin typeface="맑은 고딕"/>
                          <a:ea typeface="맑은 고딕"/>
                        </a:rPr>
                        <a:t>교차 계열 일반화.</a:t>
                      </a:r>
                      <a:r>
                        <a:rPr lang="ko-KR" sz="1120" b="0" dirty="0">
                          <a:solidFill>
                            <a:srgbClr val="1E2227"/>
                          </a:solidFill>
                          <a:latin typeface="맑은 고딕"/>
                          <a:ea typeface="맑은 고딕"/>
                        </a:rPr>
                        <a:t> 다른 계열(Google)의 동급 27B 덴스로, 진단된 현상이 계열을 넘어 재현되는지 확인합니다. </a:t>
                      </a:r>
                      <a:r>
                        <a:rPr lang="ko-KR" sz="1120" b="1" dirty="0">
                          <a:solidFill>
                            <a:srgbClr val="1E7A6F"/>
                          </a:solidFill>
                          <a:latin typeface="맑은 고딕"/>
                          <a:ea typeface="맑은 고딕"/>
                        </a:rPr>
                        <a:t>thinking 토글이 없어 RQ3b(추론 채널)에는 참여하지 않습니다.</a:t>
                      </a:r>
                    </a:p>
                  </a:txBody>
                  <a:tcPr marL="82296" marR="82296" marT="36576" marB="36576" anchor="ctr">
                    <a:solidFill>
                      <a:srgbClr val="F6F7F9"/>
                    </a:solidFill>
                  </a:tcPr>
                </a:tc>
                <a:extLst>
                  <a:ext uri="{0D108BD9-81ED-4DB2-BD59-A6C34878D82A}">
                    <a16:rowId xmlns:a16="http://schemas.microsoft.com/office/drawing/2014/main" val="10002"/>
                  </a:ext>
                </a:extLst>
              </a:tr>
              <a:tr h="585216">
                <a:tc>
                  <a:txBody>
                    <a:bodyPr/>
                    <a:lstStyle/>
                    <a:p>
                      <a:pPr algn="l">
                        <a:lnSpc>
                          <a:spcPct val="114000"/>
                        </a:lnSpc>
                        <a:spcAft>
                          <a:spcPts val="200"/>
                        </a:spcAft>
                      </a:pPr>
                      <a:r>
                        <a:rPr sz="1120" b="1">
                          <a:solidFill>
                            <a:srgbClr val="1E2227"/>
                          </a:solidFill>
                          <a:latin typeface="맑은 고딕"/>
                          <a:ea typeface="맑은 고딕"/>
                        </a:rPr>
                        <a:t>gpt-oss-20b</a:t>
                      </a:r>
                    </a:p>
                    <a:p>
                      <a:pPr algn="l">
                        <a:lnSpc>
                          <a:spcPct val="114000"/>
                        </a:lnSpc>
                        <a:spcAft>
                          <a:spcPts val="200"/>
                        </a:spcAft>
                      </a:pPr>
                      <a:r>
                        <a:rPr sz="1040" b="0">
                          <a:solidFill>
                            <a:srgbClr val="6B7480"/>
                          </a:solidFill>
                          <a:latin typeface="맑은 고딕"/>
                          <a:ea typeface="맑은 고딕"/>
                        </a:rPr>
                        <a:t>2025-08</a:t>
                      </a:r>
                    </a:p>
                  </a:txBody>
                  <a:tcPr marL="82296" marR="82296" marT="36576" marB="36576" anchor="ctr">
                    <a:solidFill>
                      <a:srgbClr val="FFFFFF"/>
                    </a:solidFill>
                  </a:tcPr>
                </a:tc>
                <a:tc>
                  <a:txBody>
                    <a:bodyPr/>
                    <a:lstStyle/>
                    <a:p>
                      <a:pPr algn="l">
                        <a:lnSpc>
                          <a:spcPct val="114000"/>
                        </a:lnSpc>
                        <a:spcAft>
                          <a:spcPts val="200"/>
                        </a:spcAft>
                      </a:pPr>
                      <a:r>
                        <a:rPr sz="1120" b="0" dirty="0" err="1">
                          <a:solidFill>
                            <a:srgbClr val="1E2227"/>
                          </a:solidFill>
                          <a:latin typeface="맑은 고딕"/>
                          <a:ea typeface="맑은 고딕"/>
                        </a:rPr>
                        <a:t>MoE</a:t>
                      </a:r>
                      <a:r>
                        <a:rPr sz="1120" b="0" dirty="0">
                          <a:solidFill>
                            <a:srgbClr val="1E2227"/>
                          </a:solidFill>
                          <a:latin typeface="맑은 고딕"/>
                          <a:ea typeface="맑은 고딕"/>
                        </a:rPr>
                        <a:t> 21B</a:t>
                      </a:r>
                      <a:r>
                        <a:rPr sz="1040" b="0" dirty="0">
                          <a:solidFill>
                            <a:srgbClr val="6B7480"/>
                          </a:solidFill>
                          <a:latin typeface="맑은 고딕"/>
                          <a:ea typeface="맑은 고딕"/>
                        </a:rPr>
                        <a:t> (</a:t>
                      </a:r>
                      <a:r>
                        <a:rPr sz="1040" b="0" dirty="0" err="1">
                          <a:solidFill>
                            <a:srgbClr val="6B7480"/>
                          </a:solidFill>
                          <a:latin typeface="맑은 고딕"/>
                          <a:ea typeface="맑은 고딕"/>
                        </a:rPr>
                        <a:t>활성</a:t>
                      </a:r>
                      <a:r>
                        <a:rPr sz="1040" b="0" dirty="0">
                          <a:solidFill>
                            <a:srgbClr val="6B7480"/>
                          </a:solidFill>
                          <a:latin typeface="맑은 고딕"/>
                          <a:ea typeface="맑은 고딕"/>
                        </a:rPr>
                        <a:t> 3.6B)</a:t>
                      </a:r>
                    </a:p>
                  </a:txBody>
                  <a:tcPr marL="82296" marR="82296" marT="36576" marB="36576" anchor="ctr">
                    <a:solidFill>
                      <a:srgbClr val="FFFFFF"/>
                    </a:solidFill>
                  </a:tcPr>
                </a:tc>
                <a:tc>
                  <a:txBody>
                    <a:bodyPr/>
                    <a:lstStyle/>
                    <a:p>
                      <a:pPr algn="l">
                        <a:lnSpc>
                          <a:spcPct val="114000"/>
                        </a:lnSpc>
                        <a:spcAft>
                          <a:spcPts val="100"/>
                        </a:spcAft>
                      </a:pPr>
                      <a:r>
                        <a:rPr lang="ko-KR" sz="1120" b="0" dirty="0">
                          <a:solidFill>
                            <a:srgbClr val="1E2227"/>
                          </a:solidFill>
                          <a:latin typeface="맑은 고딕"/>
                          <a:ea typeface="맑은 고딕"/>
                        </a:rPr>
                        <a:t>Harmony</a:t>
                      </a:r>
                    </a:p>
                    <a:p>
                      <a:pPr algn="l">
                        <a:lnSpc>
                          <a:spcPct val="106000"/>
                        </a:lnSpc>
                      </a:pPr>
                      <a:r>
                        <a:rPr lang="ko-KR" sz="1000" b="0" dirty="0">
                          <a:solidFill>
                            <a:srgbClr val="6B7480"/>
                          </a:solidFill>
                          <a:latin typeface="맑은 고딕"/>
                          <a:ea typeface="맑은 고딕"/>
                        </a:rPr>
                        <a:t>analysis 채널 = 추론</a:t>
                      </a:r>
                    </a:p>
                  </a:txBody>
                  <a:tcPr marL="82296" marR="82296" marT="36576" marB="36576" anchor="ctr">
                    <a:solidFill>
                      <a:srgbClr val="FFFFFF"/>
                    </a:solidFill>
                  </a:tcPr>
                </a:tc>
                <a:tc>
                  <a:txBody>
                    <a:bodyPr/>
                    <a:lstStyle/>
                    <a:p>
                      <a:pPr algn="l">
                        <a:lnSpc>
                          <a:spcPct val="114000"/>
                        </a:lnSpc>
                        <a:spcAft>
                          <a:spcPts val="200"/>
                        </a:spcAft>
                      </a:pPr>
                      <a:r>
                        <a:rPr lang="ko-KR" sz="1120" b="1" dirty="0">
                          <a:solidFill>
                            <a:srgbClr val="1E2227"/>
                          </a:solidFill>
                          <a:latin typeface="맑은 고딕"/>
                          <a:ea typeface="맑은 고딕"/>
                        </a:rPr>
                        <a:t>교차 계열·MoE 검증.</a:t>
                      </a:r>
                      <a:r>
                        <a:rPr lang="ko-KR" sz="1120" b="0" dirty="0">
                          <a:solidFill>
                            <a:srgbClr val="1E2227"/>
                          </a:solidFill>
                          <a:latin typeface="맑은 고딕"/>
                          <a:ea typeface="맑은 고딕"/>
                        </a:rPr>
                        <a:t> 다른 계열의 MoE 구조에서도 결과가 재현되는지 확인하며, 전용 파서로 동일 프로토콜을 적용하되 파싱 방식 차이는 교란 변인으로 명시합니다.</a:t>
                      </a:r>
                    </a:p>
                  </a:txBody>
                  <a:tcPr marL="82296" marR="82296"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8" name="Rectangle 7"/>
          <p:cNvSpPr/>
          <p:nvPr/>
        </p:nvSpPr>
        <p:spPr>
          <a:xfrm>
            <a:off x="548640" y="4169664"/>
            <a:ext cx="11087100" cy="33020"/>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4207764"/>
            <a:ext cx="11087100" cy="198528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pPr>
            <a:r>
              <a:rPr lang="ko-KR" sz="1300" b="1" dirty="0">
                <a:solidFill>
                  <a:srgbClr val="273A52"/>
                </a:solidFill>
                <a:latin typeface="맑은 고딕"/>
                <a:ea typeface="맑은 고딕"/>
              </a:rPr>
              <a:t>선정 원칙</a:t>
            </a:r>
          </a:p>
          <a:p>
            <a:pPr marL="171450" indent="-171450" algn="l">
              <a:lnSpc>
                <a:spcPct val="132000"/>
              </a:lnSpc>
              <a:spcAft>
                <a:spcPts val="450"/>
              </a:spcAft>
              <a:buFont typeface="Arial" panose="020B0604020202020204" pitchFamily="34" charset="0"/>
              <a:buChar char="•"/>
            </a:pPr>
            <a:r>
              <a:rPr lang="ko-KR" sz="1120" b="1" dirty="0">
                <a:solidFill>
                  <a:srgbClr val="1E2227"/>
                </a:solidFill>
                <a:latin typeface="맑은 고딕"/>
                <a:ea typeface="맑은 고딕"/>
              </a:rPr>
              <a:t>네이티브 추론 모델만 사용합니다.</a:t>
            </a:r>
            <a:r>
              <a:rPr lang="ko-KR" sz="1120" b="0" dirty="0">
                <a:solidFill>
                  <a:srgbClr val="1E2227"/>
                </a:solidFill>
                <a:latin typeface="맑은 고딕"/>
                <a:ea typeface="맑은 고딕"/>
              </a:rPr>
              <a:t>  SFT 증류 모델은 장식적 트레이스 위험이 있어 제외합니다.</a:t>
            </a:r>
            <a:endParaRPr lang="en-US" altLang="ko-KR" sz="1120" b="0" dirty="0">
              <a:solidFill>
                <a:srgbClr val="1E2227"/>
              </a:solidFill>
              <a:latin typeface="맑은 고딕"/>
              <a:ea typeface="맑은 고딕"/>
            </a:endParaRPr>
          </a:p>
          <a:p>
            <a:pPr marL="171450" indent="-171450" algn="l">
              <a:lnSpc>
                <a:spcPct val="132000"/>
              </a:lnSpc>
              <a:spcAft>
                <a:spcPts val="450"/>
              </a:spcAft>
              <a:buFont typeface="Arial" panose="020B0604020202020204" pitchFamily="34" charset="0"/>
              <a:buChar char="•"/>
            </a:pPr>
            <a:r>
              <a:rPr lang="ko-KR" sz="1120" b="1" dirty="0">
                <a:solidFill>
                  <a:srgbClr val="1E2227"/>
                </a:solidFill>
                <a:latin typeface="맑은 고딕"/>
                <a:ea typeface="맑은 고딕"/>
              </a:rPr>
              <a:t>20~32B 오픈 가중치만 씁니다.</a:t>
            </a:r>
            <a:r>
              <a:rPr lang="ko-KR" sz="1120" b="0" dirty="0">
                <a:solidFill>
                  <a:srgbClr val="1E2227"/>
                </a:solidFill>
                <a:latin typeface="맑은 고딕"/>
                <a:ea typeface="맑은 고딕"/>
              </a:rPr>
              <a:t>  사고 과정(추론 트레이스)을 통째로 읽어 라벨링해야 하는데, 폐쇄형 API는 이를 숨기거나 요약만 줘서 불가능하기 때문입니다. 이 규모는 제대로 된 추론 능력이 나타나면서도, 압축(양자화) 없이 같은 설정으로 여러 번 반복 실행해 우연·왜곡 없이 재현할 수 있는 지점입니다.</a:t>
            </a:r>
            <a:endParaRPr lang="en-US" altLang="ko-KR" sz="1120" b="0" dirty="0">
              <a:solidFill>
                <a:srgbClr val="1E2227"/>
              </a:solidFill>
              <a:latin typeface="맑은 고딕"/>
              <a:ea typeface="맑은 고딕"/>
            </a:endParaRPr>
          </a:p>
          <a:p>
            <a:pPr marL="171450" indent="-171450" algn="l">
              <a:lnSpc>
                <a:spcPct val="132000"/>
              </a:lnSpc>
              <a:spcAft>
                <a:spcPts val="450"/>
              </a:spcAft>
              <a:buFont typeface="Arial" panose="020B0604020202020204" pitchFamily="34" charset="0"/>
              <a:buChar char="•"/>
            </a:pPr>
            <a:r>
              <a:rPr lang="ko-KR" sz="1120" b="1" dirty="0">
                <a:solidFill>
                  <a:srgbClr val="1E2227"/>
                </a:solidFill>
                <a:latin typeface="맑은 고딕"/>
                <a:ea typeface="맑은 고딕"/>
              </a:rPr>
              <a:t>추론 유무를 교차합니다.</a:t>
            </a:r>
            <a:r>
              <a:rPr lang="ko-KR" sz="1120" b="0" dirty="0">
                <a:solidFill>
                  <a:srgbClr val="1E2227"/>
                </a:solidFill>
                <a:latin typeface="맑은 고딕"/>
                <a:ea typeface="맑은 고딕"/>
              </a:rPr>
              <a:t>  추론을 내보내는 모델 2개(Qwen3.6·gpt-oss)와 추론이 없는 모델 1개(Gemma-3)를 나란히 비교해, 관찰된 현상이 추론 자체에서 온 것인지 모델·계열 고유의 특성인지 가려냅니다.</a:t>
            </a:r>
          </a:p>
        </p:txBody>
      </p:sp>
      <p:sp>
        <p:nvSpPr>
          <p:cNvPr id="40" name="Footnote"/>
          <p:cNvSpPr txBox="1"/>
          <p:nvPr/>
        </p:nvSpPr>
        <p:spPr>
          <a:xfrm>
            <a:off x="546100" y="3505200"/>
            <a:ext cx="11087100" cy="160044"/>
          </a:xfrm>
          <a:prstGeom prst="rect">
            <a:avLst/>
          </a:prstGeom>
          <a:noFill/>
        </p:spPr>
        <p:txBody>
          <a:bodyPr wrap="square" lIns="0" tIns="0" rIns="0" bIns="0" rtlCol="0">
            <a:spAutoFit/>
          </a:bodyPr>
          <a:lstStyle/>
          <a:p>
            <a:pPr algn="l"/>
            <a:r>
              <a:rPr lang="ko-KR" sz="1040" b="0" dirty="0">
                <a:solidFill>
                  <a:srgbClr val="6B7480"/>
                </a:solidFill>
                <a:latin typeface="맑은 고딕"/>
                <a:ea typeface="맑은 고딕"/>
              </a:rPr>
              <a:t>※ 권장 디코딩 </a:t>
            </a:r>
            <a:r>
              <a:rPr lang="en-US" sz="1040" b="0" dirty="0">
                <a:solidFill>
                  <a:srgbClr val="6B7480"/>
                </a:solidFill>
                <a:latin typeface="Cambria Math"/>
                <a:cs typeface="Cambria Math"/>
              </a:rPr>
              <a:t>t = 0.6, top-p 0.95</a:t>
            </a:r>
            <a:r>
              <a:rPr lang="ko-KR" sz="1040" b="0" dirty="0">
                <a:solidFill>
                  <a:srgbClr val="6B7480"/>
                </a:solidFill>
                <a:latin typeface="맑은 고딕"/>
                <a:ea typeface="맑은 고딕"/>
              </a:rPr>
              <a:t> · 시드 5개 이상 · 신뢰구간 Paired Bootstrap 95%</a:t>
            </a:r>
          </a:p>
        </p:txBody>
      </p:sp>
    </p:spTree>
    <p:extLst>
      <p:ext uri="{BB962C8B-B14F-4D97-AF65-F5344CB8AC3E}">
        <p14:creationId xmlns:p14="http://schemas.microsoft.com/office/powerpoint/2010/main" val="3536726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0" dirty="0">
                <a:solidFill>
                  <a:srgbClr val="6B7480"/>
                </a:solidFill>
                <a:latin typeface="맑은 고딕"/>
                <a:ea typeface="맑은 고딕"/>
              </a:rPr>
              <a:t>§3 방법론</a:t>
            </a:r>
            <a:r>
              <a:rPr lang="en-US" sz="1250" b="0" dirty="0">
                <a:solidFill>
                  <a:srgbClr val="B0B7C0"/>
                </a:solidFill>
                <a:latin typeface="맑은 고딕"/>
                <a:ea typeface="맑은 고딕"/>
              </a:rPr>
              <a:t>   ›   </a:t>
            </a:r>
            <a:r>
              <a:rPr lang="en-US" sz="1250" b="1" dirty="0">
                <a:solidFill>
                  <a:srgbClr val="273A52"/>
                </a:solidFill>
                <a:latin typeface="맑은 고딕"/>
                <a:ea typeface="맑은 고딕"/>
              </a:rPr>
              <a:t>§3.3 실험 1</a:t>
            </a:r>
          </a:p>
        </p:txBody>
      </p:sp>
      <p:sp>
        <p:nvSpPr>
          <p:cNvPr id="3" name="TextBox 2"/>
          <p:cNvSpPr txBox="1"/>
          <p:nvPr/>
        </p:nvSpPr>
        <p:spPr>
          <a:xfrm>
            <a:off x="548640" y="585216"/>
            <a:ext cx="11091672" cy="396647"/>
          </a:xfrm>
          <a:prstGeom prst="rect">
            <a:avLst/>
          </a:prstGeom>
          <a:noFill/>
        </p:spPr>
        <p:txBody>
          <a:bodyPr wrap="square" lIns="0" tIns="0" rIns="0" bIns="0">
            <a:spAutoFit/>
          </a:bodyPr>
          <a:lstStyle/>
          <a:p>
            <a:pPr algn="l">
              <a:lnSpc>
                <a:spcPct val="122000"/>
              </a:lnSpc>
              <a:spcAft>
                <a:spcPts val="450"/>
              </a:spcAft>
            </a:pPr>
            <a:r>
              <a:rPr lang="ko-KR" sz="2350" b="1" dirty="0">
                <a:solidFill>
                  <a:srgbClr val="273A52"/>
                </a:solidFill>
                <a:latin typeface="맑은 고딕"/>
                <a:ea typeface="맑은 고딕"/>
              </a:rPr>
              <a:t>실험 1 (RQ1·RQ2): 평가 환경·실행과 RQ1 진단</a:t>
            </a: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274320"/>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19</a:t>
            </a:fld>
            <a:endParaRPr lang="en-US" altLang="ko-KR" sz="950">
              <a:solidFill>
                <a:srgbClr val="6B7480"/>
              </a:solidFill>
              <a:latin typeface="맑은 고딕"/>
              <a:ea typeface="맑은 고딕"/>
            </a:endParaRPr>
          </a:p>
        </p:txBody>
      </p:sp>
      <p:graphicFrame>
        <p:nvGraphicFramePr>
          <p:cNvPr id="7" name="Table 6"/>
          <p:cNvGraphicFramePr>
            <a:graphicFrameLocks noGrp="1"/>
          </p:cNvGraphicFramePr>
          <p:nvPr/>
        </p:nvGraphicFramePr>
        <p:xfrm>
          <a:off x="548640" y="1600200"/>
          <a:ext cx="11091672" cy="3653536"/>
        </p:xfrm>
        <a:graphic>
          <a:graphicData uri="http://schemas.openxmlformats.org/drawingml/2006/table">
            <a:tbl>
              <a:tblPr firstRow="1" bandRow="1">
                <a:tableStyleId>{5C22544A-7EE6-4342-B048-85BDC9FD1C3A}</a:tableStyleId>
              </a:tblPr>
              <a:tblGrid>
                <a:gridCol w="5029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5468112">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468801">
                <a:tc>
                  <a:txBody>
                    <a:bodyPr/>
                    <a:lstStyle/>
                    <a:p>
                      <a:pPr algn="ctr">
                        <a:lnSpc>
                          <a:spcPct val="114000"/>
                        </a:lnSpc>
                        <a:spcAft>
                          <a:spcPts val="200"/>
                        </a:spcAft>
                      </a:pPr>
                      <a:r>
                        <a:rPr sz="1150" b="1">
                          <a:solidFill>
                            <a:srgbClr val="FFFFFF"/>
                          </a:solidFill>
                          <a:latin typeface="맑은 고딕"/>
                          <a:ea typeface="맑은 고딕"/>
                        </a:rPr>
                        <a:t>#</a:t>
                      </a:r>
                    </a:p>
                  </a:txBody>
                  <a:tcPr marL="82296" marR="82296" marT="36576" marB="36576" anchor="ctr">
                    <a:solidFill>
                      <a:srgbClr val="273A52"/>
                    </a:solidFill>
                  </a:tcPr>
                </a:tc>
                <a:tc>
                  <a:txBody>
                    <a:bodyPr/>
                    <a:lstStyle/>
                    <a:p>
                      <a:pPr algn="ctr">
                        <a:lnSpc>
                          <a:spcPct val="114000"/>
                        </a:lnSpc>
                        <a:spcAft>
                          <a:spcPts val="200"/>
                        </a:spcAft>
                      </a:pPr>
                      <a:r>
                        <a:rPr sz="1150" b="1">
                          <a:solidFill>
                            <a:srgbClr val="FFFFFF"/>
                          </a:solidFill>
                          <a:latin typeface="맑은 고딕"/>
                          <a:ea typeface="맑은 고딕"/>
                        </a:rPr>
                        <a:t>환경</a:t>
                      </a:r>
                    </a:p>
                  </a:txBody>
                  <a:tcPr marL="82296" marR="82296" marT="36576" marB="36576" anchor="ctr">
                    <a:solidFill>
                      <a:srgbClr val="273A52"/>
                    </a:solidFill>
                  </a:tcPr>
                </a:tc>
                <a:tc>
                  <a:txBody>
                    <a:bodyPr/>
                    <a:lstStyle/>
                    <a:p>
                      <a:pPr algn="ctr">
                        <a:lnSpc>
                          <a:spcPct val="114000"/>
                        </a:lnSpc>
                        <a:spcAft>
                          <a:spcPts val="200"/>
                        </a:spcAft>
                      </a:pPr>
                      <a:r>
                        <a:rPr sz="1150" b="1">
                          <a:solidFill>
                            <a:srgbClr val="FFFFFF"/>
                          </a:solidFill>
                          <a:latin typeface="맑은 고딕"/>
                          <a:ea typeface="맑은 고딕"/>
                        </a:rPr>
                        <a:t>분류</a:t>
                      </a:r>
                    </a:p>
                  </a:txBody>
                  <a:tcPr marL="82296" marR="82296" marT="36576" marB="36576" anchor="ctr">
                    <a:solidFill>
                      <a:srgbClr val="273A52"/>
                    </a:solidFill>
                  </a:tcPr>
                </a:tc>
                <a:tc>
                  <a:txBody>
                    <a:bodyPr/>
                    <a:lstStyle/>
                    <a:p>
                      <a:pPr algn="ctr">
                        <a:lnSpc>
                          <a:spcPct val="114000"/>
                        </a:lnSpc>
                        <a:spcAft>
                          <a:spcPts val="200"/>
                        </a:spcAft>
                      </a:pPr>
                      <a:r>
                        <a:rPr sz="1150" b="1">
                          <a:solidFill>
                            <a:srgbClr val="FFFFFF"/>
                          </a:solidFill>
                          <a:latin typeface="맑은 고딕"/>
                          <a:ea typeface="맑은 고딕"/>
                        </a:rPr>
                        <a:t>내용</a:t>
                      </a:r>
                    </a:p>
                  </a:txBody>
                  <a:tcPr marL="82296" marR="82296" marT="36576" marB="36576" anchor="ctr">
                    <a:solidFill>
                      <a:srgbClr val="273A52"/>
                    </a:solidFill>
                  </a:tcPr>
                </a:tc>
                <a:tc>
                  <a:txBody>
                    <a:bodyPr/>
                    <a:lstStyle/>
                    <a:p>
                      <a:pPr algn="ctr">
                        <a:lnSpc>
                          <a:spcPct val="114000"/>
                        </a:lnSpc>
                        <a:spcAft>
                          <a:spcPts val="200"/>
                        </a:spcAft>
                      </a:pPr>
                      <a:r>
                        <a:rPr sz="1150" b="1" dirty="0" err="1">
                          <a:solidFill>
                            <a:srgbClr val="FFFFFF"/>
                          </a:solidFill>
                          <a:latin typeface="맑은 고딕"/>
                          <a:ea typeface="맑은 고딕"/>
                        </a:rPr>
                        <a:t>예상</a:t>
                      </a:r>
                      <a:r>
                        <a:rPr sz="1150" b="1" dirty="0">
                          <a:solidFill>
                            <a:srgbClr val="FFFFFF"/>
                          </a:solidFill>
                          <a:latin typeface="맑은 고딕"/>
                          <a:ea typeface="맑은 고딕"/>
                        </a:rPr>
                        <a:t> </a:t>
                      </a:r>
                      <a:r>
                        <a:rPr sz="1150" b="1" dirty="0" err="1">
                          <a:solidFill>
                            <a:srgbClr val="FFFFFF"/>
                          </a:solidFill>
                          <a:latin typeface="맑은 고딕"/>
                          <a:ea typeface="맑은 고딕"/>
                        </a:rPr>
                        <a:t>영향</a:t>
                      </a:r>
                      <a:endParaRPr sz="1150" b="1" dirty="0">
                        <a:solidFill>
                          <a:srgbClr val="FFFFFF"/>
                        </a:solidFill>
                        <a:latin typeface="맑은 고딕"/>
                        <a:ea typeface="맑은 고딕"/>
                      </a:endParaRPr>
                    </a:p>
                  </a:txBody>
                  <a:tcPr marL="82296" marR="82296" marT="36576" marB="36576" anchor="ctr">
                    <a:solidFill>
                      <a:srgbClr val="273A52"/>
                    </a:solidFill>
                  </a:tcPr>
                </a:tc>
                <a:extLst>
                  <a:ext uri="{0D108BD9-81ED-4DB2-BD59-A6C34878D82A}">
                    <a16:rowId xmlns:a16="http://schemas.microsoft.com/office/drawing/2014/main" val="10000"/>
                  </a:ext>
                </a:extLst>
              </a:tr>
              <a:tr h="634261">
                <a:tc>
                  <a:txBody>
                    <a:bodyPr/>
                    <a:lstStyle/>
                    <a:p>
                      <a:pPr algn="l">
                        <a:lnSpc>
                          <a:spcPct val="114000"/>
                        </a:lnSpc>
                        <a:spcAft>
                          <a:spcPts val="200"/>
                        </a:spcAft>
                      </a:pPr>
                      <a:r>
                        <a:rPr sz="1120" b="0">
                          <a:solidFill>
                            <a:srgbClr val="1E2227"/>
                          </a:solidFill>
                          <a:latin typeface="맑은 고딕"/>
                          <a:ea typeface="맑은 고딕"/>
                        </a:rPr>
                        <a:t>①</a:t>
                      </a:r>
                    </a:p>
                  </a:txBody>
                  <a:tcPr marL="82296" marR="82296" marT="36576" marB="36576" anchor="ctr">
                    <a:solidFill>
                      <a:srgbClr val="FFFFFF"/>
                    </a:solidFill>
                  </a:tcPr>
                </a:tc>
                <a:tc>
                  <a:txBody>
                    <a:bodyPr/>
                    <a:lstStyle/>
                    <a:p>
                      <a:pPr algn="l">
                        <a:lnSpc>
                          <a:spcPct val="114000"/>
                        </a:lnSpc>
                        <a:spcAft>
                          <a:spcPts val="200"/>
                        </a:spcAft>
                      </a:pPr>
                      <a:r>
                        <a:rPr sz="1120" b="1">
                          <a:solidFill>
                            <a:srgbClr val="1E2227"/>
                          </a:solidFill>
                          <a:latin typeface="맑은 고딕"/>
                          <a:ea typeface="맑은 고딕"/>
                        </a:rPr>
                        <a:t>Standard RAG</a:t>
                      </a:r>
                    </a:p>
                    <a:p>
                      <a:pPr algn="l">
                        <a:lnSpc>
                          <a:spcPct val="106000"/>
                        </a:lnSpc>
                        <a:spcBef>
                          <a:spcPts val="100"/>
                        </a:spcBef>
                      </a:pPr>
                      <a:r>
                        <a:rPr sz="1000" b="0" i="1" dirty="0">
                          <a:solidFill>
                            <a:srgbClr val="6B7480"/>
                          </a:solidFill>
                          <a:latin typeface="맑은 고딕"/>
                          <a:ea typeface="맑은 고딕"/>
                        </a:rPr>
                        <a:t>(Lewis et al., 2020)</a:t>
                      </a:r>
                    </a:p>
                  </a:txBody>
                  <a:tcPr marL="82296" marR="82296" marT="36576" marB="36576" anchor="ctr">
                    <a:solidFill>
                      <a:srgbClr val="FFFFFF"/>
                    </a:solidFill>
                  </a:tcPr>
                </a:tc>
                <a:tc>
                  <a:txBody>
                    <a:bodyPr/>
                    <a:lstStyle/>
                    <a:p>
                      <a:pPr algn="l">
                        <a:lnSpc>
                          <a:spcPct val="114000"/>
                        </a:lnSpc>
                        <a:spcAft>
                          <a:spcPts val="200"/>
                        </a:spcAft>
                      </a:pPr>
                      <a:r>
                        <a:rPr sz="1120" b="0">
                          <a:solidFill>
                            <a:srgbClr val="1E2227"/>
                          </a:solidFill>
                          <a:latin typeface="맑은 고딕"/>
                          <a:ea typeface="맑은 고딕"/>
                        </a:rPr>
                        <a:t>대조군</a:t>
                      </a:r>
                    </a:p>
                  </a:txBody>
                  <a:tcPr marL="82296" marR="82296" marT="36576" marB="36576" anchor="ctr">
                    <a:solidFill>
                      <a:srgbClr val="FFFFFF"/>
                    </a:solidFill>
                  </a:tcPr>
                </a:tc>
                <a:tc>
                  <a:txBody>
                    <a:bodyPr/>
                    <a:lstStyle/>
                    <a:p>
                      <a:pPr algn="l">
                        <a:lnSpc>
                          <a:spcPct val="110000"/>
                        </a:lnSpc>
                        <a:spcAft>
                          <a:spcPts val="100"/>
                        </a:spcAft>
                      </a:pPr>
                      <a:r>
                        <a:rPr sz="1120" b="0" dirty="0">
                          <a:solidFill>
                            <a:srgbClr val="1E2227"/>
                          </a:solidFill>
                          <a:latin typeface="맑은 고딕"/>
                          <a:ea typeface="맑은 고딕"/>
                        </a:rPr>
                        <a:t>검색된 문서를 그대로 넣는 </a:t>
                      </a:r>
                      <a:r>
                        <a:rPr sz="1120" b="1" dirty="0">
                          <a:solidFill>
                            <a:srgbClr val="1E2227"/>
                          </a:solidFill>
                          <a:latin typeface="맑은 고딕"/>
                          <a:ea typeface="맑은 고딕"/>
                        </a:rPr>
                        <a:t>기본 zero-shot 구성</a:t>
                      </a:r>
                      <a:r>
                        <a:rPr sz="1120" b="0" dirty="0">
                          <a:solidFill>
                            <a:srgbClr val="1E2227"/>
                          </a:solidFill>
                          <a:latin typeface="맑은 고딕"/>
                          <a:ea typeface="맑은 고딕"/>
                        </a:rPr>
                        <a:t>으로, 다른 환경들의 </a:t>
                      </a:r>
                      <a:r>
                        <a:rPr sz="1120" b="1" dirty="0">
                          <a:solidFill>
                            <a:srgbClr val="1E2227"/>
                          </a:solidFill>
                          <a:latin typeface="맑은 고딕"/>
                          <a:ea typeface="맑은 고딕"/>
                        </a:rPr>
                        <a:t>비교 기준(기저선)</a:t>
                      </a:r>
                      <a:r>
                        <a:rPr sz="1120" b="0" dirty="0">
                          <a:solidFill>
                            <a:srgbClr val="1E2227"/>
                          </a:solidFill>
                          <a:latin typeface="맑은 고딕"/>
                          <a:ea typeface="맑은 고딕"/>
                        </a:rPr>
                        <a:t>이 된다.</a:t>
                      </a:r>
                    </a:p>
                  </a:txBody>
                  <a:tcPr marL="82296" marR="82296" marT="36576" marB="36576" anchor="ctr">
                    <a:solidFill>
                      <a:srgbClr val="FFFFFF"/>
                    </a:solidFill>
                  </a:tcPr>
                </a:tc>
                <a:tc>
                  <a:txBody>
                    <a:bodyPr/>
                    <a:lstStyle/>
                    <a:p>
                      <a:pPr algn="l">
                        <a:lnSpc>
                          <a:spcPct val="114000"/>
                        </a:lnSpc>
                        <a:spcAft>
                          <a:spcPts val="200"/>
                        </a:spcAft>
                      </a:pPr>
                      <a:r>
                        <a:rPr sz="1120" b="0">
                          <a:solidFill>
                            <a:srgbClr val="1E2227"/>
                          </a:solidFill>
                          <a:latin typeface="맑은 고딕"/>
                          <a:ea typeface="맑은 고딕"/>
                        </a:rPr>
                        <a:t>기저</a:t>
                      </a:r>
                    </a:p>
                  </a:txBody>
                  <a:tcPr marL="82296" marR="82296" marT="36576" marB="36576" anchor="ctr">
                    <a:solidFill>
                      <a:srgbClr val="FFFFFF"/>
                    </a:solidFill>
                  </a:tcPr>
                </a:tc>
                <a:extLst>
                  <a:ext uri="{0D108BD9-81ED-4DB2-BD59-A6C34878D82A}">
                    <a16:rowId xmlns:a16="http://schemas.microsoft.com/office/drawing/2014/main" val="10001"/>
                  </a:ext>
                </a:extLst>
              </a:tr>
              <a:tr h="634261">
                <a:tc>
                  <a:txBody>
                    <a:bodyPr/>
                    <a:lstStyle/>
                    <a:p>
                      <a:pPr algn="l">
                        <a:lnSpc>
                          <a:spcPct val="114000"/>
                        </a:lnSpc>
                        <a:spcAft>
                          <a:spcPts val="200"/>
                        </a:spcAft>
                      </a:pPr>
                      <a:r>
                        <a:rPr sz="1120" b="0">
                          <a:solidFill>
                            <a:srgbClr val="1E2227"/>
                          </a:solidFill>
                          <a:latin typeface="맑은 고딕"/>
                          <a:ea typeface="맑은 고딕"/>
                        </a:rPr>
                        <a:t>②</a:t>
                      </a:r>
                    </a:p>
                  </a:txBody>
                  <a:tcPr marL="82296" marR="82296" marT="36576" marB="36576" anchor="ctr">
                    <a:solidFill>
                      <a:srgbClr val="F6F7F9"/>
                    </a:solidFill>
                  </a:tcPr>
                </a:tc>
                <a:tc>
                  <a:txBody>
                    <a:bodyPr/>
                    <a:lstStyle/>
                    <a:p>
                      <a:pPr algn="l">
                        <a:lnSpc>
                          <a:spcPct val="114000"/>
                        </a:lnSpc>
                        <a:spcAft>
                          <a:spcPts val="200"/>
                        </a:spcAft>
                      </a:pPr>
                      <a:r>
                        <a:rPr sz="1120" b="1">
                          <a:solidFill>
                            <a:srgbClr val="1E2227"/>
                          </a:solidFill>
                          <a:latin typeface="맑은 고딕"/>
                          <a:ea typeface="맑은 고딕"/>
                        </a:rPr>
                        <a:t>CAD (+AdaCAD)</a:t>
                      </a:r>
                    </a:p>
                    <a:p>
                      <a:pPr algn="l">
                        <a:lnSpc>
                          <a:spcPct val="106000"/>
                        </a:lnSpc>
                        <a:spcBef>
                          <a:spcPts val="100"/>
                        </a:spcBef>
                      </a:pPr>
                      <a:r>
                        <a:rPr sz="1000" b="0" i="1" dirty="0">
                          <a:solidFill>
                            <a:srgbClr val="6B7480"/>
                          </a:solidFill>
                          <a:latin typeface="맑은 고딕"/>
                          <a:ea typeface="맑은 고딕"/>
                        </a:rPr>
                        <a:t>(Shi et al., 2024; Wang et al., 2025)</a:t>
                      </a:r>
                    </a:p>
                  </a:txBody>
                  <a:tcPr marL="82296" marR="82296" marT="36576" marB="36576" anchor="ctr">
                    <a:solidFill>
                      <a:srgbClr val="F6F7F9"/>
                    </a:solidFill>
                  </a:tcPr>
                </a:tc>
                <a:tc>
                  <a:txBody>
                    <a:bodyPr/>
                    <a:lstStyle/>
                    <a:p>
                      <a:pPr algn="l">
                        <a:lnSpc>
                          <a:spcPct val="114000"/>
                        </a:lnSpc>
                        <a:spcAft>
                          <a:spcPts val="200"/>
                        </a:spcAft>
                      </a:pPr>
                      <a:r>
                        <a:rPr sz="1120" b="0">
                          <a:solidFill>
                            <a:srgbClr val="1E2227"/>
                          </a:solidFill>
                          <a:latin typeface="맑은 고딕"/>
                          <a:ea typeface="맑은 고딕"/>
                        </a:rPr>
                        <a:t>디코딩</a:t>
                      </a:r>
                    </a:p>
                  </a:txBody>
                  <a:tcPr marL="82296" marR="82296" marT="36576" marB="36576" anchor="ctr">
                    <a:solidFill>
                      <a:srgbClr val="F6F7F9"/>
                    </a:solidFill>
                  </a:tcPr>
                </a:tc>
                <a:tc>
                  <a:txBody>
                    <a:bodyPr/>
                    <a:lstStyle/>
                    <a:p>
                      <a:pPr algn="l">
                        <a:lnSpc>
                          <a:spcPct val="110000"/>
                        </a:lnSpc>
                        <a:spcAft>
                          <a:spcPts val="100"/>
                        </a:spcAft>
                      </a:pPr>
                      <a:r>
                        <a:rPr sz="1120" b="0" dirty="0">
                          <a:solidFill>
                            <a:srgbClr val="1E2227"/>
                          </a:solidFill>
                          <a:latin typeface="맑은 고딕"/>
                          <a:ea typeface="맑은 고딕"/>
                        </a:rPr>
                        <a:t>문맥 유무의 </a:t>
                      </a:r>
                      <a:r>
                        <a:rPr sz="1120" b="1" dirty="0">
                          <a:solidFill>
                            <a:srgbClr val="1E2227"/>
                          </a:solidFill>
                          <a:latin typeface="맑은 고딕"/>
                          <a:ea typeface="맑은 고딕"/>
                        </a:rPr>
                        <a:t>로짓 차이를 증폭</a:t>
                      </a:r>
                      <a:r>
                        <a:rPr sz="1120" b="0" dirty="0">
                          <a:solidFill>
                            <a:srgbClr val="1E2227"/>
                          </a:solidFill>
                          <a:latin typeface="맑은 고딕"/>
                          <a:ea typeface="맑은 고딕"/>
                        </a:rPr>
                        <a:t>해 문맥 신뢰도를 높이며, 대비를 </a:t>
                      </a:r>
                      <a:r>
                        <a:rPr sz="1120" b="1" dirty="0">
                          <a:solidFill>
                            <a:srgbClr val="1E2227"/>
                          </a:solidFill>
                          <a:latin typeface="맑은 고딕"/>
                          <a:ea typeface="맑은 고딕"/>
                        </a:rPr>
                        <a:t>추론+답변 전 구간</a:t>
                      </a:r>
                      <a:r>
                        <a:rPr sz="1120" b="0" dirty="0">
                          <a:solidFill>
                            <a:srgbClr val="1E2227"/>
                          </a:solidFill>
                          <a:latin typeface="맑은 고딕"/>
                          <a:ea typeface="맑은 고딕"/>
                        </a:rPr>
                        <a:t> vs </a:t>
                      </a:r>
                      <a:r>
                        <a:rPr sz="1120" b="1" dirty="0">
                          <a:solidFill>
                            <a:srgbClr val="1E2227"/>
                          </a:solidFill>
                          <a:latin typeface="맑은 고딕"/>
                          <a:ea typeface="맑은 고딕"/>
                        </a:rPr>
                        <a:t>답변 구간만</a:t>
                      </a:r>
                      <a:r>
                        <a:rPr sz="1120" b="0" dirty="0">
                          <a:solidFill>
                            <a:srgbClr val="1E2227"/>
                          </a:solidFill>
                          <a:latin typeface="맑은 고딕"/>
                          <a:ea typeface="맑은 고딕"/>
                        </a:rPr>
                        <a:t> 거는 두 방식을 비교한다.</a:t>
                      </a:r>
                    </a:p>
                  </a:txBody>
                  <a:tcPr marL="82296" marR="82296" marT="36576" marB="36576" anchor="ctr">
                    <a:solidFill>
                      <a:srgbClr val="F6F7F9"/>
                    </a:solidFill>
                  </a:tcPr>
                </a:tc>
                <a:tc>
                  <a:txBody>
                    <a:bodyPr/>
                    <a:lstStyle/>
                    <a:p>
                      <a:pPr algn="l">
                        <a:lnSpc>
                          <a:spcPct val="114000"/>
                        </a:lnSpc>
                        <a:spcAft>
                          <a:spcPts val="200"/>
                        </a:spcAft>
                      </a:pPr>
                      <a:r>
                        <a:rPr sz="1120" b="0">
                          <a:solidFill>
                            <a:srgbClr val="1E2227"/>
                          </a:solidFill>
                          <a:latin typeface="맑은 고딕"/>
                          <a:ea typeface="맑은 고딕"/>
                        </a:rPr>
                        <a:t>L1/L2</a:t>
                      </a:r>
                    </a:p>
                  </a:txBody>
                  <a:tcPr marL="82296" marR="82296" marT="36576" marB="36576" anchor="ctr">
                    <a:solidFill>
                      <a:srgbClr val="F6F7F9"/>
                    </a:solidFill>
                  </a:tcPr>
                </a:tc>
                <a:extLst>
                  <a:ext uri="{0D108BD9-81ED-4DB2-BD59-A6C34878D82A}">
                    <a16:rowId xmlns:a16="http://schemas.microsoft.com/office/drawing/2014/main" val="10002"/>
                  </a:ext>
                </a:extLst>
              </a:tr>
              <a:tr h="647691">
                <a:tc>
                  <a:txBody>
                    <a:bodyPr/>
                    <a:lstStyle/>
                    <a:p>
                      <a:pPr algn="l">
                        <a:lnSpc>
                          <a:spcPct val="114000"/>
                        </a:lnSpc>
                        <a:spcAft>
                          <a:spcPts val="200"/>
                        </a:spcAft>
                      </a:pPr>
                      <a:r>
                        <a:rPr sz="1120" b="0">
                          <a:solidFill>
                            <a:srgbClr val="1E2227"/>
                          </a:solidFill>
                          <a:latin typeface="맑은 고딕"/>
                          <a:ea typeface="맑은 고딕"/>
                        </a:rPr>
                        <a:t>③</a:t>
                      </a:r>
                    </a:p>
                  </a:txBody>
                  <a:tcPr marL="82296" marR="82296" marT="36576" marB="36576" anchor="ctr">
                    <a:solidFill>
                      <a:srgbClr val="FFFFFF"/>
                    </a:solidFill>
                  </a:tcPr>
                </a:tc>
                <a:tc>
                  <a:txBody>
                    <a:bodyPr/>
                    <a:lstStyle/>
                    <a:p>
                      <a:pPr algn="l">
                        <a:lnSpc>
                          <a:spcPct val="114000"/>
                        </a:lnSpc>
                        <a:spcAft>
                          <a:spcPts val="200"/>
                        </a:spcAft>
                      </a:pPr>
                      <a:r>
                        <a:rPr sz="1120" b="1">
                          <a:solidFill>
                            <a:srgbClr val="1E2227"/>
                          </a:solidFill>
                          <a:latin typeface="맑은 고딕"/>
                          <a:ea typeface="맑은 고딕"/>
                        </a:rPr>
                        <a:t>CD2</a:t>
                      </a:r>
                    </a:p>
                    <a:p>
                      <a:pPr algn="l">
                        <a:lnSpc>
                          <a:spcPct val="106000"/>
                        </a:lnSpc>
                        <a:spcBef>
                          <a:spcPts val="100"/>
                        </a:spcBef>
                      </a:pPr>
                      <a:r>
                        <a:rPr sz="1000" b="0" i="1" dirty="0">
                          <a:solidFill>
                            <a:srgbClr val="6B7480"/>
                          </a:solidFill>
                          <a:latin typeface="맑은 고딕"/>
                          <a:ea typeface="맑은 고딕"/>
                        </a:rPr>
                        <a:t>(Jin et al., 2024)</a:t>
                      </a:r>
                    </a:p>
                  </a:txBody>
                  <a:tcPr marL="82296" marR="82296" marT="36576" marB="36576" anchor="ctr">
                    <a:solidFill>
                      <a:srgbClr val="FFFFFF"/>
                    </a:solidFill>
                  </a:tcPr>
                </a:tc>
                <a:tc>
                  <a:txBody>
                    <a:bodyPr/>
                    <a:lstStyle/>
                    <a:p>
                      <a:pPr algn="l">
                        <a:lnSpc>
                          <a:spcPct val="114000"/>
                        </a:lnSpc>
                        <a:spcAft>
                          <a:spcPts val="200"/>
                        </a:spcAft>
                      </a:pPr>
                      <a:r>
                        <a:rPr sz="1120" b="0">
                          <a:solidFill>
                            <a:srgbClr val="1E2227"/>
                          </a:solidFill>
                          <a:latin typeface="맑은 고딕"/>
                          <a:ea typeface="맑은 고딕"/>
                        </a:rPr>
                        <a:t>디코딩</a:t>
                      </a:r>
                    </a:p>
                  </a:txBody>
                  <a:tcPr marL="82296" marR="82296" marT="36576" marB="36576" anchor="ctr">
                    <a:solidFill>
                      <a:srgbClr val="FFFFFF"/>
                    </a:solidFill>
                  </a:tcPr>
                </a:tc>
                <a:tc>
                  <a:txBody>
                    <a:bodyPr/>
                    <a:lstStyle/>
                    <a:p>
                      <a:pPr algn="l">
                        <a:lnSpc>
                          <a:spcPct val="110000"/>
                        </a:lnSpc>
                        <a:spcAft>
                          <a:spcPts val="100"/>
                        </a:spcAft>
                      </a:pPr>
                      <a:r>
                        <a:rPr sz="1120" b="0" dirty="0">
                          <a:solidFill>
                            <a:srgbClr val="1E2227"/>
                          </a:solidFill>
                          <a:latin typeface="맑은 고딕"/>
                          <a:ea typeface="맑은 고딕"/>
                        </a:rPr>
                        <a:t>충돌 시 여러 경로의 </a:t>
                      </a:r>
                      <a:r>
                        <a:rPr sz="1120" b="1" dirty="0">
                          <a:solidFill>
                            <a:srgbClr val="1E2227"/>
                          </a:solidFill>
                          <a:latin typeface="맑은 고딕"/>
                          <a:ea typeface="맑은 고딕"/>
                        </a:rPr>
                        <a:t>로짓 차이를 최대화</a:t>
                      </a:r>
                      <a:r>
                        <a:rPr sz="1120" b="0" dirty="0">
                          <a:solidFill>
                            <a:srgbClr val="1E2227"/>
                          </a:solidFill>
                          <a:latin typeface="맑은 고딕"/>
                          <a:ea typeface="맑은 고딕"/>
                        </a:rPr>
                        <a:t>해 정답 쪽 </a:t>
                      </a:r>
                      <a:r>
                        <a:rPr sz="1120" b="1" dirty="0">
                          <a:solidFill>
                            <a:srgbClr val="1E2227"/>
                          </a:solidFill>
                          <a:latin typeface="맑은 고딕"/>
                          <a:ea typeface="맑은 고딕"/>
                        </a:rPr>
                        <a:t>확신을 재보정</a:t>
                      </a:r>
                      <a:r>
                        <a:rPr sz="1120" b="0" dirty="0">
                          <a:solidFill>
                            <a:srgbClr val="1E2227"/>
                          </a:solidFill>
                          <a:latin typeface="맑은 고딕"/>
                          <a:ea typeface="맑은 고딕"/>
                        </a:rPr>
                        <a:t>하는 대비 디코딩(Conflict-Disentangle CD). CAD의 ‘문맥 유무’ 대비와 달리 </a:t>
                      </a:r>
                      <a:r>
                        <a:rPr sz="1120" b="1" dirty="0">
                          <a:solidFill>
                            <a:srgbClr val="1E2227"/>
                          </a:solidFill>
                          <a:latin typeface="맑은 고딕"/>
                          <a:ea typeface="맑은 고딕"/>
                        </a:rPr>
                        <a:t>충돌 자체를 분리·겨냥</a:t>
                      </a:r>
                      <a:r>
                        <a:rPr sz="1120" b="0" dirty="0">
                          <a:solidFill>
                            <a:srgbClr val="1E2227"/>
                          </a:solidFill>
                          <a:latin typeface="맑은 고딕"/>
                          <a:ea typeface="맑은 고딕"/>
                        </a:rPr>
                        <a:t>하므로, 본 연구의 </a:t>
                      </a:r>
                      <a:r>
                        <a:rPr sz="1120" b="1" dirty="0">
                          <a:solidFill>
                            <a:srgbClr val="1E2227"/>
                          </a:solidFill>
                          <a:latin typeface="맑은 고딕"/>
                          <a:ea typeface="맑은 고딕"/>
                        </a:rPr>
                        <a:t>4경로 진단(해소 L2)과 직접 맞물린다</a:t>
                      </a:r>
                      <a:r>
                        <a:rPr sz="1120" b="0" dirty="0">
                          <a:solidFill>
                            <a:srgbClr val="1E2227"/>
                          </a:solidFill>
                          <a:latin typeface="맑은 고딕"/>
                          <a:ea typeface="맑은 고딕"/>
                        </a:rPr>
                        <a:t>.</a:t>
                      </a:r>
                    </a:p>
                  </a:txBody>
                  <a:tcPr marL="82296" marR="82296" marT="36576" marB="36576" anchor="ctr">
                    <a:solidFill>
                      <a:srgbClr val="FFFFFF"/>
                    </a:solidFill>
                  </a:tcPr>
                </a:tc>
                <a:tc>
                  <a:txBody>
                    <a:bodyPr/>
                    <a:lstStyle/>
                    <a:p>
                      <a:pPr algn="l">
                        <a:lnSpc>
                          <a:spcPct val="114000"/>
                        </a:lnSpc>
                        <a:spcAft>
                          <a:spcPts val="200"/>
                        </a:spcAft>
                      </a:pPr>
                      <a:r>
                        <a:rPr sz="1120" b="0">
                          <a:solidFill>
                            <a:srgbClr val="1E2227"/>
                          </a:solidFill>
                          <a:latin typeface="맑은 고딕"/>
                          <a:ea typeface="맑은 고딕"/>
                        </a:rPr>
                        <a:t>L2</a:t>
                      </a:r>
                    </a:p>
                  </a:txBody>
                  <a:tcPr marL="82296" marR="82296" marT="36576" marB="36576" anchor="ctr">
                    <a:solidFill>
                      <a:srgbClr val="FFFFFF"/>
                    </a:solidFill>
                  </a:tcPr>
                </a:tc>
                <a:extLst>
                  <a:ext uri="{0D108BD9-81ED-4DB2-BD59-A6C34878D82A}">
                    <a16:rowId xmlns:a16="http://schemas.microsoft.com/office/drawing/2014/main" val="10003"/>
                  </a:ext>
                </a:extLst>
              </a:tr>
              <a:tr h="634261">
                <a:tc>
                  <a:txBody>
                    <a:bodyPr/>
                    <a:lstStyle/>
                    <a:p>
                      <a:pPr algn="l">
                        <a:lnSpc>
                          <a:spcPct val="114000"/>
                        </a:lnSpc>
                        <a:spcAft>
                          <a:spcPts val="200"/>
                        </a:spcAft>
                      </a:pPr>
                      <a:r>
                        <a:rPr sz="1120" b="0">
                          <a:solidFill>
                            <a:srgbClr val="1E2227"/>
                          </a:solidFill>
                          <a:latin typeface="맑은 고딕"/>
                          <a:ea typeface="맑은 고딕"/>
                        </a:rPr>
                        <a:t>④</a:t>
                      </a:r>
                    </a:p>
                  </a:txBody>
                  <a:tcPr marL="82296" marR="82296" marT="36576" marB="36576" anchor="ctr">
                    <a:solidFill>
                      <a:srgbClr val="F6F7F9"/>
                    </a:solidFill>
                  </a:tcPr>
                </a:tc>
                <a:tc>
                  <a:txBody>
                    <a:bodyPr/>
                    <a:lstStyle/>
                    <a:p>
                      <a:pPr algn="l">
                        <a:lnSpc>
                          <a:spcPct val="114000"/>
                        </a:lnSpc>
                        <a:spcAft>
                          <a:spcPts val="200"/>
                        </a:spcAft>
                      </a:pPr>
                      <a:r>
                        <a:rPr sz="1120" b="1">
                          <a:solidFill>
                            <a:srgbClr val="1E2227"/>
                          </a:solidFill>
                          <a:latin typeface="맑은 고딕"/>
                          <a:ea typeface="맑은 고딕"/>
                        </a:rPr>
                        <a:t>Recency/Authority 프롬프트</a:t>
                      </a:r>
                    </a:p>
                  </a:txBody>
                  <a:tcPr marL="82296" marR="82296" marT="36576" marB="36576" anchor="ctr">
                    <a:solidFill>
                      <a:srgbClr val="F6F7F9"/>
                    </a:solidFill>
                  </a:tcPr>
                </a:tc>
                <a:tc>
                  <a:txBody>
                    <a:bodyPr/>
                    <a:lstStyle/>
                    <a:p>
                      <a:pPr algn="l">
                        <a:lnSpc>
                          <a:spcPct val="114000"/>
                        </a:lnSpc>
                        <a:spcAft>
                          <a:spcPts val="200"/>
                        </a:spcAft>
                      </a:pPr>
                      <a:r>
                        <a:rPr sz="1120" b="0">
                          <a:solidFill>
                            <a:srgbClr val="1E2227"/>
                          </a:solidFill>
                          <a:latin typeface="맑은 고딕"/>
                          <a:ea typeface="맑은 고딕"/>
                        </a:rPr>
                        <a:t>프롬프트</a:t>
                      </a:r>
                    </a:p>
                  </a:txBody>
                  <a:tcPr marL="82296" marR="82296" marT="36576" marB="36576" anchor="ctr">
                    <a:solidFill>
                      <a:srgbClr val="F6F7F9"/>
                    </a:solidFill>
                  </a:tcPr>
                </a:tc>
                <a:tc>
                  <a:txBody>
                    <a:bodyPr/>
                    <a:lstStyle/>
                    <a:p>
                      <a:pPr algn="l">
                        <a:lnSpc>
                          <a:spcPct val="110000"/>
                        </a:lnSpc>
                        <a:spcAft>
                          <a:spcPts val="100"/>
                        </a:spcAft>
                      </a:pPr>
                      <a:r>
                        <a:rPr sz="1120" b="1" dirty="0">
                          <a:solidFill>
                            <a:srgbClr val="1E2227"/>
                          </a:solidFill>
                          <a:latin typeface="맑은 고딕"/>
                          <a:ea typeface="맑은 고딕"/>
                        </a:rPr>
                        <a:t>date </a:t>
                      </a:r>
                      <a:r>
                        <a:rPr sz="1120" b="1" dirty="0" err="1">
                          <a:solidFill>
                            <a:srgbClr val="1E2227"/>
                          </a:solidFill>
                          <a:latin typeface="맑은 고딕"/>
                          <a:ea typeface="맑은 고딕"/>
                        </a:rPr>
                        <a:t>최신성</a:t>
                      </a:r>
                      <a:r>
                        <a:rPr lang="ko-KR" altLang="en-US" sz="1120" b="1" dirty="0">
                          <a:solidFill>
                            <a:srgbClr val="1E2227"/>
                          </a:solidFill>
                          <a:latin typeface="맑은 고딕"/>
                          <a:ea typeface="맑은 고딕"/>
                        </a:rPr>
                        <a:t> </a:t>
                      </a:r>
                      <a:r>
                        <a:rPr sz="1120" b="1" dirty="0">
                          <a:solidFill>
                            <a:srgbClr val="1E2227"/>
                          </a:solidFill>
                          <a:latin typeface="맑은 고딕"/>
                          <a:ea typeface="맑은 고딕"/>
                        </a:rPr>
                        <a:t>·</a:t>
                      </a:r>
                      <a:r>
                        <a:rPr lang="ko-KR" altLang="en-US" sz="1120" b="1" dirty="0">
                          <a:solidFill>
                            <a:srgbClr val="1E2227"/>
                          </a:solidFill>
                          <a:latin typeface="맑은 고딕"/>
                          <a:ea typeface="맑은 고딕"/>
                        </a:rPr>
                        <a:t> </a:t>
                      </a:r>
                      <a:r>
                        <a:rPr sz="1120" b="1" dirty="0" err="1">
                          <a:solidFill>
                            <a:srgbClr val="1E2227"/>
                          </a:solidFill>
                          <a:latin typeface="맑은 고딕"/>
                          <a:ea typeface="맑은 고딕"/>
                        </a:rPr>
                        <a:t>url</a:t>
                      </a:r>
                      <a:r>
                        <a:rPr sz="1120" b="1" dirty="0">
                          <a:solidFill>
                            <a:srgbClr val="1E2227"/>
                          </a:solidFill>
                          <a:latin typeface="맑은 고딕"/>
                          <a:ea typeface="맑은 고딕"/>
                        </a:rPr>
                        <a:t> 권위를 우선</a:t>
                      </a:r>
                      <a:r>
                        <a:rPr sz="1120" b="0" dirty="0">
                          <a:solidFill>
                            <a:srgbClr val="1E2227"/>
                          </a:solidFill>
                          <a:latin typeface="맑은 고딕"/>
                          <a:ea typeface="맑은 고딕"/>
                        </a:rPr>
                        <a:t>하도록 프롬프트로 유도하며, 해당 메타데이터가 없는 </a:t>
                      </a:r>
                      <a:r>
                        <a:rPr sz="1120" b="1" dirty="0">
                          <a:solidFill>
                            <a:srgbClr val="1E2227"/>
                          </a:solidFill>
                          <a:latin typeface="맑은 고딕"/>
                          <a:ea typeface="맑은 고딕"/>
                        </a:rPr>
                        <a:t>RAMDocs는 제외</a:t>
                      </a:r>
                      <a:r>
                        <a:rPr sz="1120" b="0" dirty="0">
                          <a:solidFill>
                            <a:srgbClr val="1E2227"/>
                          </a:solidFill>
                          <a:latin typeface="맑은 고딕"/>
                          <a:ea typeface="맑은 고딕"/>
                        </a:rPr>
                        <a:t>한다.</a:t>
                      </a:r>
                    </a:p>
                  </a:txBody>
                  <a:tcPr marL="82296" marR="82296" marT="36576" marB="36576" anchor="ctr">
                    <a:solidFill>
                      <a:srgbClr val="F6F7F9"/>
                    </a:solidFill>
                  </a:tcPr>
                </a:tc>
                <a:tc>
                  <a:txBody>
                    <a:bodyPr/>
                    <a:lstStyle/>
                    <a:p>
                      <a:pPr algn="l">
                        <a:lnSpc>
                          <a:spcPct val="114000"/>
                        </a:lnSpc>
                        <a:spcAft>
                          <a:spcPts val="200"/>
                        </a:spcAft>
                      </a:pPr>
                      <a:r>
                        <a:rPr sz="1120" b="0">
                          <a:solidFill>
                            <a:srgbClr val="1E2227"/>
                          </a:solidFill>
                          <a:latin typeface="맑은 고딕"/>
                          <a:ea typeface="맑은 고딕"/>
                        </a:rPr>
                        <a:t>L2</a:t>
                      </a:r>
                    </a:p>
                  </a:txBody>
                  <a:tcPr marL="82296" marR="82296" marT="36576" marB="36576" anchor="ctr">
                    <a:solidFill>
                      <a:srgbClr val="F6F7F9"/>
                    </a:solidFill>
                  </a:tcPr>
                </a:tc>
                <a:extLst>
                  <a:ext uri="{0D108BD9-81ED-4DB2-BD59-A6C34878D82A}">
                    <a16:rowId xmlns:a16="http://schemas.microsoft.com/office/drawing/2014/main" val="10004"/>
                  </a:ext>
                </a:extLst>
              </a:tr>
              <a:tr h="634261">
                <a:tc>
                  <a:txBody>
                    <a:bodyPr/>
                    <a:lstStyle/>
                    <a:p>
                      <a:pPr algn="l">
                        <a:lnSpc>
                          <a:spcPct val="114000"/>
                        </a:lnSpc>
                        <a:spcAft>
                          <a:spcPts val="200"/>
                        </a:spcAft>
                      </a:pPr>
                      <a:r>
                        <a:rPr sz="1120" b="0">
                          <a:solidFill>
                            <a:srgbClr val="1E2227"/>
                          </a:solidFill>
                          <a:latin typeface="맑은 고딕"/>
                          <a:ea typeface="맑은 고딕"/>
                        </a:rPr>
                        <a:t>⑤</a:t>
                      </a:r>
                    </a:p>
                  </a:txBody>
                  <a:tcPr marL="82296" marR="82296" marT="36576" marB="36576" anchor="ctr">
                    <a:solidFill>
                      <a:srgbClr val="FFFFFF"/>
                    </a:solidFill>
                  </a:tcPr>
                </a:tc>
                <a:tc>
                  <a:txBody>
                    <a:bodyPr/>
                    <a:lstStyle/>
                    <a:p>
                      <a:pPr algn="l">
                        <a:lnSpc>
                          <a:spcPct val="114000"/>
                        </a:lnSpc>
                        <a:spcAft>
                          <a:spcPts val="200"/>
                        </a:spcAft>
                      </a:pPr>
                      <a:r>
                        <a:rPr sz="1120" b="1">
                          <a:solidFill>
                            <a:srgbClr val="1E2227"/>
                          </a:solidFill>
                          <a:latin typeface="맑은 고딕"/>
                          <a:ea typeface="맑은 고딕"/>
                        </a:rPr>
                        <a:t>Reflection 프롬프트</a:t>
                      </a:r>
                    </a:p>
                    <a:p>
                      <a:pPr algn="l">
                        <a:lnSpc>
                          <a:spcPct val="106000"/>
                        </a:lnSpc>
                        <a:spcBef>
                          <a:spcPts val="100"/>
                        </a:spcBef>
                      </a:pPr>
                      <a:r>
                        <a:rPr sz="1000" b="0" i="1" dirty="0">
                          <a:solidFill>
                            <a:srgbClr val="6B7480"/>
                          </a:solidFill>
                          <a:latin typeface="맑은 고딕"/>
                          <a:ea typeface="맑은 고딕"/>
                        </a:rPr>
                        <a:t>(Asai et al., 2024)</a:t>
                      </a:r>
                    </a:p>
                  </a:txBody>
                  <a:tcPr marL="82296" marR="82296" marT="36576" marB="36576" anchor="ctr">
                    <a:solidFill>
                      <a:srgbClr val="FFFFFF"/>
                    </a:solidFill>
                  </a:tcPr>
                </a:tc>
                <a:tc>
                  <a:txBody>
                    <a:bodyPr/>
                    <a:lstStyle/>
                    <a:p>
                      <a:pPr algn="l">
                        <a:lnSpc>
                          <a:spcPct val="114000"/>
                        </a:lnSpc>
                        <a:spcAft>
                          <a:spcPts val="200"/>
                        </a:spcAft>
                      </a:pPr>
                      <a:r>
                        <a:rPr sz="1120" b="0">
                          <a:solidFill>
                            <a:srgbClr val="1E2227"/>
                          </a:solidFill>
                          <a:latin typeface="맑은 고딕"/>
                          <a:ea typeface="맑은 고딕"/>
                        </a:rPr>
                        <a:t>프롬프트</a:t>
                      </a:r>
                    </a:p>
                  </a:txBody>
                  <a:tcPr marL="82296" marR="82296" marT="36576" marB="36576" anchor="ctr">
                    <a:solidFill>
                      <a:srgbClr val="FFFFFF"/>
                    </a:solidFill>
                  </a:tcPr>
                </a:tc>
                <a:tc>
                  <a:txBody>
                    <a:bodyPr/>
                    <a:lstStyle/>
                    <a:p>
                      <a:pPr algn="l">
                        <a:lnSpc>
                          <a:spcPct val="110000"/>
                        </a:lnSpc>
                        <a:spcAft>
                          <a:spcPts val="100"/>
                        </a:spcAft>
                      </a:pPr>
                      <a:r>
                        <a:rPr sz="1120" b="0" dirty="0">
                          <a:solidFill>
                            <a:srgbClr val="1E2227"/>
                          </a:solidFill>
                          <a:latin typeface="맑은 고딕"/>
                          <a:ea typeface="맑은 고딕"/>
                        </a:rPr>
                        <a:t>Self-RAG의 </a:t>
                      </a:r>
                      <a:r>
                        <a:rPr sz="1120" b="1" dirty="0">
                          <a:solidFill>
                            <a:srgbClr val="1E2227"/>
                          </a:solidFill>
                          <a:latin typeface="맑은 고딕"/>
                          <a:ea typeface="맑은 고딕"/>
                        </a:rPr>
                        <a:t>반추(self-reflection) 전략만 차용</a:t>
                      </a:r>
                      <a:r>
                        <a:rPr sz="1120" b="0" dirty="0">
                          <a:solidFill>
                            <a:srgbClr val="1E2227"/>
                          </a:solidFill>
                          <a:latin typeface="맑은 고딕"/>
                          <a:ea typeface="맑은 고딕"/>
                        </a:rPr>
                        <a:t>해, 자신의 결론이 근거 문서와 부합하는지 </a:t>
                      </a:r>
                      <a:r>
                        <a:rPr sz="1120" b="1" dirty="0">
                          <a:solidFill>
                            <a:srgbClr val="1E2227"/>
                          </a:solidFill>
                          <a:latin typeface="맑은 고딕"/>
                          <a:ea typeface="맑은 고딕"/>
                        </a:rPr>
                        <a:t>스스로 재검토</a:t>
                      </a:r>
                      <a:r>
                        <a:rPr sz="1120" b="0" dirty="0">
                          <a:solidFill>
                            <a:srgbClr val="1E2227"/>
                          </a:solidFill>
                          <a:latin typeface="맑은 고딕"/>
                          <a:ea typeface="맑은 고딕"/>
                        </a:rPr>
                        <a:t>하게 한다.</a:t>
                      </a:r>
                    </a:p>
                  </a:txBody>
                  <a:tcPr marL="82296" marR="82296" marT="36576" marB="36576" anchor="ctr">
                    <a:solidFill>
                      <a:srgbClr val="FFFFFF"/>
                    </a:solidFill>
                  </a:tcPr>
                </a:tc>
                <a:tc>
                  <a:txBody>
                    <a:bodyPr/>
                    <a:lstStyle/>
                    <a:p>
                      <a:pPr algn="l">
                        <a:lnSpc>
                          <a:spcPct val="114000"/>
                        </a:lnSpc>
                        <a:spcAft>
                          <a:spcPts val="200"/>
                        </a:spcAft>
                      </a:pPr>
                      <a:r>
                        <a:rPr sz="1120" b="0" dirty="0">
                          <a:solidFill>
                            <a:srgbClr val="1E2227"/>
                          </a:solidFill>
                          <a:latin typeface="맑은 고딕"/>
                          <a:ea typeface="맑은 고딕"/>
                        </a:rPr>
                        <a:t>AIR</a:t>
                      </a:r>
                    </a:p>
                  </a:txBody>
                  <a:tcPr marL="82296" marR="82296"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9" name="Rectangle 8"/>
          <p:cNvSpPr/>
          <p:nvPr/>
        </p:nvSpPr>
        <p:spPr>
          <a:xfrm>
            <a:off x="546100" y="5324856"/>
            <a:ext cx="11091672" cy="10220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marL="171450" indent="-171450" algn="l">
              <a:lnSpc>
                <a:spcPct val="122000"/>
              </a:lnSpc>
              <a:spcAft>
                <a:spcPts val="300"/>
              </a:spcAft>
              <a:buFont typeface="Arial" panose="020B0604020202020204" pitchFamily="34" charset="0"/>
              <a:buChar char="•"/>
            </a:pPr>
            <a:r>
              <a:rPr lang="ko-KR" sz="1120" b="1" dirty="0">
                <a:solidFill>
                  <a:srgbClr val="273A52"/>
                </a:solidFill>
                <a:latin typeface="맑은 고딕"/>
                <a:ea typeface="맑은 고딕"/>
              </a:rPr>
              <a:t>실행 방법. </a:t>
            </a:r>
            <a:r>
              <a:rPr lang="ko-KR" sz="1120" b="0" dirty="0">
                <a:solidFill>
                  <a:srgbClr val="1E2227"/>
                </a:solidFill>
                <a:latin typeface="맑은 고딕"/>
                <a:ea typeface="맑은 고딕"/>
              </a:rPr>
              <a:t>5개 환경 × 3개 모델 × 3개 데이터셋을 순서를 섞어 전부 실행해 </a:t>
            </a:r>
            <a:r>
              <a:rPr lang="ko-KR" sz="1120" b="1" dirty="0">
                <a:solidFill>
                  <a:srgbClr val="1E2227"/>
                </a:solidFill>
                <a:latin typeface="맑은 고딕"/>
                <a:ea typeface="맑은 고딕"/>
              </a:rPr>
              <a:t>환경별 전환 행렬</a:t>
            </a:r>
            <a:r>
              <a:rPr lang="ko-KR" sz="1120" b="0" dirty="0">
                <a:solidFill>
                  <a:srgbClr val="1E2227"/>
                </a:solidFill>
                <a:latin typeface="맑은 고딕"/>
                <a:ea typeface="맑은 고딕"/>
              </a:rPr>
              <a:t>을 도출한다</a:t>
            </a:r>
            <a:endParaRPr lang="en-US" altLang="ko-KR" sz="1120" b="0" dirty="0">
              <a:solidFill>
                <a:srgbClr val="1E2227"/>
              </a:solidFill>
              <a:latin typeface="맑은 고딕"/>
              <a:ea typeface="맑은 고딕"/>
            </a:endParaRPr>
          </a:p>
          <a:p>
            <a:pPr marL="171450" indent="-171450" algn="l">
              <a:lnSpc>
                <a:spcPct val="122000"/>
              </a:lnSpc>
              <a:spcAft>
                <a:spcPts val="300"/>
              </a:spcAft>
              <a:buFont typeface="Arial" panose="020B0604020202020204" pitchFamily="34" charset="0"/>
              <a:buChar char="•"/>
            </a:pPr>
            <a:r>
              <a:rPr lang="ko-KR" sz="1120" b="1" dirty="0">
                <a:solidFill>
                  <a:srgbClr val="273A52"/>
                </a:solidFill>
                <a:latin typeface="맑은 고딕"/>
                <a:ea typeface="맑은 고딕"/>
              </a:rPr>
              <a:t>프레임. </a:t>
            </a:r>
            <a:r>
              <a:rPr lang="ko-KR" sz="1120" b="0" dirty="0">
                <a:solidFill>
                  <a:srgbClr val="1E2227"/>
                </a:solidFill>
                <a:latin typeface="맑은 고딕"/>
                <a:ea typeface="맑은 고딕"/>
              </a:rPr>
              <a:t>기법 대부분이 비-thinking 모델 산물이라, 성능 순위가 아니라 </a:t>
            </a:r>
            <a:r>
              <a:rPr lang="ko-KR" sz="1120" b="1" dirty="0">
                <a:solidFill>
                  <a:srgbClr val="1E2227"/>
                </a:solidFill>
                <a:latin typeface="맑은 고딕"/>
                <a:ea typeface="맑은 고딕"/>
              </a:rPr>
              <a:t>추론 모델에서의 정답 경로 변화</a:t>
            </a:r>
            <a:r>
              <a:rPr lang="ko-KR" sz="1120" b="0" dirty="0">
                <a:solidFill>
                  <a:srgbClr val="1E2227"/>
                </a:solidFill>
                <a:latin typeface="맑은 고딕"/>
                <a:ea typeface="맑은 고딕"/>
              </a:rPr>
              <a:t>가 관심사다.</a:t>
            </a:r>
          </a:p>
          <a:p>
            <a:pPr marL="171450" indent="-171450" algn="l">
              <a:lnSpc>
                <a:spcPct val="122000"/>
              </a:lnSpc>
              <a:spcAft>
                <a:spcPts val="300"/>
              </a:spcAft>
              <a:buFont typeface="Arial" panose="020B0604020202020204" pitchFamily="34" charset="0"/>
              <a:buChar char="•"/>
            </a:pPr>
            <a:r>
              <a:rPr lang="ko-KR" sz="1120" b="1" dirty="0">
                <a:solidFill>
                  <a:srgbClr val="273A52"/>
                </a:solidFill>
                <a:latin typeface="맑은 고딕"/>
                <a:ea typeface="맑은 고딕"/>
              </a:rPr>
              <a:t>안정성. </a:t>
            </a:r>
            <a:r>
              <a:rPr lang="ko-KR" sz="1120" b="0" dirty="0">
                <a:solidFill>
                  <a:srgbClr val="1E2227"/>
                </a:solidFill>
                <a:latin typeface="맑은 고딕"/>
                <a:ea typeface="맑은 고딕"/>
              </a:rPr>
              <a:t>문항당 </a:t>
            </a:r>
            <a:r>
              <a:rPr lang="ko-KR" sz="1120" b="0" dirty="0" err="1">
                <a:solidFill>
                  <a:srgbClr val="1E2227"/>
                </a:solidFill>
                <a:latin typeface="맑은 고딕"/>
                <a:ea typeface="맑은 고딕"/>
              </a:rPr>
              <a:t>시드</a:t>
            </a:r>
            <a:r>
              <a:rPr lang="ko-KR" sz="1120" b="0" dirty="0">
                <a:solidFill>
                  <a:srgbClr val="1E2227"/>
                </a:solidFill>
                <a:latin typeface="맑은 고딕"/>
                <a:ea typeface="맑은 고딕"/>
              </a:rPr>
              <a:t> </a:t>
            </a:r>
            <a:r>
              <a:rPr lang="en-US" altLang="ko-KR" sz="1120" dirty="0">
                <a:solidFill>
                  <a:srgbClr val="1E2227"/>
                </a:solidFill>
                <a:latin typeface="맑은 고딕"/>
                <a:ea typeface="맑은 고딕"/>
              </a:rPr>
              <a:t>k</a:t>
            </a:r>
            <a:r>
              <a:rPr lang="ko-KR" altLang="en-US" sz="1120" dirty="0">
                <a:solidFill>
                  <a:srgbClr val="1E2227"/>
                </a:solidFill>
                <a:latin typeface="맑은 고딕"/>
                <a:ea typeface="맑은 고딕"/>
              </a:rPr>
              <a:t>회 이상 반</a:t>
            </a:r>
            <a:r>
              <a:rPr lang="ko-KR" sz="1120" b="0" dirty="0">
                <a:solidFill>
                  <a:srgbClr val="1E2227"/>
                </a:solidFill>
                <a:latin typeface="맑은 고딕"/>
                <a:ea typeface="맑은 고딕"/>
              </a:rPr>
              <a:t>복해 </a:t>
            </a:r>
            <a:r>
              <a:rPr lang="ko-KR" sz="1120" b="1" dirty="0">
                <a:solidFill>
                  <a:srgbClr val="1E2227"/>
                </a:solidFill>
                <a:latin typeface="맑은 고딕"/>
                <a:ea typeface="맑은 고딕"/>
              </a:rPr>
              <a:t>최빈 경로</a:t>
            </a:r>
            <a:r>
              <a:rPr lang="ko-KR" sz="1120" b="0" dirty="0">
                <a:solidFill>
                  <a:srgbClr val="1E2227"/>
                </a:solidFill>
                <a:latin typeface="맑은 고딕"/>
                <a:ea typeface="맑은 고딕"/>
              </a:rPr>
              <a:t>를 대표로 삼고, 과반 미달(예: 2-2-1)은 </a:t>
            </a:r>
            <a:r>
              <a:rPr lang="ko-KR" sz="1120" b="1" dirty="0">
                <a:solidFill>
                  <a:srgbClr val="1E2227"/>
                </a:solidFill>
                <a:latin typeface="맑은 고딕"/>
                <a:ea typeface="맑은 고딕"/>
              </a:rPr>
              <a:t>'불안정'으로 분리</a:t>
            </a:r>
            <a:r>
              <a:rPr lang="ko-KR" sz="1120" b="0" dirty="0">
                <a:solidFill>
                  <a:srgbClr val="1E2227"/>
                </a:solidFill>
                <a:latin typeface="맑은 고딕"/>
                <a:ea typeface="맑은 고딕"/>
              </a:rPr>
              <a:t>한다.</a:t>
            </a:r>
          </a:p>
          <a:p>
            <a:pPr algn="l">
              <a:spcBef>
                <a:spcPts val="300"/>
              </a:spcBef>
            </a:pPr>
            <a:r>
              <a:rPr lang="ko-KR" sz="1000" b="0" dirty="0">
                <a:solidFill>
                  <a:srgbClr val="6B7480"/>
                </a:solidFill>
                <a:latin typeface="맑은 고딕"/>
                <a:ea typeface="맑은 고딕"/>
              </a:rPr>
              <a:t>※ MADAM-RAG·ConflictRAG는 시스템 층위가 달라 단일 모델 비교에서 제외.</a:t>
            </a:r>
          </a:p>
        </p:txBody>
      </p:sp>
      <p:sp>
        <p:nvSpPr>
          <p:cNvPr id="20" name="RQ1Subtitle"/>
          <p:cNvSpPr>
            <a:spLocks noGrp="1"/>
          </p:cNvSpPr>
          <p:nvPr/>
        </p:nvSpPr>
        <p:spPr>
          <a:xfrm>
            <a:off x="548640" y="1270000"/>
            <a:ext cx="11087100" cy="279400"/>
          </a:xfrm>
          <a:prstGeom prst="rect">
            <a:avLst/>
          </a:prstGeom>
        </p:spPr>
        <p:txBody>
          <a:bodyPr wrap="square" lIns="91440" tIns="45720" rIns="91440" bIns="45720" anchor="t">
            <a:noAutofit/>
          </a:bodyPr>
          <a:lstStyle/>
          <a:p>
            <a:pPr algn="l"/>
            <a:r>
              <a:rPr lang="ko-KR" sz="1200" b="1" dirty="0">
                <a:solidFill>
                  <a:srgbClr val="273A52"/>
                </a:solidFill>
                <a:latin typeface="맑은 고딕"/>
                <a:ea typeface="맑은 고딕"/>
              </a:rPr>
              <a:t>① RQ1 진단. </a:t>
            </a:r>
            <a:r>
              <a:rPr lang="ko-KR" sz="1200" b="0" dirty="0">
                <a:solidFill>
                  <a:srgbClr val="1E2227"/>
                </a:solidFill>
                <a:latin typeface="맑은 고딕"/>
                <a:ea typeface="맑은 고딕"/>
              </a:rPr>
              <a:t>§3.2 프로토콜을 실행 산출(궤적·전환 행렬)에 적용해 </a:t>
            </a:r>
            <a:r>
              <a:rPr lang="ko-KR" sz="1200" b="1" dirty="0">
                <a:solidFill>
                  <a:srgbClr val="1E2227"/>
                </a:solidFill>
                <a:latin typeface="맑은 고딕"/>
                <a:ea typeface="맑은 고딕"/>
              </a:rPr>
              <a:t>불일치와 그 단계(탐지→해소→표출)</a:t>
            </a:r>
            <a:r>
              <a:rPr lang="ko-KR" sz="1200" b="0" dirty="0">
                <a:solidFill>
                  <a:srgbClr val="1E2227"/>
                </a:solidFill>
                <a:latin typeface="맑은 고딕"/>
                <a:ea typeface="맑은 고딕"/>
              </a:rPr>
              <a:t>를 문항 단위로 판정한다.</a:t>
            </a:r>
          </a:p>
        </p:txBody>
      </p:sp>
    </p:spTree>
    <p:extLst>
      <p:ext uri="{BB962C8B-B14F-4D97-AF65-F5344CB8AC3E}">
        <p14:creationId xmlns:p14="http://schemas.microsoft.com/office/powerpoint/2010/main" val="1259458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0" dirty="0">
                <a:solidFill>
                  <a:srgbClr val="6B7480"/>
                </a:solidFill>
                <a:latin typeface="맑은 고딕"/>
                <a:ea typeface="맑은 고딕"/>
              </a:rPr>
              <a:t>§3 방법론</a:t>
            </a:r>
            <a:r>
              <a:rPr lang="en-US" sz="1250" b="0" dirty="0">
                <a:solidFill>
                  <a:srgbClr val="B0B7C0"/>
                </a:solidFill>
                <a:latin typeface="맑은 고딕"/>
                <a:ea typeface="맑은 고딕"/>
              </a:rPr>
              <a:t>   ›   </a:t>
            </a:r>
            <a:r>
              <a:rPr lang="en-US" sz="1250" b="1" dirty="0">
                <a:solidFill>
                  <a:srgbClr val="273A52"/>
                </a:solidFill>
                <a:latin typeface="맑은 고딕"/>
                <a:ea typeface="맑은 고딕"/>
              </a:rPr>
              <a:t>§3.3 실험 1</a:t>
            </a:r>
          </a:p>
        </p:txBody>
      </p:sp>
      <p:sp>
        <p:nvSpPr>
          <p:cNvPr id="3" name="TextBox 2"/>
          <p:cNvSpPr txBox="1"/>
          <p:nvPr/>
        </p:nvSpPr>
        <p:spPr>
          <a:xfrm>
            <a:off x="548640" y="585216"/>
            <a:ext cx="11091672" cy="396647"/>
          </a:xfrm>
          <a:prstGeom prst="rect">
            <a:avLst/>
          </a:prstGeom>
          <a:noFill/>
        </p:spPr>
        <p:txBody>
          <a:bodyPr wrap="square" lIns="0" tIns="0" rIns="0" bIns="0">
            <a:spAutoFit/>
          </a:bodyPr>
          <a:lstStyle/>
          <a:p>
            <a:pPr>
              <a:lnSpc>
                <a:spcPct val="122000"/>
              </a:lnSpc>
              <a:spcAft>
                <a:spcPts val="450"/>
              </a:spcAft>
            </a:pPr>
            <a:r>
              <a:rPr lang="ko-KR" altLang="ko-KR" sz="2350" b="1" dirty="0">
                <a:solidFill>
                  <a:srgbClr val="273A52"/>
                </a:solidFill>
                <a:latin typeface="맑은 고딕"/>
                <a:ea typeface="맑은 고딕"/>
              </a:rPr>
              <a:t>실험 1 (RQ2): 이득 분해 지표와 판정</a:t>
            </a:r>
            <a:endParaRPr sz="2350" b="1" dirty="0">
              <a:solidFill>
                <a:srgbClr val="273A52"/>
              </a:solidFill>
              <a:latin typeface="맑은 고딕"/>
              <a:ea typeface="맑은 고딕"/>
            </a:endParaRP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160365"/>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20</a:t>
            </a:fld>
            <a:endParaRPr lang="en-US" altLang="ko-KR" sz="950">
              <a:solidFill>
                <a:srgbClr val="6B7480"/>
              </a:solidFill>
              <a:latin typeface="맑은 고딕"/>
              <a:ea typeface="맑은 고딕"/>
            </a:endParaRPr>
          </a:p>
        </p:txBody>
      </p:sp>
      <p:sp>
        <p:nvSpPr>
          <p:cNvPr id="7" name="TextBox 6"/>
          <p:cNvSpPr txBox="1"/>
          <p:nvPr/>
        </p:nvSpPr>
        <p:spPr>
          <a:xfrm>
            <a:off x="548640" y="1270000"/>
            <a:ext cx="11091672" cy="285143"/>
          </a:xfrm>
          <a:prstGeom prst="rect">
            <a:avLst/>
          </a:prstGeom>
          <a:noFill/>
        </p:spPr>
        <p:txBody>
          <a:bodyPr wrap="square" lIns="91440" tIns="45720" rIns="91440" bIns="45720" anchor="t" anchorCtr="0">
            <a:spAutoFit/>
          </a:bodyPr>
          <a:lstStyle/>
          <a:p>
            <a:pPr algn="l">
              <a:lnSpc>
                <a:spcPct val="115000"/>
              </a:lnSpc>
            </a:pPr>
            <a:r>
              <a:rPr lang="ko-KR" sz="1200" b="1" dirty="0">
                <a:solidFill>
                  <a:srgbClr val="273A52"/>
                </a:solidFill>
                <a:latin typeface="맑은 고딕"/>
                <a:ea typeface="맑은 고딕"/>
              </a:rPr>
              <a:t>② RQ2 이득 분해 — EM 상승이 ‘진짜 실력’인지 ‘표면 점수’인지 판별   </a:t>
            </a:r>
            <a:r>
              <a:rPr lang="ko-KR" sz="1200" b="0" dirty="0">
                <a:solidFill>
                  <a:srgbClr val="6B7480"/>
                </a:solidFill>
                <a:latin typeface="맑은 고딕"/>
                <a:ea typeface="맑은 고딕"/>
              </a:rPr>
              <a:t>net EM만 보면 개선·퇴행이 상쇄돼 감춰진다</a:t>
            </a:r>
          </a:p>
        </p:txBody>
      </p:sp>
      <p:graphicFrame>
        <p:nvGraphicFramePr>
          <p:cNvPr id="10" name="표 9">
            <a:extLst>
              <a:ext uri="{FF2B5EF4-FFF2-40B4-BE49-F238E27FC236}">
                <a16:creationId xmlns:a16="http://schemas.microsoft.com/office/drawing/2014/main" id="{4F507126-CF21-9C42-A147-94A2FDC5886F}"/>
              </a:ext>
            </a:extLst>
          </p:cNvPr>
          <p:cNvGraphicFramePr>
            <a:graphicFrameLocks noGrp="1"/>
          </p:cNvGraphicFramePr>
          <p:nvPr/>
        </p:nvGraphicFramePr>
        <p:xfrm>
          <a:off x="548640" y="1608328"/>
          <a:ext cx="11087100" cy="1820673"/>
        </p:xfrm>
        <a:graphic>
          <a:graphicData uri="http://schemas.openxmlformats.org/drawingml/2006/table">
            <a:tbl>
              <a:tblPr firstRow="1" bandRow="1">
                <a:tableStyleId>{5C22544A-7EE6-4342-B048-85BDC9FD1C3A}</a:tableStyleId>
              </a:tblPr>
              <a:tblGrid>
                <a:gridCol w="2730500">
                  <a:extLst>
                    <a:ext uri="{9D8B030D-6E8A-4147-A177-3AD203B41FA5}">
                      <a16:colId xmlns:a16="http://schemas.microsoft.com/office/drawing/2014/main" val="4177886004"/>
                    </a:ext>
                  </a:extLst>
                </a:gridCol>
                <a:gridCol w="4191000">
                  <a:extLst>
                    <a:ext uri="{9D8B030D-6E8A-4147-A177-3AD203B41FA5}">
                      <a16:colId xmlns:a16="http://schemas.microsoft.com/office/drawing/2014/main" val="260323797"/>
                    </a:ext>
                  </a:extLst>
                </a:gridCol>
                <a:gridCol w="4165600">
                  <a:extLst>
                    <a:ext uri="{9D8B030D-6E8A-4147-A177-3AD203B41FA5}">
                      <a16:colId xmlns:a16="http://schemas.microsoft.com/office/drawing/2014/main" val="2575057501"/>
                    </a:ext>
                  </a:extLst>
                </a:gridCol>
              </a:tblGrid>
              <a:tr h="318618">
                <a:tc>
                  <a:txBody>
                    <a:bodyPr/>
                    <a:lstStyle/>
                    <a:p>
                      <a:pPr algn="ctr"/>
                      <a:r>
                        <a:rPr lang="ko-KR" altLang="en-US" sz="1120" b="1">
                          <a:solidFill>
                            <a:srgbClr val="FFFFFF"/>
                          </a:solidFill>
                          <a:latin typeface="맑은 고딕"/>
                          <a:ea typeface="맑은 고딕"/>
                        </a:rPr>
                        <a:t>지표</a:t>
                      </a:r>
                    </a:p>
                  </a:txBody>
                  <a:tcPr anchor="ctr">
                    <a:solidFill>
                      <a:srgbClr val="273A52"/>
                    </a:solidFill>
                  </a:tcPr>
                </a:tc>
                <a:tc>
                  <a:txBody>
                    <a:bodyPr/>
                    <a:lstStyle/>
                    <a:p>
                      <a:pPr algn="ctr"/>
                      <a:r>
                        <a:rPr lang="ko-KR" altLang="en-US" sz="1120" b="1" dirty="0">
                          <a:solidFill>
                            <a:srgbClr val="FFFFFF"/>
                          </a:solidFill>
                          <a:latin typeface="맑은 고딕"/>
                          <a:ea typeface="맑은 고딕"/>
                        </a:rPr>
                        <a:t>정의</a:t>
                      </a:r>
                    </a:p>
                  </a:txBody>
                  <a:tcPr anchor="ctr">
                    <a:solidFill>
                      <a:srgbClr val="273A52"/>
                    </a:solidFill>
                  </a:tcPr>
                </a:tc>
                <a:tc>
                  <a:txBody>
                    <a:bodyPr/>
                    <a:lstStyle/>
                    <a:p>
                      <a:pPr algn="ctr"/>
                      <a:r>
                        <a:rPr lang="ko-KR" altLang="en-US" sz="1120" b="1" dirty="0">
                          <a:solidFill>
                            <a:srgbClr val="FFFFFF"/>
                          </a:solidFill>
                          <a:latin typeface="맑은 고딕"/>
                          <a:ea typeface="맑은 고딕"/>
                        </a:rPr>
                        <a:t>판정 신호</a:t>
                      </a:r>
                    </a:p>
                  </a:txBody>
                  <a:tcPr anchor="ctr">
                    <a:solidFill>
                      <a:srgbClr val="273A52"/>
                    </a:solidFill>
                  </a:tcPr>
                </a:tc>
                <a:extLst>
                  <a:ext uri="{0D108BD9-81ED-4DB2-BD59-A6C34878D82A}">
                    <a16:rowId xmlns:a16="http://schemas.microsoft.com/office/drawing/2014/main" val="1643153651"/>
                  </a:ext>
                </a:extLst>
              </a:tr>
              <a:tr h="500685">
                <a:tc>
                  <a:txBody>
                    <a:bodyPr/>
                    <a:lstStyle/>
                    <a:p>
                      <a:pPr algn="l"/>
                      <a:r>
                        <a:rPr lang="en-US" sz="1120" b="1" dirty="0">
                          <a:solidFill>
                            <a:srgbClr val="1E2227"/>
                          </a:solidFill>
                          <a:latin typeface="맑은 고딕"/>
                          <a:ea typeface="맑은 고딕"/>
                        </a:rPr>
                        <a:t>LGR — Legitimate Gain Ratio</a:t>
                      </a:r>
                    </a:p>
                    <a:p>
                      <a:pPr algn="l"/>
                      <a:r>
                        <a:rPr lang="ko-KR" sz="1000" b="0" dirty="0">
                          <a:solidFill>
                            <a:srgbClr val="6B7480"/>
                          </a:solidFill>
                          <a:latin typeface="맑은 고딕"/>
                          <a:ea typeface="맑은 고딕"/>
                        </a:rPr>
                        <a:t>정당 이득 비율</a:t>
                      </a:r>
                    </a:p>
                  </a:txBody>
                  <a:tcPr anchor="ctr">
                    <a:solidFill>
                      <a:srgbClr val="FFFFFF"/>
                    </a:solidFill>
                  </a:tcPr>
                </a:tc>
                <a:tc>
                  <a:txBody>
                    <a:bodyPr/>
                    <a:lstStyle/>
                    <a:p>
                      <a:pPr algn="l"/>
                      <a:r>
                        <a:rPr lang="ko-KR" altLang="en-US" sz="1120" b="0" dirty="0">
                          <a:solidFill>
                            <a:srgbClr val="1E2227"/>
                          </a:solidFill>
                          <a:latin typeface="맑은 고딕"/>
                          <a:ea typeface="맑은 고딕"/>
                        </a:rPr>
                        <a:t>새로 맞은 정답 중 '정상 </a:t>
                      </a:r>
                      <a:r>
                        <a:rPr lang="ko-KR" altLang="en-US" sz="1120" b="0" dirty="0" err="1">
                          <a:solidFill>
                            <a:srgbClr val="1E2227"/>
                          </a:solidFill>
                          <a:latin typeface="맑은 고딕"/>
                          <a:ea typeface="맑은 고딕"/>
                        </a:rPr>
                        <a:t>경로'로</a:t>
                      </a:r>
                      <a:r>
                        <a:rPr lang="ko-KR" altLang="en-US" sz="1120" b="0" dirty="0">
                          <a:solidFill>
                            <a:srgbClr val="1E2227"/>
                          </a:solidFill>
                          <a:latin typeface="맑은 고딕"/>
                          <a:ea typeface="맑은 고딕"/>
                        </a:rPr>
                        <a:t> 맞힌 것의 비율</a:t>
                      </a:r>
                    </a:p>
                  </a:txBody>
                  <a:tcPr anchor="ctr">
                    <a:solidFill>
                      <a:srgbClr val="FFFFFF"/>
                    </a:solidFill>
                  </a:tcPr>
                </a:tc>
                <a:tc>
                  <a:txBody>
                    <a:bodyPr/>
                    <a:lstStyle/>
                    <a:p>
                      <a:pPr algn="l"/>
                      <a:r>
                        <a:rPr lang="ko-KR" altLang="en-US" sz="1120" b="0">
                          <a:solidFill>
                            <a:srgbClr val="1E2227"/>
                          </a:solidFill>
                          <a:latin typeface="맑은 고딕"/>
                          <a:ea typeface="맑은 고딕"/>
                        </a:rPr>
                        <a:t>높으면 </a:t>
                      </a:r>
                      <a:r>
                        <a:rPr lang="ko-KR" altLang="en-US" sz="1120" b="1">
                          <a:solidFill>
                            <a:srgbClr val="1E2227"/>
                          </a:solidFill>
                          <a:latin typeface="맑은 고딕"/>
                          <a:ea typeface="맑은 고딕"/>
                        </a:rPr>
                        <a:t>진짜 이득</a:t>
                      </a:r>
                      <a:r>
                        <a:rPr lang="ko-KR" altLang="en-US" sz="1120" b="0">
                          <a:solidFill>
                            <a:srgbClr val="1E2227"/>
                          </a:solidFill>
                          <a:latin typeface="맑은 고딕"/>
                          <a:ea typeface="맑은 고딕"/>
                        </a:rPr>
                        <a:t>, 낮으면 표면 이득(Shortcut·우연)</a:t>
                      </a:r>
                    </a:p>
                  </a:txBody>
                  <a:tcPr anchor="ctr">
                    <a:solidFill>
                      <a:srgbClr val="FFFFFF"/>
                    </a:solidFill>
                  </a:tcPr>
                </a:tc>
                <a:extLst>
                  <a:ext uri="{0D108BD9-81ED-4DB2-BD59-A6C34878D82A}">
                    <a16:rowId xmlns:a16="http://schemas.microsoft.com/office/drawing/2014/main" val="3108012345"/>
                  </a:ext>
                </a:extLst>
              </a:tr>
              <a:tr h="500685">
                <a:tc>
                  <a:txBody>
                    <a:bodyPr/>
                    <a:lstStyle/>
                    <a:p>
                      <a:pPr algn="l"/>
                      <a:r>
                        <a:rPr lang="en-US" sz="1120" b="1" dirty="0">
                          <a:solidFill>
                            <a:srgbClr val="1E2227"/>
                          </a:solidFill>
                          <a:latin typeface="맑은 고딕"/>
                          <a:ea typeface="맑은 고딕"/>
                        </a:rPr>
                        <a:t>HR — Hidden Regression Rate</a:t>
                      </a:r>
                    </a:p>
                    <a:p>
                      <a:pPr algn="l"/>
                      <a:r>
                        <a:rPr lang="ko-KR" sz="1000" b="0" dirty="0">
                          <a:solidFill>
                            <a:srgbClr val="6B7480"/>
                          </a:solidFill>
                          <a:latin typeface="맑은 고딕"/>
                          <a:ea typeface="맑은 고딕"/>
                        </a:rPr>
                        <a:t>숨은 퇴행율</a:t>
                      </a:r>
                    </a:p>
                  </a:txBody>
                  <a:tcPr anchor="ctr">
                    <a:solidFill>
                      <a:srgbClr val="F6F7F9"/>
                    </a:solidFill>
                  </a:tcPr>
                </a:tc>
                <a:tc>
                  <a:txBody>
                    <a:bodyPr/>
                    <a:lstStyle/>
                    <a:p>
                      <a:pPr algn="l"/>
                      <a:r>
                        <a:rPr lang="ko-KR" altLang="en-US" sz="1120" b="0" dirty="0">
                          <a:solidFill>
                            <a:srgbClr val="1E2227"/>
                          </a:solidFill>
                          <a:latin typeface="맑은 고딕"/>
                          <a:ea typeface="맑은 고딕"/>
                        </a:rPr>
                        <a:t>완화 전 정상 정답이던 문항이 </a:t>
                      </a:r>
                      <a:r>
                        <a:rPr lang="ko-KR" altLang="en-US" sz="1120" b="0" dirty="0" err="1">
                          <a:solidFill>
                            <a:srgbClr val="1E2227"/>
                          </a:solidFill>
                          <a:latin typeface="맑은 고딕"/>
                          <a:ea typeface="맑은 고딕"/>
                        </a:rPr>
                        <a:t>오답·기권·AIR로</a:t>
                      </a:r>
                      <a:r>
                        <a:rPr lang="ko-KR" altLang="en-US" sz="1120" b="0" dirty="0">
                          <a:solidFill>
                            <a:srgbClr val="1E2227"/>
                          </a:solidFill>
                          <a:latin typeface="맑은 고딕"/>
                          <a:ea typeface="맑은 고딕"/>
                        </a:rPr>
                        <a:t> 무너진 비율</a:t>
                      </a:r>
                    </a:p>
                  </a:txBody>
                  <a:tcPr anchor="ctr">
                    <a:solidFill>
                      <a:srgbClr val="F6F7F9"/>
                    </a:solidFill>
                  </a:tcPr>
                </a:tc>
                <a:tc>
                  <a:txBody>
                    <a:bodyPr/>
                    <a:lstStyle/>
                    <a:p>
                      <a:pPr algn="l"/>
                      <a:r>
                        <a:rPr lang="ko-KR" altLang="en-US" sz="1120" b="0">
                          <a:solidFill>
                            <a:srgbClr val="1E2227"/>
                          </a:solidFill>
                          <a:latin typeface="맑은 고딕"/>
                          <a:ea typeface="맑은 고딕"/>
                        </a:rPr>
                        <a:t>클수록 EM이 올라도 </a:t>
                      </a:r>
                      <a:r>
                        <a:rPr lang="ko-KR" altLang="en-US" sz="1120" b="1">
                          <a:solidFill>
                            <a:srgbClr val="1E2227"/>
                          </a:solidFill>
                          <a:latin typeface="맑은 고딕"/>
                          <a:ea typeface="맑은 고딕"/>
                        </a:rPr>
                        <a:t>이득 신뢰도 차감</a:t>
                      </a:r>
                      <a:r>
                        <a:rPr lang="ko-KR" altLang="en-US" sz="1120" b="0">
                          <a:solidFill>
                            <a:srgbClr val="1E2227"/>
                          </a:solidFill>
                          <a:latin typeface="맑은 고딕"/>
                          <a:ea typeface="맑은 고딕"/>
                        </a:rPr>
                        <a:t> (숨은 퇴행)</a:t>
                      </a:r>
                    </a:p>
                  </a:txBody>
                  <a:tcPr anchor="ctr">
                    <a:solidFill>
                      <a:srgbClr val="F6F7F9"/>
                    </a:solidFill>
                  </a:tcPr>
                </a:tc>
                <a:extLst>
                  <a:ext uri="{0D108BD9-81ED-4DB2-BD59-A6C34878D82A}">
                    <a16:rowId xmlns:a16="http://schemas.microsoft.com/office/drawing/2014/main" val="3779236856"/>
                  </a:ext>
                </a:extLst>
              </a:tr>
              <a:tr h="500685">
                <a:tc>
                  <a:txBody>
                    <a:bodyPr/>
                    <a:lstStyle/>
                    <a:p>
                      <a:pPr algn="l"/>
                      <a:r>
                        <a:rPr lang="en-US" sz="1120" b="1" dirty="0">
                          <a:solidFill>
                            <a:srgbClr val="1E2227"/>
                          </a:solidFill>
                          <a:latin typeface="맑은 고딕"/>
                          <a:ea typeface="맑은 고딕"/>
                        </a:rPr>
                        <a:t>Flip Rate</a:t>
                      </a:r>
                    </a:p>
                    <a:p>
                      <a:pPr algn="l"/>
                      <a:r>
                        <a:rPr lang="ko-KR" sz="1000" b="0" dirty="0">
                          <a:solidFill>
                            <a:srgbClr val="6B7480"/>
                          </a:solidFill>
                          <a:latin typeface="맑은 고딕"/>
                          <a:ea typeface="맑은 고딕"/>
                        </a:rPr>
                        <a:t>flip률 · 정답·오답 역전</a:t>
                      </a:r>
                    </a:p>
                  </a:txBody>
                  <a:tcPr anchor="ctr">
                    <a:solidFill>
                      <a:srgbClr val="FFFFFF"/>
                    </a:solidFill>
                  </a:tcPr>
                </a:tc>
                <a:tc>
                  <a:txBody>
                    <a:bodyPr/>
                    <a:lstStyle/>
                    <a:p>
                      <a:pPr algn="l"/>
                      <a:r>
                        <a:rPr lang="ko-KR" sz="1120" b="0" dirty="0">
                          <a:solidFill>
                            <a:srgbClr val="1E2227"/>
                          </a:solidFill>
                          <a:latin typeface="맑은 고딕"/>
                          <a:ea typeface="맑은 고딕"/>
                        </a:rPr>
                        <a:t>완화 전후로 정답과 오답이 서로 뒤집힌 문항 비율</a:t>
                      </a:r>
                    </a:p>
                  </a:txBody>
                  <a:tcPr anchor="ctr">
                    <a:solidFill>
                      <a:srgbClr val="FFFFFF"/>
                    </a:solidFill>
                  </a:tcPr>
                </a:tc>
                <a:tc>
                  <a:txBody>
                    <a:bodyPr/>
                    <a:lstStyle/>
                    <a:p>
                      <a:pPr algn="l"/>
                      <a:r>
                        <a:rPr lang="ko-KR" altLang="en-US" sz="1120" b="0" dirty="0" err="1">
                          <a:solidFill>
                            <a:srgbClr val="1E2227"/>
                          </a:solidFill>
                          <a:latin typeface="맑은 고딕"/>
                          <a:ea typeface="맑은 고딕"/>
                        </a:rPr>
                        <a:t>net EM = 0이어도 값이 크면 </a:t>
                      </a:r>
                      <a:r>
                        <a:rPr lang="ko-KR" altLang="en-US" sz="1120" b="1" dirty="0" err="1">
                          <a:solidFill>
                            <a:srgbClr val="1E2227"/>
                          </a:solidFill>
                          <a:latin typeface="맑은 고딕"/>
                          <a:ea typeface="맑은 고딕"/>
                        </a:rPr>
                        <a:t>내부 churn(불안정)</a:t>
                      </a:r>
                    </a:p>
                  </a:txBody>
                  <a:tcPr anchor="ctr">
                    <a:solidFill>
                      <a:srgbClr val="FFFFFF"/>
                    </a:solidFill>
                  </a:tcPr>
                </a:tc>
                <a:extLst>
                  <a:ext uri="{0D108BD9-81ED-4DB2-BD59-A6C34878D82A}">
                    <a16:rowId xmlns:a16="http://schemas.microsoft.com/office/drawing/2014/main" val="2751895131"/>
                  </a:ext>
                </a:extLst>
              </a:tr>
            </a:tbl>
          </a:graphicData>
        </a:graphic>
      </p:graphicFrame>
      <p:sp>
        <p:nvSpPr>
          <p:cNvPr id="11" name="TextBox 10">
            <a:extLst>
              <a:ext uri="{FF2B5EF4-FFF2-40B4-BE49-F238E27FC236}">
                <a16:creationId xmlns:a16="http://schemas.microsoft.com/office/drawing/2014/main" id="{D59B859F-C71F-8742-96D8-2DF333364E48}"/>
              </a:ext>
            </a:extLst>
          </p:cNvPr>
          <p:cNvSpPr txBox="1"/>
          <p:nvPr/>
        </p:nvSpPr>
        <p:spPr>
          <a:xfrm>
            <a:off x="548640" y="3973800"/>
            <a:ext cx="6350000" cy="228600"/>
          </a:xfrm>
          <a:prstGeom prst="rect">
            <a:avLst/>
          </a:prstGeom>
          <a:noFill/>
        </p:spPr>
        <p:txBody>
          <a:bodyPr vertOverflow="overflow" vert="horz" wrap="square" lIns="91440" tIns="45720" rIns="91440" bIns="45720" rtlCol="0" anchor="t" anchorCtr="0">
            <a:noAutofit/>
          </a:bodyPr>
          <a:lstStyle/>
          <a:p>
            <a:pPr algn="l"/>
            <a:r>
              <a:rPr lang="en-US" altLang="ko-KR" sz="1200" b="1" dirty="0">
                <a:solidFill>
                  <a:srgbClr val="273A52"/>
                </a:solidFill>
                <a:latin typeface="맑은 고딕"/>
                <a:ea typeface="맑은 고딕"/>
              </a:rPr>
              <a:t>[</a:t>
            </a:r>
            <a:r>
              <a:rPr lang="ko-KR" altLang="en-US" sz="1200" b="1" dirty="0">
                <a:solidFill>
                  <a:srgbClr val="273A52"/>
                </a:solidFill>
                <a:latin typeface="맑은 고딕"/>
                <a:ea typeface="맑은 고딕"/>
              </a:rPr>
              <a:t>예시</a:t>
            </a:r>
            <a:r>
              <a:rPr lang="en-US" altLang="ko-KR" sz="1200" b="1" dirty="0">
                <a:solidFill>
                  <a:srgbClr val="273A52"/>
                </a:solidFill>
                <a:latin typeface="맑은 고딕"/>
                <a:ea typeface="맑은 고딕"/>
              </a:rPr>
              <a:t>] </a:t>
            </a:r>
            <a:r>
              <a:rPr lang="ko-KR" altLang="en-US" sz="1200" b="1" dirty="0">
                <a:solidFill>
                  <a:srgbClr val="273A52"/>
                </a:solidFill>
                <a:latin typeface="맑은 고딕"/>
                <a:ea typeface="맑은 고딕"/>
              </a:rPr>
              <a:t>전환 행렬</a:t>
            </a:r>
            <a:r>
              <a:rPr lang="ko-KR" sz="1200" b="1" dirty="0">
                <a:solidFill>
                  <a:srgbClr val="273A52"/>
                </a:solidFill>
                <a:latin typeface="맑은 고딕"/>
                <a:ea typeface="맑은 고딕"/>
              </a:rPr>
              <a:t> </a:t>
            </a:r>
            <a:r>
              <a:rPr lang="ko-KR" altLang="en-US" sz="1200" b="1" dirty="0">
                <a:solidFill>
                  <a:srgbClr val="273A52"/>
                </a:solidFill>
                <a:latin typeface="맑은 고딕"/>
                <a:ea typeface="맑은 고딕"/>
              </a:rPr>
              <a:t>구하기</a:t>
            </a:r>
            <a:endParaRPr lang="ko-KR" sz="1200" b="1" dirty="0">
              <a:solidFill>
                <a:srgbClr val="273A52"/>
              </a:solidFill>
              <a:latin typeface="맑은 고딕"/>
              <a:ea typeface="맑은 고딕"/>
            </a:endParaRPr>
          </a:p>
        </p:txBody>
      </p:sp>
      <p:graphicFrame>
        <p:nvGraphicFramePr>
          <p:cNvPr id="13" name="표 12">
            <a:extLst>
              <a:ext uri="{FF2B5EF4-FFF2-40B4-BE49-F238E27FC236}">
                <a16:creationId xmlns:a16="http://schemas.microsoft.com/office/drawing/2014/main" id="{F2FCBAA6-F9D4-0645-86DE-2A34908A8DA0}"/>
              </a:ext>
            </a:extLst>
          </p:cNvPr>
          <p:cNvGraphicFramePr>
            <a:graphicFrameLocks noGrp="1"/>
          </p:cNvGraphicFramePr>
          <p:nvPr/>
        </p:nvGraphicFramePr>
        <p:xfrm>
          <a:off x="548640" y="4253200"/>
          <a:ext cx="5969000" cy="1498600"/>
        </p:xfrm>
        <a:graphic>
          <a:graphicData uri="http://schemas.openxmlformats.org/drawingml/2006/table">
            <a:tbl>
              <a:tblPr firstRow="1" bandRow="1">
                <a:tableStyleId>{5C22544A-7EE6-4342-B048-85BDC9FD1C3A}</a:tableStyleId>
              </a:tblPr>
              <a:tblGrid>
                <a:gridCol w="1778000">
                  <a:extLst>
                    <a:ext uri="{9D8B030D-6E8A-4147-A177-3AD203B41FA5}">
                      <a16:colId xmlns:a16="http://schemas.microsoft.com/office/drawing/2014/main" val="2574552295"/>
                    </a:ext>
                  </a:extLst>
                </a:gridCol>
                <a:gridCol w="1397000">
                  <a:extLst>
                    <a:ext uri="{9D8B030D-6E8A-4147-A177-3AD203B41FA5}">
                      <a16:colId xmlns:a16="http://schemas.microsoft.com/office/drawing/2014/main" val="1762026299"/>
                    </a:ext>
                  </a:extLst>
                </a:gridCol>
                <a:gridCol w="1397000">
                  <a:extLst>
                    <a:ext uri="{9D8B030D-6E8A-4147-A177-3AD203B41FA5}">
                      <a16:colId xmlns:a16="http://schemas.microsoft.com/office/drawing/2014/main" val="2090266919"/>
                    </a:ext>
                  </a:extLst>
                </a:gridCol>
                <a:gridCol w="1397000">
                  <a:extLst>
                    <a:ext uri="{9D8B030D-6E8A-4147-A177-3AD203B41FA5}">
                      <a16:colId xmlns:a16="http://schemas.microsoft.com/office/drawing/2014/main" val="267015045"/>
                    </a:ext>
                  </a:extLst>
                </a:gridCol>
              </a:tblGrid>
              <a:tr h="355600">
                <a:tc>
                  <a:txBody>
                    <a:bodyPr/>
                    <a:lstStyle/>
                    <a:p>
                      <a:pPr algn="ctr"/>
                      <a:r>
                        <a:rPr lang="ko-KR" altLang="en-US" sz="1150" b="1" dirty="0">
                          <a:solidFill>
                            <a:srgbClr val="FFFFFF"/>
                          </a:solidFill>
                          <a:latin typeface="맑은 고딕"/>
                          <a:ea typeface="맑은 고딕"/>
                        </a:rPr>
                        <a:t>전 ↓ / 후 →</a:t>
                      </a:r>
                    </a:p>
                  </a:txBody>
                  <a:tcPr marL="45720" marR="45720" marT="27432" marB="27432" anchor="ctr">
                    <a:lnL w="9525" cap="flat" cmpd="sng" algn="ctr">
                      <a:noFill/>
                      <a:prstDash val="solid"/>
                    </a:lnL>
                    <a:lnR w="9525" cap="flat" cmpd="sng" algn="ctr">
                      <a:noFill/>
                      <a:prstDash val="soli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3A52"/>
                    </a:solidFill>
                  </a:tcPr>
                </a:tc>
                <a:tc>
                  <a:txBody>
                    <a:bodyPr/>
                    <a:lstStyle/>
                    <a:p>
                      <a:pPr algn="ctr"/>
                      <a:r>
                        <a:rPr lang="ko-KR" altLang="en-US" sz="1150" b="1" dirty="0">
                          <a:solidFill>
                            <a:srgbClr val="FFFFFF"/>
                          </a:solidFill>
                          <a:latin typeface="맑은 고딕"/>
                          <a:ea typeface="맑은 고딕"/>
                        </a:rPr>
                        <a:t>정상 (</a:t>
                      </a:r>
                      <a:r>
                        <a:rPr lang="ko-KR" altLang="en-US" sz="1150" b="1" dirty="0" err="1">
                          <a:solidFill>
                            <a:srgbClr val="FFFFFF"/>
                          </a:solidFill>
                          <a:latin typeface="맑은 고딕"/>
                          <a:ea typeface="맑은 고딕"/>
                        </a:rPr>
                        <a:t>L</a:t>
                      </a:r>
                      <a:r>
                        <a:rPr lang="ko-KR" altLang="en-US" sz="1150" b="1" dirty="0">
                          <a:solidFill>
                            <a:srgbClr val="FFFFFF"/>
                          </a:solidFill>
                          <a:latin typeface="맑은 고딕"/>
                          <a:ea typeface="맑은 고딕"/>
                        </a:rPr>
                        <a:t>)</a:t>
                      </a:r>
                    </a:p>
                  </a:txBody>
                  <a:tcPr marL="45720" marR="45720" marT="27432" marB="27432" anchor="ctr">
                    <a:lnL w="9525" cap="flat" cmpd="sng" algn="ctr">
                      <a:noFill/>
                      <a:prstDash val="solid"/>
                    </a:lnL>
                    <a:lnR w="9525" cap="flat" cmpd="sng" algn="ctr">
                      <a:noFill/>
                      <a:prstDash val="soli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3A52"/>
                    </a:solidFill>
                  </a:tcPr>
                </a:tc>
                <a:tc>
                  <a:txBody>
                    <a:bodyPr/>
                    <a:lstStyle/>
                    <a:p>
                      <a:pPr algn="ctr"/>
                      <a:r>
                        <a:rPr lang="ko-KR" altLang="en-US" sz="1150" b="1" dirty="0">
                          <a:solidFill>
                            <a:srgbClr val="FFFFFF"/>
                          </a:solidFill>
                          <a:latin typeface="맑은 고딕"/>
                          <a:ea typeface="맑은 고딕"/>
                        </a:rPr>
                        <a:t>오답 (W)</a:t>
                      </a:r>
                    </a:p>
                  </a:txBody>
                  <a:tcPr marL="45720" marR="45720" marT="27432" marB="27432" anchor="ctr">
                    <a:lnL w="9525" cap="flat" cmpd="sng" algn="ctr">
                      <a:noFill/>
                      <a:prstDash val="solid"/>
                    </a:lnL>
                    <a:lnR w="9525" cap="flat" cmpd="sng" algn="ctr">
                      <a:noFill/>
                      <a:prstDash val="soli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3A52"/>
                    </a:solidFill>
                  </a:tcPr>
                </a:tc>
                <a:tc>
                  <a:txBody>
                    <a:bodyPr/>
                    <a:lstStyle/>
                    <a:p>
                      <a:pPr algn="ctr"/>
                      <a:r>
                        <a:rPr lang="ko-KR" altLang="en-US" sz="1150" b="1" dirty="0">
                          <a:solidFill>
                            <a:srgbClr val="FFFFFF"/>
                          </a:solidFill>
                          <a:latin typeface="맑은 고딕"/>
                          <a:ea typeface="맑은 고딕"/>
                        </a:rPr>
                        <a:t>기권 (A)</a:t>
                      </a:r>
                    </a:p>
                  </a:txBody>
                  <a:tcPr marL="45720" marR="45720" marT="27432" marB="27432" anchor="ctr">
                    <a:lnL w="9525" cap="flat" cmpd="sng" algn="ctr">
                      <a:noFill/>
                      <a:prstDash val="solid"/>
                    </a:lnL>
                    <a:lnR w="9525" cap="flat" cmpd="sng" algn="ctr">
                      <a:noFill/>
                      <a:prstDash val="soli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3A52"/>
                    </a:solidFill>
                  </a:tcPr>
                </a:tc>
                <a:extLst>
                  <a:ext uri="{0D108BD9-81ED-4DB2-BD59-A6C34878D82A}">
                    <a16:rowId xmlns:a16="http://schemas.microsoft.com/office/drawing/2014/main" val="2483892665"/>
                  </a:ext>
                </a:extLst>
              </a:tr>
              <a:tr h="381000">
                <a:tc>
                  <a:txBody>
                    <a:bodyPr/>
                    <a:lstStyle/>
                    <a:p>
                      <a:pPr algn="ctr"/>
                      <a:r>
                        <a:rPr lang="ko-KR" altLang="en-US" sz="1150" b="1" dirty="0">
                          <a:solidFill>
                            <a:srgbClr val="273A52"/>
                          </a:solidFill>
                          <a:latin typeface="맑은 고딕"/>
                          <a:ea typeface="맑은 고딕"/>
                        </a:rPr>
                        <a:t>정상 (L)</a:t>
                      </a:r>
                    </a:p>
                  </a:txBody>
                  <a:tcPr marL="45720" marR="45720" marT="27432" marB="27432" anchor="ctr">
                    <a:lnL w="9525" cap="flat" cmpd="sng" algn="ctr">
                      <a:noFill/>
                      <a:prstDash val="solid"/>
                    </a:lnL>
                    <a:lnR w="9525" cap="flat" cmpd="sng" algn="ctr">
                      <a:noFill/>
                      <a:prstDash val="solid"/>
                    </a:lnR>
                    <a:lnT w="12700" cap="flat" cmpd="sng" algn="ctr">
                      <a:no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solidFill>
                      <a:srgbClr val="EEF1F5"/>
                    </a:solidFill>
                  </a:tcPr>
                </a:tc>
                <a:tc>
                  <a:txBody>
                    <a:bodyPr/>
                    <a:lstStyle/>
                    <a:p>
                      <a:pPr algn="ctr"/>
                      <a:r>
                        <a:rPr lang="ko-KR" altLang="en-US" sz="1150" b="0" dirty="0">
                          <a:solidFill>
                            <a:srgbClr val="1E2227"/>
                          </a:solidFill>
                          <a:latin typeface="맑은 고딕"/>
                          <a:ea typeface="맑은 고딕"/>
                        </a:rPr>
                        <a:t>38</a:t>
                      </a:r>
                    </a:p>
                  </a:txBody>
                  <a:tcPr marL="45720" marR="45720" marT="27432" marB="27432" anchor="ctr">
                    <a:lnL w="9525" cap="flat" cmpd="sng" algn="ctr">
                      <a:noFill/>
                      <a:prstDash val="solid"/>
                    </a:lnL>
                    <a:lnR w="9525" cap="flat" cmpd="sng" algn="ctr">
                      <a:noFill/>
                      <a:prstDash val="solid"/>
                    </a:lnR>
                    <a:lnT w="12700" cap="flat" cmpd="sng" algn="ctr">
                      <a:no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solidFill>
                      <a:srgbClr val="F0F0F0"/>
                    </a:solidFill>
                  </a:tcPr>
                </a:tc>
                <a:tc>
                  <a:txBody>
                    <a:bodyPr/>
                    <a:lstStyle/>
                    <a:p>
                      <a:pPr algn="ctr"/>
                      <a:r>
                        <a:rPr lang="ko-KR" altLang="en-US" sz="1150" b="1" dirty="0">
                          <a:solidFill>
                            <a:srgbClr val="6D28D9"/>
                          </a:solidFill>
                          <a:latin typeface="맑은 고딕"/>
                          <a:ea typeface="맑은 고딕"/>
                        </a:rPr>
                        <a:t>4</a:t>
                      </a:r>
                    </a:p>
                  </a:txBody>
                  <a:tcPr marL="45720" marR="45720" marT="27432" marB="27432" anchor="ctr">
                    <a:lnL>
                      <a:noFill/>
                    </a:lnL>
                    <a:lnT>
                      <a:noFill/>
                    </a:lnT>
                    <a:lnTlToBr w="12700" cmpd="sng">
                      <a:noFill/>
                      <a:prstDash val="solid"/>
                    </a:lnTlToBr>
                    <a:lnBlToTr w="12700" cmpd="sng">
                      <a:noFill/>
                      <a:prstDash val="solid"/>
                    </a:lnBlToTr>
                    <a:solidFill>
                      <a:srgbClr val="FCE5CD"/>
                    </a:solidFill>
                  </a:tcPr>
                </a:tc>
                <a:tc>
                  <a:txBody>
                    <a:bodyPr/>
                    <a:lstStyle/>
                    <a:p>
                      <a:pPr algn="ctr"/>
                      <a:r>
                        <a:rPr lang="ko-KR" altLang="en-US" sz="1150" b="0">
                          <a:solidFill>
                            <a:srgbClr val="1E2227"/>
                          </a:solidFill>
                          <a:latin typeface="맑은 고딕"/>
                          <a:ea typeface="맑은 고딕"/>
                        </a:rPr>
                        <a:t>1</a:t>
                      </a:r>
                    </a:p>
                  </a:txBody>
                  <a:tcPr marL="45720" marR="45720" marT="27432" marB="27432" anchor="ctr">
                    <a:lnR w="9525" cap="flat" cmpd="sng" algn="ctr">
                      <a:noFill/>
                      <a:prstDash val="solid"/>
                    </a:lnR>
                    <a:lnT w="12700" cap="flat" cmpd="sng" algn="ctr">
                      <a:no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solidFill>
                      <a:srgbClr val="FCE5CD"/>
                    </a:solidFill>
                  </a:tcPr>
                </a:tc>
                <a:extLst>
                  <a:ext uri="{0D108BD9-81ED-4DB2-BD59-A6C34878D82A}">
                    <a16:rowId xmlns:a16="http://schemas.microsoft.com/office/drawing/2014/main" val="2317918543"/>
                  </a:ext>
                </a:extLst>
              </a:tr>
              <a:tr h="381000">
                <a:tc>
                  <a:txBody>
                    <a:bodyPr/>
                    <a:lstStyle/>
                    <a:p>
                      <a:pPr algn="ctr"/>
                      <a:r>
                        <a:rPr lang="ko-KR" altLang="en-US" sz="1150" b="1" dirty="0">
                          <a:solidFill>
                            <a:srgbClr val="273A52"/>
                          </a:solidFill>
                          <a:latin typeface="맑은 고딕"/>
                          <a:ea typeface="맑은 고딕"/>
                        </a:rPr>
                        <a:t>오답 (W)</a:t>
                      </a:r>
                    </a:p>
                  </a:txBody>
                  <a:tcPr marL="45720" marR="45720" marT="27432" marB="27432"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EEF1F5"/>
                    </a:solidFill>
                  </a:tcPr>
                </a:tc>
                <a:tc>
                  <a:txBody>
                    <a:bodyPr/>
                    <a:lstStyle/>
                    <a:p>
                      <a:pPr algn="ctr"/>
                      <a:r>
                        <a:rPr lang="ko-KR" altLang="en-US" sz="1150" b="1" dirty="0">
                          <a:solidFill>
                            <a:srgbClr val="6D28D9"/>
                          </a:solidFill>
                          <a:latin typeface="맑은 고딕"/>
                          <a:ea typeface="맑은 고딕"/>
                        </a:rPr>
                        <a:t>10</a:t>
                      </a:r>
                    </a:p>
                  </a:txBody>
                  <a:tcPr marL="45720" marR="45720" marT="27432" marB="27432" anchor="ctr">
                    <a:lnL>
                      <a:noFill/>
                    </a:lnL>
                    <a:lnT>
                      <a:noFill/>
                    </a:lnT>
                    <a:lnTlToBr w="12700" cmpd="sng">
                      <a:noFill/>
                      <a:prstDash val="solid"/>
                    </a:lnTlToBr>
                    <a:lnBlToTr w="12700" cmpd="sng">
                      <a:noFill/>
                      <a:prstDash val="solid"/>
                    </a:lnBlToTr>
                    <a:solidFill>
                      <a:srgbClr val="D9EAD3"/>
                    </a:solidFill>
                  </a:tcPr>
                </a:tc>
                <a:tc>
                  <a:txBody>
                    <a:bodyPr/>
                    <a:lstStyle/>
                    <a:p>
                      <a:pPr algn="ctr"/>
                      <a:r>
                        <a:rPr lang="ko-KR" altLang="en-US" sz="1150" b="0" dirty="0">
                          <a:solidFill>
                            <a:srgbClr val="1E2227"/>
                          </a:solidFill>
                          <a:latin typeface="맑은 고딕"/>
                          <a:ea typeface="맑은 고딕"/>
                        </a:rPr>
                        <a:t>20</a:t>
                      </a:r>
                    </a:p>
                  </a:txBody>
                  <a:tcPr marL="45720" marR="45720" marT="27432" marB="27432" anchor="ctr">
                    <a:lnR w="9525" cap="flat" cmpd="sng" algn="ctr">
                      <a:noFill/>
                      <a:prstDash val="solid"/>
                    </a:lnR>
                    <a:lnB w="9525" cap="flat" cmpd="sng" algn="ctr">
                      <a:noFill/>
                      <a:prstDash val="solid"/>
                    </a:lnB>
                    <a:lnTlToBr w="12700" cmpd="sng">
                      <a:noFill/>
                      <a:prstDash val="solid"/>
                    </a:lnTlToBr>
                    <a:lnBlToTr w="12700" cmpd="sng">
                      <a:noFill/>
                      <a:prstDash val="solid"/>
                    </a:lnBlToTr>
                    <a:solidFill>
                      <a:srgbClr val="F0F0F0"/>
                    </a:solidFill>
                  </a:tcPr>
                </a:tc>
                <a:tc>
                  <a:txBody>
                    <a:bodyPr/>
                    <a:lstStyle/>
                    <a:p>
                      <a:pPr algn="ctr"/>
                      <a:r>
                        <a:rPr lang="ko-KR" altLang="en-US" sz="1150" b="0" dirty="0">
                          <a:solidFill>
                            <a:srgbClr val="1E2227"/>
                          </a:solidFill>
                          <a:latin typeface="맑은 고딕"/>
                          <a:ea typeface="맑은 고딕"/>
                        </a:rPr>
                        <a:t>3</a:t>
                      </a:r>
                    </a:p>
                  </a:txBody>
                  <a:tcPr marL="45720" marR="45720" marT="27432" marB="27432"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969852519"/>
                  </a:ext>
                </a:extLst>
              </a:tr>
              <a:tr h="381000">
                <a:tc>
                  <a:txBody>
                    <a:bodyPr/>
                    <a:lstStyle/>
                    <a:p>
                      <a:pPr algn="ctr"/>
                      <a:r>
                        <a:rPr lang="ko-KR" altLang="en-US" sz="1150" b="1" dirty="0">
                          <a:solidFill>
                            <a:srgbClr val="273A52"/>
                          </a:solidFill>
                          <a:latin typeface="맑은 고딕"/>
                          <a:ea typeface="맑은 고딕"/>
                        </a:rPr>
                        <a:t>기권 (A)</a:t>
                      </a:r>
                    </a:p>
                  </a:txBody>
                  <a:tcPr marL="45720" marR="45720" marT="27432" marB="27432"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EEF1F5"/>
                    </a:solidFill>
                  </a:tcPr>
                </a:tc>
                <a:tc>
                  <a:txBody>
                    <a:bodyPr/>
                    <a:lstStyle/>
                    <a:p>
                      <a:pPr algn="ctr"/>
                      <a:r>
                        <a:rPr lang="ko-KR" altLang="en-US" sz="1150" b="0">
                          <a:solidFill>
                            <a:srgbClr val="1E2227"/>
                          </a:solidFill>
                          <a:latin typeface="맑은 고딕"/>
                          <a:ea typeface="맑은 고딕"/>
                        </a:rPr>
                        <a:t>2</a:t>
                      </a:r>
                    </a:p>
                  </a:txBody>
                  <a:tcPr marL="45720" marR="45720" marT="27432" marB="27432" anchor="ctr">
                    <a:lnL w="9525" cap="flat" cmpd="sng" algn="ctr">
                      <a:noFill/>
                      <a:prstDash val="solid"/>
                    </a:lnL>
                    <a:lnR w="9525" cap="flat" cmpd="sng" algn="ctr">
                      <a:noFill/>
                      <a:prstDash val="solid"/>
                    </a:lnR>
                    <a:lnB w="9525" cap="flat" cmpd="sng" algn="ctr">
                      <a:noFill/>
                      <a:prstDash val="solid"/>
                    </a:lnB>
                    <a:lnTlToBr w="12700" cmpd="sng">
                      <a:noFill/>
                      <a:prstDash val="solid"/>
                    </a:lnTlToBr>
                    <a:lnBlToTr w="12700" cmpd="sng">
                      <a:noFill/>
                      <a:prstDash val="solid"/>
                    </a:lnBlToTr>
                    <a:solidFill>
                      <a:srgbClr val="D9EAD3"/>
                    </a:solidFill>
                  </a:tcPr>
                </a:tc>
                <a:tc>
                  <a:txBody>
                    <a:bodyPr/>
                    <a:lstStyle/>
                    <a:p>
                      <a:pPr algn="ctr"/>
                      <a:r>
                        <a:rPr lang="ko-KR" altLang="en-US" sz="1150" b="0" dirty="0">
                          <a:solidFill>
                            <a:srgbClr val="1E2227"/>
                          </a:solidFill>
                          <a:latin typeface="맑은 고딕"/>
                          <a:ea typeface="맑은 고딕"/>
                        </a:rPr>
                        <a:t>4</a:t>
                      </a:r>
                    </a:p>
                  </a:txBody>
                  <a:tcPr marL="45720" marR="45720" marT="27432" marB="27432"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FFFFFF"/>
                    </a:solidFill>
                  </a:tcPr>
                </a:tc>
                <a:tc>
                  <a:txBody>
                    <a:bodyPr/>
                    <a:lstStyle/>
                    <a:p>
                      <a:pPr algn="ctr"/>
                      <a:r>
                        <a:rPr lang="ko-KR" altLang="en-US" sz="1150" b="0" dirty="0">
                          <a:solidFill>
                            <a:srgbClr val="1E2227"/>
                          </a:solidFill>
                          <a:latin typeface="맑은 고딕"/>
                          <a:ea typeface="맑은 고딕"/>
                        </a:rPr>
                        <a:t>8</a:t>
                      </a:r>
                    </a:p>
                  </a:txBody>
                  <a:tcPr marL="45720" marR="45720" marT="27432" marB="27432"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F0F0F0"/>
                    </a:solidFill>
                  </a:tcPr>
                </a:tc>
                <a:extLst>
                  <a:ext uri="{0D108BD9-81ED-4DB2-BD59-A6C34878D82A}">
                    <a16:rowId xmlns:a16="http://schemas.microsoft.com/office/drawing/2014/main" val="1745924429"/>
                  </a:ext>
                </a:extLst>
              </a:tr>
            </a:tbl>
          </a:graphicData>
        </a:graphic>
      </p:graphicFrame>
      <p:sp>
        <p:nvSpPr>
          <p:cNvPr id="15" name="TextBox 14">
            <a:extLst>
              <a:ext uri="{FF2B5EF4-FFF2-40B4-BE49-F238E27FC236}">
                <a16:creationId xmlns:a16="http://schemas.microsoft.com/office/drawing/2014/main" id="{854E0186-0324-9144-BF33-B523D6CA637A}"/>
              </a:ext>
            </a:extLst>
          </p:cNvPr>
          <p:cNvSpPr txBox="1"/>
          <p:nvPr/>
        </p:nvSpPr>
        <p:spPr>
          <a:xfrm>
            <a:off x="6921500" y="4227800"/>
            <a:ext cx="4711700" cy="1651000"/>
          </a:xfrm>
          <a:prstGeom prst="rect">
            <a:avLst/>
          </a:prstGeom>
          <a:noFill/>
        </p:spPr>
        <p:txBody>
          <a:bodyPr vertOverflow="overflow" vert="horz" wrap="square" lIns="91440" tIns="45720" rIns="91440" bIns="45720" rtlCol="0" anchor="t" anchorCtr="0">
            <a:noAutofit/>
          </a:bodyPr>
          <a:lstStyle/>
          <a:p>
            <a:pPr algn="l">
              <a:lnSpc>
                <a:spcPct val="120000"/>
              </a:lnSpc>
              <a:spcAft>
                <a:spcPts val="250"/>
              </a:spcAft>
            </a:pPr>
            <a:r>
              <a:rPr lang="ko-KR" sz="1150" b="1" dirty="0">
                <a:solidFill>
                  <a:srgbClr val="273A52"/>
                </a:solidFill>
                <a:latin typeface="맑은 고딕"/>
                <a:ea typeface="맑은 고딕"/>
              </a:rPr>
              <a:t>읽는 법 — 케이스(모델×환경)별 해석</a:t>
            </a:r>
          </a:p>
          <a:p>
            <a:pPr marL="171450" indent="-171450" algn="l">
              <a:lnSpc>
                <a:spcPct val="120000"/>
              </a:lnSpc>
              <a:spcAft>
                <a:spcPts val="200"/>
              </a:spcAft>
              <a:buFont typeface="Arial" panose="020B0604020202020204" pitchFamily="34" charset="0"/>
              <a:buChar char="•"/>
            </a:pPr>
            <a:r>
              <a:rPr lang="en-US" sz="1080" b="1" dirty="0">
                <a:solidFill>
                  <a:srgbClr val="1E7A6F"/>
                </a:solidFill>
                <a:latin typeface="맑은 고딕"/>
                <a:ea typeface="맑은 고딕"/>
              </a:rPr>
              <a:t>LGR ↑</a:t>
            </a:r>
            <a:r>
              <a:rPr lang="ko-KR" sz="1080" b="0" dirty="0">
                <a:solidFill>
                  <a:srgbClr val="1E2227"/>
                </a:solidFill>
                <a:latin typeface="맑은 고딕"/>
                <a:ea typeface="맑은 고딕"/>
              </a:rPr>
              <a:t>  신규 정답(초록 칸)이 정상 경로에서 나옴 = 완화의 진짜 이득</a:t>
            </a:r>
          </a:p>
          <a:p>
            <a:pPr marL="171450" indent="-171450" algn="l">
              <a:lnSpc>
                <a:spcPct val="120000"/>
              </a:lnSpc>
              <a:spcAft>
                <a:spcPts val="200"/>
              </a:spcAft>
              <a:buFont typeface="Arial" panose="020B0604020202020204" pitchFamily="34" charset="0"/>
              <a:buChar char="•"/>
            </a:pPr>
            <a:r>
              <a:rPr lang="en-US" sz="1080" b="1" dirty="0">
                <a:solidFill>
                  <a:srgbClr val="C2410C"/>
                </a:solidFill>
                <a:latin typeface="맑은 고딕"/>
                <a:ea typeface="맑은 고딕"/>
              </a:rPr>
              <a:t>HR ↑</a:t>
            </a:r>
            <a:r>
              <a:rPr lang="ko-KR" sz="1080" b="0" dirty="0">
                <a:solidFill>
                  <a:srgbClr val="1E2227"/>
                </a:solidFill>
                <a:latin typeface="맑은 고딕"/>
                <a:ea typeface="맑은 고딕"/>
              </a:rPr>
              <a:t>  원래 맞던 정답이 무너짐(주황 칸) = net EM이 가린 숨은 퇴행</a:t>
            </a:r>
          </a:p>
          <a:p>
            <a:pPr marL="171450" indent="-171450" algn="l">
              <a:lnSpc>
                <a:spcPct val="120000"/>
              </a:lnSpc>
              <a:spcAft>
                <a:spcPts val="200"/>
              </a:spcAft>
              <a:buFont typeface="Arial" panose="020B0604020202020204" pitchFamily="34" charset="0"/>
              <a:buChar char="•"/>
            </a:pPr>
            <a:r>
              <a:rPr lang="en-US" sz="1080" b="1" dirty="0">
                <a:solidFill>
                  <a:srgbClr val="6D28D9"/>
                </a:solidFill>
                <a:latin typeface="맑은 고딕"/>
                <a:ea typeface="맑은 고딕"/>
              </a:rPr>
              <a:t>Flip ↑</a:t>
            </a:r>
            <a:r>
              <a:rPr lang="ko-KR" sz="1080" b="0" dirty="0">
                <a:solidFill>
                  <a:srgbClr val="1E2227"/>
                </a:solidFill>
                <a:latin typeface="맑은 고딕"/>
                <a:ea typeface="맑은 고딕"/>
              </a:rPr>
              <a:t>  정답↔오답 역전(보라 숫자 칸)이 잦음 = 이득이 불안정·취약</a:t>
            </a:r>
          </a:p>
          <a:p>
            <a:pPr marL="171450" indent="-171450" algn="l">
              <a:lnSpc>
                <a:spcPct val="120000"/>
              </a:lnSpc>
              <a:spcAft>
                <a:spcPts val="0"/>
              </a:spcAft>
              <a:buFont typeface="Arial" panose="020B0604020202020204" pitchFamily="34" charset="0"/>
              <a:buChar char="•"/>
            </a:pPr>
            <a:r>
              <a:rPr lang="en-US" sz="1080" b="1" dirty="0">
                <a:solidFill>
                  <a:srgbClr val="273A52"/>
                </a:solidFill>
                <a:latin typeface="맑은 고딕"/>
                <a:ea typeface="맑은 고딕"/>
              </a:rPr>
              <a:t>종합</a:t>
            </a:r>
            <a:r>
              <a:rPr lang="ko-KR" sz="1080" b="0" dirty="0">
                <a:solidFill>
                  <a:srgbClr val="1E2227"/>
                </a:solidFill>
                <a:latin typeface="맑은 고딕"/>
                <a:ea typeface="맑은 고딕"/>
              </a:rPr>
              <a:t>  LGR 높고 HR·Flip 낮은 케이스만 완화 이득을 신뢰</a:t>
            </a:r>
          </a:p>
        </p:txBody>
      </p:sp>
      <p:sp>
        <p:nvSpPr>
          <p:cNvPr id="30" name="구하는 법"/>
          <p:cNvSpPr txBox="1"/>
          <p:nvPr/>
        </p:nvSpPr>
        <p:spPr>
          <a:xfrm>
            <a:off x="546100" y="5918200"/>
            <a:ext cx="11087100" cy="508000"/>
          </a:xfrm>
          <a:prstGeom prst="rect">
            <a:avLst/>
          </a:prstGeom>
          <a:noFill/>
        </p:spPr>
        <p:txBody>
          <a:bodyPr wrap="square" lIns="0" tIns="0" rIns="0" bIns="0">
            <a:normAutofit fontScale="92500"/>
          </a:bodyPr>
          <a:lstStyle/>
          <a:p>
            <a:pPr algn="l"/>
            <a:r>
              <a:rPr lang="ko-KR" sz="1150" b="1" dirty="0">
                <a:solidFill>
                  <a:srgbClr val="273A52"/>
                </a:solidFill>
                <a:latin typeface="맑은 고딕"/>
                <a:ea typeface="맑은 고딕"/>
              </a:rPr>
              <a:t>구하는 법 — 케이스별 전환 행렬마다 산출</a:t>
            </a:r>
            <a:r>
              <a:rPr lang="ko-KR" sz="1150" b="0" dirty="0">
                <a:solidFill>
                  <a:srgbClr val="6B7480"/>
                </a:solidFill>
                <a:latin typeface="맑은 고딕"/>
                <a:ea typeface="맑은 고딕"/>
              </a:rPr>
              <a:t>      </a:t>
            </a:r>
            <a:r>
              <a:rPr lang="ko-KR" sz="1100" b="0" dirty="0">
                <a:solidFill>
                  <a:srgbClr val="6B7480"/>
                </a:solidFill>
                <a:latin typeface="맑은 고딕"/>
                <a:ea typeface="맑은 고딕"/>
              </a:rPr>
              <a:t>L 정상 · W 오답 · A 기권,  </a:t>
            </a:r>
            <a:r>
              <a:rPr lang="en-US" sz="1100" b="0" dirty="0">
                <a:solidFill>
                  <a:srgbClr val="6B7480"/>
                </a:solidFill>
                <a:latin typeface="Cambria Math"/>
                <a:cs typeface="Cambria Math"/>
              </a:rPr>
              <a:t>n(i→j)</a:t>
            </a:r>
            <a:r>
              <a:rPr lang="ko-KR" sz="1100" b="0" dirty="0">
                <a:solidFill>
                  <a:srgbClr val="6B7480"/>
                </a:solidFill>
                <a:latin typeface="맑은 고딕"/>
                <a:ea typeface="맑은 고딕"/>
              </a:rPr>
              <a:t> = 전→후 칸 수,  </a:t>
            </a:r>
            <a:r>
              <a:rPr lang="en-US" sz="1100" b="0" dirty="0">
                <a:solidFill>
                  <a:srgbClr val="6B7480"/>
                </a:solidFill>
                <a:latin typeface="Cambria Math"/>
                <a:cs typeface="Cambria Math"/>
              </a:rPr>
              <a:t>N</a:t>
            </a:r>
            <a:r>
              <a:rPr lang="ko-KR" sz="1100" b="0" dirty="0">
                <a:solidFill>
                  <a:srgbClr val="6B7480"/>
                </a:solidFill>
                <a:latin typeface="맑은 고딕"/>
                <a:ea typeface="맑은 고딕"/>
              </a:rPr>
              <a:t> = 전체 90</a:t>
            </a:r>
          </a:p>
          <a:p>
            <a:pPr algn="l">
              <a:lnSpc>
                <a:spcPct val="122000"/>
              </a:lnSpc>
              <a:spcBef>
                <a:spcPts val="300"/>
              </a:spcBef>
            </a:pPr>
            <a:r>
              <a:rPr lang="ko-KR" sz="1100" b="1" dirty="0">
                <a:solidFill>
                  <a:srgbClr val="1E7A6F"/>
                </a:solidFill>
                <a:latin typeface="맑은 고딕"/>
                <a:ea typeface="맑은 고딕"/>
              </a:rPr>
              <a:t>LGR</a:t>
            </a:r>
            <a:r>
              <a:rPr lang="en-US" sz="1100" b="0" dirty="0">
                <a:solidFill>
                  <a:srgbClr val="1E2227"/>
                </a:solidFill>
                <a:latin typeface="Cambria Math"/>
                <a:cs typeface="Cambria Math"/>
              </a:rPr>
              <a:t> = n(W→L) / ( n(W→L) + n(A→L) ) </a:t>
            </a:r>
            <a:r>
              <a:rPr lang="en-US" sz="1100" b="0" dirty="0">
                <a:solidFill>
                  <a:srgbClr val="6B7480"/>
                </a:solidFill>
                <a:latin typeface="Cambria Math"/>
                <a:cs typeface="Cambria Math"/>
              </a:rPr>
              <a:t>= 10/12 ≈ 0.83</a:t>
            </a:r>
            <a:r>
              <a:rPr lang="ko-KR" sz="1100" b="0" dirty="0">
                <a:solidFill>
                  <a:srgbClr val="6B7480"/>
                </a:solidFill>
                <a:latin typeface="맑은 고딕"/>
                <a:ea typeface="맑은 고딕"/>
              </a:rPr>
              <a:t>        ·        </a:t>
            </a:r>
            <a:r>
              <a:rPr lang="ko-KR" sz="1100" b="1" dirty="0">
                <a:solidFill>
                  <a:srgbClr val="C2410C"/>
                </a:solidFill>
                <a:latin typeface="맑은 고딕"/>
                <a:ea typeface="맑은 고딕"/>
              </a:rPr>
              <a:t>HR</a:t>
            </a:r>
            <a:r>
              <a:rPr lang="en-US" sz="1100" b="0" dirty="0">
                <a:solidFill>
                  <a:srgbClr val="1E2227"/>
                </a:solidFill>
                <a:latin typeface="Cambria Math"/>
                <a:cs typeface="Cambria Math"/>
              </a:rPr>
              <a:t> = ( n(L→W) + n(L→A) ) / Σn(L→j) </a:t>
            </a:r>
            <a:r>
              <a:rPr lang="en-US" sz="1100" b="0" dirty="0">
                <a:solidFill>
                  <a:srgbClr val="6B7480"/>
                </a:solidFill>
                <a:latin typeface="Cambria Math"/>
                <a:cs typeface="Cambria Math"/>
              </a:rPr>
              <a:t>= 5/43 ≈ 0.12</a:t>
            </a:r>
            <a:r>
              <a:rPr lang="ko-KR" sz="1100" b="0" dirty="0">
                <a:solidFill>
                  <a:srgbClr val="6B7480"/>
                </a:solidFill>
                <a:latin typeface="맑은 고딕"/>
                <a:ea typeface="맑은 고딕"/>
              </a:rPr>
              <a:t>        ·        </a:t>
            </a:r>
            <a:r>
              <a:rPr lang="ko-KR" sz="1100" b="1" dirty="0">
                <a:solidFill>
                  <a:srgbClr val="273A52"/>
                </a:solidFill>
                <a:latin typeface="맑은 고딕"/>
                <a:ea typeface="맑은 고딕"/>
              </a:rPr>
              <a:t>Flip</a:t>
            </a:r>
            <a:r>
              <a:rPr lang="en-US" sz="1100" b="0" dirty="0">
                <a:solidFill>
                  <a:srgbClr val="1E2227"/>
                </a:solidFill>
                <a:latin typeface="Cambria Math"/>
                <a:cs typeface="Cambria Math"/>
              </a:rPr>
              <a:t> = ( n(L→W) + n(W→L) ) / N </a:t>
            </a:r>
            <a:r>
              <a:rPr lang="en-US" sz="1100" b="0" dirty="0">
                <a:solidFill>
                  <a:srgbClr val="6B7480"/>
                </a:solidFill>
                <a:latin typeface="Cambria Math"/>
                <a:cs typeface="Cambria Math"/>
              </a:rPr>
              <a:t>= 14/90 ≈ 0.16</a:t>
            </a:r>
          </a:p>
        </p:txBody>
      </p:sp>
    </p:spTree>
    <p:extLst>
      <p:ext uri="{BB962C8B-B14F-4D97-AF65-F5344CB8AC3E}">
        <p14:creationId xmlns:p14="http://schemas.microsoft.com/office/powerpoint/2010/main" val="1563996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0" dirty="0">
                <a:solidFill>
                  <a:srgbClr val="6B7480"/>
                </a:solidFill>
                <a:latin typeface="맑은 고딕"/>
                <a:ea typeface="맑은 고딕"/>
              </a:rPr>
              <a:t>§3 방법론</a:t>
            </a:r>
            <a:r>
              <a:rPr lang="en-US" sz="1250" b="0" dirty="0">
                <a:solidFill>
                  <a:srgbClr val="B0B7C0"/>
                </a:solidFill>
                <a:latin typeface="맑은 고딕"/>
                <a:ea typeface="맑은 고딕"/>
              </a:rPr>
              <a:t>   ›   </a:t>
            </a:r>
            <a:r>
              <a:rPr lang="en-US" sz="1250" b="1" dirty="0">
                <a:solidFill>
                  <a:srgbClr val="273A52"/>
                </a:solidFill>
                <a:latin typeface="맑은 고딕"/>
                <a:ea typeface="맑은 고딕"/>
              </a:rPr>
              <a:t>§3.3 실험 2</a:t>
            </a:r>
          </a:p>
        </p:txBody>
      </p:sp>
      <p:sp>
        <p:nvSpPr>
          <p:cNvPr id="3" name="TextBox 2"/>
          <p:cNvSpPr txBox="1"/>
          <p:nvPr/>
        </p:nvSpPr>
        <p:spPr>
          <a:xfrm>
            <a:off x="548640" y="585216"/>
            <a:ext cx="11091672" cy="361637"/>
          </a:xfrm>
          <a:prstGeom prst="rect">
            <a:avLst/>
          </a:prstGeom>
          <a:noFill/>
        </p:spPr>
        <p:txBody>
          <a:bodyPr wrap="square" lIns="0" tIns="0" rIns="0" bIns="0">
            <a:spAutoFit/>
          </a:bodyPr>
          <a:lstStyle/>
          <a:p>
            <a:r>
              <a:rPr sz="2350" b="1" dirty="0" err="1">
                <a:solidFill>
                  <a:srgbClr val="273A52"/>
                </a:solidFill>
                <a:latin typeface="맑은 고딕"/>
                <a:ea typeface="맑은 고딕"/>
              </a:rPr>
              <a:t>실험 2 (RQ3): 충돌 고유성 대조 설계</a:t>
            </a: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274320"/>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21</a:t>
            </a:fld>
            <a:endParaRPr lang="en-US" altLang="ko-KR" sz="950">
              <a:solidFill>
                <a:srgbClr val="6B7480"/>
              </a:solidFill>
              <a:latin typeface="맑은 고딕"/>
              <a:ea typeface="맑은 고딕"/>
            </a:endParaRPr>
          </a:p>
        </p:txBody>
      </p:sp>
      <p:sp>
        <p:nvSpPr>
          <p:cNvPr id="200" name="Diag200"/>
          <p:cNvSpPr/>
          <p:nvPr/>
        </p:nvSpPr>
        <p:spPr>
          <a:xfrm>
            <a:off x="2413000" y="1244600"/>
            <a:ext cx="3810000" cy="203200"/>
          </a:xfrm>
          <a:prstGeom prst="rect">
            <a:avLst/>
          </a:prstGeom>
          <a:noFill/>
          <a:ln>
            <a:noFill/>
          </a:ln>
        </p:spPr>
        <p:txBody>
          <a:bodyPr wrap="square" lIns="36000" tIns="18000" rIns="36000" bIns="18000" anchor="t">
            <a:noAutofit/>
          </a:bodyPr>
          <a:lstStyle/>
          <a:p>
            <a:pPr algn="l">
              <a:lnSpc>
                <a:spcPct val="116000"/>
              </a:lnSpc>
              <a:spcAft>
                <a:spcPts val="200"/>
              </a:spcAft>
              <a:buNone/>
            </a:pPr>
            <a:r>
              <a:rPr lang="ko-KR" altLang="en-US" sz="1200" b="1" dirty="0">
                <a:solidFill>
                  <a:srgbClr val="6B7480"/>
                </a:solidFill>
                <a:latin typeface="맑은 고딕"/>
                <a:ea typeface="맑은 고딕"/>
              </a:rPr>
              <a:t>문서 세트 (청크 구성)</a:t>
            </a:r>
          </a:p>
        </p:txBody>
      </p:sp>
      <p:sp>
        <p:nvSpPr>
          <p:cNvPr id="201" name="Diag201"/>
          <p:cNvSpPr/>
          <p:nvPr/>
        </p:nvSpPr>
        <p:spPr>
          <a:xfrm>
            <a:off x="6372940" y="1244600"/>
            <a:ext cx="5334000" cy="203200"/>
          </a:xfrm>
          <a:prstGeom prst="rect">
            <a:avLst/>
          </a:prstGeom>
          <a:noFill/>
          <a:ln>
            <a:noFill/>
          </a:ln>
        </p:spPr>
        <p:txBody>
          <a:bodyPr wrap="square" lIns="36000" tIns="18000" rIns="36000" bIns="18000" anchor="t">
            <a:noAutofit/>
          </a:bodyPr>
          <a:lstStyle/>
          <a:p>
            <a:pPr algn="l">
              <a:lnSpc>
                <a:spcPct val="116000"/>
              </a:lnSpc>
              <a:spcAft>
                <a:spcPts val="200"/>
              </a:spcAft>
              <a:buNone/>
            </a:pPr>
            <a:r>
              <a:rPr lang="ko-KR" altLang="en-US" sz="1200" b="1" dirty="0">
                <a:solidFill>
                  <a:srgbClr val="6B7480"/>
                </a:solidFill>
                <a:latin typeface="맑은 고딕"/>
                <a:ea typeface="맑은 고딕"/>
              </a:rPr>
              <a:t>비교와 역할</a:t>
            </a:r>
          </a:p>
        </p:txBody>
      </p:sp>
      <p:sp>
        <p:nvSpPr>
          <p:cNvPr id="202" name="Diag202"/>
          <p:cNvSpPr/>
          <p:nvPr/>
        </p:nvSpPr>
        <p:spPr>
          <a:xfrm>
            <a:off x="546100" y="1652636"/>
            <a:ext cx="1752600" cy="1117600"/>
          </a:xfrm>
          <a:prstGeom prst="rect">
            <a:avLst/>
          </a:prstGeom>
          <a:noFill/>
          <a:ln>
            <a:noFill/>
          </a:ln>
        </p:spPr>
        <p:txBody>
          <a:bodyPr wrap="square" lIns="36000" tIns="18000" rIns="36000" bIns="18000" anchor="t">
            <a:normAutofit/>
          </a:bodyPr>
          <a:lstStyle/>
          <a:p>
            <a:pPr algn="l">
              <a:lnSpc>
                <a:spcPct val="116000"/>
              </a:lnSpc>
              <a:spcAft>
                <a:spcPts val="100"/>
              </a:spcAft>
              <a:buNone/>
            </a:pPr>
            <a:r>
              <a:rPr lang="ko-KR" altLang="en-US" sz="1220" b="1" dirty="0">
                <a:solidFill>
                  <a:srgbClr val="273A52"/>
                </a:solidFill>
                <a:latin typeface="맑은 고딕"/>
                <a:ea typeface="맑은 고딕"/>
              </a:rPr>
              <a:t>ⓐ 원본 </a:t>
            </a:r>
            <a:r>
              <a:rPr lang="en-US" altLang="ko-KR" sz="1220" b="1" dirty="0">
                <a:solidFill>
                  <a:srgbClr val="273A52"/>
                </a:solidFill>
                <a:latin typeface="맑은 고딕"/>
                <a:ea typeface="맑은 고딕"/>
              </a:rPr>
              <a:t>(baseline)</a:t>
            </a:r>
            <a:endParaRPr lang="ko-KR" altLang="en-US" sz="1220" b="1" dirty="0">
              <a:solidFill>
                <a:srgbClr val="273A52"/>
              </a:solidFill>
              <a:latin typeface="맑은 고딕"/>
              <a:ea typeface="맑은 고딕"/>
            </a:endParaRPr>
          </a:p>
          <a:p>
            <a:pPr algn="l">
              <a:lnSpc>
                <a:spcPct val="116000"/>
              </a:lnSpc>
              <a:spcAft>
                <a:spcPts val="100"/>
              </a:spcAft>
              <a:buNone/>
            </a:pPr>
            <a:r>
              <a:rPr lang="ko-KR" altLang="en-US" sz="1100" b="0" dirty="0">
                <a:solidFill>
                  <a:srgbClr val="6B7480"/>
                </a:solidFill>
                <a:latin typeface="맑은 고딕"/>
                <a:ea typeface="맑은 고딕"/>
              </a:rPr>
              <a:t>문항 Q · </a:t>
            </a:r>
            <a:r>
              <a:rPr lang="ko-KR" altLang="en-US" sz="1100" b="0" dirty="0">
                <a:solidFill>
                  <a:srgbClr val="C0392B"/>
                </a:solidFill>
                <a:latin typeface="맑은 고딕"/>
                <a:ea typeface="맑은 고딕"/>
              </a:rPr>
              <a:t>충돌 있음</a:t>
            </a:r>
            <a:r>
              <a:rPr lang="ko-KR" altLang="en-US" sz="1100" b="0" dirty="0">
                <a:solidFill>
                  <a:srgbClr val="6B7480"/>
                </a:solidFill>
                <a:latin typeface="맑은 고딕"/>
                <a:ea typeface="맑은 고딕"/>
              </a:rPr>
              <a:t> </a:t>
            </a:r>
          </a:p>
          <a:p>
            <a:pPr marL="171450" indent="-171450" algn="l">
              <a:lnSpc>
                <a:spcPct val="116000"/>
              </a:lnSpc>
              <a:spcAft>
                <a:spcPts val="100"/>
              </a:spcAft>
              <a:buFont typeface="Arial" panose="020B0604020202020204" pitchFamily="34" charset="0"/>
              <a:buChar char="•"/>
            </a:pPr>
            <a:r>
              <a:rPr lang="ko-KR" altLang="en-US" sz="900" b="0" dirty="0">
                <a:solidFill>
                  <a:srgbClr val="6B7480"/>
                </a:solidFill>
                <a:latin typeface="맑은 고딕"/>
                <a:ea typeface="맑은 고딕"/>
              </a:rPr>
              <a:t>DRAGged 자연 182</a:t>
            </a:r>
          </a:p>
          <a:p>
            <a:pPr marL="171450" indent="-171450" algn="l">
              <a:lnSpc>
                <a:spcPct val="116000"/>
              </a:lnSpc>
              <a:spcAft>
                <a:spcPts val="100"/>
              </a:spcAft>
              <a:buFont typeface="Arial" panose="020B0604020202020204" pitchFamily="34" charset="0"/>
              <a:buChar char="•"/>
            </a:pPr>
            <a:r>
              <a:rPr lang="ko-KR" altLang="en-US" sz="900" b="0" dirty="0">
                <a:solidFill>
                  <a:srgbClr val="6B7480"/>
                </a:solidFill>
                <a:latin typeface="맑은 고딕"/>
                <a:ea typeface="맑은 고딕"/>
              </a:rPr>
              <a:t>QACC ≈404 (25%)</a:t>
            </a:r>
          </a:p>
          <a:p>
            <a:pPr marL="171450" indent="-171450" algn="l">
              <a:lnSpc>
                <a:spcPct val="116000"/>
              </a:lnSpc>
              <a:spcAft>
                <a:spcPts val="100"/>
              </a:spcAft>
              <a:buFont typeface="Arial" panose="020B0604020202020204" pitchFamily="34" charset="0"/>
              <a:buChar char="•"/>
            </a:pPr>
            <a:r>
              <a:rPr lang="ko-KR" altLang="en-US" sz="900" b="0" dirty="0">
                <a:solidFill>
                  <a:srgbClr val="6B7480"/>
                </a:solidFill>
                <a:latin typeface="맑은 고딕"/>
                <a:ea typeface="맑은 고딕"/>
              </a:rPr>
              <a:t>RAMDocs 주입 500</a:t>
            </a:r>
          </a:p>
        </p:txBody>
      </p:sp>
      <p:sp>
        <p:nvSpPr>
          <p:cNvPr id="203" name="Diag203"/>
          <p:cNvSpPr/>
          <p:nvPr/>
        </p:nvSpPr>
        <p:spPr>
          <a:xfrm>
            <a:off x="2413000" y="1652636"/>
            <a:ext cx="838200" cy="736600"/>
          </a:xfrm>
          <a:prstGeom prst="roundRect">
            <a:avLst/>
          </a:prstGeom>
          <a:solidFill>
            <a:srgbClr val="E7F2EF"/>
          </a:solidFill>
          <a:ln w="12700">
            <a:solidFill>
              <a:srgbClr val="1E7A6F"/>
            </a:solidFill>
          </a:ln>
        </p:spPr>
        <p:txBody>
          <a:bodyPr wrap="square" lIns="36000" tIns="18000" rIns="36000" bIns="18000" anchor="ctr">
            <a:normAutofit/>
          </a:bodyPr>
          <a:lstStyle/>
          <a:p>
            <a:pPr algn="ctr">
              <a:lnSpc>
                <a:spcPct val="102000"/>
              </a:lnSpc>
              <a:buNone/>
            </a:pPr>
            <a:r>
              <a:rPr lang="ko-KR" altLang="en-US" sz="1100" b="1" dirty="0">
                <a:solidFill>
                  <a:srgbClr val="1E7A6F"/>
                </a:solidFill>
                <a:latin typeface="맑은 고딕"/>
                <a:ea typeface="맑은 고딕"/>
              </a:rPr>
              <a:t>D1</a:t>
            </a:r>
          </a:p>
          <a:p>
            <a:pPr algn="ctr">
              <a:lnSpc>
                <a:spcPct val="102000"/>
              </a:lnSpc>
              <a:buNone/>
            </a:pPr>
            <a:r>
              <a:rPr lang="ko-KR" altLang="en-US" sz="1100" b="0" dirty="0">
                <a:solidFill>
                  <a:srgbClr val="1E7A6F"/>
                </a:solidFill>
                <a:latin typeface="맑은 고딕"/>
                <a:ea typeface="맑은 고딕"/>
              </a:rPr>
              <a:t>정답 근거</a:t>
            </a:r>
          </a:p>
        </p:txBody>
      </p:sp>
      <p:sp>
        <p:nvSpPr>
          <p:cNvPr id="204" name="Diag204"/>
          <p:cNvSpPr/>
          <p:nvPr/>
        </p:nvSpPr>
        <p:spPr>
          <a:xfrm>
            <a:off x="3378200" y="1652636"/>
            <a:ext cx="838200" cy="736600"/>
          </a:xfrm>
          <a:prstGeom prst="roundRect">
            <a:avLst/>
          </a:prstGeom>
          <a:solidFill>
            <a:srgbClr val="F2F4F7"/>
          </a:solidFill>
          <a:ln w="12700">
            <a:solidFill>
              <a:srgbClr val="C6CCD4"/>
            </a:solidFill>
          </a:ln>
        </p:spPr>
        <p:txBody>
          <a:bodyPr wrap="square" lIns="36000" tIns="18000" rIns="36000" bIns="18000" anchor="ctr">
            <a:normAutofit/>
          </a:bodyPr>
          <a:lstStyle/>
          <a:p>
            <a:pPr algn="ctr">
              <a:lnSpc>
                <a:spcPct val="102000"/>
              </a:lnSpc>
              <a:buNone/>
            </a:pPr>
            <a:r>
              <a:rPr lang="ko-KR" altLang="en-US" sz="1100" b="1" dirty="0">
                <a:solidFill>
                  <a:srgbClr val="6B7480"/>
                </a:solidFill>
                <a:latin typeface="맑은 고딕"/>
                <a:ea typeface="맑은 고딕"/>
              </a:rPr>
              <a:t>D2</a:t>
            </a:r>
          </a:p>
          <a:p>
            <a:pPr algn="ctr">
              <a:lnSpc>
                <a:spcPct val="102000"/>
              </a:lnSpc>
              <a:buNone/>
            </a:pPr>
            <a:r>
              <a:rPr lang="ko-KR" altLang="en-US" sz="1100" b="0" dirty="0">
                <a:solidFill>
                  <a:srgbClr val="6B7480"/>
                </a:solidFill>
                <a:latin typeface="맑은 고딕"/>
                <a:ea typeface="맑은 고딕"/>
              </a:rPr>
              <a:t>무관</a:t>
            </a:r>
          </a:p>
        </p:txBody>
      </p:sp>
      <p:sp>
        <p:nvSpPr>
          <p:cNvPr id="205" name="Diag205"/>
          <p:cNvSpPr/>
          <p:nvPr/>
        </p:nvSpPr>
        <p:spPr>
          <a:xfrm>
            <a:off x="4343400" y="1652636"/>
            <a:ext cx="838200" cy="736600"/>
          </a:xfrm>
          <a:prstGeom prst="roundRect">
            <a:avLst/>
          </a:prstGeom>
          <a:solidFill>
            <a:srgbClr val="F2F4F7"/>
          </a:solidFill>
          <a:ln w="12700">
            <a:solidFill>
              <a:srgbClr val="C6CCD4"/>
            </a:solidFill>
          </a:ln>
        </p:spPr>
        <p:txBody>
          <a:bodyPr wrap="square" lIns="36000" tIns="18000" rIns="36000" bIns="18000" anchor="ctr">
            <a:normAutofit/>
          </a:bodyPr>
          <a:lstStyle/>
          <a:p>
            <a:pPr algn="ctr">
              <a:lnSpc>
                <a:spcPct val="102000"/>
              </a:lnSpc>
              <a:buNone/>
            </a:pPr>
            <a:r>
              <a:rPr lang="ko-KR" altLang="en-US" sz="1100" b="1" dirty="0">
                <a:solidFill>
                  <a:srgbClr val="6B7480"/>
                </a:solidFill>
                <a:latin typeface="맑은 고딕"/>
                <a:ea typeface="맑은 고딕"/>
              </a:rPr>
              <a:t>D3</a:t>
            </a:r>
          </a:p>
          <a:p>
            <a:pPr algn="ctr">
              <a:lnSpc>
                <a:spcPct val="102000"/>
              </a:lnSpc>
              <a:buNone/>
            </a:pPr>
            <a:r>
              <a:rPr lang="ko-KR" altLang="en-US" sz="1100" b="0" dirty="0">
                <a:solidFill>
                  <a:srgbClr val="6B7480"/>
                </a:solidFill>
                <a:latin typeface="맑은 고딕"/>
                <a:ea typeface="맑은 고딕"/>
              </a:rPr>
              <a:t>무관</a:t>
            </a:r>
          </a:p>
        </p:txBody>
      </p:sp>
      <p:sp>
        <p:nvSpPr>
          <p:cNvPr id="206" name="Diag206"/>
          <p:cNvSpPr/>
          <p:nvPr/>
        </p:nvSpPr>
        <p:spPr>
          <a:xfrm>
            <a:off x="5308600" y="1652636"/>
            <a:ext cx="838200" cy="736600"/>
          </a:xfrm>
          <a:prstGeom prst="roundRect">
            <a:avLst/>
          </a:prstGeom>
          <a:solidFill>
            <a:srgbClr val="FBEAE8"/>
          </a:solidFill>
          <a:ln w="12700">
            <a:solidFill>
              <a:srgbClr val="C0392B"/>
            </a:solidFill>
          </a:ln>
        </p:spPr>
        <p:txBody>
          <a:bodyPr wrap="square" lIns="36000" tIns="18000" rIns="36000" bIns="18000" anchor="ctr">
            <a:normAutofit/>
          </a:bodyPr>
          <a:lstStyle/>
          <a:p>
            <a:pPr algn="ctr">
              <a:lnSpc>
                <a:spcPct val="102000"/>
              </a:lnSpc>
              <a:buNone/>
            </a:pPr>
            <a:r>
              <a:rPr lang="ko-KR" altLang="en-US" sz="1100" b="1" dirty="0">
                <a:solidFill>
                  <a:srgbClr val="C0392B"/>
                </a:solidFill>
                <a:latin typeface="맑은 고딕"/>
                <a:ea typeface="맑은 고딕"/>
              </a:rPr>
              <a:t>D4</a:t>
            </a:r>
          </a:p>
          <a:p>
            <a:pPr algn="ctr">
              <a:lnSpc>
                <a:spcPct val="102000"/>
              </a:lnSpc>
              <a:buNone/>
            </a:pPr>
            <a:r>
              <a:rPr lang="ko-KR" altLang="en-US" sz="1100" b="0" dirty="0">
                <a:solidFill>
                  <a:srgbClr val="C0392B"/>
                </a:solidFill>
                <a:latin typeface="맑은 고딕"/>
                <a:ea typeface="맑은 고딕"/>
              </a:rPr>
              <a:t>충돌</a:t>
            </a:r>
          </a:p>
        </p:txBody>
      </p:sp>
      <p:sp>
        <p:nvSpPr>
          <p:cNvPr id="207" name="Diag207"/>
          <p:cNvSpPr/>
          <p:nvPr/>
        </p:nvSpPr>
        <p:spPr>
          <a:xfrm>
            <a:off x="6372940" y="1601836"/>
            <a:ext cx="5334000" cy="1066800"/>
          </a:xfrm>
          <a:prstGeom prst="rect">
            <a:avLst/>
          </a:prstGeom>
          <a:noFill/>
          <a:ln>
            <a:noFill/>
          </a:ln>
        </p:spPr>
        <p:txBody>
          <a:bodyPr wrap="square" lIns="36000" tIns="18000" rIns="36000" bIns="18000" anchor="t">
            <a:normAutofit/>
          </a:bodyPr>
          <a:lstStyle/>
          <a:p>
            <a:pPr algn="l">
              <a:lnSpc>
                <a:spcPct val="116000"/>
              </a:lnSpc>
              <a:spcAft>
                <a:spcPts val="200"/>
              </a:spcAft>
              <a:buNone/>
            </a:pPr>
            <a:r>
              <a:rPr lang="ko-KR" altLang="en-US" sz="1180" b="1" dirty="0">
                <a:solidFill>
                  <a:srgbClr val="273A52"/>
                </a:solidFill>
                <a:latin typeface="맑은 고딕"/>
                <a:ea typeface="맑은 고딕"/>
              </a:rPr>
              <a:t>모든 비교의 기준. </a:t>
            </a:r>
            <a:endParaRPr lang="en-US" altLang="ko-KR" sz="1180" b="1" dirty="0">
              <a:solidFill>
                <a:srgbClr val="273A52"/>
              </a:solidFill>
              <a:latin typeface="맑은 고딕"/>
              <a:ea typeface="맑은 고딕"/>
            </a:endParaRPr>
          </a:p>
          <a:p>
            <a:pPr algn="l">
              <a:lnSpc>
                <a:spcPct val="116000"/>
              </a:lnSpc>
              <a:spcAft>
                <a:spcPts val="200"/>
              </a:spcAft>
              <a:buNone/>
            </a:pPr>
            <a:r>
              <a:rPr lang="ko-KR" altLang="en-US" sz="1180" b="0" dirty="0">
                <a:solidFill>
                  <a:srgbClr val="1E2227"/>
                </a:solidFill>
                <a:latin typeface="맑은 고딕"/>
                <a:ea typeface="맑은 고딕"/>
              </a:rPr>
              <a:t>D4가 D1과 모순되는 답을 지지 — 충돌이 실제로 걸린 원본 문서 세트.</a:t>
            </a:r>
          </a:p>
        </p:txBody>
      </p:sp>
      <p:sp>
        <p:nvSpPr>
          <p:cNvPr id="208" name="Diag208"/>
          <p:cNvSpPr/>
          <p:nvPr/>
        </p:nvSpPr>
        <p:spPr>
          <a:xfrm>
            <a:off x="546100" y="2833736"/>
            <a:ext cx="1752600" cy="889000"/>
          </a:xfrm>
          <a:prstGeom prst="rect">
            <a:avLst/>
          </a:prstGeom>
          <a:noFill/>
          <a:ln>
            <a:noFill/>
          </a:ln>
        </p:spPr>
        <p:txBody>
          <a:bodyPr wrap="square" lIns="36000" tIns="18000" rIns="36000" bIns="18000" anchor="t">
            <a:normAutofit/>
          </a:bodyPr>
          <a:lstStyle/>
          <a:p>
            <a:pPr algn="l">
              <a:lnSpc>
                <a:spcPct val="116000"/>
              </a:lnSpc>
              <a:spcAft>
                <a:spcPts val="100"/>
              </a:spcAft>
              <a:buNone/>
            </a:pPr>
            <a:r>
              <a:rPr lang="ko-KR" altLang="en-US" sz="1220" b="1" dirty="0">
                <a:solidFill>
                  <a:srgbClr val="273A52"/>
                </a:solidFill>
                <a:latin typeface="맑은 고딕"/>
                <a:ea typeface="맑은 고딕"/>
              </a:rPr>
              <a:t>ⓑ 충돌만 제거</a:t>
            </a:r>
          </a:p>
          <a:p>
            <a:pPr>
              <a:lnSpc>
                <a:spcPct val="116000"/>
              </a:lnSpc>
              <a:spcAft>
                <a:spcPts val="100"/>
              </a:spcAft>
            </a:pPr>
            <a:r>
              <a:rPr lang="ko-KR" altLang="en-US" sz="1100" dirty="0">
                <a:solidFill>
                  <a:srgbClr val="6B7480"/>
                </a:solidFill>
                <a:latin typeface="맑은 고딕"/>
                <a:ea typeface="맑은 고딕"/>
              </a:rPr>
              <a:t>문항 </a:t>
            </a:r>
            <a:r>
              <a:rPr lang="ko-KR" altLang="en-US" sz="1100" dirty="0" err="1">
                <a:solidFill>
                  <a:srgbClr val="6B7480"/>
                </a:solidFill>
                <a:latin typeface="맑은 고딕"/>
                <a:ea typeface="맑은 고딕"/>
              </a:rPr>
              <a:t>Q</a:t>
            </a:r>
            <a:r>
              <a:rPr lang="ko-KR" altLang="en-US" sz="1100" dirty="0">
                <a:solidFill>
                  <a:srgbClr val="6B7480"/>
                </a:solidFill>
                <a:latin typeface="맑은 고딕"/>
                <a:ea typeface="맑은 고딕"/>
              </a:rPr>
              <a:t> · </a:t>
            </a:r>
            <a:r>
              <a:rPr lang="ko-KR" altLang="en-US" sz="1100" dirty="0">
                <a:solidFill>
                  <a:srgbClr val="1E7A6F"/>
                </a:solidFill>
                <a:latin typeface="맑은 고딕"/>
                <a:ea typeface="맑은 고딕"/>
              </a:rPr>
              <a:t>충돌 없음</a:t>
            </a:r>
            <a:endParaRPr lang="ko-KR" altLang="en-US" sz="1100" b="0" dirty="0">
              <a:solidFill>
                <a:srgbClr val="6B7480"/>
              </a:solidFill>
              <a:latin typeface="맑은 고딕"/>
              <a:ea typeface="맑은 고딕"/>
            </a:endParaRPr>
          </a:p>
          <a:p>
            <a:pPr marL="171450" indent="-171450" algn="l">
              <a:lnSpc>
                <a:spcPct val="116000"/>
              </a:lnSpc>
              <a:spcAft>
                <a:spcPts val="100"/>
              </a:spcAft>
              <a:buFont typeface="Arial" panose="020B0604020202020204" pitchFamily="34" charset="0"/>
              <a:buChar char="•"/>
            </a:pPr>
            <a:r>
              <a:rPr lang="ko-KR" altLang="en-US" sz="900" b="0" dirty="0">
                <a:solidFill>
                  <a:srgbClr val="6B7480"/>
                </a:solidFill>
                <a:latin typeface="맑은 고딕"/>
                <a:ea typeface="맑은 고딕"/>
              </a:rPr>
              <a:t>건수 ⓐ 와 동일</a:t>
            </a:r>
          </a:p>
        </p:txBody>
      </p:sp>
      <p:sp>
        <p:nvSpPr>
          <p:cNvPr id="209" name="Diag209"/>
          <p:cNvSpPr/>
          <p:nvPr/>
        </p:nvSpPr>
        <p:spPr>
          <a:xfrm>
            <a:off x="2413000" y="2833736"/>
            <a:ext cx="838200" cy="736600"/>
          </a:xfrm>
          <a:prstGeom prst="roundRect">
            <a:avLst/>
          </a:prstGeom>
          <a:solidFill>
            <a:srgbClr val="E7F2EF"/>
          </a:solidFill>
          <a:ln w="12700">
            <a:solidFill>
              <a:srgbClr val="1E7A6F"/>
            </a:solidFill>
          </a:ln>
        </p:spPr>
        <p:txBody>
          <a:bodyPr wrap="square" lIns="36000" tIns="18000" rIns="36000" bIns="18000" anchor="ctr">
            <a:normAutofit/>
          </a:bodyPr>
          <a:lstStyle/>
          <a:p>
            <a:pPr algn="ctr">
              <a:lnSpc>
                <a:spcPct val="102000"/>
              </a:lnSpc>
              <a:buNone/>
            </a:pPr>
            <a:r>
              <a:rPr lang="ko-KR" altLang="en-US" sz="1100" b="1" dirty="0">
                <a:solidFill>
                  <a:srgbClr val="1E7A6F"/>
                </a:solidFill>
                <a:latin typeface="맑은 고딕"/>
                <a:ea typeface="맑은 고딕"/>
              </a:rPr>
              <a:t>D1</a:t>
            </a:r>
          </a:p>
          <a:p>
            <a:pPr algn="ctr">
              <a:lnSpc>
                <a:spcPct val="102000"/>
              </a:lnSpc>
              <a:buNone/>
            </a:pPr>
            <a:r>
              <a:rPr lang="ko-KR" altLang="en-US" sz="1100" b="0" dirty="0">
                <a:solidFill>
                  <a:srgbClr val="1E7A6F"/>
                </a:solidFill>
                <a:latin typeface="맑은 고딕"/>
                <a:ea typeface="맑은 고딕"/>
              </a:rPr>
              <a:t>정답 근거</a:t>
            </a:r>
          </a:p>
        </p:txBody>
      </p:sp>
      <p:sp>
        <p:nvSpPr>
          <p:cNvPr id="210" name="Diag210"/>
          <p:cNvSpPr/>
          <p:nvPr/>
        </p:nvSpPr>
        <p:spPr>
          <a:xfrm>
            <a:off x="3378200" y="2833736"/>
            <a:ext cx="838200" cy="736600"/>
          </a:xfrm>
          <a:prstGeom prst="roundRect">
            <a:avLst/>
          </a:prstGeom>
          <a:solidFill>
            <a:srgbClr val="F2F4F7"/>
          </a:solidFill>
          <a:ln w="12700">
            <a:solidFill>
              <a:srgbClr val="C6CCD4"/>
            </a:solidFill>
          </a:ln>
        </p:spPr>
        <p:txBody>
          <a:bodyPr wrap="square" lIns="36000" tIns="18000" rIns="36000" bIns="18000" anchor="ctr">
            <a:normAutofit/>
          </a:bodyPr>
          <a:lstStyle/>
          <a:p>
            <a:pPr algn="ctr">
              <a:lnSpc>
                <a:spcPct val="102000"/>
              </a:lnSpc>
              <a:buNone/>
            </a:pPr>
            <a:r>
              <a:rPr lang="ko-KR" altLang="en-US" sz="1100" b="1" dirty="0">
                <a:solidFill>
                  <a:srgbClr val="6B7480"/>
                </a:solidFill>
                <a:latin typeface="맑은 고딕"/>
                <a:ea typeface="맑은 고딕"/>
              </a:rPr>
              <a:t>D2</a:t>
            </a:r>
          </a:p>
          <a:p>
            <a:pPr algn="ctr">
              <a:lnSpc>
                <a:spcPct val="102000"/>
              </a:lnSpc>
              <a:buNone/>
            </a:pPr>
            <a:r>
              <a:rPr lang="ko-KR" altLang="en-US" sz="1100" b="0" dirty="0">
                <a:solidFill>
                  <a:srgbClr val="6B7480"/>
                </a:solidFill>
                <a:latin typeface="맑은 고딕"/>
                <a:ea typeface="맑은 고딕"/>
              </a:rPr>
              <a:t>무관</a:t>
            </a:r>
          </a:p>
        </p:txBody>
      </p:sp>
      <p:sp>
        <p:nvSpPr>
          <p:cNvPr id="211" name="Diag211"/>
          <p:cNvSpPr/>
          <p:nvPr/>
        </p:nvSpPr>
        <p:spPr>
          <a:xfrm>
            <a:off x="4343400" y="2833736"/>
            <a:ext cx="838200" cy="736600"/>
          </a:xfrm>
          <a:prstGeom prst="roundRect">
            <a:avLst/>
          </a:prstGeom>
          <a:solidFill>
            <a:srgbClr val="F2F4F7"/>
          </a:solidFill>
          <a:ln w="12700">
            <a:solidFill>
              <a:srgbClr val="C6CCD4"/>
            </a:solidFill>
          </a:ln>
        </p:spPr>
        <p:txBody>
          <a:bodyPr wrap="square" lIns="36000" tIns="18000" rIns="36000" bIns="18000" anchor="ctr">
            <a:normAutofit/>
          </a:bodyPr>
          <a:lstStyle/>
          <a:p>
            <a:pPr algn="ctr">
              <a:lnSpc>
                <a:spcPct val="102000"/>
              </a:lnSpc>
              <a:buNone/>
            </a:pPr>
            <a:r>
              <a:rPr lang="ko-KR" altLang="en-US" sz="1100" b="1" dirty="0">
                <a:solidFill>
                  <a:srgbClr val="6B7480"/>
                </a:solidFill>
                <a:latin typeface="맑은 고딕"/>
                <a:ea typeface="맑은 고딕"/>
              </a:rPr>
              <a:t>D3</a:t>
            </a:r>
          </a:p>
          <a:p>
            <a:pPr algn="ctr">
              <a:lnSpc>
                <a:spcPct val="102000"/>
              </a:lnSpc>
              <a:buNone/>
            </a:pPr>
            <a:r>
              <a:rPr lang="ko-KR" altLang="en-US" sz="1100" b="0" dirty="0">
                <a:solidFill>
                  <a:srgbClr val="6B7480"/>
                </a:solidFill>
                <a:latin typeface="맑은 고딕"/>
                <a:ea typeface="맑은 고딕"/>
              </a:rPr>
              <a:t>무관</a:t>
            </a:r>
          </a:p>
        </p:txBody>
      </p:sp>
      <p:sp>
        <p:nvSpPr>
          <p:cNvPr id="212" name="Diag212"/>
          <p:cNvSpPr/>
          <p:nvPr/>
        </p:nvSpPr>
        <p:spPr>
          <a:xfrm>
            <a:off x="5308600" y="2833736"/>
            <a:ext cx="838200" cy="736600"/>
          </a:xfrm>
          <a:prstGeom prst="roundRect">
            <a:avLst/>
          </a:prstGeom>
          <a:solidFill>
            <a:srgbClr val="EAF2FB"/>
          </a:solidFill>
          <a:ln w="12700">
            <a:solidFill>
              <a:srgbClr val="2E6DA4"/>
            </a:solidFill>
            <a:prstDash val="dash"/>
          </a:ln>
        </p:spPr>
        <p:txBody>
          <a:bodyPr wrap="square" lIns="36000" tIns="18000" rIns="36000" bIns="18000" anchor="ctr">
            <a:normAutofit/>
          </a:bodyPr>
          <a:lstStyle/>
          <a:p>
            <a:pPr algn="ctr">
              <a:lnSpc>
                <a:spcPct val="102000"/>
              </a:lnSpc>
              <a:buNone/>
            </a:pPr>
            <a:r>
              <a:rPr lang="ko-KR" altLang="en-US" sz="1100" b="1" dirty="0">
                <a:solidFill>
                  <a:srgbClr val="2E6DA4"/>
                </a:solidFill>
                <a:latin typeface="맑은 고딕"/>
                <a:ea typeface="맑은 고딕"/>
              </a:rPr>
              <a:t>N</a:t>
            </a:r>
          </a:p>
          <a:p>
            <a:pPr algn="ctr">
              <a:lnSpc>
                <a:spcPct val="102000"/>
              </a:lnSpc>
              <a:buNone/>
            </a:pPr>
            <a:r>
              <a:rPr lang="ko-KR" altLang="en-US" sz="1100" b="0" dirty="0">
                <a:solidFill>
                  <a:srgbClr val="2E6DA4"/>
                </a:solidFill>
                <a:latin typeface="맑은 고딕"/>
                <a:ea typeface="맑은 고딕"/>
              </a:rPr>
              <a:t>noise 교체</a:t>
            </a:r>
          </a:p>
        </p:txBody>
      </p:sp>
      <p:sp>
        <p:nvSpPr>
          <p:cNvPr id="213" name="Diag213"/>
          <p:cNvSpPr/>
          <p:nvPr/>
        </p:nvSpPr>
        <p:spPr>
          <a:xfrm>
            <a:off x="6372940" y="2782936"/>
            <a:ext cx="5334000" cy="1066800"/>
          </a:xfrm>
          <a:prstGeom prst="rect">
            <a:avLst/>
          </a:prstGeom>
          <a:noFill/>
          <a:ln>
            <a:noFill/>
          </a:ln>
        </p:spPr>
        <p:txBody>
          <a:bodyPr wrap="square" lIns="36000" tIns="18000" rIns="36000" bIns="18000" anchor="t">
            <a:normAutofit/>
          </a:bodyPr>
          <a:lstStyle/>
          <a:p>
            <a:pPr algn="l">
              <a:lnSpc>
                <a:spcPct val="116000"/>
              </a:lnSpc>
              <a:spcAft>
                <a:spcPts val="200"/>
              </a:spcAft>
              <a:buNone/>
            </a:pPr>
            <a:r>
              <a:rPr lang="ko-KR" altLang="en-US" sz="1180" b="1" dirty="0">
                <a:solidFill>
                  <a:srgbClr val="1E7A6F"/>
                </a:solidFill>
                <a:latin typeface="맑은 고딕"/>
                <a:ea typeface="맑은 고딕"/>
              </a:rPr>
              <a:t>대조 1 · ⓐ↔ⓑ </a:t>
            </a:r>
            <a:endParaRPr lang="en-US" altLang="ko-KR" sz="1180" b="1" dirty="0">
              <a:solidFill>
                <a:srgbClr val="1E7A6F"/>
              </a:solidFill>
              <a:latin typeface="맑은 고딕"/>
              <a:ea typeface="맑은 고딕"/>
            </a:endParaRPr>
          </a:p>
          <a:p>
            <a:pPr algn="l">
              <a:lnSpc>
                <a:spcPct val="116000"/>
              </a:lnSpc>
              <a:spcAft>
                <a:spcPts val="200"/>
              </a:spcAft>
              <a:buNone/>
            </a:pPr>
            <a:r>
              <a:rPr lang="ko-KR" altLang="en-US" sz="1180" b="1" dirty="0">
                <a:solidFill>
                  <a:srgbClr val="1E2227"/>
                </a:solidFill>
                <a:latin typeface="맑은 고딕"/>
                <a:ea typeface="맑은 고딕"/>
              </a:rPr>
              <a:t>충돌 청크(D4)만 noise로 교체 </a:t>
            </a:r>
            <a:r>
              <a:rPr lang="ko-KR" altLang="en-US" sz="1180" b="0" dirty="0">
                <a:solidFill>
                  <a:srgbClr val="1E2227"/>
                </a:solidFill>
                <a:latin typeface="맑은 고딕"/>
                <a:ea typeface="맑은 고딕"/>
              </a:rPr>
              <a:t>— 문서 수·주제·난이도 그대로. </a:t>
            </a:r>
            <a:endParaRPr lang="en-US" altLang="ko-KR" sz="1180" b="0" dirty="0">
              <a:solidFill>
                <a:srgbClr val="1E2227"/>
              </a:solidFill>
              <a:latin typeface="맑은 고딕"/>
              <a:ea typeface="맑은 고딕"/>
            </a:endParaRPr>
          </a:p>
          <a:p>
            <a:pPr>
              <a:lnSpc>
                <a:spcPct val="116000"/>
              </a:lnSpc>
              <a:spcAft>
                <a:spcPts val="200"/>
              </a:spcAft>
            </a:pPr>
            <a:r>
              <a:rPr lang="ko-KR" altLang="en-US" sz="1180" b="0" dirty="0">
                <a:solidFill>
                  <a:srgbClr val="1E2227"/>
                </a:solidFill>
                <a:latin typeface="맑은 고딕"/>
                <a:ea typeface="맑은 고딕"/>
              </a:rPr>
              <a:t>같은 문항 짝</a:t>
            </a:r>
            <a:r>
              <a:rPr lang="en-US" altLang="ko-KR" sz="1180" dirty="0">
                <a:latin typeface="맑은 고딕"/>
                <a:ea typeface="맑은 고딕"/>
              </a:rPr>
              <a:t>(</a:t>
            </a:r>
            <a:r>
              <a:rPr lang="ko-KR" altLang="en-US" sz="1180" dirty="0">
                <a:latin typeface="맑은 고딕"/>
                <a:ea typeface="맑은 고딕"/>
              </a:rPr>
              <a:t>ⓐ</a:t>
            </a:r>
            <a:r>
              <a:rPr lang="en-US" altLang="ko-KR" sz="1180" dirty="0">
                <a:latin typeface="맑은 고딕"/>
                <a:ea typeface="맑은 고딕"/>
              </a:rPr>
              <a:t>)</a:t>
            </a:r>
            <a:r>
              <a:rPr lang="ko-KR" altLang="en-US" sz="1180" b="0" dirty="0">
                <a:solidFill>
                  <a:srgbClr val="1E2227"/>
                </a:solidFill>
                <a:latin typeface="맑은 고딕"/>
                <a:ea typeface="맑은 고딕"/>
              </a:rPr>
              <a:t> 비교로 충돌 순효과 </a:t>
            </a:r>
            <a:r>
              <a:rPr lang="ko-KR" altLang="en-US" sz="1180" b="0" dirty="0">
                <a:solidFill>
                  <a:srgbClr val="1E2227"/>
                </a:solidFill>
                <a:latin typeface="Cambria Math"/>
                <a:ea typeface="맑은 고딕"/>
              </a:rPr>
              <a:t>Δ = Acc(ⓑ) − Acc(ⓐ)</a:t>
            </a:r>
            <a:r>
              <a:rPr lang="ko-KR" altLang="en-US" sz="1180" b="0" dirty="0">
                <a:solidFill>
                  <a:srgbClr val="1E2227"/>
                </a:solidFill>
                <a:latin typeface="맑은 고딕"/>
                <a:ea typeface="맑은 고딕"/>
              </a:rPr>
              <a:t> 를 추정.</a:t>
            </a:r>
          </a:p>
        </p:txBody>
      </p:sp>
      <p:sp>
        <p:nvSpPr>
          <p:cNvPr id="214" name="Diag214"/>
          <p:cNvSpPr/>
          <p:nvPr/>
        </p:nvSpPr>
        <p:spPr>
          <a:xfrm>
            <a:off x="546100" y="4014836"/>
            <a:ext cx="1752600" cy="889000"/>
          </a:xfrm>
          <a:prstGeom prst="rect">
            <a:avLst/>
          </a:prstGeom>
          <a:noFill/>
          <a:ln>
            <a:noFill/>
          </a:ln>
        </p:spPr>
        <p:txBody>
          <a:bodyPr wrap="square" lIns="36000" tIns="18000" rIns="36000" bIns="18000" anchor="t">
            <a:normAutofit/>
          </a:bodyPr>
          <a:lstStyle/>
          <a:p>
            <a:pPr algn="l">
              <a:lnSpc>
                <a:spcPct val="116000"/>
              </a:lnSpc>
              <a:spcAft>
                <a:spcPts val="100"/>
              </a:spcAft>
              <a:buNone/>
            </a:pPr>
            <a:r>
              <a:rPr lang="ko-KR" altLang="en-US" sz="1220" b="1" dirty="0">
                <a:solidFill>
                  <a:srgbClr val="273A52"/>
                </a:solidFill>
                <a:latin typeface="맑은 고딕"/>
                <a:ea typeface="맑은 고딕"/>
              </a:rPr>
              <a:t>ⓑ′ 위약 대조</a:t>
            </a:r>
          </a:p>
          <a:p>
            <a:pPr>
              <a:lnSpc>
                <a:spcPct val="116000"/>
              </a:lnSpc>
              <a:spcAft>
                <a:spcPts val="100"/>
              </a:spcAft>
            </a:pPr>
            <a:r>
              <a:rPr lang="ko-KR" altLang="en-US" sz="1100" dirty="0">
                <a:solidFill>
                  <a:srgbClr val="6B7480"/>
                </a:solidFill>
                <a:latin typeface="맑은 고딕"/>
                <a:ea typeface="맑은 고딕"/>
              </a:rPr>
              <a:t>문항 </a:t>
            </a:r>
            <a:r>
              <a:rPr lang="ko-KR" altLang="en-US" sz="1100" dirty="0" err="1">
                <a:solidFill>
                  <a:srgbClr val="6B7480"/>
                </a:solidFill>
                <a:latin typeface="맑은 고딕"/>
                <a:ea typeface="맑은 고딕"/>
              </a:rPr>
              <a:t>Q</a:t>
            </a:r>
            <a:r>
              <a:rPr lang="ko-KR" altLang="en-US" sz="1100" dirty="0">
                <a:solidFill>
                  <a:srgbClr val="6B7480"/>
                </a:solidFill>
                <a:latin typeface="맑은 고딕"/>
                <a:ea typeface="맑은 고딕"/>
              </a:rPr>
              <a:t> · </a:t>
            </a:r>
            <a:r>
              <a:rPr lang="ko-KR" altLang="en-US" sz="1100" dirty="0">
                <a:solidFill>
                  <a:srgbClr val="C0392B"/>
                </a:solidFill>
                <a:latin typeface="맑은 고딕"/>
                <a:ea typeface="맑은 고딕"/>
              </a:rPr>
              <a:t>충돌 있음</a:t>
            </a:r>
            <a:r>
              <a:rPr lang="ko-KR" altLang="en-US" sz="1100" dirty="0">
                <a:solidFill>
                  <a:srgbClr val="6B7480"/>
                </a:solidFill>
                <a:latin typeface="맑은 고딕"/>
                <a:ea typeface="맑은 고딕"/>
              </a:rPr>
              <a:t> </a:t>
            </a:r>
            <a:endParaRPr lang="ko-KR" altLang="en-US" sz="1100" b="0" dirty="0">
              <a:solidFill>
                <a:srgbClr val="6B7480"/>
              </a:solidFill>
              <a:latin typeface="맑은 고딕"/>
              <a:ea typeface="맑은 고딕"/>
            </a:endParaRPr>
          </a:p>
          <a:p>
            <a:pPr marL="171450" indent="-171450" algn="l">
              <a:lnSpc>
                <a:spcPct val="116000"/>
              </a:lnSpc>
              <a:spcAft>
                <a:spcPts val="100"/>
              </a:spcAft>
              <a:buFont typeface="Arial" panose="020B0604020202020204" pitchFamily="34" charset="0"/>
              <a:buChar char="•"/>
            </a:pPr>
            <a:r>
              <a:rPr lang="ko-KR" altLang="en-US" sz="900" b="0" dirty="0">
                <a:solidFill>
                  <a:srgbClr val="6B7480"/>
                </a:solidFill>
                <a:latin typeface="맑은 고딕"/>
                <a:ea typeface="맑은 고딕"/>
              </a:rPr>
              <a:t>건수 ⓐ와 동일</a:t>
            </a:r>
          </a:p>
        </p:txBody>
      </p:sp>
      <p:sp>
        <p:nvSpPr>
          <p:cNvPr id="215" name="Diag215"/>
          <p:cNvSpPr/>
          <p:nvPr/>
        </p:nvSpPr>
        <p:spPr>
          <a:xfrm>
            <a:off x="2413000" y="4014836"/>
            <a:ext cx="838200" cy="736600"/>
          </a:xfrm>
          <a:prstGeom prst="roundRect">
            <a:avLst/>
          </a:prstGeom>
          <a:solidFill>
            <a:srgbClr val="E7F2EF"/>
          </a:solidFill>
          <a:ln w="12700">
            <a:solidFill>
              <a:srgbClr val="1E7A6F"/>
            </a:solidFill>
          </a:ln>
        </p:spPr>
        <p:txBody>
          <a:bodyPr wrap="square" lIns="36000" tIns="18000" rIns="36000" bIns="18000" anchor="ctr">
            <a:normAutofit/>
          </a:bodyPr>
          <a:lstStyle/>
          <a:p>
            <a:pPr algn="ctr">
              <a:lnSpc>
                <a:spcPct val="102000"/>
              </a:lnSpc>
              <a:buNone/>
            </a:pPr>
            <a:r>
              <a:rPr lang="ko-KR" altLang="en-US" sz="1100" b="1" dirty="0">
                <a:solidFill>
                  <a:srgbClr val="1E7A6F"/>
                </a:solidFill>
                <a:latin typeface="맑은 고딕"/>
                <a:ea typeface="맑은 고딕"/>
              </a:rPr>
              <a:t>D1</a:t>
            </a:r>
          </a:p>
          <a:p>
            <a:pPr algn="ctr">
              <a:lnSpc>
                <a:spcPct val="102000"/>
              </a:lnSpc>
              <a:buNone/>
            </a:pPr>
            <a:r>
              <a:rPr lang="ko-KR" altLang="en-US" sz="1100" b="0" dirty="0">
                <a:solidFill>
                  <a:srgbClr val="1E7A6F"/>
                </a:solidFill>
                <a:latin typeface="맑은 고딕"/>
                <a:ea typeface="맑은 고딕"/>
              </a:rPr>
              <a:t>정답 근거</a:t>
            </a:r>
          </a:p>
        </p:txBody>
      </p:sp>
      <p:sp>
        <p:nvSpPr>
          <p:cNvPr id="216" name="Diag216"/>
          <p:cNvSpPr/>
          <p:nvPr/>
        </p:nvSpPr>
        <p:spPr>
          <a:xfrm>
            <a:off x="3378200" y="4014836"/>
            <a:ext cx="838200" cy="736600"/>
          </a:xfrm>
          <a:prstGeom prst="roundRect">
            <a:avLst/>
          </a:prstGeom>
          <a:solidFill>
            <a:srgbClr val="EAF2FB"/>
          </a:solidFill>
          <a:ln w="12700">
            <a:solidFill>
              <a:srgbClr val="2E6DA4"/>
            </a:solidFill>
            <a:prstDash val="dash"/>
          </a:ln>
        </p:spPr>
        <p:txBody>
          <a:bodyPr wrap="square" lIns="36000" tIns="18000" rIns="36000" bIns="18000" anchor="ctr">
            <a:normAutofit/>
          </a:bodyPr>
          <a:lstStyle/>
          <a:p>
            <a:pPr algn="ctr">
              <a:lnSpc>
                <a:spcPct val="102000"/>
              </a:lnSpc>
              <a:buNone/>
            </a:pPr>
            <a:r>
              <a:rPr lang="ko-KR" altLang="en-US" sz="1100" b="1" dirty="0">
                <a:solidFill>
                  <a:srgbClr val="2E6DA4"/>
                </a:solidFill>
                <a:latin typeface="맑은 고딕"/>
                <a:ea typeface="맑은 고딕"/>
              </a:rPr>
              <a:t>N</a:t>
            </a:r>
          </a:p>
          <a:p>
            <a:pPr algn="ctr">
              <a:lnSpc>
                <a:spcPct val="102000"/>
              </a:lnSpc>
              <a:buNone/>
            </a:pPr>
            <a:r>
              <a:rPr lang="ko-KR" altLang="en-US" sz="1100" b="0" dirty="0">
                <a:solidFill>
                  <a:srgbClr val="2E6DA4"/>
                </a:solidFill>
                <a:latin typeface="맑은 고딕"/>
                <a:ea typeface="맑은 고딕"/>
              </a:rPr>
              <a:t>noise 교체</a:t>
            </a:r>
          </a:p>
        </p:txBody>
      </p:sp>
      <p:sp>
        <p:nvSpPr>
          <p:cNvPr id="217" name="Diag217"/>
          <p:cNvSpPr/>
          <p:nvPr/>
        </p:nvSpPr>
        <p:spPr>
          <a:xfrm>
            <a:off x="4343400" y="4014836"/>
            <a:ext cx="838200" cy="736600"/>
          </a:xfrm>
          <a:prstGeom prst="roundRect">
            <a:avLst/>
          </a:prstGeom>
          <a:solidFill>
            <a:srgbClr val="F2F4F7"/>
          </a:solidFill>
          <a:ln w="12700">
            <a:solidFill>
              <a:srgbClr val="C6CCD4"/>
            </a:solidFill>
          </a:ln>
        </p:spPr>
        <p:txBody>
          <a:bodyPr wrap="square" lIns="36000" tIns="18000" rIns="36000" bIns="18000" anchor="ctr">
            <a:normAutofit/>
          </a:bodyPr>
          <a:lstStyle/>
          <a:p>
            <a:pPr algn="ctr">
              <a:lnSpc>
                <a:spcPct val="102000"/>
              </a:lnSpc>
              <a:buNone/>
            </a:pPr>
            <a:r>
              <a:rPr lang="ko-KR" altLang="en-US" sz="1100" b="1" dirty="0">
                <a:solidFill>
                  <a:srgbClr val="6B7480"/>
                </a:solidFill>
                <a:latin typeface="맑은 고딕"/>
                <a:ea typeface="맑은 고딕"/>
              </a:rPr>
              <a:t>D3</a:t>
            </a:r>
          </a:p>
          <a:p>
            <a:pPr algn="ctr">
              <a:lnSpc>
                <a:spcPct val="102000"/>
              </a:lnSpc>
              <a:buNone/>
            </a:pPr>
            <a:r>
              <a:rPr lang="ko-KR" altLang="en-US" sz="1100" b="0" dirty="0">
                <a:solidFill>
                  <a:srgbClr val="6B7480"/>
                </a:solidFill>
                <a:latin typeface="맑은 고딕"/>
                <a:ea typeface="맑은 고딕"/>
              </a:rPr>
              <a:t>무관</a:t>
            </a:r>
          </a:p>
        </p:txBody>
      </p:sp>
      <p:sp>
        <p:nvSpPr>
          <p:cNvPr id="218" name="Diag218"/>
          <p:cNvSpPr/>
          <p:nvPr/>
        </p:nvSpPr>
        <p:spPr>
          <a:xfrm>
            <a:off x="5308600" y="4014836"/>
            <a:ext cx="838200" cy="736600"/>
          </a:xfrm>
          <a:prstGeom prst="roundRect">
            <a:avLst/>
          </a:prstGeom>
          <a:solidFill>
            <a:srgbClr val="FBEAE8"/>
          </a:solidFill>
          <a:ln w="12700">
            <a:solidFill>
              <a:srgbClr val="C0392B"/>
            </a:solidFill>
          </a:ln>
        </p:spPr>
        <p:txBody>
          <a:bodyPr wrap="square" lIns="36000" tIns="18000" rIns="36000" bIns="18000" anchor="ctr">
            <a:normAutofit/>
          </a:bodyPr>
          <a:lstStyle/>
          <a:p>
            <a:pPr algn="ctr">
              <a:lnSpc>
                <a:spcPct val="102000"/>
              </a:lnSpc>
              <a:buNone/>
            </a:pPr>
            <a:r>
              <a:rPr lang="ko-KR" altLang="en-US" sz="1100" b="1" dirty="0">
                <a:solidFill>
                  <a:srgbClr val="C0392B"/>
                </a:solidFill>
                <a:latin typeface="맑은 고딕"/>
                <a:ea typeface="맑은 고딕"/>
              </a:rPr>
              <a:t>D4</a:t>
            </a:r>
          </a:p>
          <a:p>
            <a:pPr algn="ctr">
              <a:lnSpc>
                <a:spcPct val="102000"/>
              </a:lnSpc>
              <a:buNone/>
            </a:pPr>
            <a:r>
              <a:rPr lang="ko-KR" altLang="en-US" sz="1100" b="0" dirty="0">
                <a:solidFill>
                  <a:srgbClr val="C0392B"/>
                </a:solidFill>
                <a:latin typeface="맑은 고딕"/>
                <a:ea typeface="맑은 고딕"/>
              </a:rPr>
              <a:t>충돌</a:t>
            </a:r>
          </a:p>
        </p:txBody>
      </p:sp>
      <p:sp>
        <p:nvSpPr>
          <p:cNvPr id="219" name="Diag219"/>
          <p:cNvSpPr/>
          <p:nvPr/>
        </p:nvSpPr>
        <p:spPr>
          <a:xfrm>
            <a:off x="6372940" y="3964036"/>
            <a:ext cx="5334000" cy="1066800"/>
          </a:xfrm>
          <a:prstGeom prst="rect">
            <a:avLst/>
          </a:prstGeom>
          <a:noFill/>
          <a:ln>
            <a:noFill/>
          </a:ln>
        </p:spPr>
        <p:txBody>
          <a:bodyPr wrap="square" lIns="36000" tIns="18000" rIns="36000" bIns="18000" anchor="t">
            <a:normAutofit/>
          </a:bodyPr>
          <a:lstStyle/>
          <a:p>
            <a:pPr algn="l">
              <a:lnSpc>
                <a:spcPct val="116000"/>
              </a:lnSpc>
              <a:spcAft>
                <a:spcPts val="200"/>
              </a:spcAft>
              <a:buNone/>
            </a:pPr>
            <a:r>
              <a:rPr lang="ko-KR" altLang="en-US" sz="1180" b="1" dirty="0">
                <a:solidFill>
                  <a:srgbClr val="1E7A6F"/>
                </a:solidFill>
                <a:latin typeface="맑은 고딕"/>
                <a:ea typeface="맑은 고딕"/>
              </a:rPr>
              <a:t>부작용 차단 · ⓐ↔ⓑ′ </a:t>
            </a:r>
            <a:endParaRPr lang="en-US" altLang="ko-KR" sz="1180" b="1" dirty="0">
              <a:solidFill>
                <a:srgbClr val="1E7A6F"/>
              </a:solidFill>
              <a:latin typeface="맑은 고딕"/>
              <a:ea typeface="맑은 고딕"/>
            </a:endParaRPr>
          </a:p>
          <a:p>
            <a:pPr>
              <a:lnSpc>
                <a:spcPct val="116000"/>
              </a:lnSpc>
              <a:spcAft>
                <a:spcPts val="200"/>
              </a:spcAft>
            </a:pPr>
            <a:r>
              <a:rPr lang="ko-KR" altLang="en-US" sz="1180" b="0" dirty="0">
                <a:solidFill>
                  <a:srgbClr val="1E2227"/>
                </a:solidFill>
                <a:latin typeface="맑은 고딕"/>
                <a:ea typeface="맑은 고딕"/>
              </a:rPr>
              <a:t>충돌은 그대로 두고 </a:t>
            </a:r>
            <a:r>
              <a:rPr lang="ko-KR" altLang="en-US" sz="1180" b="1" dirty="0">
                <a:solidFill>
                  <a:srgbClr val="1E2227"/>
                </a:solidFill>
                <a:latin typeface="맑은 고딕"/>
                <a:ea typeface="맑은 고딕"/>
              </a:rPr>
              <a:t>무관 청크(D2)를 같은 양의 noise로 교체</a:t>
            </a:r>
            <a:r>
              <a:rPr lang="ko-KR" altLang="en-US" sz="1180" b="0" dirty="0">
                <a:solidFill>
                  <a:srgbClr val="1E2227"/>
                </a:solidFill>
                <a:latin typeface="맑은 고딕"/>
                <a:ea typeface="맑은 고딕"/>
              </a:rPr>
              <a:t>.</a:t>
            </a:r>
          </a:p>
          <a:p>
            <a:pPr algn="l">
              <a:lnSpc>
                <a:spcPct val="116000"/>
              </a:lnSpc>
              <a:spcAft>
                <a:spcPts val="200"/>
              </a:spcAft>
              <a:buNone/>
            </a:pPr>
            <a:r>
              <a:rPr lang="en-US" altLang="ko-KR" sz="1180" b="0" dirty="0">
                <a:solidFill>
                  <a:srgbClr val="1E2227"/>
                </a:solidFill>
                <a:latin typeface="Cambria Math"/>
                <a:ea typeface="맑은 고딕"/>
              </a:rPr>
              <a:t>Acc(ⓑ′) ≈ Acc(ⓐ)</a:t>
            </a:r>
            <a:r>
              <a:rPr lang="ko-KR" altLang="en-US" sz="1180" b="0" dirty="0">
                <a:solidFill>
                  <a:srgbClr val="1E2227"/>
                </a:solidFill>
                <a:latin typeface="맑은 고딕"/>
                <a:ea typeface="맑은 고딕"/>
              </a:rPr>
              <a:t>면 ‘교체 행위’는 무해 → ⓑ의 개선은 순수 충돌 제거 효과.</a:t>
            </a:r>
          </a:p>
        </p:txBody>
      </p:sp>
      <p:sp>
        <p:nvSpPr>
          <p:cNvPr id="220" name="Diag220"/>
          <p:cNvSpPr/>
          <p:nvPr/>
        </p:nvSpPr>
        <p:spPr>
          <a:xfrm>
            <a:off x="546100" y="5195936"/>
            <a:ext cx="1752600" cy="965200"/>
          </a:xfrm>
          <a:prstGeom prst="rect">
            <a:avLst/>
          </a:prstGeom>
          <a:noFill/>
          <a:ln>
            <a:noFill/>
          </a:ln>
        </p:spPr>
        <p:txBody>
          <a:bodyPr wrap="square" lIns="36000" tIns="18000" rIns="36000" bIns="18000" anchor="t">
            <a:normAutofit/>
          </a:bodyPr>
          <a:lstStyle/>
          <a:p>
            <a:pPr algn="l">
              <a:lnSpc>
                <a:spcPct val="116000"/>
              </a:lnSpc>
              <a:spcAft>
                <a:spcPts val="100"/>
              </a:spcAft>
              <a:buNone/>
            </a:pPr>
            <a:r>
              <a:rPr lang="ko-KR" altLang="en-US" sz="1220" b="1" dirty="0">
                <a:solidFill>
                  <a:srgbClr val="273A52"/>
                </a:solidFill>
                <a:latin typeface="맑은 고딕"/>
                <a:ea typeface="맑은 고딕"/>
              </a:rPr>
              <a:t>ⓒ 자연 무충돌</a:t>
            </a:r>
          </a:p>
          <a:p>
            <a:pPr algn="l">
              <a:lnSpc>
                <a:spcPct val="116000"/>
              </a:lnSpc>
              <a:spcAft>
                <a:spcPts val="100"/>
              </a:spcAft>
              <a:buNone/>
            </a:pPr>
            <a:r>
              <a:rPr lang="ko-KR" altLang="en-US" sz="1100" b="0" dirty="0">
                <a:solidFill>
                  <a:srgbClr val="B45309"/>
                </a:solidFill>
                <a:latin typeface="맑은 고딕"/>
                <a:ea typeface="맑은 고딕"/>
              </a:rPr>
              <a:t>다른 문항 Q′</a:t>
            </a:r>
            <a:r>
              <a:rPr lang="ko-KR" altLang="en-US" sz="1100" b="0" dirty="0">
                <a:solidFill>
                  <a:srgbClr val="6B7480"/>
                </a:solidFill>
                <a:latin typeface="맑은 고딕"/>
                <a:ea typeface="맑은 고딕"/>
              </a:rPr>
              <a:t> · </a:t>
            </a:r>
            <a:r>
              <a:rPr lang="ko-KR" altLang="en-US" sz="1100" dirty="0">
                <a:solidFill>
                  <a:srgbClr val="1E7A6F"/>
                </a:solidFill>
                <a:latin typeface="맑은 고딕"/>
                <a:ea typeface="맑은 고딕"/>
              </a:rPr>
              <a:t>충돌 없음</a:t>
            </a:r>
            <a:endParaRPr lang="ko-KR" altLang="en-US" sz="1100" b="0" dirty="0">
              <a:solidFill>
                <a:srgbClr val="6B7480"/>
              </a:solidFill>
              <a:latin typeface="맑은 고딕"/>
              <a:ea typeface="맑은 고딕"/>
            </a:endParaRPr>
          </a:p>
          <a:p>
            <a:pPr marL="171450" indent="-171450" algn="l">
              <a:lnSpc>
                <a:spcPct val="116000"/>
              </a:lnSpc>
              <a:spcAft>
                <a:spcPts val="100"/>
              </a:spcAft>
              <a:buFont typeface="Arial" panose="020B0604020202020204" pitchFamily="34" charset="0"/>
              <a:buChar char="•"/>
            </a:pPr>
            <a:r>
              <a:rPr lang="ko-KR" altLang="en-US" sz="900" b="0" dirty="0">
                <a:solidFill>
                  <a:srgbClr val="6B7480"/>
                </a:solidFill>
                <a:latin typeface="맑은 고딕"/>
                <a:ea typeface="맑은 고딕"/>
              </a:rPr>
              <a:t>DRAGged 276</a:t>
            </a:r>
          </a:p>
          <a:p>
            <a:pPr marL="171450" indent="-171450" algn="l">
              <a:lnSpc>
                <a:spcPct val="116000"/>
              </a:lnSpc>
              <a:spcAft>
                <a:spcPts val="100"/>
              </a:spcAft>
              <a:buFont typeface="Arial" panose="020B0604020202020204" pitchFamily="34" charset="0"/>
              <a:buChar char="•"/>
            </a:pPr>
            <a:r>
              <a:rPr lang="ko-KR" altLang="en-US" sz="900" b="0" dirty="0">
                <a:solidFill>
                  <a:srgbClr val="6B7480"/>
                </a:solidFill>
                <a:latin typeface="맑은 고딕"/>
                <a:ea typeface="맑은 고딕"/>
              </a:rPr>
              <a:t>QACC ≈1,213</a:t>
            </a:r>
          </a:p>
        </p:txBody>
      </p:sp>
      <p:sp>
        <p:nvSpPr>
          <p:cNvPr id="221" name="Diag221"/>
          <p:cNvSpPr/>
          <p:nvPr/>
        </p:nvSpPr>
        <p:spPr>
          <a:xfrm>
            <a:off x="2413000" y="5195936"/>
            <a:ext cx="838200" cy="736600"/>
          </a:xfrm>
          <a:prstGeom prst="roundRect">
            <a:avLst/>
          </a:prstGeom>
          <a:solidFill>
            <a:srgbClr val="E7F2EF"/>
          </a:solidFill>
          <a:ln w="12700">
            <a:solidFill>
              <a:srgbClr val="1E7A6F"/>
            </a:solidFill>
          </a:ln>
        </p:spPr>
        <p:txBody>
          <a:bodyPr wrap="square" lIns="36000" tIns="18000" rIns="36000" bIns="18000" anchor="ctr">
            <a:normAutofit/>
          </a:bodyPr>
          <a:lstStyle/>
          <a:p>
            <a:pPr algn="ctr">
              <a:lnSpc>
                <a:spcPct val="102000"/>
              </a:lnSpc>
              <a:buNone/>
            </a:pPr>
            <a:r>
              <a:rPr lang="ko-KR" altLang="en-US" sz="1100" b="1" dirty="0">
                <a:solidFill>
                  <a:srgbClr val="1E7A6F"/>
                </a:solidFill>
                <a:latin typeface="맑은 고딕"/>
                <a:ea typeface="맑은 고딕"/>
              </a:rPr>
              <a:t>D1</a:t>
            </a:r>
          </a:p>
          <a:p>
            <a:pPr algn="ctr">
              <a:lnSpc>
                <a:spcPct val="102000"/>
              </a:lnSpc>
              <a:buNone/>
            </a:pPr>
            <a:r>
              <a:rPr lang="ko-KR" altLang="en-US" sz="1100" b="0" dirty="0">
                <a:solidFill>
                  <a:srgbClr val="1E7A6F"/>
                </a:solidFill>
                <a:latin typeface="맑은 고딕"/>
                <a:ea typeface="맑은 고딕"/>
              </a:rPr>
              <a:t>정답 근거</a:t>
            </a:r>
          </a:p>
        </p:txBody>
      </p:sp>
      <p:sp>
        <p:nvSpPr>
          <p:cNvPr id="222" name="Diag222"/>
          <p:cNvSpPr/>
          <p:nvPr/>
        </p:nvSpPr>
        <p:spPr>
          <a:xfrm>
            <a:off x="3378200" y="5195936"/>
            <a:ext cx="838200" cy="736600"/>
          </a:xfrm>
          <a:prstGeom prst="roundRect">
            <a:avLst/>
          </a:prstGeom>
          <a:solidFill>
            <a:srgbClr val="F2F4F7"/>
          </a:solidFill>
          <a:ln w="12700">
            <a:solidFill>
              <a:srgbClr val="C6CCD4"/>
            </a:solidFill>
          </a:ln>
        </p:spPr>
        <p:txBody>
          <a:bodyPr wrap="square" lIns="36000" tIns="18000" rIns="36000" bIns="18000" anchor="ctr">
            <a:normAutofit/>
          </a:bodyPr>
          <a:lstStyle/>
          <a:p>
            <a:pPr algn="ctr">
              <a:lnSpc>
                <a:spcPct val="102000"/>
              </a:lnSpc>
              <a:buNone/>
            </a:pPr>
            <a:r>
              <a:rPr lang="ko-KR" altLang="en-US" sz="1100" b="1" dirty="0">
                <a:solidFill>
                  <a:srgbClr val="6B7480"/>
                </a:solidFill>
                <a:latin typeface="맑은 고딕"/>
                <a:ea typeface="맑은 고딕"/>
              </a:rPr>
              <a:t>D2</a:t>
            </a:r>
          </a:p>
          <a:p>
            <a:pPr algn="ctr">
              <a:lnSpc>
                <a:spcPct val="102000"/>
              </a:lnSpc>
              <a:buNone/>
            </a:pPr>
            <a:r>
              <a:rPr lang="ko-KR" altLang="en-US" sz="1100" b="0" dirty="0">
                <a:solidFill>
                  <a:srgbClr val="6B7480"/>
                </a:solidFill>
                <a:latin typeface="맑은 고딕"/>
                <a:ea typeface="맑은 고딕"/>
              </a:rPr>
              <a:t>무관</a:t>
            </a:r>
          </a:p>
        </p:txBody>
      </p:sp>
      <p:sp>
        <p:nvSpPr>
          <p:cNvPr id="223" name="Diag223"/>
          <p:cNvSpPr/>
          <p:nvPr/>
        </p:nvSpPr>
        <p:spPr>
          <a:xfrm>
            <a:off x="4343400" y="5195936"/>
            <a:ext cx="838200" cy="736600"/>
          </a:xfrm>
          <a:prstGeom prst="roundRect">
            <a:avLst/>
          </a:prstGeom>
          <a:solidFill>
            <a:srgbClr val="F2F4F7"/>
          </a:solidFill>
          <a:ln w="12700">
            <a:solidFill>
              <a:srgbClr val="C6CCD4"/>
            </a:solidFill>
          </a:ln>
        </p:spPr>
        <p:txBody>
          <a:bodyPr wrap="square" lIns="36000" tIns="18000" rIns="36000" bIns="18000" anchor="ctr">
            <a:normAutofit/>
          </a:bodyPr>
          <a:lstStyle/>
          <a:p>
            <a:pPr algn="ctr">
              <a:lnSpc>
                <a:spcPct val="102000"/>
              </a:lnSpc>
              <a:buNone/>
            </a:pPr>
            <a:r>
              <a:rPr lang="ko-KR" altLang="en-US" sz="1100" b="1" dirty="0">
                <a:solidFill>
                  <a:srgbClr val="6B7480"/>
                </a:solidFill>
                <a:latin typeface="맑은 고딕"/>
                <a:ea typeface="맑은 고딕"/>
              </a:rPr>
              <a:t>D3</a:t>
            </a:r>
          </a:p>
          <a:p>
            <a:pPr algn="ctr">
              <a:lnSpc>
                <a:spcPct val="102000"/>
              </a:lnSpc>
              <a:buNone/>
            </a:pPr>
            <a:r>
              <a:rPr lang="ko-KR" altLang="en-US" sz="1100" b="0" dirty="0">
                <a:solidFill>
                  <a:srgbClr val="6B7480"/>
                </a:solidFill>
                <a:latin typeface="맑은 고딕"/>
                <a:ea typeface="맑은 고딕"/>
              </a:rPr>
              <a:t>무관</a:t>
            </a:r>
          </a:p>
        </p:txBody>
      </p:sp>
      <p:sp>
        <p:nvSpPr>
          <p:cNvPr id="224" name="Diag224"/>
          <p:cNvSpPr/>
          <p:nvPr/>
        </p:nvSpPr>
        <p:spPr>
          <a:xfrm>
            <a:off x="5308600" y="5195936"/>
            <a:ext cx="838200" cy="736600"/>
          </a:xfrm>
          <a:prstGeom prst="roundRect">
            <a:avLst/>
          </a:prstGeom>
          <a:solidFill>
            <a:srgbClr val="F2F4F7"/>
          </a:solidFill>
          <a:ln w="12700">
            <a:solidFill>
              <a:srgbClr val="C6CCD4"/>
            </a:solidFill>
          </a:ln>
        </p:spPr>
        <p:txBody>
          <a:bodyPr wrap="square" lIns="36000" tIns="18000" rIns="36000" bIns="18000" anchor="ctr">
            <a:normAutofit/>
          </a:bodyPr>
          <a:lstStyle/>
          <a:p>
            <a:pPr algn="ctr">
              <a:lnSpc>
                <a:spcPct val="102000"/>
              </a:lnSpc>
              <a:buNone/>
            </a:pPr>
            <a:r>
              <a:rPr lang="ko-KR" altLang="en-US" sz="1100" b="1" dirty="0">
                <a:solidFill>
                  <a:srgbClr val="6B7480"/>
                </a:solidFill>
                <a:latin typeface="맑은 고딕"/>
                <a:ea typeface="맑은 고딕"/>
              </a:rPr>
              <a:t>D4</a:t>
            </a:r>
          </a:p>
          <a:p>
            <a:pPr algn="ctr">
              <a:lnSpc>
                <a:spcPct val="102000"/>
              </a:lnSpc>
              <a:buNone/>
            </a:pPr>
            <a:r>
              <a:rPr lang="ko-KR" altLang="en-US" sz="1100" b="0" dirty="0">
                <a:solidFill>
                  <a:srgbClr val="6B7480"/>
                </a:solidFill>
                <a:latin typeface="맑은 고딕"/>
                <a:ea typeface="맑은 고딕"/>
              </a:rPr>
              <a:t>무관</a:t>
            </a:r>
          </a:p>
        </p:txBody>
      </p:sp>
      <p:sp>
        <p:nvSpPr>
          <p:cNvPr id="225" name="Diag225"/>
          <p:cNvSpPr/>
          <p:nvPr/>
        </p:nvSpPr>
        <p:spPr>
          <a:xfrm>
            <a:off x="6372940" y="5145136"/>
            <a:ext cx="5334000" cy="1066800"/>
          </a:xfrm>
          <a:prstGeom prst="rect">
            <a:avLst/>
          </a:prstGeom>
          <a:noFill/>
          <a:ln>
            <a:noFill/>
          </a:ln>
        </p:spPr>
        <p:txBody>
          <a:bodyPr wrap="square" lIns="36000" tIns="18000" rIns="36000" bIns="18000" anchor="t">
            <a:normAutofit/>
          </a:bodyPr>
          <a:lstStyle/>
          <a:p>
            <a:pPr algn="l">
              <a:lnSpc>
                <a:spcPct val="116000"/>
              </a:lnSpc>
              <a:spcAft>
                <a:spcPts val="200"/>
              </a:spcAft>
              <a:buNone/>
            </a:pPr>
            <a:r>
              <a:rPr lang="ko-KR" altLang="en-US" sz="1180" b="1" dirty="0">
                <a:solidFill>
                  <a:srgbClr val="1E7A6F"/>
                </a:solidFill>
                <a:latin typeface="맑은 고딕"/>
                <a:ea typeface="맑은 고딕"/>
              </a:rPr>
              <a:t>현실성 참고 · ⓑ↔ⓒ </a:t>
            </a:r>
          </a:p>
          <a:p>
            <a:pPr algn="l">
              <a:lnSpc>
                <a:spcPct val="116000"/>
              </a:lnSpc>
              <a:spcAft>
                <a:spcPts val="200"/>
              </a:spcAft>
              <a:buNone/>
            </a:pPr>
            <a:r>
              <a:rPr lang="ko-KR" altLang="en-US" sz="1180" b="0" dirty="0">
                <a:solidFill>
                  <a:srgbClr val="1E2227"/>
                </a:solidFill>
                <a:latin typeface="맑은 고딕"/>
                <a:ea typeface="맑은 고딕"/>
              </a:rPr>
              <a:t>같은 데이터셋에서 </a:t>
            </a:r>
            <a:r>
              <a:rPr lang="ko-KR" altLang="en-US" sz="1180" b="1" dirty="0">
                <a:solidFill>
                  <a:srgbClr val="1E2227"/>
                </a:solidFill>
                <a:latin typeface="맑은 고딕"/>
                <a:ea typeface="맑은 고딕"/>
              </a:rPr>
              <a:t>자연적으로 충돌이 없는 문항. </a:t>
            </a:r>
          </a:p>
          <a:p>
            <a:pPr algn="l">
              <a:lnSpc>
                <a:spcPct val="116000"/>
              </a:lnSpc>
              <a:spcAft>
                <a:spcPts val="200"/>
              </a:spcAft>
              <a:buNone/>
            </a:pPr>
            <a:r>
              <a:rPr lang="ko-KR" altLang="en-US" sz="1180" b="0" dirty="0">
                <a:solidFill>
                  <a:srgbClr val="1E2227"/>
                </a:solidFill>
                <a:latin typeface="맑은 고딕"/>
                <a:ea typeface="맑은 고딕"/>
              </a:rPr>
              <a:t>난이도·문서 수 보정 후, ⓑ가 자연 상태와 </a:t>
            </a:r>
            <a:r>
              <a:rPr lang="ko-KR" altLang="en-US" sz="1180" b="1" dirty="0">
                <a:solidFill>
                  <a:srgbClr val="1E2227"/>
                </a:solidFill>
                <a:latin typeface="맑은 고딕"/>
                <a:ea typeface="맑은 고딕"/>
              </a:rPr>
              <a:t>‘실질적으로 차이가 없는지’</a:t>
            </a:r>
            <a:r>
              <a:rPr lang="ko-KR" altLang="en-US" sz="1180" b="0" dirty="0">
                <a:solidFill>
                  <a:srgbClr val="1E2227"/>
                </a:solidFill>
                <a:latin typeface="맑은 고딕"/>
                <a:ea typeface="맑은 고딕"/>
              </a:rPr>
              <a:t>만 확인(동등성 검정, TOST) — 결론의 근거가 아닌 참고용.</a:t>
            </a:r>
          </a:p>
        </p:txBody>
      </p:sp>
      <p:sp>
        <p:nvSpPr>
          <p:cNvPr id="226" name="Diag226"/>
          <p:cNvSpPr/>
          <p:nvPr/>
        </p:nvSpPr>
        <p:spPr>
          <a:xfrm>
            <a:off x="546100" y="6201285"/>
            <a:ext cx="11087100" cy="533400"/>
          </a:xfrm>
          <a:prstGeom prst="rect">
            <a:avLst/>
          </a:prstGeom>
          <a:noFill/>
          <a:ln>
            <a:noFill/>
          </a:ln>
        </p:spPr>
        <p:txBody>
          <a:bodyPr wrap="square" lIns="36000" tIns="18000" rIns="36000" bIns="18000" anchor="t">
            <a:normAutofit/>
          </a:bodyPr>
          <a:lstStyle/>
          <a:p>
            <a:pPr algn="l">
              <a:lnSpc>
                <a:spcPct val="116000"/>
              </a:lnSpc>
              <a:spcAft>
                <a:spcPts val="100"/>
              </a:spcAft>
              <a:buNone/>
            </a:pPr>
            <a:r>
              <a:rPr lang="ko-KR" altLang="en-US" sz="1100" b="1" dirty="0">
                <a:solidFill>
                  <a:srgbClr val="273A52"/>
                </a:solidFill>
                <a:latin typeface="맑은 고딕"/>
                <a:ea typeface="맑은 고딕"/>
              </a:rPr>
              <a:t>지표 — </a:t>
            </a:r>
            <a:r>
              <a:rPr lang="ko-KR" altLang="en-US" sz="1100" b="0" dirty="0">
                <a:solidFill>
                  <a:srgbClr val="1E2227"/>
                </a:solidFill>
                <a:latin typeface="맑은 고딕"/>
                <a:ea typeface="맑은 고딕"/>
              </a:rPr>
              <a:t>주지표는 정답률(정확도). 충돌의 순 벌점 </a:t>
            </a:r>
            <a:r>
              <a:rPr lang="ko-KR" altLang="en-US" sz="1100" b="0" dirty="0">
                <a:solidFill>
                  <a:srgbClr val="1E2227"/>
                </a:solidFill>
                <a:latin typeface="Cambria Math"/>
                <a:ea typeface="맑은 고딕"/>
              </a:rPr>
              <a:t>Δ = Acc(ⓑ) − Acc(ⓐ)</a:t>
            </a:r>
            <a:r>
              <a:rPr lang="ko-KR" altLang="en-US" sz="1100" b="0" dirty="0">
                <a:solidFill>
                  <a:srgbClr val="1E2227"/>
                </a:solidFill>
                <a:latin typeface="맑은 고딕"/>
                <a:ea typeface="맑은 고딕"/>
              </a:rPr>
              <a:t> 는 문항 짝 대응으로 검정.</a:t>
            </a:r>
          </a:p>
          <a:p>
            <a:pPr algn="l">
              <a:lnSpc>
                <a:spcPct val="116000"/>
              </a:lnSpc>
              <a:spcAft>
                <a:spcPts val="100"/>
              </a:spcAft>
              <a:buNone/>
            </a:pPr>
            <a:r>
              <a:rPr lang="ko-KR" altLang="en-US" sz="1100" b="0" dirty="0">
                <a:solidFill>
                  <a:srgbClr val="6B7480"/>
                </a:solidFill>
                <a:latin typeface="맑은 고딕"/>
                <a:ea typeface="맑은 고딕"/>
              </a:rPr>
              <a:t>※ 인과 결론은 같은 문항을 짝지은 ⓐ↔ⓑ 비교에서만 나옵니다. ⓒ는 문항이 달라 직접 비교가 불가하므로, 보정 후 참고 지표(sanity check)로만 사용합니다.</a:t>
            </a:r>
          </a:p>
        </p:txBody>
      </p:sp>
    </p:spTree>
    <p:extLst>
      <p:ext uri="{BB962C8B-B14F-4D97-AF65-F5344CB8AC3E}">
        <p14:creationId xmlns:p14="http://schemas.microsoft.com/office/powerpoint/2010/main" val="1520696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6448" y="329184"/>
            <a:ext cx="11091672" cy="210955"/>
          </a:xfrm>
          <a:prstGeom prst="rect">
            <a:avLst/>
          </a:prstGeom>
          <a:noFill/>
        </p:spPr>
        <p:txBody>
          <a:bodyPr wrap="square" lIns="0" tIns="0" rIns="0" bIns="0">
            <a:spAutoFit/>
          </a:bodyPr>
          <a:lstStyle/>
          <a:p>
            <a:pPr algn="l">
              <a:lnSpc>
                <a:spcPct val="122000"/>
              </a:lnSpc>
              <a:spcAft>
                <a:spcPts val="450"/>
              </a:spcAft>
            </a:pPr>
            <a:r>
              <a:rPr lang="en-US" sz="1250" b="0" dirty="0">
                <a:solidFill>
                  <a:srgbClr val="6B7480"/>
                </a:solidFill>
                <a:latin typeface="맑은 고딕"/>
                <a:ea typeface="맑은 고딕"/>
              </a:rPr>
              <a:t>§3 방법론</a:t>
            </a:r>
            <a:r>
              <a:rPr lang="en-US" sz="1250" b="0" dirty="0">
                <a:solidFill>
                  <a:srgbClr val="B0B7C0"/>
                </a:solidFill>
                <a:latin typeface="맑은 고딕"/>
                <a:ea typeface="맑은 고딕"/>
              </a:rPr>
              <a:t>   ›   </a:t>
            </a:r>
            <a:r>
              <a:rPr lang="en-US" sz="1250" b="1" dirty="0">
                <a:solidFill>
                  <a:srgbClr val="273A52"/>
                </a:solidFill>
                <a:latin typeface="맑은 고딕"/>
                <a:ea typeface="맑은 고딕"/>
              </a:rPr>
              <a:t>§3.3 실험 3</a:t>
            </a:r>
          </a:p>
        </p:txBody>
      </p:sp>
      <p:sp>
        <p:nvSpPr>
          <p:cNvPr id="3" name="TextBox 2"/>
          <p:cNvSpPr txBox="1"/>
          <p:nvPr/>
        </p:nvSpPr>
        <p:spPr>
          <a:xfrm>
            <a:off x="548640" y="585216"/>
            <a:ext cx="11091672" cy="396647"/>
          </a:xfrm>
          <a:prstGeom prst="rect">
            <a:avLst/>
          </a:prstGeom>
          <a:noFill/>
        </p:spPr>
        <p:txBody>
          <a:bodyPr wrap="square" lIns="0" tIns="0" rIns="0" bIns="0">
            <a:spAutoFit/>
          </a:bodyPr>
          <a:lstStyle/>
          <a:p>
            <a:pPr algn="l">
              <a:lnSpc>
                <a:spcPct val="122000"/>
              </a:lnSpc>
              <a:spcAft>
                <a:spcPts val="450"/>
              </a:spcAft>
            </a:pPr>
            <a:r>
              <a:rPr sz="2350" b="1">
                <a:solidFill>
                  <a:srgbClr val="273A52"/>
                </a:solidFill>
                <a:latin typeface="맑은 고딕"/>
                <a:ea typeface="맑은 고딕"/>
              </a:rPr>
              <a:t>실험 3 (RQ4): 추론 채널 격리와 인과 개입</a:t>
            </a: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274320"/>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22</a:t>
            </a:fld>
            <a:endParaRPr lang="en-US" altLang="ko-KR" sz="950">
              <a:solidFill>
                <a:srgbClr val="6B7480"/>
              </a:solidFill>
              <a:latin typeface="맑은 고딕"/>
              <a:ea typeface="맑은 고딕"/>
            </a:endParaRPr>
          </a:p>
        </p:txBody>
      </p:sp>
      <p:sp>
        <p:nvSpPr>
          <p:cNvPr id="7" name="TextBox 6"/>
          <p:cNvSpPr txBox="1"/>
          <p:nvPr/>
        </p:nvSpPr>
        <p:spPr>
          <a:xfrm>
            <a:off x="548640" y="1270000"/>
            <a:ext cx="11091672" cy="992708"/>
          </a:xfrm>
          <a:prstGeom prst="rect">
            <a:avLst/>
          </a:prstGeom>
          <a:noFill/>
        </p:spPr>
        <p:txBody>
          <a:bodyPr wrap="square" lIns="91440" tIns="45720" rIns="91440" bIns="45720" anchor="t" anchorCtr="0">
            <a:spAutoFit/>
          </a:bodyPr>
          <a:lstStyle/>
          <a:p>
            <a:pPr algn="l">
              <a:spcAft>
                <a:spcPts val="300"/>
              </a:spcAft>
            </a:pPr>
            <a:r>
              <a:rPr lang="ko-KR" sz="1200" b="1" dirty="0">
                <a:solidFill>
                  <a:srgbClr val="273A52"/>
                </a:solidFill>
                <a:latin typeface="맑은 고딕"/>
                <a:ea typeface="맑은 고딕"/>
              </a:rPr>
              <a:t>① 1단계 — 추론 켜고/끄기 비교(thinking on/off)</a:t>
            </a:r>
          </a:p>
          <a:p>
            <a:pPr marL="171450" indent="-171450" algn="l">
              <a:lnSpc>
                <a:spcPct val="122000"/>
              </a:lnSpc>
              <a:spcAft>
                <a:spcPts val="200"/>
              </a:spcAft>
              <a:buFont typeface="Arial" panose="020B0604020202020204" pitchFamily="34" charset="0"/>
              <a:buChar char="•"/>
            </a:pPr>
            <a:r>
              <a:rPr lang="ko-KR" sz="1150" b="0" dirty="0">
                <a:solidFill>
                  <a:srgbClr val="1E2227"/>
                </a:solidFill>
                <a:latin typeface="맑은 고딕"/>
                <a:ea typeface="맑은 고딕"/>
              </a:rPr>
              <a:t>같은 문항을 추론 ON/OFF로 돌려 </a:t>
            </a:r>
            <a:r>
              <a:rPr lang="ko-KR" sz="1150" b="1" dirty="0">
                <a:solidFill>
                  <a:srgbClr val="1E2227"/>
                </a:solidFill>
                <a:latin typeface="맑은 고딕"/>
                <a:ea typeface="맑은 고딕"/>
              </a:rPr>
              <a:t>추론 유무에 따른 정답률 차이</a:t>
            </a:r>
            <a:r>
              <a:rPr lang="ko-KR" sz="1150" b="0" dirty="0">
                <a:solidFill>
                  <a:srgbClr val="1E2227"/>
                </a:solidFill>
                <a:latin typeface="맑은 고딕"/>
                <a:ea typeface="맑은 고딕"/>
              </a:rPr>
              <a:t>를 전환 행렬(실험 1과 동일)로 짝지어 비교. </a:t>
            </a:r>
            <a:endParaRPr lang="en-US" altLang="ko-KR" sz="1150" b="0" dirty="0">
              <a:solidFill>
                <a:srgbClr val="1E2227"/>
              </a:solidFill>
              <a:latin typeface="맑은 고딕"/>
              <a:ea typeface="맑은 고딕"/>
            </a:endParaRPr>
          </a:p>
          <a:p>
            <a:pPr marL="171450" indent="-171450" algn="l">
              <a:lnSpc>
                <a:spcPct val="122000"/>
              </a:lnSpc>
              <a:spcAft>
                <a:spcPts val="200"/>
              </a:spcAft>
              <a:buFont typeface="Arial" panose="020B0604020202020204" pitchFamily="34" charset="0"/>
              <a:buChar char="•"/>
            </a:pPr>
            <a:r>
              <a:rPr lang="ko-KR" sz="1150" b="0" dirty="0">
                <a:solidFill>
                  <a:srgbClr val="1E2227"/>
                </a:solidFill>
                <a:latin typeface="맑은 고딕"/>
                <a:ea typeface="맑은 고딕"/>
              </a:rPr>
              <a:t>OFF 정답→ON 오답으로 뒤집힌 문항의 원인(AIR·Shortcut)은 ON 트레이스에서만 사후 판정.</a:t>
            </a:r>
          </a:p>
          <a:p>
            <a:pPr marL="171450" indent="-171450" algn="l">
              <a:lnSpc>
                <a:spcPct val="122000"/>
              </a:lnSpc>
              <a:spcAft>
                <a:spcPts val="200"/>
              </a:spcAft>
              <a:buFont typeface="Arial" panose="020B0604020202020204" pitchFamily="34" charset="0"/>
              <a:buChar char="•"/>
            </a:pPr>
            <a:r>
              <a:rPr lang="ko-KR" sz="1150" b="1" dirty="0">
                <a:solidFill>
                  <a:srgbClr val="1E2227"/>
                </a:solidFill>
                <a:latin typeface="맑은 고딕"/>
                <a:ea typeface="맑은 고딕"/>
              </a:rPr>
              <a:t>모델: </a:t>
            </a:r>
            <a:r>
              <a:rPr lang="ko-KR" sz="1150" b="0" dirty="0">
                <a:solidFill>
                  <a:srgbClr val="1E2227"/>
                </a:solidFill>
                <a:latin typeface="맑은 고딕"/>
                <a:ea typeface="맑은 고딕"/>
              </a:rPr>
              <a:t>Qwen3.6-27B(동일 가중치 하드 토글</a:t>
            </a:r>
            <a:r>
              <a:rPr lang="ko-KR" sz="1150" b="0">
                <a:solidFill>
                  <a:srgbClr val="1E2227"/>
                </a:solidFill>
                <a:latin typeface="맑은 고딕"/>
                <a:ea typeface="맑은 고딕"/>
              </a:rPr>
              <a:t>) · </a:t>
            </a:r>
            <a:r>
              <a:rPr lang="ko-KR" sz="1150" b="0" dirty="0">
                <a:solidFill>
                  <a:srgbClr val="1E2227"/>
                </a:solidFill>
                <a:latin typeface="맑은 고딕"/>
                <a:ea typeface="맑은 고딕"/>
              </a:rPr>
              <a:t>gpt-oss-20b(참고용)</a:t>
            </a:r>
          </a:p>
        </p:txBody>
      </p:sp>
      <p:sp>
        <p:nvSpPr>
          <p:cNvPr id="31" name="Stage2Header"/>
          <p:cNvSpPr/>
          <p:nvPr/>
        </p:nvSpPr>
        <p:spPr>
          <a:xfrm>
            <a:off x="648732" y="2370916"/>
            <a:ext cx="11087100" cy="273008"/>
          </a:xfrm>
          <a:prstGeom prst="rect">
            <a:avLst/>
          </a:prstGeom>
          <a:noFill/>
        </p:spPr>
        <p:txBody>
          <a:bodyPr wrap="square" lIns="0" tIns="0" rIns="0" bIns="0">
            <a:noAutofit/>
          </a:bodyPr>
          <a:lstStyle/>
          <a:p>
            <a:pPr algn="l"/>
            <a:r>
              <a:rPr lang="ko-KR" sz="1200" b="1" dirty="0">
                <a:solidFill>
                  <a:srgbClr val="273A52"/>
                </a:solidFill>
                <a:latin typeface="맑은 고딕"/>
                <a:ea typeface="맑은 고딕"/>
              </a:rPr>
              <a:t>② 2단계 — 인과 개입 (사전등록)</a:t>
            </a:r>
          </a:p>
        </p:txBody>
      </p:sp>
      <p:graphicFrame>
        <p:nvGraphicFramePr>
          <p:cNvPr id="30" name="InterventionTable"/>
          <p:cNvGraphicFramePr>
            <a:graphicFrameLocks noGrp="1"/>
          </p:cNvGraphicFramePr>
          <p:nvPr/>
        </p:nvGraphicFramePr>
        <p:xfrm>
          <a:off x="548640" y="2664030"/>
          <a:ext cx="11091672" cy="3329675"/>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117600">
                  <a:extLst>
                    <a:ext uri="{9D8B030D-6E8A-4147-A177-3AD203B41FA5}">
                      <a16:colId xmlns:a16="http://schemas.microsoft.com/office/drawing/2014/main" val="20001"/>
                    </a:ext>
                  </a:extLst>
                </a:gridCol>
                <a:gridCol w="7688072">
                  <a:extLst>
                    <a:ext uri="{9D8B030D-6E8A-4147-A177-3AD203B41FA5}">
                      <a16:colId xmlns:a16="http://schemas.microsoft.com/office/drawing/2014/main" val="20002"/>
                    </a:ext>
                  </a:extLst>
                </a:gridCol>
              </a:tblGrid>
              <a:tr h="363983">
                <a:tc>
                  <a:txBody>
                    <a:bodyPr/>
                    <a:lstStyle/>
                    <a:p>
                      <a:pPr algn="ctr">
                        <a:lnSpc>
                          <a:spcPct val="114000"/>
                        </a:lnSpc>
                        <a:spcAft>
                          <a:spcPts val="200"/>
                        </a:spcAft>
                      </a:pPr>
                      <a:r>
                        <a:rPr sz="1150" b="1" dirty="0" err="1">
                          <a:solidFill>
                            <a:srgbClr val="FFFFFF"/>
                          </a:solidFill>
                          <a:latin typeface="맑은 고딕"/>
                          <a:ea typeface="맑은 고딕"/>
                        </a:rPr>
                        <a:t>개입</a:t>
                      </a:r>
                      <a:endParaRPr sz="1150" b="1" dirty="0">
                        <a:solidFill>
                          <a:srgbClr val="FFFFFF"/>
                        </a:solidFill>
                        <a:latin typeface="맑은 고딕"/>
                        <a:ea typeface="맑은 고딕"/>
                      </a:endParaRPr>
                    </a:p>
                  </a:txBody>
                  <a:tcPr marL="82296" marR="82296" marT="12700" marB="12700" anchor="ctr">
                    <a:solidFill>
                      <a:srgbClr val="273A52"/>
                    </a:solidFill>
                  </a:tcPr>
                </a:tc>
                <a:tc>
                  <a:txBody>
                    <a:bodyPr/>
                    <a:lstStyle/>
                    <a:p>
                      <a:pPr algn="ctr">
                        <a:lnSpc>
                          <a:spcPct val="114000"/>
                        </a:lnSpc>
                        <a:spcAft>
                          <a:spcPts val="200"/>
                        </a:spcAft>
                      </a:pPr>
                      <a:r>
                        <a:rPr sz="1150" b="1" dirty="0" err="1">
                          <a:solidFill>
                            <a:srgbClr val="FFFFFF"/>
                          </a:solidFill>
                          <a:latin typeface="맑은 고딕"/>
                          <a:ea typeface="맑은 고딕"/>
                        </a:rPr>
                        <a:t>역할</a:t>
                      </a:r>
                      <a:endParaRPr sz="1150" b="1" dirty="0">
                        <a:solidFill>
                          <a:srgbClr val="FFFFFF"/>
                        </a:solidFill>
                        <a:latin typeface="맑은 고딕"/>
                        <a:ea typeface="맑은 고딕"/>
                      </a:endParaRPr>
                    </a:p>
                  </a:txBody>
                  <a:tcPr marL="82296" marR="82296" marT="12700" marB="12700" anchor="ctr">
                    <a:solidFill>
                      <a:srgbClr val="273A52"/>
                    </a:solidFill>
                  </a:tcPr>
                </a:tc>
                <a:tc>
                  <a:txBody>
                    <a:bodyPr/>
                    <a:lstStyle/>
                    <a:p>
                      <a:pPr algn="ctr">
                        <a:lnSpc>
                          <a:spcPct val="114000"/>
                        </a:lnSpc>
                        <a:spcAft>
                          <a:spcPts val="200"/>
                        </a:spcAft>
                      </a:pPr>
                      <a:r>
                        <a:rPr lang="ko-KR" altLang="en-US" sz="1150" b="1" dirty="0">
                          <a:solidFill>
                            <a:srgbClr val="FFFFFF"/>
                          </a:solidFill>
                          <a:latin typeface="맑은 고딕"/>
                          <a:ea typeface="맑은 고딕"/>
                        </a:rPr>
                        <a:t>내용</a:t>
                      </a:r>
                      <a:endParaRPr sz="1150" b="1" dirty="0" err="1">
                        <a:solidFill>
                          <a:srgbClr val="FFFFFF"/>
                        </a:solidFill>
                        <a:latin typeface="맑은 고딕"/>
                        <a:ea typeface="맑은 고딕"/>
                      </a:endParaRPr>
                    </a:p>
                  </a:txBody>
                  <a:tcPr marL="82296" marR="82296" marT="12700" marB="12700" anchor="ctr">
                    <a:solidFill>
                      <a:srgbClr val="273A52"/>
                    </a:solidFill>
                  </a:tcPr>
                </a:tc>
                <a:extLst>
                  <a:ext uri="{0D108BD9-81ED-4DB2-BD59-A6C34878D82A}">
                    <a16:rowId xmlns:a16="http://schemas.microsoft.com/office/drawing/2014/main" val="10000"/>
                  </a:ext>
                </a:extLst>
              </a:tr>
              <a:tr h="497883">
                <a:tc>
                  <a:txBody>
                    <a:bodyPr/>
                    <a:lstStyle/>
                    <a:p>
                      <a:pPr algn="l">
                        <a:lnSpc>
                          <a:spcPct val="114000"/>
                        </a:lnSpc>
                        <a:spcAft>
                          <a:spcPts val="200"/>
                        </a:spcAft>
                      </a:pPr>
                      <a:r>
                        <a:rPr sz="1120" b="1">
                          <a:solidFill>
                            <a:srgbClr val="1E2227"/>
                          </a:solidFill>
                          <a:latin typeface="맑은 고딕"/>
                          <a:ea typeface="맑은 고딕"/>
                        </a:rPr>
                        <a:t>Truncation</a:t>
                      </a:r>
                    </a:p>
                    <a:p>
                      <a:pPr algn="l">
                        <a:lnSpc>
                          <a:spcPct val="114000"/>
                        </a:lnSpc>
                        <a:spcAft>
                          <a:spcPts val="200"/>
                        </a:spcAft>
                      </a:pPr>
                      <a:r>
                        <a:rPr lang="en-US" altLang="ko-KR" sz="1000" b="0" i="0" dirty="0">
                          <a:solidFill>
                            <a:srgbClr val="6B7480"/>
                          </a:solidFill>
                          <a:latin typeface="맑은 고딕"/>
                          <a:ea typeface="맑은 고딕"/>
                        </a:rPr>
                        <a:t>(Lanham et al., 2023)</a:t>
                      </a:r>
                    </a:p>
                  </a:txBody>
                  <a:tcPr marL="82296" marR="82296" marT="12700" marB="12700" anchor="ctr">
                    <a:solidFill>
                      <a:srgbClr val="FFFFFF"/>
                    </a:solidFill>
                  </a:tcPr>
                </a:tc>
                <a:tc>
                  <a:txBody>
                    <a:bodyPr/>
                    <a:lstStyle/>
                    <a:p>
                      <a:pPr algn="l">
                        <a:lnSpc>
                          <a:spcPct val="114000"/>
                        </a:lnSpc>
                        <a:spcAft>
                          <a:spcPts val="200"/>
                        </a:spcAft>
                      </a:pPr>
                      <a:r>
                        <a:rPr sz="1100" b="1" dirty="0" err="1">
                          <a:solidFill>
                            <a:srgbClr val="6B7480"/>
                          </a:solidFill>
                          <a:latin typeface="맑은 고딕"/>
                          <a:ea typeface="맑은 고딕"/>
                        </a:rPr>
                        <a:t>주력</a:t>
                      </a:r>
                      <a:endParaRPr sz="1100" b="1" dirty="0">
                        <a:solidFill>
                          <a:srgbClr val="6B7480"/>
                        </a:solidFill>
                        <a:latin typeface="맑은 고딕"/>
                        <a:ea typeface="맑은 고딕"/>
                      </a:endParaRPr>
                    </a:p>
                  </a:txBody>
                  <a:tcPr marL="82296" marR="82296" marT="12700" marB="12700" anchor="ctr">
                    <a:solidFill>
                      <a:srgbClr val="FFFFFF"/>
                    </a:solidFill>
                  </a:tcPr>
                </a:tc>
                <a:tc>
                  <a:txBody>
                    <a:bodyPr/>
                    <a:lstStyle/>
                    <a:p>
                      <a:pPr marL="171450" indent="-171450">
                        <a:lnSpc>
                          <a:spcPct val="114000"/>
                        </a:lnSpc>
                        <a:spcAft>
                          <a:spcPts val="200"/>
                        </a:spcAft>
                        <a:buFont typeface="Arial"/>
                        <a:buChar char="•"/>
                      </a:pPr>
                      <a:r>
                        <a:rPr lang="ko-KR" altLang="en-US" sz="1100" b="1" i="0" dirty="0">
                          <a:solidFill>
                            <a:srgbClr val="273A52"/>
                          </a:solidFill>
                          <a:latin typeface="맑은 고딕"/>
                          <a:ea typeface="맑은 고딕"/>
                        </a:rPr>
                        <a:t>“추론을 빼면 답이 무너지나?”</a:t>
                      </a:r>
                    </a:p>
                    <a:p>
                      <a:pPr marL="171450" indent="-171450">
                        <a:lnSpc>
                          <a:spcPct val="114000"/>
                        </a:lnSpc>
                        <a:spcAft>
                          <a:spcPts val="200"/>
                        </a:spcAft>
                        <a:buFont typeface="Arial"/>
                        <a:buChar char="•"/>
                      </a:pPr>
                      <a:r>
                        <a:rPr lang="ko-KR" altLang="en-US" sz="1100" b="0" dirty="0">
                          <a:solidFill>
                            <a:srgbClr val="1E2227"/>
                          </a:solidFill>
                          <a:latin typeface="맑은 고딕"/>
                          <a:ea typeface="맑은 고딕"/>
                        </a:rPr>
                        <a:t>문장 단위로 일정 비율(25·50·75% 등)에서 자르고 </a:t>
                      </a:r>
                      <a:r>
                        <a:rPr lang="ko-KR" altLang="en-US" sz="1100" b="1" dirty="0">
                          <a:solidFill>
                            <a:srgbClr val="1E2227"/>
                          </a:solidFill>
                          <a:latin typeface="맑은 고딕"/>
                          <a:ea typeface="맑은 고딕"/>
                        </a:rPr>
                        <a:t>곧바로 답을 받아</a:t>
                      </a:r>
                      <a:r>
                        <a:rPr lang="ko-KR" altLang="en-US" sz="1100" b="0" dirty="0">
                          <a:solidFill>
                            <a:srgbClr val="1E2227"/>
                          </a:solidFill>
                          <a:latin typeface="맑은 고딕"/>
                          <a:ea typeface="맑은 고딕"/>
                        </a:rPr>
                        <a:t>, 답이 굳는 </a:t>
                      </a:r>
                      <a:r>
                        <a:rPr lang="ko-KR" altLang="en-US" sz="1100" b="1" dirty="0">
                          <a:solidFill>
                            <a:srgbClr val="1E2227"/>
                          </a:solidFill>
                          <a:latin typeface="맑은 고딕"/>
                          <a:ea typeface="맑은 고딕"/>
                        </a:rPr>
                        <a:t>안정화 지점</a:t>
                      </a:r>
                      <a:r>
                        <a:rPr lang="ko-KR" altLang="en-US" sz="1100" b="0" dirty="0">
                          <a:solidFill>
                            <a:srgbClr val="1E2227"/>
                          </a:solidFill>
                          <a:latin typeface="맑은 고딕"/>
                          <a:ea typeface="맑은 고딕"/>
                        </a:rPr>
                        <a:t>을 찾는다. 0% = 전체 삭제, 100% = 삭제 없음(절차만 재는 </a:t>
                      </a:r>
                      <a:r>
                        <a:rPr lang="ko-KR" altLang="en-US" sz="1100" b="1" dirty="0">
                          <a:solidFill>
                            <a:srgbClr val="1E2227"/>
                          </a:solidFill>
                          <a:latin typeface="맑은 고딕"/>
                          <a:ea typeface="맑은 고딕"/>
                        </a:rPr>
                        <a:t>영점</a:t>
                      </a:r>
                      <a:r>
                        <a:rPr lang="ko-KR" altLang="en-US" sz="1100" b="0" dirty="0">
                          <a:solidFill>
                            <a:srgbClr val="1E2227"/>
                          </a:solidFill>
                          <a:latin typeface="맑은 고딕"/>
                          <a:ea typeface="맑은 고딕"/>
                        </a:rPr>
                        <a:t>).</a:t>
                      </a:r>
                    </a:p>
                  </a:txBody>
                  <a:tcPr marL="82296" marR="82296" marT="12700" marB="12700" anchor="ctr">
                    <a:solidFill>
                      <a:srgbClr val="FFFFFF"/>
                    </a:solidFill>
                  </a:tcPr>
                </a:tc>
                <a:extLst>
                  <a:ext uri="{0D108BD9-81ED-4DB2-BD59-A6C34878D82A}">
                    <a16:rowId xmlns:a16="http://schemas.microsoft.com/office/drawing/2014/main" val="10001"/>
                  </a:ext>
                </a:extLst>
              </a:tr>
              <a:tr h="1017916">
                <a:tc>
                  <a:txBody>
                    <a:bodyPr/>
                    <a:lstStyle/>
                    <a:p>
                      <a:pPr algn="l">
                        <a:lnSpc>
                          <a:spcPct val="114000"/>
                        </a:lnSpc>
                        <a:spcAft>
                          <a:spcPts val="200"/>
                        </a:spcAft>
                      </a:pPr>
                      <a:r>
                        <a:rPr sz="1120" b="1">
                          <a:solidFill>
                            <a:srgbClr val="1E2227"/>
                          </a:solidFill>
                          <a:latin typeface="맑은 고딕"/>
                          <a:ea typeface="맑은 고딕"/>
                        </a:rPr>
                        <a:t>On-policy Resampling</a:t>
                      </a:r>
                    </a:p>
                    <a:p>
                      <a:pPr algn="l">
                        <a:lnSpc>
                          <a:spcPct val="114000"/>
                        </a:lnSpc>
                        <a:spcAft>
                          <a:spcPts val="200"/>
                        </a:spcAft>
                      </a:pPr>
                      <a:r>
                        <a:rPr lang="en-US" altLang="ko-KR" sz="1000" b="0" i="0" dirty="0">
                          <a:solidFill>
                            <a:srgbClr val="6B7480"/>
                          </a:solidFill>
                          <a:latin typeface="맑은 고딕"/>
                          <a:ea typeface="맑은 고딕"/>
                        </a:rPr>
                        <a:t>(Bogdan et al., 2025)</a:t>
                      </a:r>
                    </a:p>
                  </a:txBody>
                  <a:tcPr marL="82296" marR="82296" marT="12700" marB="12700" anchor="ctr">
                    <a:solidFill>
                      <a:srgbClr val="F6F7F9"/>
                    </a:solidFill>
                  </a:tcPr>
                </a:tc>
                <a:tc>
                  <a:txBody>
                    <a:bodyPr/>
                    <a:lstStyle/>
                    <a:p>
                      <a:pPr algn="l">
                        <a:lnSpc>
                          <a:spcPct val="114000"/>
                        </a:lnSpc>
                        <a:spcAft>
                          <a:spcPts val="200"/>
                        </a:spcAft>
                      </a:pPr>
                      <a:r>
                        <a:rPr sz="1100" b="1" dirty="0" err="1">
                          <a:solidFill>
                            <a:srgbClr val="6B7480"/>
                          </a:solidFill>
                          <a:latin typeface="맑은 고딕"/>
                          <a:ea typeface="맑은 고딕"/>
                        </a:rPr>
                        <a:t>주력</a:t>
                      </a:r>
                      <a:endParaRPr sz="1100" b="1" dirty="0">
                        <a:solidFill>
                          <a:srgbClr val="6B7480"/>
                        </a:solidFill>
                        <a:latin typeface="맑은 고딕"/>
                        <a:ea typeface="맑은 고딕"/>
                      </a:endParaRPr>
                    </a:p>
                  </a:txBody>
                  <a:tcPr marL="82296" marR="82296" marT="12700" marB="12700" anchor="ctr">
                    <a:solidFill>
                      <a:srgbClr val="F6F7F9"/>
                    </a:solidFill>
                  </a:tcPr>
                </a:tc>
                <a:tc>
                  <a:txBody>
                    <a:bodyPr/>
                    <a:lstStyle/>
                    <a:p>
                      <a:pPr marL="171450" indent="-171450">
                        <a:lnSpc>
                          <a:spcPct val="114000"/>
                        </a:lnSpc>
                        <a:spcAft>
                          <a:spcPts val="200"/>
                        </a:spcAft>
                        <a:buFont typeface="Arial"/>
                        <a:buChar char="•"/>
                      </a:pPr>
                      <a:r>
                        <a:rPr lang="ko-KR" altLang="en-US" sz="1100" b="1" i="0" dirty="0">
                          <a:solidFill>
                            <a:srgbClr val="273A52"/>
                          </a:solidFill>
                          <a:latin typeface="맑은 고딕"/>
                          <a:ea typeface="맑은 고딕"/>
                        </a:rPr>
                        <a:t>“어느 문장이 답을 결정하나?”</a:t>
                      </a:r>
                    </a:p>
                    <a:p>
                      <a:pPr marL="171450" indent="-171450">
                        <a:lnSpc>
                          <a:spcPct val="114000"/>
                        </a:lnSpc>
                        <a:spcAft>
                          <a:spcPts val="200"/>
                        </a:spcAft>
                        <a:buFont typeface="Arial"/>
                        <a:buChar char="•"/>
                      </a:pPr>
                      <a:r>
                        <a:rPr lang="ko-KR" altLang="en-US" sz="1100" b="0" dirty="0">
                          <a:solidFill>
                            <a:srgbClr val="1E2227"/>
                          </a:solidFill>
                          <a:latin typeface="맑은 고딕"/>
                          <a:ea typeface="맑은 고딕"/>
                        </a:rPr>
                        <a:t>문장 직전에서 멈춰 </a:t>
                      </a:r>
                      <a:r>
                        <a:rPr lang="ko-KR" altLang="en-US" sz="1100" b="1" dirty="0">
                          <a:solidFill>
                            <a:srgbClr val="1E2227"/>
                          </a:solidFill>
                          <a:latin typeface="맑은 고딕"/>
                          <a:ea typeface="맑은 고딕"/>
                        </a:rPr>
                        <a:t>이후를 여러 번 다시 쓰게 해 끝까지 완주</a:t>
                      </a:r>
                      <a:r>
                        <a:rPr lang="ko-KR" altLang="en-US" sz="1100" b="0" dirty="0">
                          <a:solidFill>
                            <a:srgbClr val="1E2227"/>
                          </a:solidFill>
                          <a:latin typeface="맑은 고딕"/>
                          <a:ea typeface="맑은 고딕"/>
                        </a:rPr>
                        <a:t>시킨 뒤, </a:t>
                      </a:r>
                      <a:r>
                        <a:rPr lang="ko-KR" altLang="en-US" sz="1100" b="1" dirty="0">
                          <a:solidFill>
                            <a:srgbClr val="1E2227"/>
                          </a:solidFill>
                          <a:latin typeface="맑은 고딕"/>
                          <a:ea typeface="맑은 고딕"/>
                        </a:rPr>
                        <a:t>그 문장이 바뀔 때 답도 자주 바뀌는지</a:t>
                      </a:r>
                      <a:r>
                        <a:rPr lang="ko-KR" altLang="en-US" sz="1100" b="0" dirty="0">
                          <a:solidFill>
                            <a:srgbClr val="1E2227"/>
                          </a:solidFill>
                          <a:latin typeface="맑은 고딕"/>
                          <a:ea typeface="맑은 고딕"/>
                        </a:rPr>
                        <a:t> 본다(판정 문장, AIR·Shortcut 사례 위주).</a:t>
                      </a:r>
                    </a:p>
                  </a:txBody>
                  <a:tcPr marL="82296" marR="82296" marT="12700" marB="12700" anchor="ctr">
                    <a:solidFill>
                      <a:srgbClr val="F6F7F9"/>
                    </a:solidFill>
                  </a:tcPr>
                </a:tc>
                <a:extLst>
                  <a:ext uri="{0D108BD9-81ED-4DB2-BD59-A6C34878D82A}">
                    <a16:rowId xmlns:a16="http://schemas.microsoft.com/office/drawing/2014/main" val="1803315874"/>
                  </a:ext>
                </a:extLst>
              </a:tr>
              <a:tr h="773832">
                <a:tc>
                  <a:txBody>
                    <a:bodyPr/>
                    <a:lstStyle/>
                    <a:p>
                      <a:pPr algn="l">
                        <a:lnSpc>
                          <a:spcPct val="114000"/>
                        </a:lnSpc>
                        <a:spcAft>
                          <a:spcPts val="200"/>
                        </a:spcAft>
                      </a:pPr>
                      <a:r>
                        <a:rPr sz="1120" b="1">
                          <a:solidFill>
                            <a:srgbClr val="1E2227"/>
                          </a:solidFill>
                          <a:latin typeface="맑은 고딕"/>
                          <a:ea typeface="맑은 고딕"/>
                        </a:rPr>
                        <a:t>Adding Mistakes</a:t>
                      </a:r>
                    </a:p>
                    <a:p>
                      <a:pPr algn="l">
                        <a:lnSpc>
                          <a:spcPct val="114000"/>
                        </a:lnSpc>
                        <a:spcAft>
                          <a:spcPts val="200"/>
                        </a:spcAft>
                      </a:pPr>
                      <a:r>
                        <a:rPr lang="en-US" altLang="ko-KR" sz="1000" b="0" i="0" dirty="0">
                          <a:solidFill>
                            <a:srgbClr val="6B7480"/>
                          </a:solidFill>
                          <a:latin typeface="맑은 고딕"/>
                          <a:ea typeface="맑은 고딕"/>
                        </a:rPr>
                        <a:t>(Lanham et al., 2023)</a:t>
                      </a:r>
                    </a:p>
                  </a:txBody>
                  <a:tcPr marL="82296" marR="82296" marT="12700" marB="12700" anchor="ctr">
                    <a:solidFill>
                      <a:srgbClr val="FFFFFF"/>
                    </a:solidFill>
                  </a:tcPr>
                </a:tc>
                <a:tc>
                  <a:txBody>
                    <a:bodyPr/>
                    <a:lstStyle/>
                    <a:p>
                      <a:pPr algn="l">
                        <a:lnSpc>
                          <a:spcPct val="114000"/>
                        </a:lnSpc>
                        <a:spcAft>
                          <a:spcPts val="200"/>
                        </a:spcAft>
                      </a:pPr>
                      <a:r>
                        <a:rPr sz="1100" b="0" dirty="0" err="1">
                          <a:solidFill>
                            <a:srgbClr val="6B7480"/>
                          </a:solidFill>
                          <a:latin typeface="맑은 고딕"/>
                          <a:ea typeface="맑은 고딕"/>
                        </a:rPr>
                        <a:t>보조·교차</a:t>
                      </a:r>
                      <a:r>
                        <a:rPr sz="1100" b="0" dirty="0">
                          <a:solidFill>
                            <a:srgbClr val="6B7480"/>
                          </a:solidFill>
                          <a:latin typeface="맑은 고딕"/>
                          <a:ea typeface="맑은 고딕"/>
                        </a:rPr>
                        <a:t> </a:t>
                      </a:r>
                      <a:r>
                        <a:rPr sz="1100" b="0" dirty="0" err="1">
                          <a:solidFill>
                            <a:srgbClr val="6B7480"/>
                          </a:solidFill>
                          <a:latin typeface="맑은 고딕"/>
                          <a:ea typeface="맑은 고딕"/>
                        </a:rPr>
                        <a:t>검증</a:t>
                      </a:r>
                      <a:endParaRPr sz="1100" b="0" dirty="0">
                        <a:solidFill>
                          <a:srgbClr val="6B7480"/>
                        </a:solidFill>
                        <a:latin typeface="맑은 고딕"/>
                        <a:ea typeface="맑은 고딕"/>
                      </a:endParaRPr>
                    </a:p>
                  </a:txBody>
                  <a:tcPr marL="82296" marR="82296" marT="12700" marB="12700" anchor="ctr">
                    <a:solidFill>
                      <a:srgbClr val="FFFFFF"/>
                    </a:solidFill>
                  </a:tcPr>
                </a:tc>
                <a:tc>
                  <a:txBody>
                    <a:bodyPr/>
                    <a:lstStyle/>
                    <a:p>
                      <a:pPr marL="171450" indent="-171450">
                        <a:lnSpc>
                          <a:spcPct val="114000"/>
                        </a:lnSpc>
                        <a:spcAft>
                          <a:spcPts val="200"/>
                        </a:spcAft>
                        <a:buFont typeface="Arial"/>
                        <a:buChar char="•"/>
                      </a:pPr>
                      <a:r>
                        <a:rPr lang="ko-KR" altLang="en-US" sz="1100" b="1" i="0" dirty="0">
                          <a:solidFill>
                            <a:srgbClr val="273A52"/>
                          </a:solidFill>
                          <a:latin typeface="맑은 고딕"/>
                          <a:ea typeface="맑은 고딕"/>
                        </a:rPr>
                        <a:t>“틀린 내용을 넣으면 답이 따라가나?”</a:t>
                      </a:r>
                    </a:p>
                    <a:p>
                      <a:pPr marL="171450" indent="-171450">
                        <a:lnSpc>
                          <a:spcPct val="114000"/>
                        </a:lnSpc>
                        <a:spcAft>
                          <a:spcPts val="200"/>
                        </a:spcAft>
                        <a:buFont typeface="Arial"/>
                        <a:buChar char="•"/>
                      </a:pPr>
                      <a:r>
                        <a:rPr lang="ko-KR" altLang="en-US" sz="1100" b="1" dirty="0">
                          <a:solidFill>
                            <a:srgbClr val="1E2227"/>
                          </a:solidFill>
                          <a:latin typeface="맑은 고딕"/>
                          <a:ea typeface="맑은 고딕"/>
                        </a:rPr>
                        <a:t>잘못된 중간 결론</a:t>
                      </a:r>
                      <a:r>
                        <a:rPr lang="ko-KR" altLang="en-US" sz="1100" b="0" dirty="0">
                          <a:solidFill>
                            <a:srgbClr val="1E2227"/>
                          </a:solidFill>
                          <a:latin typeface="맑은 고딕"/>
                          <a:ea typeface="맑은 고딕"/>
                        </a:rPr>
                        <a:t>(예: 충돌을 엉뚱한 문서로 해소한 문장)을 삽입하고 이어서 생성하게 한다 — </a:t>
                      </a:r>
                      <a:r>
                        <a:rPr lang="ko-KR" altLang="en-US" sz="1100" b="1" dirty="0">
                          <a:solidFill>
                            <a:srgbClr val="1E2227"/>
                          </a:solidFill>
                          <a:latin typeface="맑은 고딕"/>
                          <a:ea typeface="맑은 고딕"/>
                        </a:rPr>
                        <a:t>답이 오류를 따라 뒤집히면 직접 증거</a:t>
                      </a:r>
                      <a:r>
                        <a:rPr lang="ko-KR" altLang="en-US" sz="1100" b="0" dirty="0">
                          <a:solidFill>
                            <a:srgbClr val="1E2227"/>
                          </a:solidFill>
                          <a:latin typeface="맑은 고딕"/>
                          <a:ea typeface="맑은 고딕"/>
                        </a:rPr>
                        <a:t>다.</a:t>
                      </a:r>
                    </a:p>
                  </a:txBody>
                  <a:tcPr marL="82296" marR="82296" marT="12700" marB="12700" anchor="ctr">
                    <a:solidFill>
                      <a:srgbClr val="FFFFFF"/>
                    </a:solidFill>
                  </a:tcPr>
                </a:tc>
                <a:extLst>
                  <a:ext uri="{0D108BD9-81ED-4DB2-BD59-A6C34878D82A}">
                    <a16:rowId xmlns:a16="http://schemas.microsoft.com/office/drawing/2014/main" val="10002"/>
                  </a:ext>
                </a:extLst>
              </a:tr>
              <a:tr h="567011">
                <a:tc>
                  <a:txBody>
                    <a:bodyPr/>
                    <a:lstStyle/>
                    <a:p>
                      <a:pPr algn="l">
                        <a:lnSpc>
                          <a:spcPct val="114000"/>
                        </a:lnSpc>
                        <a:spcAft>
                          <a:spcPts val="200"/>
                        </a:spcAft>
                      </a:pPr>
                      <a:r>
                        <a:rPr sz="1120" b="1">
                          <a:solidFill>
                            <a:srgbClr val="1E2227"/>
                          </a:solidFill>
                          <a:latin typeface="맑은 고딕"/>
                          <a:ea typeface="맑은 고딕"/>
                        </a:rPr>
                        <a:t>Filler Tokens</a:t>
                      </a:r>
                    </a:p>
                    <a:p>
                      <a:pPr algn="l">
                        <a:lnSpc>
                          <a:spcPct val="114000"/>
                        </a:lnSpc>
                        <a:spcAft>
                          <a:spcPts val="200"/>
                        </a:spcAft>
                      </a:pPr>
                      <a:r>
                        <a:rPr lang="en-US" altLang="ko-KR" sz="1000" b="0" i="0" dirty="0">
                          <a:solidFill>
                            <a:srgbClr val="6B7480"/>
                          </a:solidFill>
                          <a:latin typeface="맑은 고딕"/>
                          <a:ea typeface="맑은 고딕"/>
                        </a:rPr>
                        <a:t>(Lanham et al., 2023)</a:t>
                      </a:r>
                    </a:p>
                  </a:txBody>
                  <a:tcPr marL="82296" marR="82296" marT="12700" marB="12700" anchor="ctr">
                    <a:solidFill>
                      <a:srgbClr val="F6F7F9"/>
                    </a:solidFill>
                  </a:tcPr>
                </a:tc>
                <a:tc>
                  <a:txBody>
                    <a:bodyPr/>
                    <a:lstStyle/>
                    <a:p>
                      <a:pPr algn="l">
                        <a:lnSpc>
                          <a:spcPct val="114000"/>
                        </a:lnSpc>
                        <a:spcAft>
                          <a:spcPts val="200"/>
                        </a:spcAft>
                      </a:pPr>
                      <a:r>
                        <a:rPr sz="1100" b="0">
                          <a:solidFill>
                            <a:srgbClr val="6B7480"/>
                          </a:solidFill>
                          <a:latin typeface="맑은 고딕"/>
                          <a:ea typeface="맑은 고딕"/>
                        </a:rPr>
                        <a:t>대조군</a:t>
                      </a:r>
                    </a:p>
                  </a:txBody>
                  <a:tcPr marL="82296" marR="82296" marT="12700" marB="12700" anchor="ctr">
                    <a:solidFill>
                      <a:srgbClr val="F6F7F9"/>
                    </a:solidFill>
                  </a:tcPr>
                </a:tc>
                <a:tc>
                  <a:txBody>
                    <a:bodyPr/>
                    <a:lstStyle/>
                    <a:p>
                      <a:pPr marL="171450" indent="-171450">
                        <a:lnSpc>
                          <a:spcPct val="114000"/>
                        </a:lnSpc>
                        <a:spcAft>
                          <a:spcPts val="200"/>
                        </a:spcAft>
                        <a:buFont typeface="Arial"/>
                        <a:buChar char="•"/>
                      </a:pPr>
                      <a:r>
                        <a:rPr lang="ko-KR" altLang="en-US" sz="1100" b="1" i="0" dirty="0">
                          <a:solidFill>
                            <a:srgbClr val="273A52"/>
                          </a:solidFill>
                          <a:latin typeface="맑은 고딕"/>
                          <a:ea typeface="맑은 고딕"/>
                        </a:rPr>
                        <a:t>“내용 없이 길이만 유지하면</a:t>
                      </a:r>
                      <a:r>
                        <a:rPr lang="en-US" altLang="ko-KR" sz="1100" b="1" i="0" dirty="0">
                          <a:solidFill>
                            <a:srgbClr val="273A52"/>
                          </a:solidFill>
                          <a:latin typeface="맑은 고딕"/>
                          <a:ea typeface="맑은 고딕"/>
                        </a:rPr>
                        <a:t>?</a:t>
                      </a:r>
                      <a:r>
                        <a:rPr lang="ko-KR" altLang="en-US" sz="1100" b="1" i="0" dirty="0">
                          <a:solidFill>
                            <a:srgbClr val="273A52"/>
                          </a:solidFill>
                          <a:latin typeface="맑은 고딕"/>
                          <a:ea typeface="맑은 고딕"/>
                        </a:rPr>
                        <a:t>”</a:t>
                      </a:r>
                    </a:p>
                    <a:p>
                      <a:pPr marL="171450" indent="-171450">
                        <a:lnSpc>
                          <a:spcPct val="114000"/>
                        </a:lnSpc>
                        <a:spcAft>
                          <a:spcPts val="200"/>
                        </a:spcAft>
                        <a:buFont typeface="Arial"/>
                        <a:buChar char="•"/>
                      </a:pPr>
                      <a:r>
                        <a:rPr lang="ko-KR" altLang="en-US" sz="1100" b="0" dirty="0">
                          <a:solidFill>
                            <a:srgbClr val="1E2227"/>
                          </a:solidFill>
                          <a:latin typeface="맑은 고딕"/>
                          <a:ea typeface="맑은 고딕"/>
                        </a:rPr>
                        <a:t>끊어낸 부분을 </a:t>
                      </a:r>
                      <a:r>
                        <a:rPr lang="ko-KR" altLang="en-US" sz="1100" b="1" dirty="0">
                          <a:solidFill>
                            <a:srgbClr val="1E2227"/>
                          </a:solidFill>
                          <a:latin typeface="맑은 고딕"/>
                          <a:ea typeface="맑은 고딕"/>
                        </a:rPr>
                        <a:t>같은 길이의 무의미한 글자</a:t>
                      </a:r>
                      <a:r>
                        <a:rPr lang="ko-KR" altLang="en-US" sz="1100" b="0" dirty="0">
                          <a:solidFill>
                            <a:srgbClr val="1E2227"/>
                          </a:solidFill>
                          <a:latin typeface="맑은 고딕"/>
                          <a:ea typeface="맑은 고딕"/>
                        </a:rPr>
                        <a:t>(마침표 등)로 채워, 하락 원인이 </a:t>
                      </a:r>
                      <a:r>
                        <a:rPr lang="ko-KR" altLang="en-US" sz="1100" b="1" dirty="0">
                          <a:solidFill>
                            <a:srgbClr val="1E2227"/>
                          </a:solidFill>
                          <a:latin typeface="맑은 고딕"/>
                          <a:ea typeface="맑은 고딕"/>
                        </a:rPr>
                        <a:t>내용 상실인지 길이·형식 붕괴인지</a:t>
                      </a:r>
                      <a:r>
                        <a:rPr lang="ko-KR" altLang="en-US" sz="1100" b="0" dirty="0">
                          <a:solidFill>
                            <a:srgbClr val="1E2227"/>
                          </a:solidFill>
                          <a:latin typeface="맑은 고딕"/>
                          <a:ea typeface="맑은 고딕"/>
                        </a:rPr>
                        <a:t> 가린다.</a:t>
                      </a:r>
                    </a:p>
                  </a:txBody>
                  <a:tcPr marL="82296" marR="82296" marT="12700" marB="12700" anchor="ctr">
                    <a:solidFill>
                      <a:srgbClr val="F6F7F9"/>
                    </a:solidFill>
                  </a:tcPr>
                </a:tc>
                <a:extLst>
                  <a:ext uri="{0D108BD9-81ED-4DB2-BD59-A6C34878D82A}">
                    <a16:rowId xmlns:a16="http://schemas.microsoft.com/office/drawing/2014/main" val="10003"/>
                  </a:ext>
                </a:extLst>
              </a:tr>
            </a:tbl>
          </a:graphicData>
        </a:graphic>
      </p:graphicFrame>
      <p:sp>
        <p:nvSpPr>
          <p:cNvPr id="8" name="TextBox 7">
            <a:extLst>
              <a:ext uri="{FF2B5EF4-FFF2-40B4-BE49-F238E27FC236}">
                <a16:creationId xmlns:a16="http://schemas.microsoft.com/office/drawing/2014/main" id="{C8A3390F-8735-D253-C2CD-5BC672E80B2F}"/>
              </a:ext>
            </a:extLst>
          </p:cNvPr>
          <p:cNvSpPr txBox="1"/>
          <p:nvPr/>
        </p:nvSpPr>
        <p:spPr>
          <a:xfrm>
            <a:off x="536448" y="6072336"/>
            <a:ext cx="10541000" cy="600164"/>
          </a:xfrm>
          <a:prstGeom prst="rect">
            <a:avLst/>
          </a:prstGeom>
          <a:noFill/>
        </p:spPr>
        <p:txBody>
          <a:bodyPr wrap="square">
            <a:spAutoFit/>
          </a:bodyPr>
          <a:lstStyle/>
          <a:p>
            <a:r>
              <a:rPr lang="ko-KR" altLang="en-US" sz="1100" b="0" dirty="0">
                <a:solidFill>
                  <a:srgbClr val="6B7480"/>
                </a:solidFill>
                <a:latin typeface="맑은 고딕"/>
                <a:ea typeface="맑은 고딕"/>
              </a:rPr>
              <a:t>※ 모든 개입은 지점당 </a:t>
            </a:r>
            <a:r>
              <a:rPr lang="en-US" altLang="ko-KR" sz="1100" b="0" dirty="0">
                <a:solidFill>
                  <a:srgbClr val="6B7480"/>
                </a:solidFill>
                <a:latin typeface="맑은 고딕"/>
                <a:ea typeface="맑은 고딕"/>
              </a:rPr>
              <a:t>k</a:t>
            </a:r>
            <a:r>
              <a:rPr lang="ko-KR" altLang="en-US" sz="1100" b="0" dirty="0">
                <a:solidFill>
                  <a:srgbClr val="6B7480"/>
                </a:solidFill>
                <a:latin typeface="맑은 고딕"/>
                <a:ea typeface="맑은 고딕"/>
              </a:rPr>
              <a:t>회 </a:t>
            </a:r>
            <a:r>
              <a:rPr lang="ko-KR" altLang="en-US" sz="1100" b="0" dirty="0" err="1">
                <a:solidFill>
                  <a:srgbClr val="6B7480"/>
                </a:solidFill>
                <a:latin typeface="맑은 고딕"/>
                <a:ea typeface="맑은 고딕"/>
              </a:rPr>
              <a:t>재샘플링해</a:t>
            </a:r>
            <a:r>
              <a:rPr lang="ko-KR" altLang="en-US" sz="1100" b="0" dirty="0">
                <a:solidFill>
                  <a:srgbClr val="6B7480"/>
                </a:solidFill>
                <a:latin typeface="맑은 고딕"/>
                <a:ea typeface="맑은 고딕"/>
              </a:rPr>
              <a:t> </a:t>
            </a:r>
            <a:r>
              <a:rPr lang="en-US" altLang="ko-KR" sz="1100" b="0" dirty="0">
                <a:solidFill>
                  <a:srgbClr val="6B7480"/>
                </a:solidFill>
                <a:latin typeface="맑은 고딕"/>
                <a:ea typeface="맑은 고딕"/>
              </a:rPr>
              <a:t>‘</a:t>
            </a:r>
            <a:r>
              <a:rPr lang="ko-KR" altLang="en-US" sz="1100" b="0" dirty="0">
                <a:solidFill>
                  <a:srgbClr val="6B7480"/>
                </a:solidFill>
                <a:latin typeface="맑은 고딕"/>
                <a:ea typeface="맑은 고딕"/>
              </a:rPr>
              <a:t>답 분포</a:t>
            </a:r>
            <a:r>
              <a:rPr lang="en-US" altLang="ko-KR" sz="1100" b="0" dirty="0">
                <a:solidFill>
                  <a:srgbClr val="6B7480"/>
                </a:solidFill>
                <a:latin typeface="맑은 고딕"/>
                <a:ea typeface="맑은 고딕"/>
              </a:rPr>
              <a:t>’ </a:t>
            </a:r>
            <a:r>
              <a:rPr lang="ko-KR" altLang="en-US" sz="1100" b="0" dirty="0">
                <a:solidFill>
                  <a:srgbClr val="6B7480"/>
                </a:solidFill>
                <a:latin typeface="맑은 고딕"/>
                <a:ea typeface="맑은 고딕"/>
              </a:rPr>
              <a:t>변화로 판정한다</a:t>
            </a:r>
            <a:r>
              <a:rPr lang="en-US" altLang="ko-KR" sz="1100" b="0" dirty="0">
                <a:solidFill>
                  <a:srgbClr val="6B7480"/>
                </a:solidFill>
                <a:latin typeface="맑은 고딕"/>
                <a:ea typeface="맑은 고딕"/>
              </a:rPr>
              <a:t>.</a:t>
            </a:r>
            <a:endParaRPr lang="ko-KR" altLang="en-US" dirty="0"/>
          </a:p>
          <a:p>
            <a:r>
              <a:rPr lang="ko-KR" altLang="en-US" sz="1100" b="0" dirty="0">
                <a:solidFill>
                  <a:srgbClr val="6B7480"/>
                </a:solidFill>
                <a:latin typeface="맑은 고딕"/>
                <a:ea typeface="맑은 고딕"/>
              </a:rPr>
              <a:t>※ Truncation·Adding Mistakes·Filler Tokens는 프롬프트 CoT용 원안을 thinking 트레이스에 응용한 것, On-policy Resampling은 트레이스 대상 원 방법이다.</a:t>
            </a:r>
            <a:endParaRPr lang="ko-KR" altLang="en-US" dirty="0"/>
          </a:p>
        </p:txBody>
      </p:sp>
    </p:spTree>
    <p:extLst>
      <p:ext uri="{BB962C8B-B14F-4D97-AF65-F5344CB8AC3E}">
        <p14:creationId xmlns:p14="http://schemas.microsoft.com/office/powerpoint/2010/main" val="37760188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1" dirty="0">
                <a:solidFill>
                  <a:srgbClr val="273A52"/>
                </a:solidFill>
                <a:latin typeface="맑은 고딕"/>
                <a:ea typeface="맑은 고딕"/>
              </a:rPr>
              <a:t>§4 실험 결과</a:t>
            </a:r>
          </a:p>
        </p:txBody>
      </p:sp>
      <p:sp>
        <p:nvSpPr>
          <p:cNvPr id="3" name="TextBox 2"/>
          <p:cNvSpPr txBox="1"/>
          <p:nvPr/>
        </p:nvSpPr>
        <p:spPr>
          <a:xfrm>
            <a:off x="548640" y="585216"/>
            <a:ext cx="11091672" cy="396647"/>
          </a:xfrm>
          <a:prstGeom prst="rect">
            <a:avLst/>
          </a:prstGeom>
          <a:noFill/>
        </p:spPr>
        <p:txBody>
          <a:bodyPr wrap="square" lIns="0" tIns="0" rIns="0" bIns="0">
            <a:spAutoFit/>
          </a:bodyPr>
          <a:lstStyle/>
          <a:p>
            <a:pPr algn="l">
              <a:lnSpc>
                <a:spcPct val="122000"/>
              </a:lnSpc>
              <a:spcAft>
                <a:spcPts val="450"/>
              </a:spcAft>
            </a:pPr>
            <a:r>
              <a:rPr sz="2350" b="1" dirty="0" err="1">
                <a:solidFill>
                  <a:srgbClr val="273A52"/>
                </a:solidFill>
                <a:latin typeface="맑은 고딕"/>
                <a:ea typeface="맑은 고딕"/>
              </a:rPr>
              <a:t>예상</a:t>
            </a:r>
            <a:r>
              <a:rPr sz="2350" b="1" dirty="0">
                <a:solidFill>
                  <a:srgbClr val="273A52"/>
                </a:solidFill>
                <a:latin typeface="맑은 고딕"/>
                <a:ea typeface="맑은 고딕"/>
              </a:rPr>
              <a:t> </a:t>
            </a:r>
            <a:r>
              <a:rPr sz="2350" b="1" dirty="0" err="1">
                <a:solidFill>
                  <a:srgbClr val="273A52"/>
                </a:solidFill>
                <a:latin typeface="맑은 고딕"/>
                <a:ea typeface="맑은 고딕"/>
              </a:rPr>
              <a:t>결과와</a:t>
            </a:r>
            <a:r>
              <a:rPr sz="2350" b="1" dirty="0">
                <a:solidFill>
                  <a:srgbClr val="273A52"/>
                </a:solidFill>
                <a:latin typeface="맑은 고딕"/>
                <a:ea typeface="맑은 고딕"/>
              </a:rPr>
              <a:t> </a:t>
            </a:r>
            <a:r>
              <a:rPr lang="ko-KR" altLang="en-US" sz="2350" b="1" dirty="0">
                <a:solidFill>
                  <a:srgbClr val="273A52"/>
                </a:solidFill>
                <a:latin typeface="맑은 고딕"/>
                <a:ea typeface="맑은 고딕"/>
              </a:rPr>
              <a:t>한계점</a:t>
            </a:r>
            <a:endParaRPr sz="2350" b="1" dirty="0">
              <a:solidFill>
                <a:srgbClr val="273A52"/>
              </a:solidFill>
              <a:latin typeface="맑은 고딕"/>
              <a:ea typeface="맑은 고딕"/>
            </a:endParaRP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274320"/>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23</a:t>
            </a:fld>
            <a:endParaRPr lang="en-US" altLang="ko-KR" sz="950">
              <a:solidFill>
                <a:srgbClr val="6B7480"/>
              </a:solidFill>
              <a:latin typeface="맑은 고딕"/>
              <a:ea typeface="맑은 고딕"/>
            </a:endParaRPr>
          </a:p>
        </p:txBody>
      </p:sp>
      <p:sp>
        <p:nvSpPr>
          <p:cNvPr id="7" name="Rectangle 6"/>
          <p:cNvSpPr/>
          <p:nvPr/>
        </p:nvSpPr>
        <p:spPr>
          <a:xfrm>
            <a:off x="548640" y="1607827"/>
            <a:ext cx="3584448" cy="33020"/>
          </a:xfrm>
          <a:prstGeom prst="rect">
            <a:avLst/>
          </a:prstGeom>
          <a:solidFill>
            <a:srgbClr val="1E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640847"/>
            <a:ext cx="3584448" cy="2110429"/>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buNone/>
            </a:pPr>
            <a:r>
              <a:rPr lang="ko-KR" sz="1200" b="1" dirty="0">
                <a:solidFill>
                  <a:srgbClr val="273A52"/>
                </a:solidFill>
                <a:latin typeface="맑은 고딕"/>
                <a:ea typeface="맑은 고딕"/>
              </a:rPr>
              <a:t>① 실험 1 — 불일치 진단·이득 분해</a:t>
            </a:r>
          </a:p>
          <a:p>
            <a:pPr marL="171450" indent="-171450" algn="l">
              <a:lnSpc>
                <a:spcPct val="124000"/>
              </a:lnSpc>
              <a:spcAft>
                <a:spcPts val="300"/>
              </a:spcAft>
              <a:buFont typeface="Arial" panose="020B0604020202020204" pitchFamily="34" charset="0"/>
              <a:buChar char="•"/>
            </a:pPr>
            <a:r>
              <a:rPr lang="ko-KR" sz="1120" b="1" dirty="0">
                <a:solidFill>
                  <a:srgbClr val="1E2227"/>
                </a:solidFill>
                <a:latin typeface="맑은 고딕"/>
                <a:ea typeface="맑은 고딕"/>
              </a:rPr>
              <a:t>RQ1 </a:t>
            </a:r>
            <a:r>
              <a:rPr lang="ko-KR" sz="1120" b="0" dirty="0">
                <a:solidFill>
                  <a:srgbClr val="1E2227"/>
                </a:solidFill>
                <a:latin typeface="맑은 고딕"/>
                <a:ea typeface="맑은 고딕"/>
              </a:rPr>
              <a:t>— 추론 결론과 최종 답변의 불일치가 실제 관측되고 AIR로 정량화되며, 손실</a:t>
            </a:r>
            <a:r>
              <a:rPr lang="ko-KR" altLang="en-US" sz="1120" b="0" dirty="0">
                <a:solidFill>
                  <a:srgbClr val="1E2227"/>
                </a:solidFill>
                <a:latin typeface="맑은 고딕"/>
                <a:ea typeface="맑은 고딕"/>
              </a:rPr>
              <a:t> </a:t>
            </a:r>
            <a:r>
              <a:rPr lang="ko-KR" sz="1120" b="0" dirty="0">
                <a:solidFill>
                  <a:srgbClr val="1E2227"/>
                </a:solidFill>
                <a:latin typeface="맑은 고딕"/>
                <a:ea typeface="맑은 고딕"/>
              </a:rPr>
              <a:t>단계(탐지→해소→표출)가 특정됨.</a:t>
            </a:r>
          </a:p>
          <a:p>
            <a:pPr marL="171450" indent="-171450" algn="l">
              <a:lnSpc>
                <a:spcPct val="124000"/>
              </a:lnSpc>
              <a:spcAft>
                <a:spcPts val="300"/>
              </a:spcAft>
              <a:buFont typeface="Arial" panose="020B0604020202020204" pitchFamily="34" charset="0"/>
              <a:buChar char="•"/>
            </a:pPr>
            <a:r>
              <a:rPr lang="ko-KR" sz="1120" b="1" dirty="0">
                <a:solidFill>
                  <a:srgbClr val="1E2227"/>
                </a:solidFill>
                <a:latin typeface="맑은 고딕"/>
                <a:ea typeface="맑은 고딕"/>
              </a:rPr>
              <a:t>RQ2 </a:t>
            </a:r>
            <a:r>
              <a:rPr lang="ko-KR" sz="1120" b="0" dirty="0">
                <a:solidFill>
                  <a:srgbClr val="1E2227"/>
                </a:solidFill>
                <a:latin typeface="맑은 고딕"/>
                <a:ea typeface="맑은 고딕"/>
              </a:rPr>
              <a:t>— 완화 이득의 일부는 취약 경로(Shortcut·우연)에서 나와, 정답률 상승 ≠ 추론 개선임이 LGR·HR·Flip 분해로 드러남.</a:t>
            </a:r>
          </a:p>
        </p:txBody>
      </p:sp>
      <p:sp>
        <p:nvSpPr>
          <p:cNvPr id="9" name="Rectangle 8"/>
          <p:cNvSpPr/>
          <p:nvPr/>
        </p:nvSpPr>
        <p:spPr>
          <a:xfrm>
            <a:off x="4297680" y="1607827"/>
            <a:ext cx="3584448" cy="33020"/>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297680" y="1640847"/>
            <a:ext cx="3584448" cy="2110429"/>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buNone/>
            </a:pPr>
            <a:r>
              <a:rPr lang="ko-KR" sz="1200" b="1" dirty="0">
                <a:solidFill>
                  <a:srgbClr val="273A52"/>
                </a:solidFill>
                <a:latin typeface="맑은 고딕"/>
                <a:ea typeface="맑은 고딕"/>
              </a:rPr>
              <a:t>② 실험 2 — 충돌 고유성 검증</a:t>
            </a:r>
          </a:p>
          <a:p>
            <a:pPr marL="171450" indent="-171450" algn="l">
              <a:lnSpc>
                <a:spcPct val="124000"/>
              </a:lnSpc>
              <a:spcAft>
                <a:spcPts val="300"/>
              </a:spcAft>
              <a:buFont typeface="Arial" panose="020B0604020202020204" pitchFamily="34" charset="0"/>
              <a:buChar char="•"/>
            </a:pPr>
            <a:r>
              <a:rPr lang="ko-KR" sz="1120" b="1" dirty="0">
                <a:solidFill>
                  <a:srgbClr val="1E2227"/>
                </a:solidFill>
                <a:latin typeface="맑은 고딕"/>
                <a:ea typeface="맑은 고딕"/>
              </a:rPr>
              <a:t>순효과 </a:t>
            </a:r>
            <a:r>
              <a:rPr lang="ko-KR" sz="1120" b="0" dirty="0">
                <a:solidFill>
                  <a:srgbClr val="1E2227"/>
                </a:solidFill>
                <a:latin typeface="맑은 고딕"/>
                <a:ea typeface="맑은 고딕"/>
              </a:rPr>
              <a:t>— 같은 문항에서 충돌만 제거한 ⓑ가 유의하게 회복</a:t>
            </a:r>
            <a:r>
              <a:rPr lang="en-US" altLang="ko-KR" sz="1120" dirty="0">
                <a:solidFill>
                  <a:srgbClr val="1E2227"/>
                </a:solidFill>
                <a:latin typeface="맑은 고딕"/>
                <a:ea typeface="맑은 고딕"/>
              </a:rPr>
              <a:t>.</a:t>
            </a:r>
            <a:r>
              <a:rPr lang="ko-KR" altLang="en-US" sz="1120" dirty="0">
                <a:solidFill>
                  <a:srgbClr val="1E2227"/>
                </a:solidFill>
                <a:latin typeface="맑은 고딕"/>
                <a:ea typeface="맑은 고딕"/>
              </a:rPr>
              <a:t> </a:t>
            </a:r>
            <a:r>
              <a:rPr lang="ko-KR" sz="1120" b="0" dirty="0">
                <a:solidFill>
                  <a:srgbClr val="1E2227"/>
                </a:solidFill>
                <a:latin typeface="맑은 고딕"/>
                <a:ea typeface="맑은 고딕"/>
              </a:rPr>
              <a:t>실패는 난이도·문서 수가 아닌 충돌 고유 효과.</a:t>
            </a:r>
          </a:p>
          <a:p>
            <a:pPr marL="171450" indent="-171450" algn="l">
              <a:lnSpc>
                <a:spcPct val="124000"/>
              </a:lnSpc>
              <a:spcAft>
                <a:spcPts val="300"/>
              </a:spcAft>
              <a:buFont typeface="Arial" panose="020B0604020202020204" pitchFamily="34" charset="0"/>
              <a:buChar char="•"/>
            </a:pPr>
            <a:r>
              <a:rPr lang="ko-KR" sz="1120" b="1" dirty="0">
                <a:solidFill>
                  <a:srgbClr val="1E2227"/>
                </a:solidFill>
                <a:latin typeface="맑은 고딕"/>
                <a:ea typeface="맑은 고딕"/>
              </a:rPr>
              <a:t>타당성 </a:t>
            </a:r>
            <a:r>
              <a:rPr lang="ko-KR" sz="1120" b="0" dirty="0">
                <a:solidFill>
                  <a:srgbClr val="1E2227"/>
                </a:solidFill>
                <a:latin typeface="맑은 고딕"/>
                <a:ea typeface="맑은 고딕"/>
              </a:rPr>
              <a:t>— ⓑ′ 대조로 교체 행위 자체는 무해, ⓑ↔ⓒ는 ‘실질적으로 차이가 없는지’만 확인(동등성 검정, TOST)하는 현실성 참고 점검(결론 근거 아님).</a:t>
            </a:r>
          </a:p>
        </p:txBody>
      </p:sp>
      <p:sp>
        <p:nvSpPr>
          <p:cNvPr id="11" name="Rectangle 10"/>
          <p:cNvSpPr/>
          <p:nvPr/>
        </p:nvSpPr>
        <p:spPr>
          <a:xfrm>
            <a:off x="8046720" y="1607827"/>
            <a:ext cx="3584448" cy="33020"/>
          </a:xfrm>
          <a:prstGeom prst="rect">
            <a:avLst/>
          </a:prstGeom>
          <a:solidFill>
            <a:srgbClr val="27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046720" y="1640847"/>
            <a:ext cx="3584448" cy="2110429"/>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chorCtr="0"/>
          <a:lstStyle/>
          <a:p>
            <a:pPr algn="l">
              <a:lnSpc>
                <a:spcPct val="115000"/>
              </a:lnSpc>
              <a:spcAft>
                <a:spcPts val="600"/>
              </a:spcAft>
              <a:buNone/>
            </a:pPr>
            <a:r>
              <a:rPr lang="ko-KR" sz="1200" b="1" dirty="0">
                <a:solidFill>
                  <a:srgbClr val="273A52"/>
                </a:solidFill>
                <a:latin typeface="맑은 고딕"/>
                <a:ea typeface="맑은 고딕"/>
              </a:rPr>
              <a:t>③ 실험 3 — 추론 채널 격리·인과 개입</a:t>
            </a:r>
          </a:p>
          <a:p>
            <a:pPr marL="171450" indent="-171450" algn="l">
              <a:lnSpc>
                <a:spcPct val="124000"/>
              </a:lnSpc>
              <a:spcAft>
                <a:spcPts val="300"/>
              </a:spcAft>
              <a:buFont typeface="Arial" panose="020B0604020202020204" pitchFamily="34" charset="0"/>
              <a:buChar char="•"/>
            </a:pPr>
            <a:r>
              <a:rPr lang="ko-KR" sz="1120" b="1" dirty="0">
                <a:solidFill>
                  <a:srgbClr val="1E2227"/>
                </a:solidFill>
                <a:latin typeface="맑은 고딕"/>
                <a:ea typeface="맑은 고딕"/>
              </a:rPr>
              <a:t>인과 기여 </a:t>
            </a:r>
            <a:r>
              <a:rPr lang="ko-KR" sz="1120" b="0" dirty="0">
                <a:solidFill>
                  <a:srgbClr val="1E2227"/>
                </a:solidFill>
                <a:latin typeface="맑은 고딕"/>
                <a:ea typeface="맑은 고딕"/>
              </a:rPr>
              <a:t>— 절단·재샘플링 개입 시 답 변화가 영점(100% 절단)·filler 기준선을 초과 → 추론이 장식이 아니라 답을 결정(L-b).</a:t>
            </a:r>
          </a:p>
          <a:p>
            <a:pPr marL="171450" indent="-171450" algn="l">
              <a:lnSpc>
                <a:spcPct val="124000"/>
              </a:lnSpc>
              <a:spcAft>
                <a:spcPts val="300"/>
              </a:spcAft>
              <a:buFont typeface="Arial" panose="020B0604020202020204" pitchFamily="34" charset="0"/>
              <a:buChar char="•"/>
            </a:pPr>
            <a:r>
              <a:rPr lang="ko-KR" sz="1120" b="1" dirty="0">
                <a:solidFill>
                  <a:srgbClr val="1E2227"/>
                </a:solidFill>
                <a:latin typeface="맑은 고딕"/>
                <a:ea typeface="맑은 고딕"/>
              </a:rPr>
              <a:t>경로·채널 </a:t>
            </a:r>
            <a:r>
              <a:rPr lang="ko-KR" sz="1120" b="0" dirty="0">
                <a:solidFill>
                  <a:srgbClr val="1E2227"/>
                </a:solidFill>
                <a:latin typeface="맑은 고딕"/>
                <a:ea typeface="맑은 고딕"/>
              </a:rPr>
              <a:t>— 근거 약한 경로 Shortcut(암묵적 도약)·Discordant Hit(불협 적중)이 Legitimate(정상 정답)보다 개입에 더 자주 뒤집히고, thinking-off에서 AIR·Shortcut이 소멸하면 추론 채널이 원인임을 확증.</a:t>
            </a:r>
          </a:p>
        </p:txBody>
      </p:sp>
      <p:sp>
        <p:nvSpPr>
          <p:cNvPr id="5" name="직사각형 4">
            <a:extLst>
              <a:ext uri="{FF2B5EF4-FFF2-40B4-BE49-F238E27FC236}">
                <a16:creationId xmlns:a16="http://schemas.microsoft.com/office/drawing/2014/main" id="{69DC0AED-904B-AD42-B1AD-D24471E7E28D}"/>
              </a:ext>
            </a:extLst>
          </p:cNvPr>
          <p:cNvSpPr/>
          <p:nvPr/>
        </p:nvSpPr>
        <p:spPr>
          <a:xfrm>
            <a:off x="546100" y="4193000"/>
            <a:ext cx="5422900" cy="38100"/>
          </a:xfrm>
          <a:prstGeom prst="rect">
            <a:avLst/>
          </a:prstGeom>
          <a:solidFill>
            <a:srgbClr val="273A52"/>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5" name="직사각형 14">
            <a:extLst>
              <a:ext uri="{FF2B5EF4-FFF2-40B4-BE49-F238E27FC236}">
                <a16:creationId xmlns:a16="http://schemas.microsoft.com/office/drawing/2014/main" id="{D5D25AC2-D7B2-D34F-96A2-F5B86230B5A6}"/>
              </a:ext>
            </a:extLst>
          </p:cNvPr>
          <p:cNvSpPr/>
          <p:nvPr/>
        </p:nvSpPr>
        <p:spPr>
          <a:xfrm>
            <a:off x="546100" y="4231099"/>
            <a:ext cx="5422900" cy="2041685"/>
          </a:xfrm>
          <a:prstGeom prst="rect">
            <a:avLst/>
          </a:prstGeom>
          <a:solidFill>
            <a:srgbClr val="F6F7F9"/>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vertOverflow="clip" horzOverflow="clip" wrap="square" lIns="203200" tIns="152400" rIns="203200" bIns="127000" rtlCol="0" anchor="t" anchorCtr="0">
            <a:noAutofit/>
          </a:bodyPr>
          <a:lstStyle/>
          <a:p>
            <a:pPr marL="171450" indent="-171450">
              <a:lnSpc>
                <a:spcPct val="124000"/>
              </a:lnSpc>
              <a:spcAft>
                <a:spcPts val="450"/>
              </a:spcAft>
              <a:buClr>
                <a:srgbClr val="273A52"/>
              </a:buClr>
              <a:buFont typeface="Arial" panose="020B0604020202020204" pitchFamily="34" charset="0"/>
              <a:buChar char="•"/>
            </a:pPr>
            <a:r>
              <a:rPr lang="ko-KR" altLang="ko-KR" sz="1120" b="1" dirty="0" err="1">
                <a:solidFill>
                  <a:srgbClr val="273A52"/>
                </a:solidFill>
                <a:latin typeface="맑은 고딕"/>
                <a:ea typeface="맑은 고딕"/>
              </a:rPr>
              <a:t>thinking</a:t>
            </a:r>
            <a:r>
              <a:rPr lang="ko-KR" altLang="ko-KR" sz="1120" b="1" dirty="0">
                <a:solidFill>
                  <a:srgbClr val="273A52"/>
                </a:solidFill>
                <a:latin typeface="맑은 고딕"/>
                <a:ea typeface="맑은 고딕"/>
              </a:rPr>
              <a:t> 모델에만 적용 가능 (전 실험) </a:t>
            </a:r>
            <a:r>
              <a:rPr lang="ko-KR" altLang="ko-KR" sz="1120" dirty="0">
                <a:solidFill>
                  <a:srgbClr val="1E2227"/>
                </a:solidFill>
                <a:latin typeface="맑은 고딕"/>
                <a:ea typeface="맑은 고딕"/>
              </a:rPr>
              <a:t>— </a:t>
            </a:r>
            <a:r>
              <a:rPr lang="ko-KR" altLang="ko-KR" sz="1120" dirty="0" err="1">
                <a:solidFill>
                  <a:srgbClr val="1E2227"/>
                </a:solidFill>
                <a:latin typeface="맑은 고딕"/>
                <a:ea typeface="맑은 고딕"/>
              </a:rPr>
              <a:t>AIR·Shortcut은</a:t>
            </a:r>
            <a:r>
              <a:rPr lang="ko-KR" altLang="ko-KR" sz="1120" dirty="0">
                <a:solidFill>
                  <a:srgbClr val="1E2227"/>
                </a:solidFill>
                <a:latin typeface="맑은 고딕"/>
                <a:ea typeface="맑은 고딕"/>
              </a:rPr>
              <a:t> 추론을 글로 쓰는 </a:t>
            </a:r>
            <a:r>
              <a:rPr lang="ko-KR" altLang="ko-KR" sz="1120" dirty="0" err="1">
                <a:solidFill>
                  <a:srgbClr val="1E2227"/>
                </a:solidFill>
                <a:latin typeface="맑은 고딕"/>
                <a:ea typeface="맑은 고딕"/>
              </a:rPr>
              <a:t>thinking</a:t>
            </a:r>
            <a:r>
              <a:rPr lang="ko-KR" altLang="ko-KR" sz="1120" dirty="0">
                <a:solidFill>
                  <a:srgbClr val="1E2227"/>
                </a:solidFill>
                <a:latin typeface="맑은 고딕"/>
                <a:ea typeface="맑은 고딕"/>
              </a:rPr>
              <a:t> 모델에서만 </a:t>
            </a:r>
            <a:r>
              <a:rPr lang="ko-KR" altLang="ko-KR" sz="1120" dirty="0" err="1">
                <a:solidFill>
                  <a:srgbClr val="1E2227"/>
                </a:solidFill>
                <a:latin typeface="맑은 고딕"/>
                <a:ea typeface="맑은 고딕"/>
              </a:rPr>
              <a:t>정의·측정돼</a:t>
            </a:r>
            <a:r>
              <a:rPr lang="ko-KR" altLang="ko-KR" sz="1120" dirty="0">
                <a:solidFill>
                  <a:srgbClr val="1E2227"/>
                </a:solidFill>
                <a:latin typeface="맑은 고딕"/>
                <a:ea typeface="맑은 고딕"/>
              </a:rPr>
              <a:t> 일반 </a:t>
            </a:r>
            <a:r>
              <a:rPr lang="ko-KR" altLang="ko-KR" sz="1120" dirty="0" err="1">
                <a:solidFill>
                  <a:srgbClr val="1E2227"/>
                </a:solidFill>
                <a:latin typeface="맑은 고딕"/>
                <a:ea typeface="맑은 고딕"/>
              </a:rPr>
              <a:t>모델엔</a:t>
            </a:r>
            <a:r>
              <a:rPr lang="ko-KR" altLang="ko-KR" sz="1120" dirty="0">
                <a:solidFill>
                  <a:srgbClr val="1E2227"/>
                </a:solidFill>
                <a:latin typeface="맑은 고딕"/>
                <a:ea typeface="맑은 고딕"/>
              </a:rPr>
              <a:t> 적용 불가.</a:t>
            </a:r>
            <a:br>
              <a:rPr lang="ko-KR" altLang="ko-KR" sz="1120" dirty="0"/>
            </a:br>
            <a:r>
              <a:rPr lang="ko-KR" altLang="ko-KR" sz="1120" b="1" dirty="0">
                <a:solidFill>
                  <a:srgbClr val="1E7A6F"/>
                </a:solidFill>
                <a:latin typeface="맑은 고딕"/>
                <a:ea typeface="맑은 고딕"/>
              </a:rPr>
              <a:t>→ 대응: </a:t>
            </a:r>
            <a:r>
              <a:rPr lang="ko-KR" altLang="ko-KR" sz="1120" dirty="0" err="1">
                <a:solidFill>
                  <a:srgbClr val="1E2227"/>
                </a:solidFill>
                <a:latin typeface="맑은 고딕"/>
                <a:ea typeface="맑은 고딕"/>
              </a:rPr>
              <a:t>thinking-off</a:t>
            </a:r>
            <a:r>
              <a:rPr lang="ko-KR" altLang="ko-KR" sz="1120" dirty="0">
                <a:solidFill>
                  <a:srgbClr val="1E2227"/>
                </a:solidFill>
                <a:latin typeface="맑은 고딕"/>
                <a:ea typeface="맑은 고딕"/>
              </a:rPr>
              <a:t> 조건(비-</a:t>
            </a:r>
            <a:r>
              <a:rPr lang="ko-KR" altLang="ko-KR" sz="1120" dirty="0" err="1">
                <a:solidFill>
                  <a:srgbClr val="1E2227"/>
                </a:solidFill>
                <a:latin typeface="맑은 고딕"/>
                <a:ea typeface="맑은 고딕"/>
              </a:rPr>
              <a:t>thinking</a:t>
            </a:r>
            <a:r>
              <a:rPr lang="ko-KR" altLang="ko-KR" sz="1120" dirty="0">
                <a:solidFill>
                  <a:srgbClr val="1E2227"/>
                </a:solidFill>
                <a:latin typeface="맑은 고딕"/>
                <a:ea typeface="맑은 고딕"/>
              </a:rPr>
              <a:t>)도 함께 실험해 </a:t>
            </a:r>
            <a:r>
              <a:rPr lang="ko-KR" altLang="ko-KR" sz="1120" dirty="0" err="1">
                <a:solidFill>
                  <a:srgbClr val="1E2227"/>
                </a:solidFill>
                <a:latin typeface="맑은 고딕"/>
                <a:ea typeface="맑은 고딕"/>
              </a:rPr>
              <a:t>정답률·답</a:t>
            </a:r>
            <a:r>
              <a:rPr lang="ko-KR" altLang="ko-KR" sz="1120" dirty="0">
                <a:solidFill>
                  <a:srgbClr val="1E2227"/>
                </a:solidFill>
                <a:latin typeface="맑은 고딕"/>
                <a:ea typeface="맑은 고딕"/>
              </a:rPr>
              <a:t> 분포로 대조하며, 추론을 끈 이 조건은 </a:t>
            </a:r>
            <a:r>
              <a:rPr lang="ko-KR" altLang="ko-KR" sz="1120" dirty="0" err="1">
                <a:solidFill>
                  <a:srgbClr val="1E2227"/>
                </a:solidFill>
                <a:latin typeface="맑은 고딕"/>
                <a:ea typeface="맑은 고딕"/>
              </a:rPr>
              <a:t>AIR·Shortcut이</a:t>
            </a:r>
            <a:r>
              <a:rPr lang="ko-KR" altLang="ko-KR" sz="1120" dirty="0">
                <a:solidFill>
                  <a:srgbClr val="1E2227"/>
                </a:solidFill>
                <a:latin typeface="맑은 고딕"/>
                <a:ea typeface="맑은 고딕"/>
              </a:rPr>
              <a:t> 사라져 오히려 인과 확인의 대조군이 됨.</a:t>
            </a:r>
            <a:endParaRPr lang="ko-KR" sz="1120" b="0" dirty="0">
              <a:solidFill>
                <a:srgbClr val="1E2227"/>
              </a:solidFill>
              <a:latin typeface="맑은 고딕"/>
              <a:ea typeface="맑은 고딕"/>
            </a:endParaRPr>
          </a:p>
          <a:p>
            <a:pPr marL="171450" indent="-171450" algn="l">
              <a:lnSpc>
                <a:spcPct val="124000"/>
              </a:lnSpc>
              <a:spcAft>
                <a:spcPts val="450"/>
              </a:spcAft>
              <a:buClr>
                <a:srgbClr val="273A52"/>
              </a:buClr>
              <a:buFont typeface="Arial" panose="020B0604020202020204" pitchFamily="34" charset="0"/>
              <a:buChar char="•"/>
            </a:pPr>
            <a:r>
              <a:rPr lang="ko-KR" sz="1120" b="1" dirty="0">
                <a:solidFill>
                  <a:srgbClr val="273A52"/>
                </a:solidFill>
                <a:latin typeface="맑은 고딕"/>
                <a:ea typeface="맑은 고딕"/>
              </a:rPr>
              <a:t>자연 충돌 표본 부족 (실험 1·2) </a:t>
            </a:r>
            <a:r>
              <a:rPr lang="ko-KR" sz="1120" b="0" dirty="0">
                <a:solidFill>
                  <a:srgbClr val="1E2227"/>
                </a:solidFill>
                <a:latin typeface="맑은 고딕"/>
                <a:ea typeface="맑은 고딕"/>
              </a:rPr>
              <a:t>— 자연 충돌이 182건뿐이라, 유형별 셀로 쪼개는 분석(경로 분해·대조)은 셀당 표본이 적어 검정력이 약함.</a:t>
            </a:r>
            <a:br>
              <a:rPr lang="ko-KR" sz="1120" dirty="0"/>
            </a:br>
            <a:r>
              <a:rPr lang="ko-KR" sz="1120" b="1" dirty="0">
                <a:solidFill>
                  <a:srgbClr val="1E7A6F"/>
                </a:solidFill>
                <a:latin typeface="맑은 고딕"/>
                <a:ea typeface="맑은 고딕"/>
              </a:rPr>
              <a:t>→ 대응: </a:t>
            </a:r>
            <a:r>
              <a:rPr lang="en-US" altLang="ko-KR" sz="1120" b="0" dirty="0">
                <a:solidFill>
                  <a:srgbClr val="1E2227"/>
                </a:solidFill>
                <a:latin typeface="Cambria Math"/>
                <a:ea typeface="맑은 고딕"/>
              </a:rPr>
              <a:t>N &lt; 20</a:t>
            </a:r>
            <a:r>
              <a:rPr lang="ko-KR" sz="1120" b="0" dirty="0">
                <a:solidFill>
                  <a:srgbClr val="1E2227"/>
                </a:solidFill>
                <a:latin typeface="맑은 고딕"/>
                <a:ea typeface="맑은 고딕"/>
              </a:rPr>
              <a:t> 셀은 비교 제외(사전등록), QACC·RAMDocs로 보강.</a:t>
            </a:r>
          </a:p>
        </p:txBody>
      </p:sp>
      <p:sp>
        <p:nvSpPr>
          <p:cNvPr id="16" name="직사각형 15">
            <a:extLst>
              <a:ext uri="{FF2B5EF4-FFF2-40B4-BE49-F238E27FC236}">
                <a16:creationId xmlns:a16="http://schemas.microsoft.com/office/drawing/2014/main" id="{AD45DE66-1B25-0844-9FF2-452DBE68DBB8}"/>
              </a:ext>
            </a:extLst>
          </p:cNvPr>
          <p:cNvSpPr/>
          <p:nvPr/>
        </p:nvSpPr>
        <p:spPr>
          <a:xfrm>
            <a:off x="6210300" y="4193000"/>
            <a:ext cx="5422900" cy="38100"/>
          </a:xfrm>
          <a:prstGeom prst="rect">
            <a:avLst/>
          </a:prstGeom>
          <a:solidFill>
            <a:srgbClr val="273A52"/>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7" name="직사각형 16">
            <a:extLst>
              <a:ext uri="{FF2B5EF4-FFF2-40B4-BE49-F238E27FC236}">
                <a16:creationId xmlns:a16="http://schemas.microsoft.com/office/drawing/2014/main" id="{A8ABDCFC-BA37-EC4D-8AF4-8247BBB36CBE}"/>
              </a:ext>
            </a:extLst>
          </p:cNvPr>
          <p:cNvSpPr/>
          <p:nvPr/>
        </p:nvSpPr>
        <p:spPr>
          <a:xfrm>
            <a:off x="6210300" y="4231099"/>
            <a:ext cx="5422900" cy="2041685"/>
          </a:xfrm>
          <a:prstGeom prst="rect">
            <a:avLst/>
          </a:prstGeom>
          <a:solidFill>
            <a:srgbClr val="F6F7F9"/>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vertOverflow="clip" horzOverflow="clip" wrap="square" lIns="203200" tIns="152400" rIns="203200" bIns="127000" rtlCol="0" anchor="t" anchorCtr="0">
            <a:noAutofit/>
          </a:bodyPr>
          <a:lstStyle/>
          <a:p>
            <a:pPr marL="171450" indent="-171450">
              <a:lnSpc>
                <a:spcPct val="124000"/>
              </a:lnSpc>
              <a:spcAft>
                <a:spcPts val="350"/>
              </a:spcAft>
              <a:buClr>
                <a:srgbClr val="273A52"/>
              </a:buClr>
              <a:buFont typeface="Arial" panose="020B0604020202020204" pitchFamily="34" charset="0"/>
              <a:buChar char="•"/>
            </a:pPr>
            <a:r>
              <a:rPr lang="ko-KR" altLang="ko-KR" sz="1120" b="1" dirty="0">
                <a:solidFill>
                  <a:srgbClr val="273A52"/>
                </a:solidFill>
                <a:latin typeface="맑은 고딕"/>
                <a:ea typeface="맑은 고딕"/>
              </a:rPr>
              <a:t>추론 </a:t>
            </a:r>
            <a:r>
              <a:rPr lang="ko-KR" altLang="ko-KR" sz="1120" b="1" dirty="0" err="1">
                <a:solidFill>
                  <a:srgbClr val="273A52"/>
                </a:solidFill>
                <a:latin typeface="맑은 고딕"/>
                <a:ea typeface="맑은 고딕"/>
              </a:rPr>
              <a:t>트레이스가</a:t>
            </a:r>
            <a:r>
              <a:rPr lang="ko-KR" altLang="ko-KR" sz="1120" b="1" dirty="0">
                <a:solidFill>
                  <a:srgbClr val="273A52"/>
                </a:solidFill>
                <a:latin typeface="맑은 고딕"/>
                <a:ea typeface="맑은 고딕"/>
              </a:rPr>
              <a:t> 내부 추론을 다 반영하진 못함 (실험 1·3) </a:t>
            </a:r>
            <a:r>
              <a:rPr lang="ko-KR" altLang="ko-KR" sz="1120" dirty="0">
                <a:solidFill>
                  <a:srgbClr val="1E2227"/>
                </a:solidFill>
                <a:latin typeface="맑은 고딕"/>
                <a:ea typeface="맑은 고딕"/>
              </a:rPr>
              <a:t>— 충돌 </a:t>
            </a:r>
            <a:r>
              <a:rPr lang="ko-KR" altLang="ko-KR" sz="1120" dirty="0" err="1">
                <a:solidFill>
                  <a:srgbClr val="1E2227"/>
                </a:solidFill>
                <a:latin typeface="맑은 고딕"/>
                <a:ea typeface="맑은 고딕"/>
              </a:rPr>
              <a:t>인지·해소를</a:t>
            </a:r>
            <a:r>
              <a:rPr lang="ko-KR" altLang="ko-KR" sz="1120" dirty="0">
                <a:solidFill>
                  <a:srgbClr val="1E2227"/>
                </a:solidFill>
                <a:latin typeface="맑은 고딕"/>
                <a:ea typeface="맑은 고딕"/>
              </a:rPr>
              <a:t> ‘쓰인 </a:t>
            </a:r>
            <a:r>
              <a:rPr lang="ko-KR" altLang="ko-KR" sz="1120" dirty="0" err="1">
                <a:solidFill>
                  <a:srgbClr val="1E2227"/>
                </a:solidFill>
                <a:latin typeface="맑은 고딕"/>
                <a:ea typeface="맑은 고딕"/>
              </a:rPr>
              <a:t>텍스트’로만</a:t>
            </a:r>
            <a:r>
              <a:rPr lang="ko-KR" altLang="ko-KR" sz="1120" dirty="0">
                <a:solidFill>
                  <a:srgbClr val="1E2227"/>
                </a:solidFill>
                <a:latin typeface="맑은 고딕"/>
                <a:ea typeface="맑은 고딕"/>
              </a:rPr>
              <a:t> 판정하므로, 모델이 속으로 알고도 쓰지 않은 경우는 놓침.</a:t>
            </a:r>
            <a:br>
              <a:rPr lang="ko-KR" altLang="ko-KR" sz="1120" dirty="0"/>
            </a:br>
            <a:r>
              <a:rPr lang="ko-KR" altLang="ko-KR" sz="1120" b="1" dirty="0">
                <a:solidFill>
                  <a:srgbClr val="1E7A6F"/>
                </a:solidFill>
                <a:latin typeface="맑은 고딕"/>
                <a:ea typeface="맑은 고딕"/>
              </a:rPr>
              <a:t>→ 대응: </a:t>
            </a:r>
            <a:r>
              <a:rPr lang="ko-KR" altLang="ko-KR" sz="1120" dirty="0">
                <a:solidFill>
                  <a:srgbClr val="1E2227"/>
                </a:solidFill>
                <a:latin typeface="맑은 고딕"/>
                <a:ea typeface="맑은 고딕"/>
              </a:rPr>
              <a:t>이중 </a:t>
            </a:r>
            <a:r>
              <a:rPr lang="ko-KR" altLang="ko-KR" sz="1120" dirty="0" err="1">
                <a:solidFill>
                  <a:srgbClr val="1E2227"/>
                </a:solidFill>
                <a:latin typeface="맑은 고딕"/>
                <a:ea typeface="맑은 고딕"/>
              </a:rPr>
              <a:t>라벨링</a:t>
            </a:r>
            <a:r>
              <a:rPr lang="ko-KR" altLang="ko-KR" sz="1120" dirty="0">
                <a:solidFill>
                  <a:srgbClr val="1E2227"/>
                </a:solidFill>
                <a:latin typeface="맑은 고딕"/>
                <a:ea typeface="맑은 고딕"/>
              </a:rPr>
              <a:t>(</a:t>
            </a:r>
            <a:r>
              <a:rPr lang="ko-KR" altLang="ko-KR" sz="1120" dirty="0" err="1">
                <a:solidFill>
                  <a:srgbClr val="1E2227"/>
                </a:solidFill>
                <a:latin typeface="맑은 고딕"/>
                <a:ea typeface="맑은 고딕"/>
              </a:rPr>
              <a:t>κ</a:t>
            </a:r>
            <a:r>
              <a:rPr lang="ko-KR" altLang="ko-KR" sz="1120" dirty="0">
                <a:solidFill>
                  <a:srgbClr val="1E2227"/>
                </a:solidFill>
                <a:latin typeface="맑은 고딕"/>
                <a:ea typeface="맑은 고딕"/>
              </a:rPr>
              <a:t>)</a:t>
            </a:r>
            <a:r>
              <a:rPr lang="ko-KR" altLang="ko-KR" sz="1120" dirty="0" err="1">
                <a:solidFill>
                  <a:srgbClr val="1E2227"/>
                </a:solidFill>
                <a:latin typeface="맑은 고딕"/>
                <a:ea typeface="맑은 고딕"/>
              </a:rPr>
              <a:t>으로</a:t>
            </a:r>
            <a:r>
              <a:rPr lang="ko-KR" altLang="ko-KR" sz="1120" dirty="0">
                <a:solidFill>
                  <a:srgbClr val="1E2227"/>
                </a:solidFill>
                <a:latin typeface="맑은 고딕"/>
                <a:ea typeface="맑은 고딕"/>
              </a:rPr>
              <a:t> 전수 검증, </a:t>
            </a:r>
            <a:r>
              <a:rPr lang="ko-KR" altLang="ko-KR" sz="1120" dirty="0" err="1">
                <a:solidFill>
                  <a:srgbClr val="1E2227"/>
                </a:solidFill>
                <a:latin typeface="맑은 고딕"/>
                <a:ea typeface="맑은 고딕"/>
              </a:rPr>
              <a:t>AIR은</a:t>
            </a:r>
            <a:r>
              <a:rPr lang="ko-KR" altLang="ko-KR" sz="1120" dirty="0">
                <a:solidFill>
                  <a:srgbClr val="1E2227"/>
                </a:solidFill>
                <a:latin typeface="맑은 고딕"/>
                <a:ea typeface="맑은 고딕"/>
              </a:rPr>
              <a:t> ‘써 놓고 어긴’ 경우만 집계.</a:t>
            </a:r>
            <a:endParaRPr lang="en-US" altLang="ko-KR" sz="1120" b="1" dirty="0">
              <a:solidFill>
                <a:srgbClr val="273A52"/>
              </a:solidFill>
              <a:latin typeface="맑은 고딕"/>
              <a:ea typeface="맑은 고딕"/>
            </a:endParaRPr>
          </a:p>
          <a:p>
            <a:pPr marL="171450" indent="-171450" algn="l">
              <a:lnSpc>
                <a:spcPct val="124000"/>
              </a:lnSpc>
              <a:spcAft>
                <a:spcPts val="350"/>
              </a:spcAft>
              <a:buClr>
                <a:srgbClr val="273A52"/>
              </a:buClr>
              <a:buFont typeface="Arial" panose="020B0604020202020204" pitchFamily="34" charset="0"/>
              <a:buChar char="•"/>
            </a:pPr>
            <a:r>
              <a:rPr lang="ko-KR" sz="1120" b="1" dirty="0">
                <a:solidFill>
                  <a:srgbClr val="273A52"/>
                </a:solidFill>
                <a:latin typeface="맑은 고딕"/>
                <a:ea typeface="맑은 고딕"/>
              </a:rPr>
              <a:t>개입은 출력 텍스트 단계에 한정 (실험 3) </a:t>
            </a:r>
            <a:r>
              <a:rPr lang="ko-KR" sz="1120" b="0" dirty="0">
                <a:solidFill>
                  <a:srgbClr val="1E2227"/>
                </a:solidFill>
                <a:latin typeface="맑은 고딕"/>
                <a:ea typeface="맑은 고딕"/>
              </a:rPr>
              <a:t>— 추론 트레이스(생성 텍스트)만 조작하고 모델 내부(활성화·가중치)는 미개입이라 ‘행동 수준’ 인과까지만 확인. 데이터도 웹검색·합성 위주.</a:t>
            </a:r>
            <a:br>
              <a:rPr lang="ko-KR" sz="1120" dirty="0"/>
            </a:br>
            <a:r>
              <a:rPr lang="ko-KR" sz="1120" b="1" dirty="0">
                <a:solidFill>
                  <a:srgbClr val="1E7A6F"/>
                </a:solidFill>
                <a:latin typeface="맑은 고딕"/>
                <a:ea typeface="맑은 고딕"/>
              </a:rPr>
              <a:t>→ 대응: </a:t>
            </a:r>
            <a:r>
              <a:rPr lang="ko-KR" sz="1120" b="0" dirty="0">
                <a:solidFill>
                  <a:srgbClr val="1E2227"/>
                </a:solidFill>
                <a:latin typeface="맑은 고딕"/>
                <a:ea typeface="맑은 고딕"/>
              </a:rPr>
              <a:t>내부 활성화 개입·기업 KB 적용은 향후 과제.</a:t>
            </a:r>
          </a:p>
        </p:txBody>
      </p:sp>
      <p:sp>
        <p:nvSpPr>
          <p:cNvPr id="18" name="Stage2Header">
            <a:extLst>
              <a:ext uri="{FF2B5EF4-FFF2-40B4-BE49-F238E27FC236}">
                <a16:creationId xmlns:a16="http://schemas.microsoft.com/office/drawing/2014/main" id="{6D0F4ECE-81C9-5BD3-7EFC-934CBDBB46AE}"/>
              </a:ext>
            </a:extLst>
          </p:cNvPr>
          <p:cNvSpPr/>
          <p:nvPr/>
        </p:nvSpPr>
        <p:spPr>
          <a:xfrm>
            <a:off x="633984" y="3906520"/>
            <a:ext cx="11087100" cy="273008"/>
          </a:xfrm>
          <a:prstGeom prst="rect">
            <a:avLst/>
          </a:prstGeom>
          <a:noFill/>
        </p:spPr>
        <p:txBody>
          <a:bodyPr wrap="square" lIns="0" tIns="0" rIns="0" bIns="0">
            <a:noAutofit/>
          </a:bodyPr>
          <a:lstStyle/>
          <a:p>
            <a:pPr algn="l"/>
            <a:r>
              <a:rPr lang="ko-KR" altLang="en-US" sz="1200" b="1" dirty="0">
                <a:solidFill>
                  <a:srgbClr val="273A52"/>
                </a:solidFill>
                <a:latin typeface="맑은 고딕"/>
                <a:ea typeface="맑은 고딕"/>
              </a:rPr>
              <a:t>한계점</a:t>
            </a:r>
            <a:endParaRPr lang="ko-KR" sz="1200" b="1" dirty="0">
              <a:solidFill>
                <a:srgbClr val="273A52"/>
              </a:solidFill>
              <a:latin typeface="맑은 고딕"/>
              <a:ea typeface="맑은 고딕"/>
            </a:endParaRPr>
          </a:p>
        </p:txBody>
      </p:sp>
      <p:sp>
        <p:nvSpPr>
          <p:cNvPr id="19" name="Stage2Header">
            <a:extLst>
              <a:ext uri="{FF2B5EF4-FFF2-40B4-BE49-F238E27FC236}">
                <a16:creationId xmlns:a16="http://schemas.microsoft.com/office/drawing/2014/main" id="{20BBC32E-02C7-78E9-DE41-C58F2CA576DD}"/>
              </a:ext>
            </a:extLst>
          </p:cNvPr>
          <p:cNvSpPr/>
          <p:nvPr/>
        </p:nvSpPr>
        <p:spPr>
          <a:xfrm>
            <a:off x="597573" y="1376497"/>
            <a:ext cx="11087100" cy="273008"/>
          </a:xfrm>
          <a:prstGeom prst="rect">
            <a:avLst/>
          </a:prstGeom>
          <a:noFill/>
        </p:spPr>
        <p:txBody>
          <a:bodyPr wrap="square" lIns="0" tIns="0" rIns="0" bIns="0">
            <a:noAutofit/>
          </a:bodyPr>
          <a:lstStyle/>
          <a:p>
            <a:pPr algn="l"/>
            <a:r>
              <a:rPr lang="ko-KR" altLang="en-US" sz="1200" b="1" dirty="0">
                <a:solidFill>
                  <a:srgbClr val="273A52"/>
                </a:solidFill>
                <a:latin typeface="맑은 고딕"/>
                <a:ea typeface="맑은 고딕"/>
              </a:rPr>
              <a:t>예상 결과</a:t>
            </a:r>
            <a:endParaRPr lang="ko-KR" sz="1200" b="1" dirty="0">
              <a:solidFill>
                <a:srgbClr val="273A52"/>
              </a:solidFill>
              <a:latin typeface="맑은 고딕"/>
              <a:ea typeface="맑은 고딕"/>
            </a:endParaRPr>
          </a:p>
        </p:txBody>
      </p:sp>
    </p:spTree>
    <p:extLst>
      <p:ext uri="{BB962C8B-B14F-4D97-AF65-F5344CB8AC3E}">
        <p14:creationId xmlns:p14="http://schemas.microsoft.com/office/powerpoint/2010/main" val="38873384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9184"/>
            <a:ext cx="11091672" cy="210955"/>
          </a:xfrm>
          <a:prstGeom prst="rect">
            <a:avLst/>
          </a:prstGeom>
          <a:noFill/>
        </p:spPr>
        <p:txBody>
          <a:bodyPr wrap="square" lIns="0" tIns="0" rIns="0" bIns="0">
            <a:spAutoFit/>
          </a:bodyPr>
          <a:lstStyle/>
          <a:p>
            <a:pPr algn="l">
              <a:lnSpc>
                <a:spcPct val="122000"/>
              </a:lnSpc>
              <a:spcAft>
                <a:spcPts val="450"/>
              </a:spcAft>
            </a:pPr>
            <a:r>
              <a:rPr lang="en-US" sz="1250" b="1" dirty="0">
                <a:solidFill>
                  <a:srgbClr val="273A52"/>
                </a:solidFill>
                <a:latin typeface="맑은 고딕"/>
                <a:ea typeface="맑은 고딕"/>
              </a:rPr>
              <a:t>§6 향후 연구</a:t>
            </a:r>
          </a:p>
        </p:txBody>
      </p:sp>
      <p:sp>
        <p:nvSpPr>
          <p:cNvPr id="3" name="TextBox 2"/>
          <p:cNvSpPr txBox="1"/>
          <p:nvPr/>
        </p:nvSpPr>
        <p:spPr>
          <a:xfrm>
            <a:off x="548640" y="585216"/>
            <a:ext cx="11091672" cy="502920"/>
          </a:xfrm>
          <a:prstGeom prst="rect">
            <a:avLst/>
          </a:prstGeom>
          <a:noFill/>
        </p:spPr>
        <p:txBody>
          <a:bodyPr wrap="square" lIns="0" tIns="0" rIns="0" bIns="0">
            <a:spAutoFit/>
          </a:bodyPr>
          <a:lstStyle/>
          <a:p>
            <a:pPr algn="l">
              <a:lnSpc>
                <a:spcPct val="122000"/>
              </a:lnSpc>
              <a:spcAft>
                <a:spcPts val="450"/>
              </a:spcAft>
            </a:pPr>
            <a:r>
              <a:rPr sz="2350" b="1">
                <a:solidFill>
                  <a:srgbClr val="273A52"/>
                </a:solidFill>
                <a:latin typeface="맑은 고딕"/>
                <a:ea typeface="맑은 고딕"/>
              </a:rPr>
              <a:t>향후 연구: 진단 결과에 따른 분기</a:t>
            </a:r>
          </a:p>
        </p:txBody>
      </p:sp>
      <p:sp>
        <p:nvSpPr>
          <p:cNvPr id="4" name="Rectangle 3"/>
          <p:cNvSpPr/>
          <p:nvPr/>
        </p:nvSpPr>
        <p:spPr>
          <a:xfrm>
            <a:off x="548640" y="1133856"/>
            <a:ext cx="11091672" cy="17780"/>
          </a:xfrm>
          <a:prstGeom prst="rect">
            <a:avLst/>
          </a:prstGeom>
          <a:solidFill>
            <a:srgbClr val="D8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73952"/>
            <a:ext cx="484632" cy="274320"/>
          </a:xfrm>
          <a:prstGeom prst="rect">
            <a:avLst/>
          </a:prstGeom>
          <a:noFill/>
        </p:spPr>
        <p:txBody>
          <a:bodyPr wrap="square" lIns="0" tIns="0" rIns="0" bIns="0">
            <a:spAutoFit/>
          </a:bodyPr>
          <a:lstStyle/>
          <a:p>
            <a:pPr algn="r">
              <a:lnSpc>
                <a:spcPct val="122000"/>
              </a:lnSpc>
              <a:spcAft>
                <a:spcPts val="450"/>
              </a:spcAft>
            </a:pPr>
            <a:fld id="{C2B3A1D0-1111-2222-3333-444455556666}" type="slidenum">
              <a:rPr lang="en-US" altLang="ko-KR" sz="950">
                <a:solidFill>
                  <a:srgbClr val="6B7480"/>
                </a:solidFill>
                <a:latin typeface="맑은 고딕"/>
                <a:ea typeface="맑은 고딕"/>
              </a:rPr>
              <a:t>24</a:t>
            </a:fld>
            <a:endParaRPr lang="en-US" altLang="ko-KR" sz="950">
              <a:solidFill>
                <a:srgbClr val="6B7480"/>
              </a:solidFill>
              <a:latin typeface="맑은 고딕"/>
              <a:ea typeface="맑은 고딕"/>
            </a:endParaRPr>
          </a:p>
        </p:txBody>
      </p:sp>
      <p:sp>
        <p:nvSpPr>
          <p:cNvPr id="7" name="TextBox 6"/>
          <p:cNvSpPr txBox="1"/>
          <p:nvPr/>
        </p:nvSpPr>
        <p:spPr>
          <a:xfrm>
            <a:off x="548640" y="1270000"/>
            <a:ext cx="11091672" cy="207557"/>
          </a:xfrm>
          <a:prstGeom prst="rect">
            <a:avLst/>
          </a:prstGeom>
          <a:noFill/>
        </p:spPr>
        <p:txBody>
          <a:bodyPr wrap="square" lIns="91440" tIns="45720" rIns="91440" bIns="45720" anchor="t" anchorCtr="0">
            <a:spAutoFit/>
          </a:bodyPr>
          <a:lstStyle/>
          <a:p>
            <a:pPr algn="l">
              <a:lnSpc>
                <a:spcPct val="122000"/>
              </a:lnSpc>
              <a:spcAft>
                <a:spcPts val="450"/>
              </a:spcAft>
            </a:pPr>
            <a:r>
              <a:rPr lang="ko-KR" sz="1230" b="0" dirty="0">
                <a:solidFill>
                  <a:srgbClr val="6B7480"/>
                </a:solidFill>
                <a:latin typeface="맑은 고딕"/>
                <a:ea typeface="맑은 고딕"/>
              </a:rPr>
              <a:t>본 연구는 진단에 집중합니다. 처방(완화 설계)은 진단이 개입 지점을 특정한 뒤에야 근거를 갖습니다. 예상 결과에 따라 다음과 같이 갈립니다.</a:t>
            </a:r>
          </a:p>
        </p:txBody>
      </p:sp>
      <p:graphicFrame>
        <p:nvGraphicFramePr>
          <p:cNvPr id="8" name="Table 7"/>
          <p:cNvGraphicFramePr>
            <a:graphicFrameLocks noGrp="1"/>
          </p:cNvGraphicFramePr>
          <p:nvPr/>
        </p:nvGraphicFramePr>
        <p:xfrm>
          <a:off x="548640" y="1654048"/>
          <a:ext cx="11091672" cy="4430482"/>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3937000">
                  <a:extLst>
                    <a:ext uri="{9D8B030D-6E8A-4147-A177-3AD203B41FA5}">
                      <a16:colId xmlns:a16="http://schemas.microsoft.com/office/drawing/2014/main" val="20001"/>
                    </a:ext>
                  </a:extLst>
                </a:gridCol>
                <a:gridCol w="4868672">
                  <a:extLst>
                    <a:ext uri="{9D8B030D-6E8A-4147-A177-3AD203B41FA5}">
                      <a16:colId xmlns:a16="http://schemas.microsoft.com/office/drawing/2014/main" val="20002"/>
                    </a:ext>
                  </a:extLst>
                </a:gridCol>
              </a:tblGrid>
              <a:tr h="428754">
                <a:tc>
                  <a:txBody>
                    <a:bodyPr/>
                    <a:lstStyle/>
                    <a:p>
                      <a:pPr algn="ctr">
                        <a:lnSpc>
                          <a:spcPct val="114000"/>
                        </a:lnSpc>
                      </a:pPr>
                      <a:r>
                        <a:rPr lang="ko-KR" sz="1300" b="1" dirty="0">
                          <a:solidFill>
                            <a:srgbClr val="FFFFFF"/>
                          </a:solidFill>
                          <a:latin typeface="맑은 고딕"/>
                          <a:ea typeface="맑은 고딕"/>
                        </a:rPr>
                        <a:t>진단 결과</a:t>
                      </a:r>
                    </a:p>
                  </a:txBody>
                  <a:tcPr marL="82296" marR="82296" marT="36576" marB="36576" anchor="ctr">
                    <a:solidFill>
                      <a:srgbClr val="273A52"/>
                    </a:solidFill>
                  </a:tcPr>
                </a:tc>
                <a:tc>
                  <a:txBody>
                    <a:bodyPr/>
                    <a:lstStyle/>
                    <a:p>
                      <a:pPr algn="ctr">
                        <a:lnSpc>
                          <a:spcPct val="114000"/>
                        </a:lnSpc>
                      </a:pPr>
                      <a:r>
                        <a:rPr lang="ko-KR" sz="1300" b="1" dirty="0">
                          <a:solidFill>
                            <a:srgbClr val="FFFFFF"/>
                          </a:solidFill>
                          <a:latin typeface="맑은 고딕"/>
                          <a:ea typeface="맑은 고딕"/>
                        </a:rPr>
                        <a:t>의미</a:t>
                      </a:r>
                    </a:p>
                  </a:txBody>
                  <a:tcPr marL="82296" marR="82296" marT="36576" marB="36576" anchor="ctr">
                    <a:solidFill>
                      <a:srgbClr val="273A52"/>
                    </a:solidFill>
                  </a:tcPr>
                </a:tc>
                <a:tc>
                  <a:txBody>
                    <a:bodyPr/>
                    <a:lstStyle/>
                    <a:p>
                      <a:pPr algn="ctr">
                        <a:lnSpc>
                          <a:spcPct val="114000"/>
                        </a:lnSpc>
                      </a:pPr>
                      <a:r>
                        <a:rPr lang="ko-KR" sz="1300" b="1" dirty="0">
                          <a:solidFill>
                            <a:srgbClr val="FFFFFF"/>
                          </a:solidFill>
                          <a:latin typeface="맑은 고딕"/>
                          <a:ea typeface="맑은 고딕"/>
                        </a:rPr>
                        <a:t>후속 연구: 가능한 처방</a:t>
                      </a:r>
                    </a:p>
                  </a:txBody>
                  <a:tcPr marL="82296" marR="82296" marT="36576" marB="36576" anchor="ctr">
                    <a:solidFill>
                      <a:srgbClr val="273A52"/>
                    </a:solidFill>
                  </a:tcPr>
                </a:tc>
                <a:extLst>
                  <a:ext uri="{0D108BD9-81ED-4DB2-BD59-A6C34878D82A}">
                    <a16:rowId xmlns:a16="http://schemas.microsoft.com/office/drawing/2014/main" val="10000"/>
                  </a:ext>
                </a:extLst>
              </a:tr>
              <a:tr h="1000432">
                <a:tc>
                  <a:txBody>
                    <a:bodyPr/>
                    <a:lstStyle/>
                    <a:p>
                      <a:pPr algn="l">
                        <a:lnSpc>
                          <a:spcPct val="116000"/>
                        </a:lnSpc>
                      </a:pPr>
                      <a:r>
                        <a:rPr lang="ko-KR" sz="1200" b="1" dirty="0">
                          <a:solidFill>
                            <a:srgbClr val="1E2227"/>
                          </a:solidFill>
                          <a:latin typeface="맑은 고딕"/>
                          <a:ea typeface="맑은 고딕"/>
                        </a:rPr>
                        <a:t>AIR ↑</a:t>
                      </a:r>
                      <a:endParaRPr lang="ko-KR" sz="1200" b="0" dirty="0">
                        <a:solidFill>
                          <a:srgbClr val="1E2227"/>
                        </a:solidFill>
                        <a:latin typeface="맑은 고딕"/>
                        <a:ea typeface="맑은 고딕"/>
                      </a:endParaRPr>
                    </a:p>
                  </a:txBody>
                  <a:tcPr marL="82296" marR="82296" marT="36576" marB="36576" anchor="ctr">
                    <a:solidFill>
                      <a:srgbClr val="FFFFFF"/>
                    </a:solidFill>
                  </a:tcPr>
                </a:tc>
                <a:tc>
                  <a:txBody>
                    <a:bodyPr/>
                    <a:lstStyle/>
                    <a:p>
                      <a:pPr marL="171450" indent="-171450" algn="l">
                        <a:lnSpc>
                          <a:spcPct val="120000"/>
                        </a:lnSpc>
                        <a:buFont typeface="Arial" panose="020B0604020202020204" pitchFamily="34" charset="0"/>
                        <a:buChar char="•"/>
                      </a:pPr>
                      <a:r>
                        <a:rPr lang="ko-KR" sz="1200" b="0" dirty="0">
                          <a:solidFill>
                            <a:srgbClr val="1E2227"/>
                          </a:solidFill>
                          <a:latin typeface="맑은 고딕"/>
                          <a:ea typeface="맑은 고딕"/>
                        </a:rPr>
                        <a:t>추론은 결론에 도달했으나 </a:t>
                      </a:r>
                      <a:r>
                        <a:rPr lang="ko-KR" sz="1200" b="1" dirty="0">
                          <a:solidFill>
                            <a:srgbClr val="1E2227"/>
                          </a:solidFill>
                          <a:latin typeface="맑은 고딕"/>
                          <a:ea typeface="맑은 고딕"/>
                        </a:rPr>
                        <a:t>답변 표출 단계에서 유실</a:t>
                      </a:r>
                      <a:endParaRPr lang="en-US" altLang="ko-KR" sz="1200" b="1" dirty="0">
                        <a:solidFill>
                          <a:srgbClr val="1E2227"/>
                        </a:solidFill>
                        <a:latin typeface="맑은 고딕"/>
                        <a:ea typeface="맑은 고딕"/>
                      </a:endParaRPr>
                    </a:p>
                    <a:p>
                      <a:pPr marL="171450" indent="-171450" algn="l">
                        <a:lnSpc>
                          <a:spcPct val="120000"/>
                        </a:lnSpc>
                        <a:buFont typeface="Arial" panose="020B0604020202020204" pitchFamily="34" charset="0"/>
                        <a:buChar char="•"/>
                      </a:pPr>
                      <a:r>
                        <a:rPr lang="ko-KR" sz="1200" b="0" dirty="0">
                          <a:solidFill>
                            <a:srgbClr val="1E2227"/>
                          </a:solidFill>
                          <a:latin typeface="맑은 고딕"/>
                          <a:ea typeface="맑은 고딕"/>
                        </a:rPr>
                        <a:t>병목이 추론→답변 전이부에 있음.</a:t>
                      </a:r>
                    </a:p>
                  </a:txBody>
                  <a:tcPr marL="82296" marR="82296" marT="36576" marB="36576" anchor="ctr">
                    <a:solidFill>
                      <a:srgbClr val="FFFFFF"/>
                    </a:solidFill>
                  </a:tcPr>
                </a:tc>
                <a:tc>
                  <a:txBody>
                    <a:bodyPr/>
                    <a:lstStyle/>
                    <a:p>
                      <a:pPr marL="171450" indent="-171450" algn="l">
                        <a:lnSpc>
                          <a:spcPct val="112000"/>
                        </a:lnSpc>
                        <a:spcAft>
                          <a:spcPts val="200"/>
                        </a:spcAft>
                        <a:buClr>
                          <a:srgbClr val="1E7A6F"/>
                        </a:buClr>
                        <a:buFont typeface="Arial"/>
                        <a:buChar char="•"/>
                      </a:pPr>
                      <a:r>
                        <a:rPr lang="ko-KR" sz="1200" b="0" dirty="0">
                          <a:solidFill>
                            <a:srgbClr val="1E2227"/>
                          </a:solidFill>
                          <a:latin typeface="맑은 고딕"/>
                          <a:ea typeface="맑은 고딕"/>
                        </a:rPr>
                        <a:t>엔트로피 스파이크 지점 트리거 재디코딩</a:t>
                      </a:r>
                    </a:p>
                    <a:p>
                      <a:pPr marL="171450" indent="-171450" algn="l">
                        <a:lnSpc>
                          <a:spcPct val="112000"/>
                        </a:lnSpc>
                        <a:spcAft>
                          <a:spcPts val="200"/>
                        </a:spcAft>
                        <a:buClr>
                          <a:srgbClr val="1E7A6F"/>
                        </a:buClr>
                        <a:buFont typeface="Arial"/>
                        <a:buChar char="•"/>
                      </a:pPr>
                      <a:r>
                        <a:rPr lang="ko-KR" sz="1200" b="0" dirty="0">
                          <a:solidFill>
                            <a:srgbClr val="1E2227"/>
                          </a:solidFill>
                          <a:latin typeface="맑은 고딕"/>
                          <a:ea typeface="맑은 고딕"/>
                        </a:rPr>
                        <a:t>표출 직전 외부 검증기(verifier)로 답변 채택 여부 게이팅</a:t>
                      </a:r>
                    </a:p>
                    <a:p>
                      <a:pPr marL="171450" indent="-171450" algn="l">
                        <a:lnSpc>
                          <a:spcPct val="112000"/>
                        </a:lnSpc>
                        <a:spcAft>
                          <a:spcPts val="200"/>
                        </a:spcAft>
                        <a:buClr>
                          <a:srgbClr val="1E7A6F"/>
                        </a:buClr>
                        <a:buFont typeface="Arial"/>
                        <a:buChar char="•"/>
                      </a:pPr>
                      <a:r>
                        <a:rPr lang="ko-KR" sz="1200" b="0" dirty="0">
                          <a:solidFill>
                            <a:srgbClr val="1E2227"/>
                          </a:solidFill>
                          <a:latin typeface="맑은 고딕"/>
                          <a:ea typeface="맑은 고딕"/>
                        </a:rPr>
                        <a:t>추론↔답변 정합성 정렬 학습(consistency loss)</a:t>
                      </a:r>
                    </a:p>
                  </a:txBody>
                  <a:tcPr marL="82296" marR="82296" marT="36576" marB="36576" anchor="ctr">
                    <a:solidFill>
                      <a:srgbClr val="FFFFFF"/>
                    </a:solidFill>
                  </a:tcPr>
                </a:tc>
                <a:extLst>
                  <a:ext uri="{0D108BD9-81ED-4DB2-BD59-A6C34878D82A}">
                    <a16:rowId xmlns:a16="http://schemas.microsoft.com/office/drawing/2014/main" val="10001"/>
                  </a:ext>
                </a:extLst>
              </a:tr>
              <a:tr h="1000432">
                <a:tc>
                  <a:txBody>
                    <a:bodyPr/>
                    <a:lstStyle/>
                    <a:p>
                      <a:pPr algn="l">
                        <a:lnSpc>
                          <a:spcPct val="116000"/>
                        </a:lnSpc>
                      </a:pPr>
                      <a:r>
                        <a:rPr lang="ko-KR" sz="1200" b="1" dirty="0">
                          <a:solidFill>
                            <a:srgbClr val="1E2227"/>
                          </a:solidFill>
                          <a:latin typeface="맑은 고딕"/>
                          <a:ea typeface="맑은 고딕"/>
                        </a:rPr>
                        <a:t>LGR ↓</a:t>
                      </a:r>
                      <a:r>
                        <a:rPr lang="ko-KR" sz="1200" b="0" dirty="0">
                          <a:solidFill>
                            <a:srgbClr val="1E2227"/>
                          </a:solidFill>
                          <a:latin typeface="맑은 고딕"/>
                          <a:ea typeface="맑은 고딕"/>
                        </a:rPr>
                        <a:t> </a:t>
                      </a:r>
                    </a:p>
                  </a:txBody>
                  <a:tcPr marL="82296" marR="82296" marT="36576" marB="36576" anchor="ctr">
                    <a:solidFill>
                      <a:srgbClr val="F6F7F9"/>
                    </a:solidFill>
                  </a:tcPr>
                </a:tc>
                <a:tc>
                  <a:txBody>
                    <a:bodyPr/>
                    <a:lstStyle/>
                    <a:p>
                      <a:pPr marL="171450" indent="-171450" algn="l">
                        <a:lnSpc>
                          <a:spcPct val="120000"/>
                        </a:lnSpc>
                        <a:buFont typeface="Arial" panose="020B0604020202020204" pitchFamily="34" charset="0"/>
                        <a:buChar char="•"/>
                      </a:pPr>
                      <a:r>
                        <a:rPr lang="ko-KR" sz="1200" b="0" dirty="0">
                          <a:solidFill>
                            <a:srgbClr val="1E2227"/>
                          </a:solidFill>
                          <a:latin typeface="맑은 고딕"/>
                          <a:ea typeface="맑은 고딕"/>
                        </a:rPr>
                        <a:t>정답률 상승이 </a:t>
                      </a:r>
                      <a:r>
                        <a:rPr lang="ko-KR" sz="1200" b="1" dirty="0">
                          <a:solidFill>
                            <a:srgbClr val="1E2227"/>
                          </a:solidFill>
                          <a:latin typeface="맑은 고딕"/>
                          <a:ea typeface="맑은 고딕"/>
                        </a:rPr>
                        <a:t>취약 경로(도약·불협)에서 유래</a:t>
                      </a:r>
                      <a:endParaRPr lang="en-US" altLang="ko-KR" sz="1200" b="0" dirty="0">
                        <a:solidFill>
                          <a:srgbClr val="1E2227"/>
                        </a:solidFill>
                        <a:latin typeface="맑은 고딕"/>
                        <a:ea typeface="맑은 고딕"/>
                      </a:endParaRPr>
                    </a:p>
                    <a:p>
                      <a:pPr marL="171450" indent="-171450" algn="l">
                        <a:lnSpc>
                          <a:spcPct val="120000"/>
                        </a:lnSpc>
                        <a:buFont typeface="Arial" panose="020B0604020202020204" pitchFamily="34" charset="0"/>
                        <a:buChar char="•"/>
                      </a:pPr>
                      <a:r>
                        <a:rPr lang="ko-KR" sz="1200" b="0" dirty="0">
                          <a:solidFill>
                            <a:srgbClr val="1E2227"/>
                          </a:solidFill>
                          <a:latin typeface="맑은 고딕"/>
                          <a:ea typeface="맑은 고딕"/>
                        </a:rPr>
                        <a:t>이득이 견고한 추론 개선이 아님.</a:t>
                      </a:r>
                    </a:p>
                  </a:txBody>
                  <a:tcPr marL="82296" marR="82296" marT="36576" marB="36576" anchor="ctr">
                    <a:solidFill>
                      <a:srgbClr val="F6F7F9"/>
                    </a:solidFill>
                  </a:tcPr>
                </a:tc>
                <a:tc>
                  <a:txBody>
                    <a:bodyPr/>
                    <a:lstStyle/>
                    <a:p>
                      <a:pPr marL="171450" indent="-171450" algn="l">
                        <a:lnSpc>
                          <a:spcPct val="112000"/>
                        </a:lnSpc>
                        <a:spcAft>
                          <a:spcPts val="200"/>
                        </a:spcAft>
                        <a:buClr>
                          <a:srgbClr val="1E7A6F"/>
                        </a:buClr>
                        <a:buFont typeface="Arial"/>
                        <a:buChar char="•"/>
                      </a:pPr>
                      <a:r>
                        <a:rPr lang="ko-KR" sz="1200" b="0" dirty="0">
                          <a:solidFill>
                            <a:srgbClr val="1E2227"/>
                          </a:solidFill>
                          <a:latin typeface="맑은 고딕"/>
                          <a:ea typeface="맑은 고딕"/>
                        </a:rPr>
                        <a:t>사후 경로 판정을 선택 필터로 활용 — 견고 경로로 도달한 샘플만 채택(재랭킹·rejection sampling)</a:t>
                      </a:r>
                    </a:p>
                    <a:p>
                      <a:pPr marL="171450" indent="-171450" algn="l">
                        <a:lnSpc>
                          <a:spcPct val="112000"/>
                        </a:lnSpc>
                        <a:spcAft>
                          <a:spcPts val="200"/>
                        </a:spcAft>
                        <a:buClr>
                          <a:srgbClr val="1E7A6F"/>
                        </a:buClr>
                        <a:buFont typeface="Arial"/>
                        <a:buChar char="•"/>
                      </a:pPr>
                      <a:r>
                        <a:rPr lang="ko-KR" sz="1200" b="0" dirty="0">
                          <a:solidFill>
                            <a:srgbClr val="1E2227"/>
                          </a:solidFill>
                          <a:latin typeface="맑은 고딕"/>
                          <a:ea typeface="맑은 고딕"/>
                        </a:rPr>
                        <a:t>정답률이 아니라 견고 경로 비중(LGR)을 직접 높이도록 보상·튜닝</a:t>
                      </a:r>
                    </a:p>
                  </a:txBody>
                  <a:tcPr marL="82296" marR="82296" marT="36576" marB="36576" anchor="ctr">
                    <a:solidFill>
                      <a:srgbClr val="F6F7F9"/>
                    </a:solidFill>
                  </a:tcPr>
                </a:tc>
                <a:extLst>
                  <a:ext uri="{0D108BD9-81ED-4DB2-BD59-A6C34878D82A}">
                    <a16:rowId xmlns:a16="http://schemas.microsoft.com/office/drawing/2014/main" val="10002"/>
                  </a:ext>
                </a:extLst>
              </a:tr>
              <a:tr h="1000432">
                <a:tc>
                  <a:txBody>
                    <a:bodyPr/>
                    <a:lstStyle/>
                    <a:p>
                      <a:pPr algn="l">
                        <a:lnSpc>
                          <a:spcPct val="116000"/>
                        </a:lnSpc>
                      </a:pPr>
                      <a:r>
                        <a:rPr lang="ko-KR" sz="1200" b="1" dirty="0" err="1">
                          <a:solidFill>
                            <a:srgbClr val="1E2227"/>
                          </a:solidFill>
                          <a:latin typeface="맑은 고딕"/>
                          <a:ea typeface="맑은 고딕"/>
                        </a:rPr>
                        <a:t>Shortcut ↑</a:t>
                      </a:r>
                      <a:endParaRPr lang="ko-KR" sz="1200" b="0" dirty="0">
                        <a:solidFill>
                          <a:srgbClr val="1E2227"/>
                        </a:solidFill>
                        <a:latin typeface="맑은 고딕"/>
                        <a:ea typeface="맑은 고딕"/>
                      </a:endParaRPr>
                    </a:p>
                  </a:txBody>
                  <a:tcPr marL="82296" marR="82296" marT="36576" marB="36576" anchor="ctr">
                    <a:solidFill>
                      <a:srgbClr val="FFFFFF"/>
                    </a:solidFill>
                  </a:tcPr>
                </a:tc>
                <a:tc>
                  <a:txBody>
                    <a:bodyPr/>
                    <a:lstStyle/>
                    <a:p>
                      <a:pPr marL="171450" indent="-171450" algn="l">
                        <a:lnSpc>
                          <a:spcPct val="120000"/>
                        </a:lnSpc>
                        <a:buFont typeface="Arial" panose="020B0604020202020204" pitchFamily="34" charset="0"/>
                        <a:buChar char="•"/>
                      </a:pPr>
                      <a:r>
                        <a:rPr lang="ko-KR" sz="1200" b="0" dirty="0">
                          <a:solidFill>
                            <a:srgbClr val="1E2227"/>
                          </a:solidFill>
                          <a:latin typeface="맑은 고딕"/>
                          <a:ea typeface="맑은 고딕"/>
                        </a:rPr>
                        <a:t>정답 중 상당수가 제대로 된 추론이 아니라 </a:t>
                      </a:r>
                      <a:r>
                        <a:rPr lang="ko-KR" sz="1200" b="1" dirty="0">
                          <a:solidFill>
                            <a:srgbClr val="1E2227"/>
                          </a:solidFill>
                          <a:latin typeface="맑은 고딕"/>
                          <a:ea typeface="맑은 고딕"/>
                        </a:rPr>
                        <a:t>지름길(도약)로 맞힌 것</a:t>
                      </a:r>
                      <a:endParaRPr lang="en-US" altLang="ko-KR" sz="1200" b="0" dirty="0">
                        <a:solidFill>
                          <a:srgbClr val="1E2227"/>
                        </a:solidFill>
                        <a:latin typeface="맑은 고딕"/>
                        <a:ea typeface="맑은 고딕"/>
                      </a:endParaRPr>
                    </a:p>
                    <a:p>
                      <a:pPr marL="171450" indent="-171450" algn="l">
                        <a:lnSpc>
                          <a:spcPct val="120000"/>
                        </a:lnSpc>
                        <a:buFont typeface="Arial" panose="020B0604020202020204" pitchFamily="34" charset="0"/>
                        <a:buChar char="•"/>
                      </a:pPr>
                      <a:r>
                        <a:rPr lang="ko-KR" sz="1200" b="0" dirty="0">
                          <a:solidFill>
                            <a:srgbClr val="1E2227"/>
                          </a:solidFill>
                          <a:latin typeface="맑은 고딕"/>
                          <a:ea typeface="맑은 고딕"/>
                        </a:rPr>
                        <a:t>겉보기 정답률이 실제 추론력을 과대평가.</a:t>
                      </a:r>
                    </a:p>
                  </a:txBody>
                  <a:tcPr marL="82296" marR="82296" marT="36576" marB="36576" anchor="ctr">
                    <a:solidFill>
                      <a:srgbClr val="FFFFFF"/>
                    </a:solidFill>
                  </a:tcPr>
                </a:tc>
                <a:tc>
                  <a:txBody>
                    <a:bodyPr/>
                    <a:lstStyle/>
                    <a:p>
                      <a:pPr marL="171450" indent="-171450" algn="l">
                        <a:lnSpc>
                          <a:spcPct val="112000"/>
                        </a:lnSpc>
                        <a:spcAft>
                          <a:spcPts val="200"/>
                        </a:spcAft>
                        <a:buClr>
                          <a:srgbClr val="1E7A6F"/>
                        </a:buClr>
                        <a:buFont typeface="Arial"/>
                        <a:buChar char="•"/>
                      </a:pPr>
                      <a:r>
                        <a:rPr lang="ko-KR" sz="1200" b="0" dirty="0">
                          <a:solidFill>
                            <a:srgbClr val="1E2227"/>
                          </a:solidFill>
                          <a:latin typeface="맑은 고딕"/>
                          <a:ea typeface="맑은 고딕"/>
                        </a:rPr>
                        <a:t>답변 전 충돌 해소 단계를 명시적으로 강제 (프롬프트·경량 학습)</a:t>
                      </a:r>
                    </a:p>
                    <a:p>
                      <a:pPr marL="171450" indent="-171450" algn="l">
                        <a:lnSpc>
                          <a:spcPct val="112000"/>
                        </a:lnSpc>
                        <a:spcAft>
                          <a:spcPts val="200"/>
                        </a:spcAft>
                        <a:buClr>
                          <a:srgbClr val="1E7A6F"/>
                        </a:buClr>
                        <a:buFont typeface="Arial"/>
                        <a:buChar char="•"/>
                      </a:pPr>
                      <a:r>
                        <a:rPr lang="ko-KR" sz="1200" b="0" dirty="0">
                          <a:solidFill>
                            <a:srgbClr val="1E2227"/>
                          </a:solidFill>
                          <a:latin typeface="맑은 고딕"/>
                          <a:ea typeface="맑은 고딕"/>
                        </a:rPr>
                        <a:t>근거·해소 과정을 밟았는지 검증하는 과정 보상(process reward)으로 도약 억제</a:t>
                      </a:r>
                    </a:p>
                  </a:txBody>
                  <a:tcPr marL="82296" marR="82296" marT="36576" marB="36576" anchor="ctr">
                    <a:solidFill>
                      <a:srgbClr val="FFFFFF"/>
                    </a:solidFill>
                  </a:tcPr>
                </a:tc>
                <a:extLst>
                  <a:ext uri="{0D108BD9-81ED-4DB2-BD59-A6C34878D82A}">
                    <a16:rowId xmlns:a16="http://schemas.microsoft.com/office/drawing/2014/main" val="10003"/>
                  </a:ext>
                </a:extLst>
              </a:tr>
              <a:tr h="1000432">
                <a:tc>
                  <a:txBody>
                    <a:bodyPr/>
                    <a:lstStyle/>
                    <a:p>
                      <a:pPr algn="l">
                        <a:lnSpc>
                          <a:spcPct val="116000"/>
                        </a:lnSpc>
                      </a:pPr>
                      <a:r>
                        <a:rPr lang="ko-KR" sz="1200" b="1" dirty="0">
                          <a:solidFill>
                            <a:srgbClr val="1E2227"/>
                          </a:solidFill>
                          <a:latin typeface="맑은 고딕"/>
                          <a:ea typeface="맑은 고딕"/>
                        </a:rPr>
                        <a:t>추론 OFF 시 오류 소멸</a:t>
                      </a:r>
                    </a:p>
                  </a:txBody>
                  <a:tcPr marL="82296" marR="82296" marT="36576" marB="36576" anchor="ctr">
                    <a:solidFill>
                      <a:srgbClr val="F6F7F9"/>
                    </a:solidFill>
                  </a:tcPr>
                </a:tc>
                <a:tc>
                  <a:txBody>
                    <a:bodyPr/>
                    <a:lstStyle/>
                    <a:p>
                      <a:pPr marL="171450" indent="-171450" algn="l">
                        <a:lnSpc>
                          <a:spcPct val="120000"/>
                        </a:lnSpc>
                        <a:buFont typeface="Arial" panose="020B0604020202020204" pitchFamily="34" charset="0"/>
                        <a:buChar char="•"/>
                      </a:pPr>
                      <a:r>
                        <a:rPr lang="ko-KR" sz="1200" b="0" dirty="0">
                          <a:solidFill>
                            <a:srgbClr val="1E2227"/>
                          </a:solidFill>
                          <a:latin typeface="맑은 고딕"/>
                          <a:ea typeface="맑은 고딕"/>
                        </a:rPr>
                        <a:t>추론을 끄면 이 실패가 사라짐</a:t>
                      </a:r>
                      <a:endParaRPr lang="en-US" altLang="ko-KR" sz="1200" b="0" dirty="0">
                        <a:solidFill>
                          <a:srgbClr val="1E2227"/>
                        </a:solidFill>
                        <a:latin typeface="맑은 고딕"/>
                        <a:ea typeface="맑은 고딕"/>
                      </a:endParaRPr>
                    </a:p>
                    <a:p>
                      <a:pPr marL="171450" indent="-171450" algn="l">
                        <a:lnSpc>
                          <a:spcPct val="120000"/>
                        </a:lnSpc>
                        <a:buFont typeface="Arial" panose="020B0604020202020204" pitchFamily="34" charset="0"/>
                        <a:buChar char="•"/>
                      </a:pPr>
                      <a:r>
                        <a:rPr lang="ko-KR" sz="1200" b="1" dirty="0">
                          <a:solidFill>
                            <a:srgbClr val="1E2227"/>
                          </a:solidFill>
                          <a:latin typeface="맑은 고딕"/>
                          <a:ea typeface="맑은 고딕"/>
                        </a:rPr>
                        <a:t>원인이 추론 과정 자체</a:t>
                      </a:r>
                      <a:r>
                        <a:rPr lang="ko-KR" sz="1200" b="0" dirty="0">
                          <a:solidFill>
                            <a:srgbClr val="1E2227"/>
                          </a:solidFill>
                          <a:latin typeface="맑은 고딕"/>
                          <a:ea typeface="맑은 고딕"/>
                        </a:rPr>
                        <a:t>에 있다는 확증.</a:t>
                      </a:r>
                    </a:p>
                  </a:txBody>
                  <a:tcPr marL="82296" marR="82296" marT="36576" marB="36576" anchor="ctr">
                    <a:solidFill>
                      <a:srgbClr val="F6F7F9"/>
                    </a:solidFill>
                  </a:tcPr>
                </a:tc>
                <a:tc>
                  <a:txBody>
                    <a:bodyPr/>
                    <a:lstStyle/>
                    <a:p>
                      <a:pPr marL="171450" indent="-171450" algn="l">
                        <a:lnSpc>
                          <a:spcPct val="112000"/>
                        </a:lnSpc>
                        <a:spcAft>
                          <a:spcPts val="200"/>
                        </a:spcAft>
                        <a:buClr>
                          <a:srgbClr val="1E7A6F"/>
                        </a:buClr>
                        <a:buFont typeface="Arial"/>
                        <a:buChar char="•"/>
                      </a:pPr>
                      <a:r>
                        <a:rPr lang="ko-KR" sz="1200" b="0" dirty="0">
                          <a:solidFill>
                            <a:srgbClr val="1E2227"/>
                          </a:solidFill>
                          <a:latin typeface="맑은 고딕"/>
                          <a:ea typeface="맑은 고딕"/>
                        </a:rPr>
                        <a:t>추론 트레이스 내 인과 지점 국소화 → 활성화 수준 개입(출력 텍스트 조작을 넘어)</a:t>
                      </a:r>
                    </a:p>
                    <a:p>
                      <a:pPr marL="171450" indent="-171450" algn="l">
                        <a:lnSpc>
                          <a:spcPct val="112000"/>
                        </a:lnSpc>
                        <a:spcAft>
                          <a:spcPts val="200"/>
                        </a:spcAft>
                        <a:buClr>
                          <a:srgbClr val="1E7A6F"/>
                        </a:buClr>
                        <a:buFont typeface="Arial"/>
                        <a:buChar char="•"/>
                      </a:pPr>
                      <a:r>
                        <a:rPr lang="ko-KR" sz="1200" b="0" dirty="0">
                          <a:solidFill>
                            <a:srgbClr val="1E2227"/>
                          </a:solidFill>
                          <a:latin typeface="맑은 고딕"/>
                          <a:ea typeface="맑은 고딕"/>
                        </a:rPr>
                        <a:t>실패를 유발하는 특정 추론 스텝 식별 → 표적 완화</a:t>
                      </a:r>
                    </a:p>
                  </a:txBody>
                  <a:tcPr marL="82296" marR="82296" marT="36576" marB="36576" anchor="ctr">
                    <a:solidFill>
                      <a:srgbClr val="F6F7F9"/>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47991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7A50AF8-9C30-3940-859C-DC6B75219EA4}">
  <we:reference id="WA200010001" version="1.0.0.1" store="Omex" storeType="OMEX"/>
  <we:alternateReferences>
    <we:reference id="WA200010001" version="1.0.0.1" store="WA200010001" storeType="OMEX"/>
  </we:alternateReferences>
  <we:properties>
    <we:property name="claude.fileId" value="&quot;d2460c43-f09b-4ca8-8f18-72205e86b57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12361</TotalTime>
  <Words>12187</Words>
  <Application>Microsoft Macintosh PowerPoint</Application>
  <PresentationFormat>와이드스크린</PresentationFormat>
  <Paragraphs>971</Paragraphs>
  <Slides>24</Slides>
  <Notes>22</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24</vt:i4>
      </vt:variant>
    </vt:vector>
  </HeadingPairs>
  <TitlesOfParts>
    <vt:vector size="30" baseType="lpstr">
      <vt:lpstr>맑은 고딕</vt:lpstr>
      <vt:lpstr>Arial</vt:lpstr>
      <vt:lpstr>Calibri</vt:lpstr>
      <vt:lpstr>Cambria Math</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유진</cp:lastModifiedBy>
  <cp:revision>69</cp:revision>
  <cp:lastPrinted>2026-07-09T01:49:40Z</cp:lastPrinted>
  <dcterms:created xsi:type="dcterms:W3CDTF">2013-01-27T09:14:16Z</dcterms:created>
  <dcterms:modified xsi:type="dcterms:W3CDTF">2026-07-21T02:47:13Z</dcterms:modified>
  <cp:category/>
</cp:coreProperties>
</file>